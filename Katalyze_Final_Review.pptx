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1cc225c0-67f5-177c-e5db-82c4e093c737}">
          <p14:sldIdLst>
            <p14:sldId id="256"/>
          </p14:sldIdLst>
        </p14:section>
        <p14:section name="Contents" id="{f556172a-322f-c712-3cfc-d6b8d1ab6685}">
          <p14:sldIdLst>
            <p14:sldId id="257"/>
          </p14:sldIdLst>
        </p14:section>
        <p14:section name="Introduction" id="{cf093be2-c3b7-6759-8eef-1215909868d4}">
          <p14:sldIdLst>
            <p14:sldId id="258"/>
          </p14:sldIdLst>
        </p14:section>
        <p14:section name="Problem statement" id="{da016282-8a37-a31c-5951-5369d210b2cb}">
          <p14:sldIdLst>
            <p14:sldId id="259"/>
          </p14:sldIdLst>
        </p14:section>
        <p14:section name="Literature review" id="{eddb1184-8f61-d5ad-c57b-9fa54c352fd7}">
          <p14:sldIdLst>
            <p14:sldId id="260"/>
          </p14:sldIdLst>
        </p14:section>
        <p14:section name="Research gaps" id="{169766a3-3262-4fef-4cfc-3cac8bcdfd96}">
          <p14:sldIdLst>
            <p14:sldId id="261"/>
          </p14:sldIdLst>
        </p14:section>
        <p14:section name="Methodology" id="{61fd26b2-a880-c4ee-5cf9-f4a6b635f3d6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Workflow" id="{7b5d7bf2-420b-517b-6330-fbb46c2f4eb2}">
          <p14:sldIdLst>
            <p14:sldId id="270"/>
          </p14:sldIdLst>
        </p14:section>
        <p14:section name="Evaluation design" id="{86822dd7-b093-ddbd-fde6-119630c3ba5d}">
          <p14:sldIdLst>
            <p14:sldId id="271"/>
            <p14:sldId id="272"/>
          </p14:sldIdLst>
        </p14:section>
        <p14:section name="Results" id="{70e195e8-2bdc-a971-07a4-5da836d253fd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sults analysis" id="{a4731bfb-9cd7-09d1-0151-095d33b31932}">
          <p14:sldIdLst>
            <p14:sldId id="280"/>
            <p14:sldId id="281"/>
          </p14:sldIdLst>
        </p14:section>
        <p14:section name="Our app" id="{1ef794cf-239b-791b-5b3e-eb8e320ce2f2}">
          <p14:sldIdLst>
            <p14:sldId id="282"/>
          </p14:sldIdLst>
        </p14:section>
        <p14:section name="Conclusion" id="{493026cf-2b97-f12d-b4d6-0a5f8de88749}">
          <p14:sldIdLst>
            <p14:sldId id="283"/>
          </p14:sldIdLst>
        </p14:section>
        <p14:section name="Future work" id="{16042dbe-fc02-a366-4f26-95877826d42a}">
          <p14:sldIdLst>
            <p14:sldId id="284"/>
          </p14:sldIdLst>
        </p14:section>
        <p14:section name="Team" id="{9e9e4d01-c113-95b3-a3cc-f1af9b62ca05}">
          <p14:sldIdLst>
            <p14:sldId id="285"/>
          </p14:sldIdLst>
        </p14:section>
        <p14:section name="References" id="{c31a7ef1-7ca9-ecd9-6562-c4c973cd1b1d}">
          <p14:sldIdLst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 · Final Review</a:t>
            </a:r>
            <a:endParaRPr lang="en-US" sz="1800" dirty="0"/>
          </a:p>
        </p:txBody>
      </p:sp>
      <p:sp>
        <p:nvSpPr>
          <p:cNvPr id="4" name="logo-card"/>
          <p:cNvSpPr/>
          <p:nvPr/>
        </p:nvSpPr>
        <p:spPr>
          <a:xfrm>
            <a:off x="7543800" y="365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C:\Users\reach\AppData\Local\Temp\claude\c--Users-reach-OneDrive-Code-files-SEM7-RL-web-tester\7c3024aa-1118-49fd-b386-f99dd0651f57\scratchpad\deck\un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548640"/>
            <a:ext cx="3246120" cy="84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60020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KATALYZE</a:t>
            </a:r>
            <a:endParaRPr lang="en-US" sz="72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786384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9718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 Autonomous Testing Agent for Functional Bugs in Web Applications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9776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Presented by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Arunoday A K   </a:t>
            </a:r>
            <a:r>
              <a:rPr lang="en-US" sz="1600" dirty="0">
                <a:solidFill>
                  <a:schemeClr val="tx2"/>
                </a:solidFill>
              </a:rPr>
              <a:t>CB.SC.U4AIE23106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Achutharaj R   </a:t>
            </a:r>
            <a:r>
              <a:rPr lang="en-US" sz="1600" dirty="0">
                <a:solidFill>
                  <a:schemeClr val="tx2"/>
                </a:solidFill>
              </a:rPr>
              <a:t>CB.SC.U4AIE23108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Lokesh D   </a:t>
            </a:r>
            <a:r>
              <a:rPr lang="en-US" sz="1600" dirty="0">
                <a:solidFill>
                  <a:schemeClr val="tx2"/>
                </a:solidFill>
              </a:rPr>
              <a:t>CB.SC.U4AIE23123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Abhay Rohit M   </a:t>
            </a:r>
            <a:r>
              <a:rPr lang="en-US" sz="1600" dirty="0">
                <a:solidFill>
                  <a:schemeClr val="tx2"/>
                </a:solidFill>
              </a:rPr>
              <a:t>CB.SC.U4AIE23173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97764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Supervisor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Dr. Palmani Duraisamy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Assistant Professor (Sr. Gd.), Center for Computational Engineering and Networking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School of Artificial Intelligence, Amrita Vishwa Vidyapeetham,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01. Introduction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02. Problem Statement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580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03. Literature Review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04. Research Gaps and Contributions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05. Methodology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580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06. Workflow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897880" y="160020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80760" y="1600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07. Evaluation Design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97880" y="2350008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235000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08. Results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3099816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80760" y="309981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09. Results Analysis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897880" y="3849624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8076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10. Our App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897880" y="4599432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80760" y="459943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11. Conclusion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897880" y="5349240"/>
            <a:ext cx="4846320" cy="54864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80760" y="53492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12. Future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6583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Web applications run everyday life: </a:t>
            </a:r>
            <a:r>
              <a:rPr lang="en-US" sz="1650" dirty="0">
                <a:solidFill>
                  <a:schemeClr val="tx1"/>
                </a:solidFill>
              </a:rPr>
              <a:t>shopping, banking, booking, customer support.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Their worst defects are functional, not crashes: </a:t>
            </a:r>
            <a:r>
              <a:rPr lang="en-US" sz="1650" dirty="0">
                <a:solidFill>
                  <a:schemeClr val="tx1"/>
                </a:solidFill>
              </a:rPr>
              <a:t>the app computes, accepts or keeps the wrong thing.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These bugs are silent: </a:t>
            </a:r>
            <a:r>
              <a:rPr lang="en-US" sz="1650" dirty="0">
                <a:solidFill>
                  <a:schemeClr val="tx1"/>
                </a:solidFill>
              </a:rPr>
              <a:t>no error message, and they hide behind long sequences of interactions.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Scripted tests are expensive and incomplete: </a:t>
            </a:r>
            <a:r>
              <a:rPr lang="en-US" sz="1650" dirty="0">
                <a:solidFill>
                  <a:schemeClr val="tx1"/>
                </a:solidFill>
              </a:rPr>
              <a:t>they cover only the paths someone thought of.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Automated exploratory testers drive a real browser; </a:t>
            </a:r>
            <a:r>
              <a:rPr lang="en-US" sz="1650" dirty="0">
                <a:solidFill>
                  <a:schemeClr val="tx1"/>
                </a:solidFill>
              </a:rPr>
              <a:t>reinforcement learning (RL) testers such as WebExplor and WebRLED lead this field.</a:t>
            </a:r>
            <a:endParaRPr lang="en-US" sz="16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50" b="1" dirty="0">
                <a:solidFill>
                  <a:schemeClr val="tx1"/>
                </a:solidFill>
              </a:rPr>
              <a:t>Katalyze </a:t>
            </a:r>
            <a:r>
              <a:rPr lang="en-US" sz="1650" dirty="0">
                <a:solidFill>
                  <a:schemeClr val="tx1"/>
                </a:solidFill>
              </a:rPr>
              <a:t>explores a web app, detects behaviour that breaks a requirement, and reports a bug only after verifying it.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68096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Three silent bugs</a:t>
            </a:r>
            <a:endParaRPr lang="en-US" sz="1700" dirty="0"/>
          </a:p>
        </p:txBody>
      </p:sp>
      <p:sp>
        <p:nvSpPr>
          <p:cNvPr id="6" name="bug0"/>
          <p:cNvSpPr/>
          <p:nvPr/>
        </p:nvSpPr>
        <p:spPr>
          <a:xfrm>
            <a:off x="7680960" y="196596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095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Wrong total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09560" y="2496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basket total ignores a changed quantity</a:t>
            </a:r>
            <a:endParaRPr lang="en-US" sz="1400" dirty="0"/>
          </a:p>
        </p:txBody>
      </p:sp>
      <p:sp>
        <p:nvSpPr>
          <p:cNvPr id="9" name="bug1"/>
          <p:cNvSpPr/>
          <p:nvPr/>
        </p:nvSpPr>
        <p:spPr>
          <a:xfrm>
            <a:off x="7680960" y="338328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 bypass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09560" y="3913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 order is placed with an empty address</a:t>
            </a:r>
            <a:endParaRPr lang="en-US" sz="1400" dirty="0"/>
          </a:p>
        </p:txBody>
      </p:sp>
      <p:sp>
        <p:nvSpPr>
          <p:cNvPr id="12" name="bug2"/>
          <p:cNvSpPr/>
          <p:nvPr/>
        </p:nvSpPr>
        <p:spPr>
          <a:xfrm>
            <a:off x="7680960" y="4800600"/>
            <a:ext cx="3474720" cy="1234440"/>
          </a:xfrm>
          <a:prstGeom prst="roundRect">
            <a:avLst>
              <a:gd name="adj" fmla="val 888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9095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Lost data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09560" y="53309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saved edit reverts after a reload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087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Implicit oracle: </a:t>
            </a:r>
            <a:r>
              <a:rPr lang="en-US" sz="1700" dirty="0">
                <a:solidFill>
                  <a:schemeClr val="tx1"/>
                </a:solidFill>
              </a:rPr>
              <a:t>published RL web testers count any browser console error as a failure, so silent functional bugs go unseen.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No verification: </a:t>
            </a:r>
            <a:r>
              <a:rPr lang="en-US" sz="1700" dirty="0">
                <a:solidFill>
                  <a:schemeClr val="tx1"/>
                </a:solidFill>
              </a:rPr>
              <a:t>a reported failure is never checked to be reproducible, or to be caused by a real fault.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Unclear source of gains: </a:t>
            </a:r>
            <a:r>
              <a:rPr lang="en-US" sz="1700" dirty="0">
                <a:solidFill>
                  <a:schemeClr val="tx1"/>
                </a:solidFill>
              </a:rPr>
              <a:t>it is not known whether the learning drives their results, or the exploration structure and the set of actions around it.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Our aim: </a:t>
            </a:r>
            <a:r>
              <a:rPr lang="en-US" sz="1700" dirty="0">
                <a:solidFill>
                  <a:schemeClr val="tx1"/>
                </a:solidFill>
              </a:rPr>
              <a:t>build a tester that verifies every bug it reports, and measure what structure, online learning and verification each contribute, on held-out applications and on the published benchmark.</a:t>
            </a:r>
            <a:endParaRPr lang="en-US" sz="1700" dirty="0"/>
          </a:p>
        </p:txBody>
      </p:sp>
      <p:sp>
        <p:nvSpPr>
          <p:cNvPr id="5" name="question"/>
          <p:cNvSpPr/>
          <p:nvPr/>
        </p:nvSpPr>
        <p:spPr>
          <a:xfrm>
            <a:off x="685800" y="4937760"/>
            <a:ext cx="10469880" cy="1325880"/>
          </a:xfrm>
          <a:prstGeom prst="roundRect">
            <a:avLst>
              <a:gd name="adj" fmla="val 827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5074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CENTRAL QUESTION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53949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How much do exploration structure, online learning and verification each contribute to finding verified functional bugs?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LITERATURE REVIEW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17320"/>
          <a:ext cx="1046988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194560"/>
                <a:gridCol w="1920240"/>
                <a:gridCol w="187452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Paper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 and contribution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Limitation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How Katalyze addresses 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we adopt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Automatic Web Testing Using Curiosity-Driven Reinforcement Learning (WebExplor), ICSE 2021 [1]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Tabular Q-learning with a curiosity reward; an automaton steers the agent back to unexplored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Console errors as the only oracle; failures never verified; silent functional bugs missed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Verified-fault oracle covering six functional bug classes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curiosity reward; its six benchmark applications and measures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Deep Reinforcement Learning for Automated Web GUI Testing (WebRLED), 2025 [2]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Deep Q-network with grid action values and a learned discriminator of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Same implicit oracle; the learner's share of the gains is not isolated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Controlled comparison of decision strategies on one shared structure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importance of detecting actionable elements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First Return, Then Explore (Go-Explore), Nature 2021 [3]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Keeps an archive of reached states, returns to promising ones, then explores from there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Designed for games; has no notion of a bug or an oracle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Applied to web testing with exact browser replay and abstract page states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archive-and-return loop at the heart of our explorer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Understanding Automated Web GUI Testing: An Empirical Study Across Exploration Strategies and State Abstractions, 2026 [4]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Compares model-, RL- and LLM-based web testers under six state abstractions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Code coverage is only weakly linked to revealing failures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Verified faults as the primary measure, coverage reported beside it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A compact state abstraction (our page cells)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03870"/>
                          </a:solidFill>
                        </a:rPr>
                        <a:t>The Oracle Problem in Software Testing: A Survey, IEEE TSE 2015 [5]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Surveys how tests decide whether observed behaviour is correct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Implicit oracles (crashes, errors) cannot see wrong results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Specified oracles for seeded faults, verified against control builds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03870"/>
                          </a:solidFill>
                        </a:rPr>
                        <a:t>The specified versus implicit oracle distinction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GAPS AND CONTRIBUTIONS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270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63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No verification of reported bugs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errors stand in for bugs; nobody checks they reproduce or come from a real fault.</a:t>
            </a:r>
            <a:endParaRPr lang="en-US" sz="1250" dirty="0"/>
          </a:p>
        </p:txBody>
      </p:sp>
      <p:sp>
        <p:nvSpPr>
          <p:cNvPr id="7" name="contrib0"/>
          <p:cNvSpPr/>
          <p:nvPr/>
        </p:nvSpPr>
        <p:spPr>
          <a:xfrm>
            <a:off x="5440680" y="144475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44475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verified-fault oracle: replay twice, a per-fault control build, minimisation. 0 false positives in 32 clean controls; 18 misattributed candidates caught.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146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505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Silent functional bugs are invisible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816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Five of the six functional bug classes raise no error at all.</a:t>
            </a:r>
            <a:endParaRPr lang="en-US" sz="1250" dirty="0"/>
          </a:p>
        </p:txBody>
      </p:sp>
      <p:sp>
        <p:nvSpPr>
          <p:cNvPr id="12" name="contrib1"/>
          <p:cNvSpPr/>
          <p:nvPr/>
        </p:nvSpPr>
        <p:spPr>
          <a:xfrm>
            <a:off x="5440680" y="243230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43230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definition of functional bugs with six classes, each with an oracle check, and 16 applications with 65 seeded, admitted faults.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0215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43814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Learning is never isolated from structure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Published gains belong to whole systems; the learner's share is unknown.</a:t>
            </a:r>
            <a:endParaRPr lang="en-US" sz="1250" dirty="0"/>
          </a:p>
        </p:txBody>
      </p:sp>
      <p:sp>
        <p:nvSpPr>
          <p:cNvPr id="17" name="contrib2"/>
          <p:cNvSpPr/>
          <p:nvPr/>
        </p:nvSpPr>
        <p:spPr>
          <a:xfrm>
            <a:off x="5440680" y="341985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41985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One shared structured explorer with interchangeable decision strategies: none, a bandit, curiosity RL, plus random.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8970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4256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The action space is overlooked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914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Whether coverage is limited by the policy or by what can be clicked is never asked.</a:t>
            </a:r>
            <a:endParaRPr lang="en-US" sz="1250" dirty="0"/>
          </a:p>
        </p:txBody>
      </p:sp>
      <p:sp>
        <p:nvSpPr>
          <p:cNvPr id="22" name="contrib3"/>
          <p:cNvSpPr/>
          <p:nvPr/>
        </p:nvSpPr>
        <p:spPr>
          <a:xfrm>
            <a:off x="5440680" y="440740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4074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A diagnosis on the benchmark and listener-based clickable detection: Phoenix coverage 49% → 83%.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772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413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Weak evaluation practice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790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Tuning and testing share applications; few runs; no false-positive checks.</a:t>
            </a:r>
            <a:endParaRPr lang="en-US" sz="1250" dirty="0"/>
          </a:p>
        </p:txBody>
      </p:sp>
      <p:sp>
        <p:nvSpPr>
          <p:cNvPr id="27" name="contrib4"/>
          <p:cNvSpPr/>
          <p:nvPr/>
        </p:nvSpPr>
        <p:spPr>
          <a:xfrm>
            <a:off x="5440680" y="539496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9496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contribution  </a:t>
            </a:r>
            <a:r>
              <a:rPr lang="en-US" sz="1300" dirty="0">
                <a:solidFill>
                  <a:schemeClr val="tx1"/>
                </a:solidFill>
              </a:rPr>
              <a:t>Pre-registration, held-out applications used once, clean-build controls, survival statistics; plus a usable app.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STRATEGY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One shared structured explorer. Only the decision strategy changes between approaches, so any difference in results is caused by the strategy.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shared structure</a:t>
            </a:r>
            <a:endParaRPr lang="en-US" sz="1700" dirty="0"/>
          </a:p>
        </p:txBody>
      </p:sp>
      <p:sp>
        <p:nvSpPr>
          <p:cNvPr id="6" name="part0"/>
          <p:cNvSpPr/>
          <p:nvPr/>
        </p:nvSpPr>
        <p:spPr>
          <a:xfrm>
            <a:off x="685800" y="2423160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496312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Page abstraction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4378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turns each page into a small state: page kind, path, form status, error shown</a:t>
            </a:r>
            <a:endParaRPr lang="en-US" sz="1300" dirty="0"/>
          </a:p>
        </p:txBody>
      </p:sp>
      <p:sp>
        <p:nvSpPr>
          <p:cNvPr id="9" name="part1"/>
          <p:cNvSpPr/>
          <p:nvPr/>
        </p:nvSpPr>
        <p:spPr>
          <a:xfrm>
            <a:off x="685800" y="3401568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47472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Archive with exact return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2219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remembers every state and the shortest path to it, and returns by replaying it</a:t>
            </a:r>
            <a:endParaRPr lang="en-US" sz="1300" dirty="0"/>
          </a:p>
        </p:txBody>
      </p:sp>
      <p:sp>
        <p:nvSpPr>
          <p:cNvPr id="12" name="part2"/>
          <p:cNvSpPr/>
          <p:nvPr/>
        </p:nvSpPr>
        <p:spPr>
          <a:xfrm>
            <a:off x="685800" y="4379976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45312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Test operators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deliberate test actions from standard test design: invalid input, edit after review…</a:t>
            </a:r>
            <a:endParaRPr lang="en-US" sz="1300" dirty="0"/>
          </a:p>
        </p:txBody>
      </p:sp>
      <p:sp>
        <p:nvSpPr>
          <p:cNvPr id="15" name="part3"/>
          <p:cNvSpPr/>
          <p:nvPr/>
        </p:nvSpPr>
        <p:spPr>
          <a:xfrm>
            <a:off x="685800" y="5358384"/>
            <a:ext cx="5669280" cy="841248"/>
          </a:xfrm>
          <a:prstGeom prst="roundRect">
            <a:avLst>
              <a:gd name="adj" fmla="val 1304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43153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Verified-fault oracle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77900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replays a candidate twice, checks a control build, minimises it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decision strategies compared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20840" y="2624328"/>
            <a:ext cx="292608" cy="292608"/>
          </a:xfrm>
          <a:prstGeom prst="ellipse">
            <a:avLst/>
          </a:prstGeom>
          <a:solidFill>
            <a:srgbClr val="A39E93"/>
          </a:solidFill>
          <a:ln w="12700">
            <a:solidFill>
              <a:srgbClr val="A39E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45973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280720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baseline: no structure, no learning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410712"/>
            <a:ext cx="292608" cy="292608"/>
          </a:xfrm>
          <a:prstGeom prst="ellipse">
            <a:avLst/>
          </a:prstGeom>
          <a:solidFill>
            <a:srgbClr val="303870"/>
          </a:solidFill>
          <a:ln w="12700">
            <a:solidFill>
              <a:srgbClr val="30387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8040" y="3246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7178040" y="35935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structure only, no learning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4197096"/>
            <a:ext cx="292608" cy="29260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40325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Thompson-sampling bandit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3799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learns which test pays off where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20840" y="4983480"/>
            <a:ext cx="292608" cy="292608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78040" y="48188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Q-learning (RL)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published testers' design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5769864"/>
            <a:ext cx="292608" cy="292608"/>
          </a:xfrm>
          <a:prstGeom prst="ellipse">
            <a:avLst/>
          </a:prstGeom>
          <a:solidFill>
            <a:srgbClr val="3A8F85"/>
          </a:solidFill>
          <a:ln w="12700">
            <a:solidFill>
              <a:srgbClr val="3A8F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8040" y="56052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Katalyze, tuned</a:t>
            </a:r>
            <a:endParaRPr lang="en-US" sz="15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9527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structure plus what won tuning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METHODOLOGY: THE SHARED STRUCTURE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1. Page abstraction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page becomes a cell: (page kind, URL path with ids replaced, heading, form empty / partial / full, error shown, submit offered). Page kinds: home, list, detail, form, review, outcome, info, login, error.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3. Test operators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429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complete step: </a:t>
            </a:r>
            <a:r>
              <a:rPr lang="en-US" sz="1400" dirty="0">
                <a:solidFill>
                  <a:schemeClr val="tx1"/>
                </a:solidFill>
              </a:rPr>
              <a:t>fill the form validly and submit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invalid input: </a:t>
            </a:r>
            <a:r>
              <a:rPr lang="en-US" sz="1400" dirty="0">
                <a:solidFill>
                  <a:schemeClr val="tx1"/>
                </a:solidFill>
              </a:rPr>
              <a:t>empty, wrong type, boundary values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choose option: </a:t>
            </a:r>
            <a:r>
              <a:rPr lang="en-US" sz="1400" dirty="0">
                <a:solidFill>
                  <a:schemeClr val="tx1"/>
                </a:solidFill>
              </a:rPr>
              <a:t>each dropdown option in turn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edit after review: </a:t>
            </a:r>
            <a:r>
              <a:rPr lang="en-US" sz="1400" dirty="0">
                <a:solidFill>
                  <a:schemeClr val="tx1"/>
                </a:solidFill>
              </a:rPr>
              <a:t>go back and change an answer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back / reload and resume, double submit, add-and-remove, browse a list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806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Each operator follows through to submission, because a deviation shows its effect on a later page.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2. Archive with exact return (Go-Explore)</a:t>
            </a:r>
            <a:endParaRPr lang="en-US" sz="1700" dirty="0"/>
          </a:p>
        </p:txBody>
      </p:sp>
      <p:sp>
        <p:nvSpPr>
          <p:cNvPr id="10" name="w"/>
          <p:cNvSpPr/>
          <p:nvPr/>
        </p:nvSpPr>
        <p:spPr>
          <a:xfrm>
            <a:off x="6172200" y="1783080"/>
            <a:ext cx="4983480" cy="233172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4805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P(return to c) ∝ w(c)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w(c) = 1/√(1+n) · (1 + min(u,10)/5) · 1/(1+2f) · ρ · (1 + 2·min(d,30)/30)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 visits · u untried operators · f failed returns · ρ room left in the episode · d depth (deeper preferred)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297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4. Verified-fault oracle</a:t>
            </a:r>
            <a:endParaRPr lang="en-US" sz="1700" dirty="0"/>
          </a:p>
        </p:txBody>
      </p:sp>
      <p:sp>
        <p:nvSpPr>
          <p:cNvPr id="13" name="o0"/>
          <p:cNvSpPr/>
          <p:nvPr/>
        </p:nvSpPr>
        <p:spPr>
          <a:xfrm>
            <a:off x="6172200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Replay ×2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fresh sessions</a:t>
            </a:r>
            <a:endParaRPr lang="en-US" sz="1200" dirty="0"/>
          </a:p>
        </p:txBody>
      </p:sp>
      <p:sp>
        <p:nvSpPr>
          <p:cNvPr id="16" name="o1"/>
          <p:cNvSpPr/>
          <p:nvPr/>
        </p:nvSpPr>
        <p:spPr>
          <a:xfrm>
            <a:off x="7872984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82712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Control build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982712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without that fault</a:t>
            </a:r>
            <a:endParaRPr lang="en-US" sz="1200" dirty="0"/>
          </a:p>
        </p:txBody>
      </p:sp>
      <p:sp>
        <p:nvSpPr>
          <p:cNvPr id="19" name="o2"/>
          <p:cNvSpPr/>
          <p:nvPr/>
        </p:nvSpPr>
        <p:spPr>
          <a:xfrm>
            <a:off x="9573768" y="4709160"/>
            <a:ext cx="1581912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83496" y="4800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Minimise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683496" y="51937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delta debugging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5897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finding is reported only if all three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1: RANDOM EXPLORATION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baseline every tester has to beat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every step, pick one of the actions available on the page uniformly at random. No memory, no structure, no learning.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honest yardstick. On applications with shallow faults, chance alone finds a lot, so any method must be compared with it.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 the valid actions on the current page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 one uniformly at random and execute it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Uses the same verified-fault oracle as every approach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587752"/>
          </a:xfrm>
          <a:prstGeom prst="roundRect">
            <a:avLst>
              <a:gd name="adj" fmla="val 424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π(a | s) = 1 / |A(s)|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A(s): the set of valid actions on page 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Every action equally likely, independent of history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2: STRUCTURED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Remember states, return to them exactly, and test deliberately; no learning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shared structure on its own: choose a remembered state by its weight, replay the path to it, and apply a test operator there.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Functional faults sit several steps into a workflow and need a deliberate deviation. This isolates what structure alone achieves.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Choose a cell with probability proportional to w(c)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Return to it by exact replay of its shortest path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Apply untried (operator, target) pairs first, in random order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every newly reached page to the archive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P(choose c) = w(c) / Σ w(c′)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w(c) as on the previous slide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operator ~ Uniform(untried pairs at c)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once all are tried, any pair is allowed again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3: BANDIT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Thompson sampling learns which test pays off on which kind of page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Bayesian bandit choosing the test operator. It learns online, inside the application being tested.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run makes only about 50–135 operator decisions: too few for a neural network, enough for a bandit over a few dozen meaningful keys.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Key = (page kind, operator, target type), backing off to (operator, target) and (operator)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Reward: the tester's own observation (alert, new state), never the oracle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Sample every candidate's posterior and take the highest draw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520440"/>
          </a:xfrm>
          <a:prstGeom prst="roundRect">
            <a:avLst>
              <a:gd name="adj" fmla="val 311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θₖ ~ Beta(αₖ, βₖ)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αₖ ← αₖ + r,   βₖ ← βₖ + (1 − r)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new key: α = 1 + 0.3·S_general,  β = 1 + 0.3·F_general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S, F: successes and failures of the more general keys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choose argmaxₖ θ̃ₖ  (a repeated probe counts half)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4: CURIOSITY RL EXPLORER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Count-based curiosity Q-learning, the design used by WebExplor and WebRLED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explorer, with a tabular Q-learner choosing the free exploration steps between operators, rewarded for novelty.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 is the reinforcement learning design of the published testers, so it gives a like-for-like RL comparison on their own benchmark.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States are cells; actions are the page's controls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Reward on every step for rarely seen transitions and new cells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Learns from every transition (about 2,000 updates per run)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2770632"/>
          </a:xfrm>
          <a:prstGeom prst="roundRect">
            <a:avLst>
              <a:gd name="adj" fmla="val 39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r = 1/√N(c, a, c′) + 0.5 · 1[c′ new this episode]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N: how often this transition has been seen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Q(c,a) ← Q(c,a) + α [ r + γ maxₐ′ Q(c′,a′) − Q(c,a) ]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α = 0.5, γ = 0.9, ε-greedy ε = 0.1; untried actions start optimistic at R_max/(1−γ)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APPROACH 5: KATALYZE, TUNED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The structured explorer with the options that won tuning; frozen before the benchmark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structured explorer plus a list-browsing operator and failure feedback. Its round-2 version adds listener-based clickable detection.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Why we include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747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Tuning on eight full-stack applications kept only what helped. It was frozen and tagged before anyone looked at the benchmark apps.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0060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Browse list: sort or filter a list, page forward, open an item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Failure feedback: more attention to states where errors followed an action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Listener-based clickables: elements that register click handlers (React, Vue, jQuery, Angular, Ember)</a:t>
            </a:r>
            <a:endParaRPr lang="en-US" sz="1400" dirty="0"/>
          </a:p>
        </p:txBody>
      </p:sp>
      <p:sp>
        <p:nvSpPr>
          <p:cNvPr id="11" name="formula"/>
          <p:cNvSpPr/>
          <p:nvPr/>
        </p:nvSpPr>
        <p:spPr>
          <a:xfrm>
            <a:off x="6172200" y="1783080"/>
            <a:ext cx="4983480" cy="3154680"/>
          </a:xfrm>
          <a:prstGeom prst="roundRect">
            <a:avLst>
              <a:gd name="adj" fmla="val 34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THE MATHS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377440"/>
            <a:ext cx="4480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w_K(c) = w(c) · (1 + 2 · min(e_c, 3) / 3)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e_c: actions at c followed by a browser error; weight grows up to ×3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 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F4EDE2"/>
                </a:solidFill>
              </a:rPr>
              <a:t>clickable(x) ⇔ x is a standard control  ∨  x registers a click listener</a:t>
            </a:r>
            <a:endParaRPr lang="en-US" sz="15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D9CFBF"/>
                </a:solidFill>
              </a:rPr>
              <a:t>listeners recorded by a script injected before the page's own code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SILENT BUGS WITHOUT AN ORACLE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On an unseen application nobody has written checks. An LLM infers them from what the pages show; the explorer then hunts for violations.</a:t>
            </a:r>
            <a:endParaRPr lang="en-US" sz="1600" dirty="0"/>
          </a:p>
        </p:txBody>
      </p:sp>
      <p:sp>
        <p:nvSpPr>
          <p:cNvPr id="5" name="st0"/>
          <p:cNvSpPr/>
          <p:nvPr/>
        </p:nvSpPr>
        <p:spPr>
          <a:xfrm>
            <a:off x="685800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Warm-up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explorer visits the app for ~150 interactions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13432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st1"/>
          <p:cNvSpPr/>
          <p:nvPr/>
        </p:nvSpPr>
        <p:spPr>
          <a:xfrm>
            <a:off x="2441448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78608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578608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578608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each page: text, values, inputs, real CSS selectors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069080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t2"/>
          <p:cNvSpPr/>
          <p:nvPr/>
        </p:nvSpPr>
        <p:spPr>
          <a:xfrm>
            <a:off x="4197096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34256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334256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Infer rules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34256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LLM proposes 8–15 rules a correct app must obey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24728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t3"/>
          <p:cNvSpPr/>
          <p:nvPr/>
        </p:nvSpPr>
        <p:spPr>
          <a:xfrm>
            <a:off x="5952744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sto3"/>
          <p:cNvSpPr/>
          <p:nvPr/>
        </p:nvSpPr>
        <p:spPr>
          <a:xfrm>
            <a:off x="5952744" y="1965960"/>
            <a:ext cx="1627632" cy="1600200"/>
          </a:xfrm>
          <a:prstGeom prst="roundRect">
            <a:avLst>
              <a:gd name="adj" fmla="val 6857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9904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089904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Hunt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089904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step is checked against every rule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580376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t4"/>
          <p:cNvSpPr/>
          <p:nvPr/>
        </p:nvSpPr>
        <p:spPr>
          <a:xfrm>
            <a:off x="7708392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sto4"/>
          <p:cNvSpPr/>
          <p:nvPr/>
        </p:nvSpPr>
        <p:spPr>
          <a:xfrm>
            <a:off x="7708392" y="1965960"/>
            <a:ext cx="1627632" cy="1600200"/>
          </a:xfrm>
          <a:prstGeom prst="roundRect">
            <a:avLst>
              <a:gd name="adj" fmla="val 6857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45552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replay ×2 in fresh sessions, then minimise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336024" y="2761488"/>
            <a:ext cx="128016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2" name="st5"/>
          <p:cNvSpPr/>
          <p:nvPr/>
        </p:nvSpPr>
        <p:spPr>
          <a:xfrm>
            <a:off x="9464040" y="1965960"/>
            <a:ext cx="1627632" cy="1600200"/>
          </a:xfrm>
          <a:prstGeom prst="roundRect">
            <a:avLst>
              <a:gd name="adj" fmla="val 68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01200" y="20299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0" y="2450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Judge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9601200" y="2798064"/>
            <a:ext cx="1389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LLM rules bug / intended / rule error on the evidence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794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Six kinds of rule, all checked on what the tester saw</a:t>
            </a:r>
            <a:endParaRPr lang="en-US" sz="1700" dirty="0"/>
          </a:p>
        </p:txBody>
      </p:sp>
      <p:sp>
        <p:nvSpPr>
          <p:cNvPr id="37" name="k0"/>
          <p:cNvSpPr/>
          <p:nvPr/>
        </p:nvSpPr>
        <p:spPr>
          <a:xfrm>
            <a:off x="68580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039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arithmetic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5039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total = subtotal + tax; badge = rows in cart</a:t>
            </a:r>
            <a:endParaRPr lang="en-US" sz="1200" dirty="0"/>
          </a:p>
        </p:txBody>
      </p:sp>
      <p:sp>
        <p:nvSpPr>
          <p:cNvPr id="40" name="k1"/>
          <p:cNvSpPr/>
          <p:nvPr/>
        </p:nvSpPr>
        <p:spPr>
          <a:xfrm>
            <a:off x="420624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37083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37083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entered value appears unchanged later</a:t>
            </a:r>
            <a:endParaRPr lang="en-US" sz="1200" dirty="0"/>
          </a:p>
        </p:txBody>
      </p:sp>
      <p:sp>
        <p:nvSpPr>
          <p:cNvPr id="43" name="k2"/>
          <p:cNvSpPr/>
          <p:nvPr/>
        </p:nvSpPr>
        <p:spPr>
          <a:xfrm>
            <a:off x="7726680" y="420624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91272" y="42611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891272" y="459028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after 'price low to high', prices ascend</a:t>
            </a:r>
            <a:endParaRPr lang="en-US" sz="1200" dirty="0"/>
          </a:p>
        </p:txBody>
      </p:sp>
      <p:sp>
        <p:nvSpPr>
          <p:cNvPr id="46" name="k3"/>
          <p:cNvSpPr/>
          <p:nvPr/>
        </p:nvSpPr>
        <p:spPr>
          <a:xfrm>
            <a:off x="68580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5039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'Add to cart' raises the badge by 1</a:t>
            </a:r>
            <a:endParaRPr lang="en-US" sz="1200" dirty="0"/>
          </a:p>
        </p:txBody>
      </p:sp>
      <p:sp>
        <p:nvSpPr>
          <p:cNvPr id="49" name="k4"/>
          <p:cNvSpPr/>
          <p:nvPr/>
        </p:nvSpPr>
        <p:spPr>
          <a:xfrm>
            <a:off x="420624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37083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consistency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437083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cart total equals the checkout total</a:t>
            </a:r>
            <a:endParaRPr lang="en-US" sz="1200" dirty="0"/>
          </a:p>
        </p:txBody>
      </p:sp>
      <p:sp>
        <p:nvSpPr>
          <p:cNvPr id="52" name="k5"/>
          <p:cNvSpPr/>
          <p:nvPr/>
        </p:nvSpPr>
        <p:spPr>
          <a:xfrm>
            <a:off x="7726680" y="5074920"/>
            <a:ext cx="3337560" cy="749808"/>
          </a:xfrm>
          <a:prstGeom prst="roundRect">
            <a:avLst>
              <a:gd name="adj" fmla="val 14634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91272" y="5129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blocked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91272" y="54589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empty required field does not get through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3400" dirty="0"/>
          </a:p>
        </p:txBody>
      </p:sp>
      <p:sp>
        <p:nvSpPr>
          <p:cNvPr id="4" name="n1"/>
          <p:cNvSpPr/>
          <p:nvPr/>
        </p:nvSpPr>
        <p:spPr>
          <a:xfrm>
            <a:off x="68580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 </a:t>
            </a:r>
            <a:r>
              <a:rPr lang="en-US" sz="1500" b="1" dirty="0">
                <a:solidFill>
                  <a:schemeClr val="tx1"/>
                </a:solidFill>
              </a:rPr>
              <a:t>Target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URL, static site, repo with a Dockerfile, or demo app</a:t>
            </a:r>
            <a:endParaRPr lang="en-US" sz="1200" dirty="0"/>
          </a:p>
        </p:txBody>
      </p:sp>
      <p:sp>
        <p:nvSpPr>
          <p:cNvPr id="7" name="n2"/>
          <p:cNvSpPr/>
          <p:nvPr/>
        </p:nvSpPr>
        <p:spPr>
          <a:xfrm>
            <a:off x="3337560" y="1371600"/>
            <a:ext cx="233172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44475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 </a:t>
            </a:r>
            <a:r>
              <a:rPr lang="en-US" sz="1500" b="1" dirty="0">
                <a:solidFill>
                  <a:schemeClr val="tx1"/>
                </a:solidFill>
              </a:rPr>
              <a:t>Intake + sandbox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01368"/>
            <a:ext cx="2057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and run in a restricted container</a:t>
            </a:r>
            <a:endParaRPr lang="en-US" sz="1200" dirty="0"/>
          </a:p>
        </p:txBody>
      </p:sp>
      <p:sp>
        <p:nvSpPr>
          <p:cNvPr id="10" name="n3"/>
          <p:cNvSpPr/>
          <p:nvPr/>
        </p:nvSpPr>
        <p:spPr>
          <a:xfrm>
            <a:off x="5989320" y="1371600"/>
            <a:ext cx="192024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44475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 </a:t>
            </a:r>
            <a:r>
              <a:rPr lang="en-US" sz="1500" b="1" dirty="0">
                <a:solidFill>
                  <a:schemeClr val="tx1"/>
                </a:solidFill>
              </a:rPr>
              <a:t>Browser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01368"/>
            <a:ext cx="1645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Playwright + action registry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1752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847088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2697480"/>
            <a:ext cx="7223760" cy="3657600"/>
          </a:xfrm>
          <a:prstGeom prst="roundRect">
            <a:avLst>
              <a:gd name="adj" fmla="val 3750"/>
            </a:avLst>
          </a:prstGeom>
          <a:solidFill>
            <a:srgbClr val="E9E0D2"/>
          </a:solidFill>
          <a:ln w="15875">
            <a:solidFill>
              <a:schemeClr val="tx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14400" y="27889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 </a:t>
            </a:r>
            <a:r>
              <a:rPr lang="en-US" sz="1400" b="1" dirty="0">
                <a:solidFill>
                  <a:schemeClr val="tx1"/>
                </a:solidFill>
              </a:rPr>
              <a:t>Exploration loop  </a:t>
            </a:r>
            <a:r>
              <a:rPr lang="en-US" sz="1400" dirty="0">
                <a:solidFill>
                  <a:schemeClr val="tx2"/>
                </a:solidFill>
              </a:rPr>
              <a:t>repeats until the interaction budget is spent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949440" y="2331720"/>
            <a:ext cx="914" cy="36576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l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lo0"/>
          <p:cNvSpPr/>
          <p:nvPr/>
        </p:nvSpPr>
        <p:spPr>
          <a:xfrm>
            <a:off x="91440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Choose a state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from the archive, by weight w(c)</a:t>
            </a:r>
            <a:endParaRPr lang="en-US" sz="1250" dirty="0"/>
          </a:p>
        </p:txBody>
      </p:sp>
      <p:sp>
        <p:nvSpPr>
          <p:cNvPr id="22" name="l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lo1"/>
          <p:cNvSpPr/>
          <p:nvPr/>
        </p:nvSpPr>
        <p:spPr>
          <a:xfrm>
            <a:off x="4434840" y="329184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Return exactly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3794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replay the shortest path to it</a:t>
            </a:r>
            <a:endParaRPr lang="en-US" sz="1250" dirty="0"/>
          </a:p>
        </p:txBody>
      </p:sp>
      <p:sp>
        <p:nvSpPr>
          <p:cNvPr id="26" name="l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lo2"/>
          <p:cNvSpPr/>
          <p:nvPr/>
        </p:nvSpPr>
        <p:spPr>
          <a:xfrm>
            <a:off x="443484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Apply a test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operator chosen by the strategy</a:t>
            </a:r>
            <a:endParaRPr lang="en-US" sz="1250" dirty="0"/>
          </a:p>
        </p:txBody>
      </p:sp>
      <p:sp>
        <p:nvSpPr>
          <p:cNvPr id="30" name="l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lo3"/>
          <p:cNvSpPr/>
          <p:nvPr/>
        </p:nvSpPr>
        <p:spPr>
          <a:xfrm>
            <a:off x="914400" y="4937760"/>
            <a:ext cx="3200400" cy="1097280"/>
          </a:xfrm>
          <a:prstGeom prst="roundRect">
            <a:avLst>
              <a:gd name="adj" fmla="val 1000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0474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Observe the page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440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new states join the archive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384048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03504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4114800" y="5486400"/>
            <a:ext cx="32004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2514600" y="4389120"/>
            <a:ext cx="914" cy="5486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38" name="n0"/>
          <p:cNvSpPr/>
          <p:nvPr/>
        </p:nvSpPr>
        <p:spPr>
          <a:xfrm>
            <a:off x="8275320" y="1371600"/>
            <a:ext cx="288036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12480" y="14447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Nothing is reported without passing verification</a:t>
            </a:r>
            <a:endParaRPr lang="en-US" sz="1500" dirty="0"/>
          </a:p>
        </p:txBody>
      </p:sp>
      <p:sp>
        <p:nvSpPr>
          <p:cNvPr id="40" name="n5"/>
          <p:cNvSpPr/>
          <p:nvPr/>
        </p:nvSpPr>
        <p:spPr>
          <a:xfrm>
            <a:off x="8275320" y="2697480"/>
            <a:ext cx="28803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12480" y="277063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 </a:t>
            </a:r>
            <a:r>
              <a:rPr lang="en-US" sz="1500" b="1" dirty="0">
                <a:solidFill>
                  <a:schemeClr val="tx1"/>
                </a:solidFill>
              </a:rPr>
              <a:t>Candidate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412480" y="3127248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 assertion, script error, failed request or dead link fires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09560" y="3172968"/>
            <a:ext cx="365760" cy="914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4" name="verify"/>
          <p:cNvSpPr/>
          <p:nvPr/>
        </p:nvSpPr>
        <p:spPr>
          <a:xfrm>
            <a:off x="8275320" y="3931920"/>
            <a:ext cx="2880360" cy="1417320"/>
          </a:xfrm>
          <a:prstGeom prst="roundRect">
            <a:avLst>
              <a:gd name="adj" fmla="val 7742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4005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 </a:t>
            </a: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412480" y="4389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replay twice, fresh sessions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control build without the fault</a:t>
            </a:r>
            <a:endParaRPr lang="en-US" sz="12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minimise (delta debugging)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710928" y="365760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48" name="n7"/>
          <p:cNvSpPr/>
          <p:nvPr/>
        </p:nvSpPr>
        <p:spPr>
          <a:xfrm>
            <a:off x="8275320" y="5623560"/>
            <a:ext cx="2880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412480" y="569671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  </a:t>
            </a:r>
            <a:r>
              <a:rPr lang="en-US" sz="1500" b="1" dirty="0">
                <a:solidFill>
                  <a:schemeClr val="bg1"/>
                </a:solidFill>
              </a:rPr>
              <a:t>Report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9601200" y="56235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HTML · Markdown · JSON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710928" y="5349240"/>
            <a:ext cx="914" cy="27432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DESIGN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Applications</a:t>
            </a:r>
            <a:endParaRPr lang="en-US" sz="1700" dirty="0"/>
          </a:p>
        </p:txBody>
      </p:sp>
      <p:sp>
        <p:nvSpPr>
          <p:cNvPr id="5" name="set0"/>
          <p:cNvSpPr/>
          <p:nvPr/>
        </p:nvSpPr>
        <p:spPr>
          <a:xfrm>
            <a:off x="685800" y="173736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013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Development suite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121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full-stack apps, 41 seeded faults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tuning only, never evidence</a:t>
            </a:r>
            <a:endParaRPr lang="en-US" sz="1200" dirty="0"/>
          </a:p>
        </p:txBody>
      </p:sp>
      <p:sp>
        <p:nvSpPr>
          <p:cNvPr id="9" name="set1"/>
          <p:cNvSpPr/>
          <p:nvPr/>
        </p:nvSpPr>
        <p:spPr>
          <a:xfrm>
            <a:off x="685800" y="283464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Held-out suite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8 independently planned apps, 24 faults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main evaluation, used once</a:t>
            </a:r>
            <a:endParaRPr lang="en-US" sz="1200" dirty="0"/>
          </a:p>
        </p:txBody>
      </p:sp>
      <p:sp>
        <p:nvSpPr>
          <p:cNvPr id="13" name="set2"/>
          <p:cNvSpPr/>
          <p:nvPr/>
        </p:nvSpPr>
        <p:spPr>
          <a:xfrm>
            <a:off x="685800" y="3931920"/>
            <a:ext cx="3566160" cy="960120"/>
          </a:xfrm>
          <a:prstGeom prst="roundRect">
            <a:avLst>
              <a:gd name="adj" fmla="val 11429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95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External benchmark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315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WebExplor's 6 open-source apps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comparison with published testers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1206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Every evaluation pre-registered: hypotheses, approaches and analysis code tagged before any run.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6629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65760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Metric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What it measures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Used in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Distinct verified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how many different seeded faults an approach verified across all runs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Discovery rate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runs that verified at least one fault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Time to first fault (T)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browser interactions until the first verified fault; runs that find none count as the budget (2,000)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Restricted mean T (RMST)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the average of T with unfinished runs capped at the budget: lower is faster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False positives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verified findings on clean builds, which contain no seeded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Branch coverage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share of the app's client-side code branches executed, measured by Istanbul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Console failures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distinct browser console error messages per 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external, tuning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Statistical comparison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median per-app difference with a 95% bootstrap interval; log-rank test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held-out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BENCHMARK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WebExplor and WebRLED: the published RL web testers we compare against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it is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574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Six open-source web apps: Dimeshift, Pagekit, Splittypie, Phoenix, Retroboard, Petclinic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One-hour runs, five repetitions per app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Measures: Istanbul branch coverage and distinct console failures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we matched it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8862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apps, from the DIG replication Docker images with Istanbul built in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one-hour budget and the same measures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Five repetitions in round 2, as in the papers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4983480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Published average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Coverage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4EDE2"/>
                          </a:solidFill>
                        </a:rPr>
                        <a:t>Failures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WebExplor (tabular Q-learning)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WebRLED (deep RL, state of the art)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4.1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</a:tbl>
          </a:graphicData>
        </a:graphic>
      </p:graphicFrame>
      <p:sp>
        <p:nvSpPr>
          <p:cNvPr id="10" name="caveats"/>
          <p:cNvSpPr/>
          <p:nvPr/>
        </p:nvSpPr>
        <p:spPr>
          <a:xfrm>
            <a:off x="6172200" y="3246120"/>
            <a:ext cx="4983480" cy="3063240"/>
          </a:xfrm>
          <a:prstGeom prst="roundRect">
            <a:avLst>
              <a:gd name="adj" fmla="val 358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4015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WHAT DIFFERS, STATED OPENLY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767328"/>
            <a:ext cx="4526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WebExplor's code is not public: we compare with published numbers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Different machines; failures deduplicated automatically, not by hand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Round 1 used three runs; sign-in macros for two apps</a:t>
            </a:r>
            <a:endParaRPr lang="en-US" sz="13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Katalyze targets verified functional faults, not coverage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34924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Why it is still useful: it is the standard benchmark for RL web testers, and it shows our weaknesses as well as our strengths.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HELD-OUT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8 unseen applications · 24 seeded faults · 40 runs per approach · 32 clean-build controls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heldout_surv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035040" cy="3520440"/>
          </a:xfrm>
          <a:prstGeom prst="rect">
            <a:avLst/>
          </a:prstGeom>
        </p:spPr>
      </p:pic>
      <p:pic>
        <p:nvPicPr>
          <p:cNvPr id="6" name="Image 1" descr="C:\Users\reach\OneDrive\Code files\SEM7\RL web tester\presentation\plots\heldout_distin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4206240" cy="2551176"/>
          </a:xfrm>
          <a:prstGeom prst="rect">
            <a:avLst/>
          </a:prstGeom>
        </p:spPr>
      </p:pic>
      <p:sp>
        <p:nvSpPr>
          <p:cNvPr id="7" name="hs0"/>
          <p:cNvSpPr/>
          <p:nvPr/>
        </p:nvSpPr>
        <p:spPr>
          <a:xfrm>
            <a:off x="694944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08660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9CFBF"/>
                </a:solidFill>
              </a:rPr>
              <a:t>false positives in 32 clean-build controls</a:t>
            </a:r>
            <a:endParaRPr lang="en-US" sz="1050" dirty="0"/>
          </a:p>
        </p:txBody>
      </p:sp>
      <p:sp>
        <p:nvSpPr>
          <p:cNvPr id="10" name="hs1"/>
          <p:cNvSpPr/>
          <p:nvPr/>
        </p:nvSpPr>
        <p:spPr>
          <a:xfrm>
            <a:off x="9098280" y="4434840"/>
            <a:ext cx="20116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235440" y="4480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inconclusive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5440" y="490118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all pre-registered speed comparisons (8 apps → wide intervals)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Left: share of runs that have not yet verified a fault (lower is better). Right: distinct faults verified across all runs.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FAULT DEPTH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heldout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309360" cy="4032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Depth from the fault's design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fault's shortest trigger path was written when it was designed, before any run, so difficulty does not depend on our results.</a:t>
            </a:r>
            <a:endParaRPr lang="en-US" sz="1350" dirty="0"/>
          </a:p>
        </p:txBody>
      </p:sp>
      <p:sp>
        <p:nvSpPr>
          <p:cNvPr id="7" name="verif"/>
          <p:cNvSpPr/>
          <p:nvPr/>
        </p:nvSpPr>
        <p:spPr>
          <a:xfrm>
            <a:off x="7315200" y="3063240"/>
            <a:ext cx="384048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31089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200" dirty="0">
                <a:solidFill>
                  <a:srgbClr val="D9CFBF"/>
                </a:solidFill>
              </a:rPr>
              <a:t>candidates the per-fault control rejected; replay alone would have reported them as the wrong fault</a:t>
            </a:r>
            <a:endParaRPr lang="en-US" sz="3000" dirty="0"/>
          </a:p>
        </p:txBody>
      </p:sp>
      <p:sp>
        <p:nvSpPr>
          <p:cNvPr id="9" name="replay"/>
          <p:cNvSpPr/>
          <p:nvPr/>
        </p:nvSpPr>
        <p:spPr>
          <a:xfrm>
            <a:off x="7315200" y="443484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44805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candidate failed replay: every finding reproduced in fresh browser sessions.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TUNING ROUND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Eight rebuilt full-stack applications, 41 seeded faults (8 crash-type), 24 runs per approach. Development data: it chose the configuration and is not evidence.</a:t>
            </a:r>
            <a:endParaRPr lang="en-US" sz="1500" dirty="0"/>
          </a:p>
        </p:txBody>
      </p:sp>
      <p:pic>
        <p:nvPicPr>
          <p:cNvPr id="5" name="Image 0" descr="C:\Users\reach\OneDrive\Code files\SEM7\RL web tester\presentation\plots\tu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4520"/>
            <a:ext cx="10469880" cy="3611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53212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Kept: </a:t>
            </a:r>
            <a:r>
              <a:rPr lang="en-US" sz="1400" dirty="0">
                <a:solidFill>
                  <a:schemeClr val="tx1"/>
                </a:solidFill>
              </a:rPr>
              <a:t>the list-browsing operator (faster on 6 of 7 apps) and failure feedback (best restricted mean time, 450)</a:t>
            </a:r>
            <a:endParaRPr lang="en-US" sz="14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Not kept: </a:t>
            </a:r>
            <a:r>
              <a:rPr lang="en-US" sz="1400" dirty="0">
                <a:solidFill>
                  <a:schemeClr val="tx1"/>
                </a:solidFill>
              </a:rPr>
              <a:t>the bandit (slower than no learner on 7 of 8 apps) and heuristic clickables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1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035040" cy="3520440"/>
          </a:xfrm>
          <a:prstGeom prst="rect">
            <a:avLst/>
          </a:prstGeom>
        </p:spPr>
      </p:pic>
      <p:pic>
        <p:nvPicPr>
          <p:cNvPr id="5" name="Image 1" descr="C:\Users\reach\OneDrive\Code files\SEM7\RL web tester\presentation\plots\phoenix_clicka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206240" cy="30083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" y="4983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Average branch coverage over the six apps, one-hour runs, three repetitions.</a:t>
            </a:r>
            <a:endParaRPr lang="en-US" sz="1250" dirty="0"/>
          </a:p>
        </p:txBody>
      </p:sp>
      <p:sp>
        <p:nvSpPr>
          <p:cNvPr id="7" name="wall"/>
          <p:cNvSpPr/>
          <p:nvPr/>
        </p:nvSpPr>
        <p:spPr>
          <a:xfrm>
            <a:off x="6949440" y="4526280"/>
            <a:ext cx="4206240" cy="178308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78040" y="461772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Every approach, random included, stopped at the same coverage on Phoenix. </a:t>
            </a:r>
            <a:r>
              <a:rPr lang="en-US" sz="1350" dirty="0">
                <a:solidFill>
                  <a:srgbClr val="D9CFBF"/>
                </a:solidFill>
              </a:rPr>
              <a:t>With clickable elements added (post-hoc), all three jumped to 75–83%.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39496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Below both published testers on average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Comparable on Pagekit and Splittypie</a:t>
            </a:r>
            <a:endParaRPr lang="en-US" sz="135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Console failures: 1.8–2.2 per run vs 3.1 and 4.1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BENCHMARK, ROUND 2</a:t>
            </a:r>
            <a:endParaRPr lang="en-US" sz="3400" dirty="0"/>
          </a:p>
        </p:txBody>
      </p:sp>
      <p:pic>
        <p:nvPicPr>
          <p:cNvPr id="4" name="Image 0" descr="C:\Users\reach\OneDrive\Code files\SEM7\RL web tester\presentation\plots\external_roun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6949440" cy="3639312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1371600"/>
          <a:ext cx="3291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1051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Average coverage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6 apps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4EDE2"/>
                          </a:solidFill>
                        </a:rPr>
                        <a:t>w/o Petclinic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55.1%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+ bandit *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51.5%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WebExplor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55.5%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49.6%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03870"/>
                          </a:solidFill>
                        </a:rPr>
                        <a:t>WebRLED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64.2%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03870"/>
                          </a:solidFill>
                        </a:rPr>
                        <a:t>60.0%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85800" y="50749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Listener-based clickables, five runs per app, </a:t>
            </a:r>
            <a:r>
              <a:rPr lang="en-US" sz="1350" dirty="0">
                <a:solidFill>
                  <a:schemeClr val="tx1"/>
                </a:solidFill>
              </a:rPr>
              <a:t>same hardware for every run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Curiosity RL beat both published testers </a:t>
            </a:r>
            <a:r>
              <a:rPr lang="en-US" sz="1350" dirty="0">
                <a:solidFill>
                  <a:schemeClr val="tx1"/>
                </a:solidFill>
              </a:rPr>
              <a:t>on Pagekit, Splittypie and Phoenix (84.7% vs 82.9%)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chemeClr val="tx1"/>
                </a:solidFill>
              </a:rPr>
              <a:t>Katalyze (tuned) rose 41.8% → 51.4% </a:t>
            </a:r>
            <a:r>
              <a:rPr lang="en-US" sz="1350" dirty="0">
                <a:solidFill>
                  <a:schemeClr val="tx1"/>
                </a:solidFill>
              </a:rPr>
              <a:t>over round 1 on the same hardware, on all six apps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7863840" y="3931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* Bandit: post-hoc and untuned, run after round 2.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86384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Console failures stay lower: about 2 per run vs 3.1 and 4.1.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BUGS FOUND</a:t>
            </a:r>
            <a:endParaRPr lang="en-US" sz="3400" dirty="0"/>
          </a:p>
        </p:txBody>
      </p:sp>
      <p:sp>
        <p:nvSpPr>
          <p:cNvPr id="4" name="bc0"/>
          <p:cNvSpPr/>
          <p:nvPr/>
        </p:nvSpPr>
        <p:spPr>
          <a:xfrm>
            <a:off x="685800" y="14173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270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18–19 of 24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945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CFBF"/>
                </a:solidFill>
              </a:rPr>
              <a:t>seeded faults verified on 8 unseen apps by the structured explorers (random: 13)</a:t>
            </a:r>
            <a:endParaRPr lang="en-US" sz="1350" dirty="0"/>
          </a:p>
        </p:txBody>
      </p:sp>
      <p:sp>
        <p:nvSpPr>
          <p:cNvPr id="7" name="bc1"/>
          <p:cNvSpPr/>
          <p:nvPr/>
        </p:nvSpPr>
        <p:spPr>
          <a:xfrm>
            <a:off x="5989320" y="14173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5270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of 41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1945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seeded faults verified by Katalyze (tuned) in tuning, incl. 4 of 8 crash-type</a:t>
            </a:r>
            <a:endParaRPr lang="en-US" sz="1350" dirty="0"/>
          </a:p>
        </p:txBody>
      </p:sp>
      <p:sp>
        <p:nvSpPr>
          <p:cNvPr id="10" name="bc2"/>
          <p:cNvSpPr/>
          <p:nvPr/>
        </p:nvSpPr>
        <p:spPr>
          <a:xfrm>
            <a:off x="685800" y="30175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947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false positives in 32 clean-build controls; 18 wrong attributions caught by the control build</a:t>
            </a:r>
            <a:endParaRPr lang="en-US" sz="1350" dirty="0"/>
          </a:p>
        </p:txBody>
      </p:sp>
      <p:sp>
        <p:nvSpPr>
          <p:cNvPr id="13" name="bc3"/>
          <p:cNvSpPr/>
          <p:nvPr/>
        </p:nvSpPr>
        <p:spPr>
          <a:xfrm>
            <a:off x="5989320" y="3017520"/>
            <a:ext cx="512064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31272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2 per run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7947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distinct console failures on WebExplor's six real apps (WebExplor 3.1, WebRLED 4.1)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What each evaluation shows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Seeded apps: </a:t>
            </a:r>
            <a:r>
              <a:rPr lang="en-US" sz="1400" dirty="0">
                <a:solidFill>
                  <a:schemeClr val="tx1"/>
                </a:solidFill>
              </a:rPr>
              <a:t>the tester reaches and triggers silent functional bugs it was never told about; a written check proves each one.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Real apps, no checks: </a:t>
            </a:r>
            <a:r>
              <a:rPr lang="en-US" sz="1400" dirty="0">
                <a:solidFill>
                  <a:schemeClr val="tx1"/>
                </a:solidFill>
              </a:rPr>
              <a:t>generic triggers find crashes, failed requests, error pages and dead controls; the new LLM-inferred rules extend this to silent bugs (next slide).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RESULTS: LLM-INFERRED ORACLE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chemeClr val="tx2"/>
                </a:solidFill>
              </a:rPr>
              <a:t>Live demo, 26 October 2026 · Sauce Demo (saucedemo.com), a public practice shop with known bugs, signed in as problem_user · no written checks given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Rules the LLM inferred from 3 pages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'Add to cart' raises the cart badge by 1; 'Remove' lowers it by 1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badge equals the number of rows in the cart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of the four sort options puts the list in its order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product page shows the name of the product clicked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343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10 proposed, 8 kept (2 malformed). Only 2 were exercised in this run: the tester never used the sort control after the rules were written, so the known sorting bug went untested.</a:t>
            </a:r>
            <a:endParaRPr lang="en-US" sz="1250" dirty="0"/>
          </a:p>
        </p:txBody>
      </p:sp>
      <p:sp>
        <p:nvSpPr>
          <p:cNvPr id="8" name="found"/>
          <p:cNvSpPr/>
          <p:nvPr/>
        </p:nvSpPr>
        <p:spPr>
          <a:xfrm>
            <a:off x="6172200" y="1874520"/>
            <a:ext cx="4983480" cy="2514600"/>
          </a:xfrm>
          <a:prstGeom prst="roundRect">
            <a:avLst>
              <a:gd name="adj" fmla="val 436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2029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VERIFIED SILENT BUG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377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'Remove' does not decrement the cart badge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200400"/>
            <a:ext cx="4526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no error, no failed request: invisible to console-error testers</a:t>
            </a:r>
            <a:endParaRPr lang="en-US" sz="12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reproduced twice in fresh sessions, then minimised</a:t>
            </a:r>
            <a:endParaRPr lang="en-US" sz="12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D9CFBF"/>
                </a:solidFill>
              </a:rPr>
              <a:t>LLM judge: bug, confidence 0.95; a documented problem_user bug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4526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Also found in the same run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48920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Product images fail to load (inventory and product pages)</a:t>
            </a:r>
            <a:endParaRPr lang="en-US" sz="135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Reloading /inventory.html returns 404</a:t>
            </a:r>
            <a:endParaRPr lang="en-US" sz="1350" dirty="0"/>
          </a:p>
        </p:txBody>
      </p:sp>
      <p:sp>
        <p:nvSpPr>
          <p:cNvPr id="14" name="caveat"/>
          <p:cNvSpPr/>
          <p:nvPr/>
        </p:nvSpPr>
        <p:spPr>
          <a:xfrm>
            <a:off x="685800" y="5715000"/>
            <a:ext cx="10469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71500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Preliminary: one site, one run · 1 candidate, 1 verified, 0 rejected. Next: rediscovery rate and false findings on our 16 seeded apps and clean builds.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EACH APPROACH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469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34440"/>
                <a:gridCol w="1783080"/>
                <a:gridCol w="132588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Approach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Held-out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Tuning faults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Benchmark coverage (round 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Errors / run (tuning)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4EDE2"/>
                          </a:solidFill>
                        </a:rPr>
                        <a:t>In one 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38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Random exploration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13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40.3%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5.38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Finds shallow faults by chance; misses deep ones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Structured explorer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18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Reaches deep faults; 9 of 10 moderate-depth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Thompson bandit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19 / 24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50.0% *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2.83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Level with no learner; slower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+ Curiosity RL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16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53.6%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5.67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Best coverage and most errors; fewer verified faults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DE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03870"/>
                          </a:solidFill>
                        </a:rPr>
                        <a:t>Katalyze (tuned)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22 / 41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51.4%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3.12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03870"/>
                          </a:solidFill>
                        </a:rPr>
                        <a:t>Most verified faults in tuning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0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48920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Held-out: 8 apps, 24 faults. Tuning: 8 apps, 41 faults. Coverage: WebExplor's 6 apps. * post-hoc, untuned. – not run in that evaluation.</a:t>
            </a:r>
            <a:endParaRPr lang="en-US" sz="1200" dirty="0"/>
          </a:p>
        </p:txBody>
      </p:sp>
      <p:sp>
        <p:nvSpPr>
          <p:cNvPr id="6" name="verdict"/>
          <p:cNvSpPr/>
          <p:nvPr/>
        </p:nvSpPr>
        <p:spPr>
          <a:xfrm>
            <a:off x="685800" y="5349240"/>
            <a:ext cx="1046988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The best approach depends on the measure: structure wins verified functional faults; curiosity RL wins coverage and errors triggered.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ANALYSIS: WHY</a:t>
            </a:r>
            <a:endParaRPr lang="en-US" sz="3400" dirty="0"/>
          </a:p>
        </p:txBody>
      </p:sp>
      <p:sp>
        <p:nvSpPr>
          <p:cNvPr id="4" name="w0"/>
          <p:cNvSpPr/>
          <p:nvPr/>
        </p:nvSpPr>
        <p:spPr>
          <a:xfrm>
            <a:off x="685800" y="13258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258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Random exploration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3258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Shallow faults sit one or two clicks from pages it visits constantly; deep faults need a deliberate multi-step sequence it rarely completes.</a:t>
            </a:r>
            <a:endParaRPr lang="en-US" sz="1350" dirty="0"/>
          </a:p>
        </p:txBody>
      </p:sp>
      <p:sp>
        <p:nvSpPr>
          <p:cNvPr id="7" name="w1"/>
          <p:cNvSpPr/>
          <p:nvPr/>
        </p:nvSpPr>
        <p:spPr>
          <a:xfrm>
            <a:off x="685800" y="22402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2402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Structured explorer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2402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Exact return reaches deep states without luck, and operators make the deliberate deviation a fault needs: fill validly, review, go back, change one answer.</a:t>
            </a:r>
            <a:endParaRPr lang="en-US" sz="1350" dirty="0"/>
          </a:p>
        </p:txBody>
      </p:sp>
      <p:sp>
        <p:nvSpPr>
          <p:cNvPr id="10" name="w2"/>
          <p:cNvSpPr/>
          <p:nvPr/>
        </p:nvSpPr>
        <p:spPr>
          <a:xfrm>
            <a:off x="685800" y="31546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546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Thompson bandit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1546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Only ~50–135 decisions per run over ~28 states × 8 operators; trying untried options already covers most of it, and old evidence never fades.</a:t>
            </a:r>
            <a:endParaRPr lang="en-US" sz="1350" dirty="0"/>
          </a:p>
        </p:txBody>
      </p:sp>
      <p:sp>
        <p:nvSpPr>
          <p:cNvPr id="13" name="w3"/>
          <p:cNvSpPr/>
          <p:nvPr/>
        </p:nvSpPr>
        <p:spPr>
          <a:xfrm>
            <a:off x="685800" y="40690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0690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+ Curiosity RL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0690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reward pays for new pages, not for testing them: it widens coverage and triggers errors, but functional faults need deliberate deviations.</a:t>
            </a:r>
            <a:endParaRPr lang="en-US" sz="1350" dirty="0"/>
          </a:p>
        </p:txBody>
      </p:sp>
      <p:sp>
        <p:nvSpPr>
          <p:cNvPr id="16" name="w4"/>
          <p:cNvSpPr/>
          <p:nvPr/>
        </p:nvSpPr>
        <p:spPr>
          <a:xfrm>
            <a:off x="685800" y="4983480"/>
            <a:ext cx="10469880" cy="804672"/>
          </a:xfrm>
          <a:prstGeom prst="roundRect">
            <a:avLst>
              <a:gd name="adj" fmla="val 13636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983480"/>
            <a:ext cx="2651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Katalyze (tuned)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983480"/>
            <a:ext cx="7360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Its benchmark gain (41.8% → 51.4%) came from what it could click, not from learning: a tester only reaches code behind elements it can act on.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943600"/>
            <a:ext cx="10469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2"/>
                </a:solidFill>
              </a:rPr>
              <a:t>With these learners and at this scale, structure and the action space mattered more than learning. That is not a claim that RL cannot help.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APP</a:t>
            </a:r>
            <a:endParaRPr lang="en-US" sz="3400" dirty="0"/>
          </a:p>
        </p:txBody>
      </p:sp>
      <p:pic>
        <p:nvPicPr>
          <p:cNvPr id="4" name="Image 0" descr="C:\Users\reach\AppData\Local\Temp\claude\c--Users-reach-OneDrive-Code-files-SEM7-RL-web-tester\7c3024aa-1118-49fd-b386-f99dd0651f57\scratchpad\deck\ui_new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337560" cy="2084832"/>
          </a:xfrm>
          <a:prstGeom prst="rect">
            <a:avLst/>
          </a:prstGeom>
        </p:spPr>
      </p:pic>
      <p:sp>
        <p:nvSpPr>
          <p:cNvPr id="5" name="frame0"/>
          <p:cNvSpPr/>
          <p:nvPr/>
        </p:nvSpPr>
        <p:spPr>
          <a:xfrm>
            <a:off x="685800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 test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demo app, live URL, or an uploaded site or repository</a:t>
            </a:r>
            <a:endParaRPr lang="en-US" sz="1300" dirty="0"/>
          </a:p>
        </p:txBody>
      </p:sp>
      <p:pic>
        <p:nvPicPr>
          <p:cNvPr id="8" name="Image 1" descr="C:\Users\reach\AppData\Local\Temp\claude\c--Users-reach-OneDrive-Code-files-SEM7-RL-web-tester\7c3024aa-1118-49fd-b386-f99dd0651f57\scratchpad\deck\ui_r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1371600"/>
            <a:ext cx="3337560" cy="2084832"/>
          </a:xfrm>
          <a:prstGeom prst="rect">
            <a:avLst/>
          </a:prstGeom>
        </p:spPr>
      </p:pic>
      <p:sp>
        <p:nvSpPr>
          <p:cNvPr id="9" name="frame1"/>
          <p:cNvSpPr/>
          <p:nvPr/>
        </p:nvSpPr>
        <p:spPr>
          <a:xfrm>
            <a:off x="4233672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33672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Watch it run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233672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 action log, progress and pipeline status</a:t>
            </a:r>
            <a:endParaRPr lang="en-US" sz="1300" dirty="0"/>
          </a:p>
        </p:txBody>
      </p:sp>
      <p:pic>
        <p:nvPicPr>
          <p:cNvPr id="12" name="Image 2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371600"/>
            <a:ext cx="3337560" cy="2084832"/>
          </a:xfrm>
          <a:prstGeom prst="rect">
            <a:avLst/>
          </a:prstGeom>
        </p:spPr>
      </p:pic>
      <p:sp>
        <p:nvSpPr>
          <p:cNvPr id="13" name="frame2"/>
          <p:cNvSpPr/>
          <p:nvPr/>
        </p:nvSpPr>
        <p:spPr>
          <a:xfrm>
            <a:off x="7781544" y="1371600"/>
            <a:ext cx="3337560" cy="2084832"/>
          </a:xfrm>
          <a:prstGeom prst="roundRect">
            <a:avLst>
              <a:gd name="adj" fmla="val 5263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81544" y="3566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 the report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781544" y="391363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each bug minimised, with screenshots and evidence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85800" y="45262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68680" y="4526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Default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2331720" y="45262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Katalyze (tuned) with listener-based clickable detection; also offers the bandit explorer, curiosity RL explorer and random exploration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85800" y="49834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983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Inputs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2331720" y="49834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live URL · static site · zip upload · repository with a Dockerfile · bundled demo apps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85800" y="54406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68680" y="54406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Safety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2331720" y="54406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uploads run in a restricted container: no capabilities, read-only filesystem, internal network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685800" y="5897880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5897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Outputs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2331720" y="589788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HTML, Markdown and JSON reports; web interface (FastAPI) and command-line tool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6309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Katalyze shows that functional bugs in web applications can be found and proven automatically: every reported fault reproduced twice, was absent from a control build without that fault, and was minimised, with no false positive in any clean-build control. Across our evaluations the structure of the tester did the measurable work. Remembering states, returning to them exactly and applying test-design operators verified 18–19 of 24 held-out faults against 13 for random exploration, mostly faults several steps deep. Neither learning strategy measurably improved on that structure for verified faults, while curiosity-driven RL led on coverage and errors triggered. On WebExplor's benchmark, better clickable detection lifted our coverage from 44.3% to 53.6%, close to WebExplor and still below WebRLED. With these learners and at this scale, structure and the action space mattered more than learning. A first LLM-inferred oracle already found a silent bug on a public site with no checks given.</a:t>
            </a:r>
            <a:endParaRPr lang="en-US" sz="1450" dirty="0"/>
          </a:p>
        </p:txBody>
      </p:sp>
      <p:pic>
        <p:nvPicPr>
          <p:cNvPr id="5" name="Image 0" descr="C:\Users\reach\AppData\Local\Temp\claude\c--Users-reach-OneDrive-Code-files-SEM7-RL-web-tester\7c3024aa-1118-49fd-b386-f99dd0651f57\scratchpad\deck\ui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371600"/>
            <a:ext cx="3840480" cy="2395728"/>
          </a:xfrm>
          <a:prstGeom prst="rect">
            <a:avLst/>
          </a:prstGeom>
        </p:spPr>
      </p:pic>
      <p:sp>
        <p:nvSpPr>
          <p:cNvPr id="6" name="rep"/>
          <p:cNvSpPr/>
          <p:nvPr/>
        </p:nvSpPr>
        <p:spPr>
          <a:xfrm>
            <a:off x="7315200" y="1371600"/>
            <a:ext cx="3840480" cy="2395728"/>
          </a:xfrm>
          <a:prstGeom prst="roundRect">
            <a:avLst>
              <a:gd name="adj" fmla="val 4580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7" name="k0"/>
          <p:cNvSpPr/>
          <p:nvPr/>
        </p:nvSpPr>
        <p:spPr>
          <a:xfrm>
            <a:off x="7315200" y="3977640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39776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18–19 vs 13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235440" y="397764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held-out faults: structure vs random</a:t>
            </a:r>
            <a:endParaRPr lang="en-US" sz="1150" dirty="0"/>
          </a:p>
        </p:txBody>
      </p:sp>
      <p:sp>
        <p:nvSpPr>
          <p:cNvPr id="10" name="k1"/>
          <p:cNvSpPr/>
          <p:nvPr/>
        </p:nvSpPr>
        <p:spPr>
          <a:xfrm>
            <a:off x="7315200" y="4764024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7640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0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476402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CFBF"/>
                </a:solidFill>
              </a:rPr>
              <a:t>false positives in clean controls</a:t>
            </a:r>
            <a:endParaRPr lang="en-US" sz="1150" dirty="0"/>
          </a:p>
        </p:txBody>
      </p:sp>
      <p:sp>
        <p:nvSpPr>
          <p:cNvPr id="13" name="k2"/>
          <p:cNvSpPr/>
          <p:nvPr/>
        </p:nvSpPr>
        <p:spPr>
          <a:xfrm>
            <a:off x="7315200" y="5550408"/>
            <a:ext cx="3840480" cy="676656"/>
          </a:xfrm>
          <a:prstGeom prst="roundRect">
            <a:avLst>
              <a:gd name="adj" fmla="val 162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55504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44.3% → 53.6%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555040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benchmark coverage, round 1 → 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63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4173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Learn which elements are actionable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coverage is bounded by clickable detection, whose recall was never measured</a:t>
            </a:r>
            <a:endParaRPr lang="en-US" sz="1250" dirty="0"/>
          </a:p>
        </p:txBody>
      </p:sp>
      <p:sp>
        <p:nvSpPr>
          <p:cNvPr id="7" name="plan0"/>
          <p:cNvSpPr/>
          <p:nvPr/>
        </p:nvSpPr>
        <p:spPr>
          <a:xfrm>
            <a:off x="5440680" y="1399032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23560" y="13990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a trained element discriminator, as in WebRLED, with measured detection recall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4048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Measure the LLM-inferred oracle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7706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demonstrated on one public site; its recall and false-positive rate are unmeasured</a:t>
            </a:r>
            <a:endParaRPr lang="en-US" sz="1250" dirty="0"/>
          </a:p>
        </p:txBody>
      </p:sp>
      <p:sp>
        <p:nvSpPr>
          <p:cNvPr id="12" name="plan1"/>
          <p:cNvSpPr/>
          <p:nvPr/>
        </p:nvSpPr>
        <p:spPr>
          <a:xfrm>
            <a:off x="5440680" y="2386584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23560" y="2386584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run it on the 16 seeded apps without their checks and on clean builds; use public control pairs (standard_user, the bug-free Toolshop)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381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9242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Two deviations in one walk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581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15 of 41 development faults were never found; many need two deviations at once</a:t>
            </a:r>
            <a:endParaRPr lang="en-US" sz="1250" dirty="0"/>
          </a:p>
        </p:txBody>
      </p:sp>
      <p:sp>
        <p:nvSpPr>
          <p:cNvPr id="17" name="plan2"/>
          <p:cNvSpPr/>
          <p:nvPr/>
        </p:nvSpPr>
        <p:spPr>
          <a:xfrm>
            <a:off x="5440680" y="3374136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3374136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operators that combine deviations, such as an option plus an invalid field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42569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37997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Give the learners room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7457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the bandit was never tuned and sees too few decisions per run</a:t>
            </a:r>
            <a:endParaRPr lang="en-US" sz="1250" dirty="0"/>
          </a:p>
        </p:txBody>
      </p:sp>
      <p:sp>
        <p:nvSpPr>
          <p:cNvPr id="22" name="plan3"/>
          <p:cNvSpPr/>
          <p:nvPr/>
        </p:nvSpPr>
        <p:spPr>
          <a:xfrm>
            <a:off x="5440680" y="4361688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23560" y="436168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longer runs, evidence that fades, and priors carried across applications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13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1"/>
                </a:solidFill>
              </a:rPr>
              <a:t>Larger, independent benchmarks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733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Limitation: </a:t>
            </a:r>
            <a:r>
              <a:rPr lang="en-US" sz="1250" dirty="0">
                <a:solidFill>
                  <a:schemeClr val="tx2"/>
                </a:solidFill>
              </a:rPr>
              <a:t>six to eight apps per evaluation left most statistical tests inconclusive</a:t>
            </a:r>
            <a:endParaRPr lang="en-US" sz="1250" dirty="0"/>
          </a:p>
        </p:txBody>
      </p:sp>
      <p:sp>
        <p:nvSpPr>
          <p:cNvPr id="27" name="plan4"/>
          <p:cNvSpPr/>
          <p:nvPr/>
        </p:nvSpPr>
        <p:spPr>
          <a:xfrm>
            <a:off x="5440680" y="5349240"/>
            <a:ext cx="57150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534924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Next step  </a:t>
            </a:r>
            <a:r>
              <a:rPr lang="en-US" sz="1350" dirty="0">
                <a:solidFill>
                  <a:schemeClr val="tx1"/>
                </a:solidFill>
              </a:rPr>
              <a:t>more applications, real-bug benchmarks, independently seeded faults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TEAM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Each member owned a part of the work; design decisions and reviews were shared.</a:t>
            </a:r>
            <a:endParaRPr lang="en-US" sz="1500" dirty="0"/>
          </a:p>
        </p:txBody>
      </p:sp>
      <p:sp>
        <p:nvSpPr>
          <p:cNvPr id="5" name="m0"/>
          <p:cNvSpPr/>
          <p:nvPr/>
        </p:nvSpPr>
        <p:spPr>
          <a:xfrm>
            <a:off x="68580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Arunoday A K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9" name="m1"/>
          <p:cNvSpPr/>
          <p:nvPr/>
        </p:nvSpPr>
        <p:spPr>
          <a:xfrm>
            <a:off x="6035040" y="182880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Achutharaj 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20665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CB.SC.U4AIE23108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060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3" name="m2"/>
          <p:cNvSpPr/>
          <p:nvPr/>
        </p:nvSpPr>
        <p:spPr>
          <a:xfrm>
            <a:off x="68580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Lokesh 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17" name="m3"/>
          <p:cNvSpPr/>
          <p:nvPr/>
        </p:nvSpPr>
        <p:spPr>
          <a:xfrm>
            <a:off x="6035040" y="4069080"/>
            <a:ext cx="5120640" cy="2011680"/>
          </a:xfrm>
          <a:prstGeom prst="roundRect">
            <a:avLst>
              <a:gd name="adj" fmla="val 5455"/>
            </a:avLst>
          </a:prstGeom>
          <a:ln w="15875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09360" y="4251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Abhay Rohit 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430682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CB.SC.U4AIE23173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846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Contribution: (to be filled in by the team)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411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04698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Y. Zheng et al., "Automatic Web Testing Using Curiosity-Driven Reinforcement Learning," ICSE,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Z. Gu et al., "Deep Reinforcement Learning for Automated Web GUI Testing," arXiv preprint (WebRLED), 2025.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A. Ecoffet, J. Huizinga, J. Lehman, K. O. Stanley and J. Clune, "First Return, Then Explore," Nature, 2021.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[4] C. Liu, W. Yang, Y. Zhang and T. Xie, "Understanding Automated Web GUI Testing: An Empirical Study Across Exploration Strategies and State Abstractions," 2026.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[5] E. T. Barr, M. Harman, P. McMinn, M. Shahbaz and S. Yoo, "The Oracle Problem in Software Testing: A Survey," IEEE TSE, 2015.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[6] D. J. Russo et al., "A Tutorial on Thompson Sampling," Foundations and Trends in Machine Learning,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[7] A. Zeller and R. Hildebrandt, "Simplifying and Isolating Failure-Inducing Input," IEEE TSE, 2002.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[8] G. Klees et al., "Evaluating Fuzz Testing," ACM CCS, 2018.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[9] M. Biagiola, A. Stocco, F. Ricca and P. Tonella, "Diversity-Based Web Test Generation," ESEC/FSE, 2019.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[10] ISO/IEC 25010:2011, Systems and software Quality Requirements and Evaluation (SQuaRE): quality models.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11509553" y="0"/>
            <a:ext cx="1097280" cy="6858000"/>
          </a:xfrm>
          <a:prstGeom prst="roundRect">
            <a:avLst>
              <a:gd name="adj" fmla="val 18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October 2026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685800" y="3611880"/>
            <a:ext cx="5120640" cy="566928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6118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Questions, and a live demo of Katalyze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Presented by Arunoday A K, Achutharaj R, Lokesh D and Abhay Rohit 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talyze Review">
  <a:themeElements>
    <a:clrScheme name="Katalyze Review">
      <a:dk1>
        <a:srgbClr val="303870"/>
      </a:dk1>
      <a:lt1>
        <a:srgbClr val="F4EDE2"/>
      </a:lt1>
      <a:dk2>
        <a:srgbClr val="5A5F7D"/>
      </a:dk2>
      <a:lt2>
        <a:srgbClr val="E9E0D2"/>
      </a:lt2>
      <a:accent1>
        <a:srgbClr val="303870"/>
      </a:accent1>
      <a:accent2>
        <a:srgbClr val="C8553D"/>
      </a:accent2>
      <a:accent3>
        <a:srgbClr val="D9A441"/>
      </a:accent3>
      <a:accent4>
        <a:srgbClr val="3A8F85"/>
      </a:accent4>
      <a:accent5>
        <a:srgbClr val="8C93B5"/>
      </a:accent5>
      <a:accent6>
        <a:srgbClr val="1C2140"/>
      </a:accent6>
      <a:hlink>
        <a:srgbClr val="303870"/>
      </a:hlink>
      <a:folHlink>
        <a:srgbClr val="5A5F7D"/>
      </a:folHlink>
    </a:clrScheme>
    <a:fontScheme name="Katalyze Review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Katalyze: Final Review</dc:title>
  <dc:subject>PptxGenJS Presentation</dc:subject>
  <dc:creator>Arunoday A K, Achutharaj R, Lokesh D, Abhay Rohit M</dc:creator>
  <cp:lastModifiedBy>Arunoday A K, Achutharaj R, Lokesh D, Abhay Rohit M</cp:lastModifiedBy>
  <cp:revision>1</cp:revision>
  <dcterms:created xsi:type="dcterms:W3CDTF">2026-10-26T18:04:28Z</dcterms:created>
  <dcterms:modified xsi:type="dcterms:W3CDTF">2026-10-26T18:04:28Z</dcterms:modified>
</cp:coreProperties>
</file>