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70" r:id="rId39"/>
    <p:sldId id="271" r:id="rId40"/>
    <p:sldId id="272" r:id="rId41"/>
    <p:sldId id="273" r:id="rId42"/>
    <p:sldId id="274" r:id="rId43"/>
    <p:sldId id="275" r:id="rId44"/>
    <p:sldId id="265" r:id="rId15"/>
    <p:sldId id="266" r:id="rId16"/>
    <p:sldId id="276" r:id="rId45"/>
    <p:sldId id="277" r:id="rId46"/>
    <p:sldId id="267" r:id="rId17"/>
    <p:sldId id="268" r:id="rId18"/>
    <p:sldId id="278" r:id="rId47"/>
    <p:sldId id="269" r:id="rId19"/>
  </p:sldIdLst>
  <p:sldSz cx="18288000" cy="10287000"/>
  <p:notesSz cx="6858000" cy="9144000"/>
  <p:embeddedFontLst>
    <p:embeddedFont>
      <p:font typeface="Arial" charset="1" panose="020B0604020202020204"/>
      <p:regular r:id="rId23"/>
    </p:embeddedFont>
    <p:embeddedFont>
      <p:font typeface="Arial Bold" charset="1" panose="020B0704020202020204"/>
      <p:regular r:id="rId24"/>
    </p:embeddedFont>
    <p:embeddedFont>
      <p:font typeface="Arial Italics" charset="1" panose="020B060402020209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  <Relationship Id="rId39" Type="http://schemas.openxmlformats.org/officeDocument/2006/relationships/slide" Target="slides/slide15.xml"/>
  <Relationship Id="rId40" Type="http://schemas.openxmlformats.org/officeDocument/2006/relationships/slide" Target="slides/slide16.xml"/>
  <Relationship Id="rId41" Type="http://schemas.openxmlformats.org/officeDocument/2006/relationships/slide" Target="slides/slide17.xml"/>
  <Relationship Id="rId42" Type="http://schemas.openxmlformats.org/officeDocument/2006/relationships/slide" Target="slides/slide18.xml"/>
  <Relationship Id="rId43" Type="http://schemas.openxmlformats.org/officeDocument/2006/relationships/slide" Target="slides/slide19.xml"/>
  <Relationship Id="rId44" Type="http://schemas.openxmlformats.org/officeDocument/2006/relationships/slide" Target="slides/slide20.xml"/>
  <Relationship Id="rId45" Type="http://schemas.openxmlformats.org/officeDocument/2006/relationships/slide" Target="slides/slide21.xml"/>
  <Relationship Id="rId46" Type="http://schemas.openxmlformats.org/officeDocument/2006/relationships/slide" Target="slides/slide22.xml"/>
  <Relationship Id="rId47" Type="http://schemas.openxmlformats.org/officeDocument/2006/relationships/slide" Target="slides/slide23.xml"/>
</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 Id="rIdF1" Type="http://schemas.openxmlformats.org/officeDocument/2006/relationships/image" Target="../media/formula_slide15_rIdF1.png"/><Relationship Id="rIdF2" Type="http://schemas.openxmlformats.org/officeDocument/2006/relationships/image" Target="../media/formula_slide15_rIdF2.png"/></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 Id="rIdF1" Type="http://schemas.openxmlformats.org/officeDocument/2006/relationships/image" Target="../media/formula_slide16_rIdF1.png"/><Relationship Id="rIdF2" Type="http://schemas.openxmlformats.org/officeDocument/2006/relationships/image" Target="../media/formula_slide16_rIdF2.png"/><Relationship Id="rIdF3" Type="http://schemas.openxmlformats.org/officeDocument/2006/relationships/image" Target="../media/formula_slide16_rIdF3.png"/></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 Id="rIdF1" Type="http://schemas.openxmlformats.org/officeDocument/2006/relationships/image" Target="../media/formula_slide17_rIdF1.png"/><Relationship Id="rIdF2" Type="http://schemas.openxmlformats.org/officeDocument/2006/relationships/image" Target="../media/formula_slide17_rIdF2.png"/><Relationship Id="rIdF3" Type="http://schemas.openxmlformats.org/officeDocument/2006/relationships/image" Target="../media/formula_slide17_rIdF3.png"/><Relationship Id="rIdF4" Type="http://schemas.openxmlformats.org/officeDocument/2006/relationships/image" Target="../media/formula_slide17_rIdF4.png"/></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 Id="rIdF1" Type="http://schemas.openxmlformats.org/officeDocument/2006/relationships/image" Target="../media/formula_slide18_rIdF1.png"/><Relationship Id="rIdF2" Type="http://schemas.openxmlformats.org/officeDocument/2006/relationships/image" Target="../media/formula_slide18_rIdF2.png"/><Relationship Id="rIdF3" Type="http://schemas.openxmlformats.org/officeDocument/2006/relationships/image" Target="../media/formula_slide18_rIdF3.png"/></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 Id="rIdF1" Type="http://schemas.openxmlformats.org/officeDocument/2006/relationships/image" Target="../media/formula_slide19_rIdF1.png"/><Relationship Id="rIdF2" Type="http://schemas.openxmlformats.org/officeDocument/2006/relationships/image" Target="../media/formula_slide19_rIdF2.png"/></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grpSp>
        <p:nvGrpSpPr>
          <p:cNvPr name="Group 14" id="14"/>
          <p:cNvGrpSpPr/>
          <p:nvPr/>
        </p:nvGrpSpPr>
        <p:grpSpPr>
          <a:xfrm rot="0">
            <a:off x="1028700" y="2125980"/>
            <a:ext cx="6858000" cy="342900"/>
            <a:chOff x="0" y="0"/>
            <a:chExt cx="9144000" cy="457200"/>
          </a:xfrm>
        </p:grpSpPr>
        <p:sp>
          <p:nvSpPr>
            <p:cNvPr name="Freeform 15" id="15"/>
            <p:cNvSpPr/>
            <p:nvPr/>
          </p:nvSpPr>
          <p:spPr>
            <a:xfrm flipH="false" flipV="false" rot="0">
              <a:off x="0" y="0"/>
              <a:ext cx="9144000" cy="457200"/>
            </a:xfrm>
            <a:custGeom>
              <a:avLst/>
              <a:gdLst/>
              <a:ahLst/>
              <a:cxnLst/>
              <a:rect r="r" b="b" t="t" l="l"/>
              <a:pathLst>
                <a:path h="457200" w="9144000">
                  <a:moveTo>
                    <a:pt x="0" y="0"/>
                  </a:moveTo>
                  <a:lnTo>
                    <a:pt x="9144000" y="0"/>
                  </a:lnTo>
                  <a:lnTo>
                    <a:pt x="9144000" y="457200"/>
                  </a:lnTo>
                  <a:lnTo>
                    <a:pt x="0" y="457200"/>
                  </a:lnTo>
                  <a:close/>
                </a:path>
              </a:pathLst>
            </a:custGeom>
            <a:blipFill>
              <a:blip r:embed="rId3">
                <a:alphaModFix amt="0"/>
              </a:blip>
              <a:stretch>
                <a:fillRect l="0" t="-339700" r="0" b="-339700"/>
              </a:stretch>
            </a:blipFill>
          </p:spPr>
        </p:sp>
        <p:sp>
          <p:nvSpPr>
            <p:cNvPr name="TextBox 16" id="16"/>
            <p:cNvSpPr txBox="true"/>
            <p:nvPr/>
          </p:nvSpPr>
          <p:spPr>
            <a:xfrm>
              <a:off x="0" y="-19050"/>
              <a:ext cx="9144000" cy="476250"/>
            </a:xfrm>
            <a:prstGeom prst="rect">
              <a:avLst/>
            </a:prstGeom>
          </p:spPr>
          <p:txBody>
            <a:bodyPr anchor="ctr" rtlCol="false" tIns="0" lIns="0" bIns="0" rIns="0"/>
            <a:lstStyle/>
            <a:p>
              <a:pPr algn="l">
                <a:lnSpc>
                  <a:spcPts val="1800"/>
                </a:lnSpc>
              </a:pPr>
              <a:r>
                <a:rPr lang="en-US" b="true" sz="1500" spc="300">
                  <a:solidFill>
                    <a:srgbClr val="3F8C50"/>
                  </a:solidFill>
                  <a:latin typeface="Arial Bold"/>
                  <a:ea typeface="Arial Bold"/>
                  <a:cs typeface="Arial Bold"/>
                  <a:sym typeface="Arial Bold"/>
                </a:rPr>
                <a:t>PRESENTED BY</a:t>
              </a:r>
            </a:p>
          </p:txBody>
        </p:sp>
      </p:grpSp>
      <p:grpSp>
        <p:nvGrpSpPr>
          <p:cNvPr name="Group 17" id="17"/>
          <p:cNvGrpSpPr/>
          <p:nvPr/>
        </p:nvGrpSpPr>
        <p:grpSpPr>
          <a:xfrm rot="0">
            <a:off x="1028700" y="2537460"/>
            <a:ext cx="3566160" cy="1645920"/>
            <a:chOff x="0" y="0"/>
            <a:chExt cx="4754880" cy="2194560"/>
          </a:xfrm>
        </p:grpSpPr>
        <p:sp>
          <p:nvSpPr>
            <p:cNvPr name="Freeform 18" id="18"/>
            <p:cNvSpPr/>
            <p:nvPr/>
          </p:nvSpPr>
          <p:spPr>
            <a:xfrm flipH="false" flipV="false" rot="0">
              <a:off x="0" y="0"/>
              <a:ext cx="4754880" cy="2194560"/>
            </a:xfrm>
            <a:custGeom>
              <a:avLst/>
              <a:gdLst/>
              <a:ahLst/>
              <a:cxnLst/>
              <a:rect r="r" b="b" t="t" l="l"/>
              <a:pathLst>
                <a:path h="2194560" w="4754880">
                  <a:moveTo>
                    <a:pt x="0" y="0"/>
                  </a:moveTo>
                  <a:lnTo>
                    <a:pt x="4754880" y="0"/>
                  </a:lnTo>
                  <a:lnTo>
                    <a:pt x="4754880" y="2194560"/>
                  </a:lnTo>
                  <a:lnTo>
                    <a:pt x="0" y="2194560"/>
                  </a:lnTo>
                  <a:close/>
                </a:path>
              </a:pathLst>
            </a:custGeom>
            <a:blipFill>
              <a:blip r:embed="rId3">
                <a:alphaModFix amt="0"/>
              </a:blip>
              <a:stretch>
                <a:fillRect l="-9217" t="0" r="-9217" b="0"/>
              </a:stretch>
            </a:blipFill>
          </p:spPr>
        </p:sp>
        <p:sp>
          <p:nvSpPr>
            <p:cNvPr name="TextBox 19" id="19"/>
            <p:cNvSpPr txBox="true"/>
            <p:nvPr/>
          </p:nvSpPr>
          <p:spPr>
            <a:xfrm>
              <a:off x="0" y="-19050"/>
              <a:ext cx="4754880" cy="2213610"/>
            </a:xfrm>
            <a:prstGeom prst="rect">
              <a:avLst/>
            </a:prstGeom>
          </p:spPr>
          <p:txBody>
            <a:bodyPr anchor="ctr" rtlCol="false" tIns="0" lIns="0" bIns="0" rIns="0"/>
            <a:lstStyle/>
            <a:p>
              <a:pPr algn="l">
                <a:lnSpc>
                  <a:spcPts val="2340"/>
                </a:lnSpc>
              </a:pPr>
              <a:r>
                <a:rPr lang="en-US" sz="1950" b="true">
                  <a:solidFill>
                    <a:srgbClr val="111111"/>
                  </a:solidFill>
                  <a:latin typeface="Arial Bold"/>
                  <a:ea typeface="Arial Bold"/>
                  <a:cs typeface="Arial Bold"/>
                  <a:sym typeface="Arial Bold"/>
                </a:rPr>
                <a:t>Arunoday A K</a:t>
              </a:r>
            </a:p>
            <a:p>
              <a:pPr algn="l">
                <a:lnSpc>
                  <a:spcPts val="2340"/>
                </a:lnSpc>
              </a:pPr>
              <a:r>
                <a:rPr lang="en-US" sz="1950" b="true">
                  <a:solidFill>
                    <a:srgbClr val="111111"/>
                  </a:solidFill>
                  <a:latin typeface="Arial Bold"/>
                  <a:ea typeface="Arial Bold"/>
                  <a:cs typeface="Arial Bold"/>
                  <a:sym typeface="Arial Bold"/>
                </a:rPr>
                <a:t>Achutharaj R</a:t>
              </a:r>
            </a:p>
            <a:p>
              <a:pPr algn="l">
                <a:lnSpc>
                  <a:spcPts val="2340"/>
                </a:lnSpc>
              </a:pPr>
              <a:r>
                <a:rPr lang="en-US" sz="1950" b="true">
                  <a:solidFill>
                    <a:srgbClr val="111111"/>
                  </a:solidFill>
                  <a:latin typeface="Arial Bold"/>
                  <a:ea typeface="Arial Bold"/>
                  <a:cs typeface="Arial Bold"/>
                  <a:sym typeface="Arial Bold"/>
                </a:rPr>
                <a:t>Lokesh D</a:t>
              </a:r>
            </a:p>
            <a:p>
              <a:pPr algn="l">
                <a:lnSpc>
                  <a:spcPts val="2340"/>
                </a:lnSpc>
              </a:pPr>
              <a:r>
                <a:rPr lang="en-US" sz="1950" b="true">
                  <a:solidFill>
                    <a:srgbClr val="111111"/>
                  </a:solidFill>
                  <a:latin typeface="Arial Bold"/>
                  <a:ea typeface="Arial Bold"/>
                  <a:cs typeface="Arial Bold"/>
                  <a:sym typeface="Arial Bold"/>
                </a:rPr>
                <a:t>Abhay Rohit M</a:t>
              </a:r>
            </a:p>
          </p:txBody>
        </p:sp>
      </p:grpSp>
      <p:grpSp>
        <p:nvGrpSpPr>
          <p:cNvPr name="Group 20" id="20"/>
          <p:cNvGrpSpPr/>
          <p:nvPr/>
        </p:nvGrpSpPr>
        <p:grpSpPr>
          <a:xfrm rot="0">
            <a:off x="4594860" y="2537460"/>
            <a:ext cx="3566160" cy="1645920"/>
            <a:chOff x="0" y="0"/>
            <a:chExt cx="4754880" cy="2194560"/>
          </a:xfrm>
        </p:grpSpPr>
        <p:sp>
          <p:nvSpPr>
            <p:cNvPr name="Freeform 21" id="21"/>
            <p:cNvSpPr/>
            <p:nvPr/>
          </p:nvSpPr>
          <p:spPr>
            <a:xfrm flipH="false" flipV="false" rot="0">
              <a:off x="0" y="0"/>
              <a:ext cx="4754880" cy="2194560"/>
            </a:xfrm>
            <a:custGeom>
              <a:avLst/>
              <a:gdLst/>
              <a:ahLst/>
              <a:cxnLst/>
              <a:rect r="r" b="b" t="t" l="l"/>
              <a:pathLst>
                <a:path h="2194560" w="4754880">
                  <a:moveTo>
                    <a:pt x="0" y="0"/>
                  </a:moveTo>
                  <a:lnTo>
                    <a:pt x="4754880" y="0"/>
                  </a:lnTo>
                  <a:lnTo>
                    <a:pt x="4754880" y="2194560"/>
                  </a:lnTo>
                  <a:lnTo>
                    <a:pt x="0" y="2194560"/>
                  </a:lnTo>
                  <a:close/>
                </a:path>
              </a:pathLst>
            </a:custGeom>
            <a:blipFill>
              <a:blip r:embed="rId3">
                <a:alphaModFix amt="0"/>
              </a:blip>
              <a:stretch>
                <a:fillRect l="-9217" t="0" r="-9217" b="0"/>
              </a:stretch>
            </a:blipFill>
          </p:spPr>
        </p:sp>
        <p:sp>
          <p:nvSpPr>
            <p:cNvPr name="TextBox 22" id="22"/>
            <p:cNvSpPr txBox="true"/>
            <p:nvPr/>
          </p:nvSpPr>
          <p:spPr>
            <a:xfrm>
              <a:off x="0" y="-19050"/>
              <a:ext cx="4754880" cy="2213610"/>
            </a:xfrm>
            <a:prstGeom prst="rect">
              <a:avLst/>
            </a:prstGeom>
          </p:spPr>
          <p:txBody>
            <a:bodyPr anchor="ctr" rtlCol="false" tIns="0" lIns="0" bIns="0" rIns="0"/>
            <a:lstStyle/>
            <a:p>
              <a:pPr algn="l">
                <a:lnSpc>
                  <a:spcPts val="2340"/>
                </a:lnSpc>
              </a:pPr>
              <a:r>
                <a:rPr lang="en-US" sz="1950">
                  <a:solidFill>
                    <a:srgbClr val="555555"/>
                  </a:solidFill>
                  <a:latin typeface="Arial"/>
                  <a:ea typeface="Arial"/>
                  <a:cs typeface="Arial"/>
                  <a:sym typeface="Arial"/>
                </a:rPr>
                <a:t>CB.SC.U4AIE23106</a:t>
              </a:r>
            </a:p>
            <a:p>
              <a:pPr algn="l">
                <a:lnSpc>
                  <a:spcPts val="2340"/>
                </a:lnSpc>
              </a:pPr>
              <a:r>
                <a:rPr lang="en-US" sz="1950">
                  <a:solidFill>
                    <a:srgbClr val="555555"/>
                  </a:solidFill>
                  <a:latin typeface="Arial"/>
                  <a:ea typeface="Arial"/>
                  <a:cs typeface="Arial"/>
                  <a:sym typeface="Arial"/>
                </a:rPr>
                <a:t>CB.SC.U4AIE23108</a:t>
              </a:r>
            </a:p>
            <a:p>
              <a:pPr algn="l">
                <a:lnSpc>
                  <a:spcPts val="2340"/>
                </a:lnSpc>
              </a:pPr>
              <a:r>
                <a:rPr lang="en-US" sz="1950">
                  <a:solidFill>
                    <a:srgbClr val="555555"/>
                  </a:solidFill>
                  <a:latin typeface="Arial"/>
                  <a:ea typeface="Arial"/>
                  <a:cs typeface="Arial"/>
                  <a:sym typeface="Arial"/>
                </a:rPr>
                <a:t>CB.SC.U4AIE23123</a:t>
              </a:r>
            </a:p>
            <a:p>
              <a:pPr algn="l">
                <a:lnSpc>
                  <a:spcPts val="2340"/>
                </a:lnSpc>
              </a:pPr>
              <a:r>
                <a:rPr lang="en-US" sz="1950">
                  <a:solidFill>
                    <a:srgbClr val="555555"/>
                  </a:solidFill>
                  <a:latin typeface="Arial"/>
                  <a:ea typeface="Arial"/>
                  <a:cs typeface="Arial"/>
                  <a:sym typeface="Arial"/>
                </a:rPr>
                <a:t>CB.SC.U4AIE23173</a:t>
              </a:r>
            </a:p>
          </p:txBody>
        </p:sp>
      </p:grpSp>
      <p:grpSp>
        <p:nvGrpSpPr>
          <p:cNvPr name="Group 23" id="23"/>
          <p:cNvGrpSpPr/>
          <p:nvPr/>
        </p:nvGrpSpPr>
        <p:grpSpPr>
          <a:xfrm rot="0">
            <a:off x="9875520" y="2125980"/>
            <a:ext cx="6858000" cy="342900"/>
            <a:chOff x="0" y="0"/>
            <a:chExt cx="9144000" cy="457200"/>
          </a:xfrm>
        </p:grpSpPr>
        <p:sp>
          <p:nvSpPr>
            <p:cNvPr name="Freeform 24" id="24"/>
            <p:cNvSpPr/>
            <p:nvPr/>
          </p:nvSpPr>
          <p:spPr>
            <a:xfrm flipH="false" flipV="false" rot="0">
              <a:off x="0" y="0"/>
              <a:ext cx="9144000" cy="457200"/>
            </a:xfrm>
            <a:custGeom>
              <a:avLst/>
              <a:gdLst/>
              <a:ahLst/>
              <a:cxnLst/>
              <a:rect r="r" b="b" t="t" l="l"/>
              <a:pathLst>
                <a:path h="457200" w="9144000">
                  <a:moveTo>
                    <a:pt x="0" y="0"/>
                  </a:moveTo>
                  <a:lnTo>
                    <a:pt x="9144000" y="0"/>
                  </a:lnTo>
                  <a:lnTo>
                    <a:pt x="9144000" y="457200"/>
                  </a:lnTo>
                  <a:lnTo>
                    <a:pt x="0" y="457200"/>
                  </a:lnTo>
                  <a:close/>
                </a:path>
              </a:pathLst>
            </a:custGeom>
            <a:blipFill>
              <a:blip r:embed="rId3">
                <a:alphaModFix amt="0"/>
              </a:blip>
              <a:stretch>
                <a:fillRect l="0" t="-339700" r="0" b="-339700"/>
              </a:stretch>
            </a:blipFill>
          </p:spPr>
        </p:sp>
        <p:sp>
          <p:nvSpPr>
            <p:cNvPr name="TextBox 25" id="25"/>
            <p:cNvSpPr txBox="true"/>
            <p:nvPr/>
          </p:nvSpPr>
          <p:spPr>
            <a:xfrm>
              <a:off x="0" y="-19050"/>
              <a:ext cx="9144000" cy="476250"/>
            </a:xfrm>
            <a:prstGeom prst="rect">
              <a:avLst/>
            </a:prstGeom>
          </p:spPr>
          <p:txBody>
            <a:bodyPr anchor="ctr" rtlCol="false" tIns="0" lIns="0" bIns="0" rIns="0"/>
            <a:lstStyle/>
            <a:p>
              <a:pPr algn="l">
                <a:lnSpc>
                  <a:spcPts val="1800"/>
                </a:lnSpc>
              </a:pPr>
              <a:r>
                <a:rPr lang="en-US" b="true" sz="1500" spc="300">
                  <a:solidFill>
                    <a:srgbClr val="3F8C50"/>
                  </a:solidFill>
                  <a:latin typeface="Arial Bold"/>
                  <a:ea typeface="Arial Bold"/>
                  <a:cs typeface="Arial Bold"/>
                  <a:sym typeface="Arial Bold"/>
                </a:rPr>
                <a:t>GUIDED BY</a:t>
              </a:r>
            </a:p>
          </p:txBody>
        </p:sp>
      </p:grpSp>
      <p:grpSp>
        <p:nvGrpSpPr>
          <p:cNvPr name="Group 26" id="26"/>
          <p:cNvGrpSpPr/>
          <p:nvPr/>
        </p:nvGrpSpPr>
        <p:grpSpPr>
          <a:xfrm rot="0">
            <a:off x="9875520" y="2537460"/>
            <a:ext cx="6858000" cy="1234440"/>
            <a:chOff x="0" y="0"/>
            <a:chExt cx="9144000" cy="1645920"/>
          </a:xfrm>
        </p:grpSpPr>
        <p:sp>
          <p:nvSpPr>
            <p:cNvPr name="Freeform 27" id="27"/>
            <p:cNvSpPr/>
            <p:nvPr/>
          </p:nvSpPr>
          <p:spPr>
            <a:xfrm flipH="false" flipV="false" rot="0">
              <a:off x="0" y="0"/>
              <a:ext cx="9144000" cy="1645920"/>
            </a:xfrm>
            <a:custGeom>
              <a:avLst/>
              <a:gdLst/>
              <a:ahLst/>
              <a:cxnLst/>
              <a:rect r="r" b="b" t="t" l="l"/>
              <a:pathLst>
                <a:path h="1645920" w="9144000">
                  <a:moveTo>
                    <a:pt x="0" y="0"/>
                  </a:moveTo>
                  <a:lnTo>
                    <a:pt x="9144000" y="0"/>
                  </a:lnTo>
                  <a:lnTo>
                    <a:pt x="9144000" y="1645920"/>
                  </a:lnTo>
                  <a:lnTo>
                    <a:pt x="0" y="1645920"/>
                  </a:lnTo>
                  <a:close/>
                </a:path>
              </a:pathLst>
            </a:custGeom>
            <a:blipFill>
              <a:blip r:embed="rId3">
                <a:alphaModFix amt="0"/>
              </a:blip>
              <a:stretch>
                <a:fillRect l="0" t="-58250" r="0" b="-58250"/>
              </a:stretch>
            </a:blipFill>
          </p:spPr>
        </p:sp>
        <p:sp>
          <p:nvSpPr>
            <p:cNvPr name="TextBox 28" id="28"/>
            <p:cNvSpPr txBox="true"/>
            <p:nvPr/>
          </p:nvSpPr>
          <p:spPr>
            <a:xfrm>
              <a:off x="0" y="-19050"/>
              <a:ext cx="9144000" cy="1664970"/>
            </a:xfrm>
            <a:prstGeom prst="rect">
              <a:avLst/>
            </a:prstGeom>
          </p:spPr>
          <p:txBody>
            <a:bodyPr anchor="ctr" rtlCol="false" tIns="0" lIns="0" bIns="0" rIns="0"/>
            <a:lstStyle/>
            <a:p>
              <a:pPr algn="l">
                <a:lnSpc>
                  <a:spcPts val="2340"/>
                </a:lnSpc>
              </a:pPr>
              <a:r>
                <a:rPr lang="en-US" sz="1950" b="true">
                  <a:solidFill>
                    <a:srgbClr val="111111"/>
                  </a:solidFill>
                  <a:latin typeface="Arial Bold"/>
                  <a:ea typeface="Arial Bold"/>
                  <a:cs typeface="Arial Bold"/>
                  <a:sym typeface="Arial Bold"/>
                </a:rPr>
                <a:t>Dr. Palmani Duraisamy</a:t>
              </a:r>
            </a:p>
            <a:p>
              <a:pPr algn="l">
                <a:lnSpc>
                  <a:spcPts val="2340"/>
                </a:lnSpc>
              </a:pPr>
              <a:r>
                <a:rPr lang="en-US" sz="1950">
                  <a:solidFill>
                    <a:srgbClr val="111111"/>
                  </a:solidFill>
                  <a:latin typeface="Arial"/>
                  <a:ea typeface="Arial"/>
                  <a:cs typeface="Arial"/>
                  <a:sym typeface="Arial"/>
                </a:rPr>
                <a:t>Assistant Professor (Sr. Gd.)</a:t>
              </a:r>
            </a:p>
            <a:p>
              <a:pPr algn="l">
                <a:lnSpc>
                  <a:spcPts val="2340"/>
                </a:lnSpc>
              </a:pPr>
              <a:r>
                <a:rPr lang="en-US" sz="1950">
                  <a:solidFill>
                    <a:srgbClr val="111111"/>
                  </a:solidFill>
                  <a:latin typeface="Arial"/>
                  <a:ea typeface="Arial"/>
                  <a:cs typeface="Arial"/>
                  <a:sym typeface="Arial"/>
                </a:rPr>
                <a:t>School of Artificial Intelligence</a:t>
              </a:r>
            </a:p>
          </p:txBody>
        </p:sp>
      </p:grpSp>
      <p:grpSp>
        <p:nvGrpSpPr>
          <p:cNvPr name="Group 29" id="29"/>
          <p:cNvGrpSpPr/>
          <p:nvPr/>
        </p:nvGrpSpPr>
        <p:grpSpPr>
          <a:xfrm rot="0">
            <a:off x="960120" y="4937760"/>
            <a:ext cx="13716000" cy="2606040"/>
            <a:chOff x="0" y="0"/>
            <a:chExt cx="18288000" cy="3474720"/>
          </a:xfrm>
        </p:grpSpPr>
        <p:sp>
          <p:nvSpPr>
            <p:cNvPr name="Freeform 30" id="30"/>
            <p:cNvSpPr/>
            <p:nvPr/>
          </p:nvSpPr>
          <p:spPr>
            <a:xfrm flipH="false" flipV="false" rot="0">
              <a:off x="0" y="0"/>
              <a:ext cx="18288000" cy="3474720"/>
            </a:xfrm>
            <a:custGeom>
              <a:avLst/>
              <a:gdLst/>
              <a:ahLst/>
              <a:cxnLst/>
              <a:rect r="r" b="b" t="t" l="l"/>
              <a:pathLst>
                <a:path h="3474720" w="18288000">
                  <a:moveTo>
                    <a:pt x="0" y="0"/>
                  </a:moveTo>
                  <a:lnTo>
                    <a:pt x="18288000" y="0"/>
                  </a:lnTo>
                  <a:lnTo>
                    <a:pt x="18288000" y="3474720"/>
                  </a:lnTo>
                  <a:lnTo>
                    <a:pt x="0" y="3474720"/>
                  </a:lnTo>
                  <a:close/>
                </a:path>
              </a:pathLst>
            </a:custGeom>
            <a:blipFill>
              <a:blip r:embed="rId3">
                <a:alphaModFix amt="0"/>
              </a:blip>
              <a:stretch>
                <a:fillRect l="0" t="-52552" r="0" b="-52552"/>
              </a:stretch>
            </a:blipFill>
          </p:spPr>
        </p:sp>
        <p:sp>
          <p:nvSpPr>
            <p:cNvPr name="TextBox 31" id="31"/>
            <p:cNvSpPr txBox="true"/>
            <p:nvPr/>
          </p:nvSpPr>
          <p:spPr>
            <a:xfrm>
              <a:off x="0" y="-47625"/>
              <a:ext cx="18288000" cy="3522345"/>
            </a:xfrm>
            <a:prstGeom prst="rect">
              <a:avLst/>
            </a:prstGeom>
          </p:spPr>
          <p:txBody>
            <a:bodyPr anchor="b" rtlCol="false" tIns="0" lIns="0" bIns="0" rIns="0"/>
            <a:lstStyle/>
            <a:p>
              <a:pPr algn="l">
                <a:lnSpc>
                  <a:spcPts val="17280"/>
                </a:lnSpc>
              </a:pPr>
              <a:r>
                <a:rPr lang="en-US" sz="14400">
                  <a:solidFill>
                    <a:srgbClr val="111111"/>
                  </a:solidFill>
                  <a:latin typeface="Arial"/>
                  <a:ea typeface="Arial"/>
                  <a:cs typeface="Arial"/>
                  <a:sym typeface="Arial"/>
                </a:rPr>
                <a:t>KATALYZE</a:t>
              </a:r>
            </a:p>
          </p:txBody>
        </p:sp>
      </p:grpSp>
      <p:grpSp>
        <p:nvGrpSpPr>
          <p:cNvPr name="Group 32" id="32"/>
          <p:cNvGrpSpPr/>
          <p:nvPr/>
        </p:nvGrpSpPr>
        <p:grpSpPr>
          <a:xfrm rot="0">
            <a:off x="1019175" y="8151495"/>
            <a:ext cx="11403330" cy="773430"/>
            <a:chOff x="0" y="0"/>
            <a:chExt cx="15204440" cy="1031240"/>
          </a:xfrm>
        </p:grpSpPr>
        <p:sp>
          <p:nvSpPr>
            <p:cNvPr name="Freeform 33" id="33"/>
            <p:cNvSpPr/>
            <p:nvPr/>
          </p:nvSpPr>
          <p:spPr>
            <a:xfrm flipH="false" flipV="false" rot="0">
              <a:off x="0" y="0"/>
              <a:ext cx="15204441" cy="1031240"/>
            </a:xfrm>
            <a:custGeom>
              <a:avLst/>
              <a:gdLst/>
              <a:ahLst/>
              <a:cxnLst/>
              <a:rect r="r" b="b" t="t" l="l"/>
              <a:pathLst>
                <a:path h="1031240" w="15204441">
                  <a:moveTo>
                    <a:pt x="0" y="149987"/>
                  </a:moveTo>
                  <a:cubicBezTo>
                    <a:pt x="0" y="67183"/>
                    <a:pt x="67183" y="0"/>
                    <a:pt x="149987" y="0"/>
                  </a:cubicBezTo>
                  <a:lnTo>
                    <a:pt x="15054453" y="0"/>
                  </a:lnTo>
                  <a:cubicBezTo>
                    <a:pt x="15137257" y="0"/>
                    <a:pt x="15204441" y="67183"/>
                    <a:pt x="15204441" y="149987"/>
                  </a:cubicBezTo>
                  <a:lnTo>
                    <a:pt x="15204441" y="881253"/>
                  </a:lnTo>
                  <a:cubicBezTo>
                    <a:pt x="15204441" y="964057"/>
                    <a:pt x="15137257" y="1031240"/>
                    <a:pt x="15054453" y="1031240"/>
                  </a:cubicBezTo>
                  <a:lnTo>
                    <a:pt x="149987" y="1031240"/>
                  </a:lnTo>
                  <a:cubicBezTo>
                    <a:pt x="67183" y="1031240"/>
                    <a:pt x="0" y="964057"/>
                    <a:pt x="0" y="881253"/>
                  </a:cubicBezTo>
                  <a:close/>
                </a:path>
              </a:pathLst>
            </a:custGeom>
            <a:solidFill>
              <a:srgbClr val="DDE5DF"/>
            </a:solidFill>
            <a:ln w="19050" cap="sq">
              <a:solidFill>
                <a:srgbClr val="DDE5DF"/>
              </a:solidFill>
              <a:prstDash val="solid"/>
              <a:miter/>
            </a:ln>
          </p:spPr>
        </p:sp>
      </p:grpSp>
      <p:grpSp>
        <p:nvGrpSpPr>
          <p:cNvPr name="Group 34" id="34"/>
          <p:cNvGrpSpPr/>
          <p:nvPr/>
        </p:nvGrpSpPr>
        <p:grpSpPr>
          <a:xfrm rot="0">
            <a:off x="1440180" y="8161020"/>
            <a:ext cx="10561320" cy="754380"/>
            <a:chOff x="0" y="0"/>
            <a:chExt cx="14081760" cy="1005840"/>
          </a:xfrm>
        </p:grpSpPr>
        <p:sp>
          <p:nvSpPr>
            <p:cNvPr name="Freeform 35" id="35"/>
            <p:cNvSpPr/>
            <p:nvPr/>
          </p:nvSpPr>
          <p:spPr>
            <a:xfrm flipH="false" flipV="false" rot="0">
              <a:off x="0" y="0"/>
              <a:ext cx="14081761" cy="1005840"/>
            </a:xfrm>
            <a:custGeom>
              <a:avLst/>
              <a:gdLst/>
              <a:ahLst/>
              <a:cxnLst/>
              <a:rect r="r" b="b" t="t" l="l"/>
              <a:pathLst>
                <a:path h="1005840" w="14081761">
                  <a:moveTo>
                    <a:pt x="0" y="0"/>
                  </a:moveTo>
                  <a:lnTo>
                    <a:pt x="14081761" y="0"/>
                  </a:lnTo>
                  <a:lnTo>
                    <a:pt x="14081761" y="1005840"/>
                  </a:lnTo>
                  <a:lnTo>
                    <a:pt x="0" y="1005840"/>
                  </a:lnTo>
                  <a:close/>
                </a:path>
              </a:pathLst>
            </a:custGeom>
            <a:blipFill>
              <a:blip r:embed="rId3">
                <a:alphaModFix amt="0"/>
              </a:blip>
              <a:stretch>
                <a:fillRect l="0" t="-222790" r="0" b="-222790"/>
              </a:stretch>
            </a:blipFill>
          </p:spPr>
        </p:sp>
        <p:sp>
          <p:nvSpPr>
            <p:cNvPr name="TextBox 36" id="36"/>
            <p:cNvSpPr txBox="true"/>
            <p:nvPr/>
          </p:nvSpPr>
          <p:spPr>
            <a:xfrm>
              <a:off x="0" y="-19050"/>
              <a:ext cx="14081760" cy="1024890"/>
            </a:xfrm>
            <a:prstGeom prst="rect">
              <a:avLst/>
            </a:prstGeom>
          </p:spPr>
          <p:txBody>
            <a:bodyPr anchor="ctr" rtlCol="false" tIns="0" lIns="0" bIns="0" rIns="0"/>
            <a:lstStyle/>
            <a:p>
              <a:pPr algn="l">
                <a:lnSpc>
                  <a:spcPts val="2700"/>
                </a:lnSpc>
              </a:pPr>
              <a:r>
                <a:rPr lang="en-US" sz="2250" i="true">
                  <a:solidFill>
                    <a:srgbClr val="111111"/>
                  </a:solidFill>
                  <a:latin typeface="Arial Italics"/>
                  <a:ea typeface="Arial Italics"/>
                  <a:cs typeface="Arial Italics"/>
                  <a:sym typeface="Arial Italics"/>
                </a:rPr>
                <a:t>An Autonomous Testing Agent for Functional Bugs in Web Applications</a:t>
              </a:r>
            </a:p>
          </p:txBody>
        </p:sp>
      </p:grpSp>
      <p:sp>
        <p:nvSpPr>
          <p:cNvPr name="AutoShape 37" id="37"/>
          <p:cNvSpPr/>
          <p:nvPr/>
        </p:nvSpPr>
        <p:spPr>
          <a:xfrm rot="2700000">
            <a:off x="14297054" y="7555611"/>
            <a:ext cx="3405311" cy="0"/>
          </a:xfrm>
          <a:prstGeom prst="line">
            <a:avLst/>
          </a:prstGeom>
          <a:ln cap="rnd" w="209550">
            <a:solidFill>
              <a:srgbClr val="111111"/>
            </a:solidFill>
            <a:prstDash val="solid"/>
            <a:headEnd type="none" len="sm" w="sm"/>
            <a:tailEnd type="none" len="sm" w="sm"/>
          </a:ln>
        </p:spPr>
      </p:sp>
      <p:grpSp>
        <p:nvGrpSpPr>
          <p:cNvPr name="Group 38" id="38"/>
          <p:cNvGrpSpPr/>
          <p:nvPr/>
        </p:nvGrpSpPr>
        <p:grpSpPr>
          <a:xfrm rot="0">
            <a:off x="15352395" y="8576691"/>
            <a:ext cx="1911858" cy="348234"/>
            <a:chOff x="0" y="0"/>
            <a:chExt cx="2549144" cy="464312"/>
          </a:xfrm>
        </p:grpSpPr>
        <p:sp>
          <p:nvSpPr>
            <p:cNvPr name="Freeform 39" id="39"/>
            <p:cNvSpPr/>
            <p:nvPr/>
          </p:nvSpPr>
          <p:spPr>
            <a:xfrm flipH="false" flipV="false" rot="0">
              <a:off x="0" y="0"/>
              <a:ext cx="2549144" cy="464312"/>
            </a:xfrm>
            <a:custGeom>
              <a:avLst/>
              <a:gdLst/>
              <a:ahLst/>
              <a:cxnLst/>
              <a:rect r="r" b="b" t="t" l="l"/>
              <a:pathLst>
                <a:path h="464312" w="2549144">
                  <a:moveTo>
                    <a:pt x="0" y="0"/>
                  </a:moveTo>
                  <a:lnTo>
                    <a:pt x="2549144" y="0"/>
                  </a:lnTo>
                  <a:lnTo>
                    <a:pt x="2549144" y="464312"/>
                  </a:lnTo>
                  <a:lnTo>
                    <a:pt x="0" y="464312"/>
                  </a:lnTo>
                  <a:close/>
                </a:path>
              </a:pathLst>
            </a:custGeom>
            <a:solidFill>
              <a:srgbClr val="111111"/>
            </a:solidFill>
            <a:ln w="19050" cap="sq">
              <a:solidFill>
                <a:srgbClr val="111111"/>
              </a:solidFill>
              <a:prstDash val="solid"/>
              <a:miter/>
            </a:ln>
          </p:spPr>
        </p:sp>
      </p:grpSp>
      <p:grpSp>
        <p:nvGrpSpPr>
          <p:cNvPr name="Group 40" id="40"/>
          <p:cNvGrpSpPr/>
          <p:nvPr/>
        </p:nvGrpSpPr>
        <p:grpSpPr>
          <a:xfrm rot="0">
            <a:off x="16916019" y="6491859"/>
            <a:ext cx="348234" cy="2433066"/>
            <a:chOff x="0" y="0"/>
            <a:chExt cx="464312" cy="3244088"/>
          </a:xfrm>
        </p:grpSpPr>
        <p:sp>
          <p:nvSpPr>
            <p:cNvPr name="Freeform 41" id="41"/>
            <p:cNvSpPr/>
            <p:nvPr/>
          </p:nvSpPr>
          <p:spPr>
            <a:xfrm flipH="false" flipV="false" rot="0">
              <a:off x="0" y="0"/>
              <a:ext cx="464312" cy="3244088"/>
            </a:xfrm>
            <a:custGeom>
              <a:avLst/>
              <a:gdLst/>
              <a:ahLst/>
              <a:cxnLst/>
              <a:rect r="r" b="b" t="t" l="l"/>
              <a:pathLst>
                <a:path h="3244088" w="464312">
                  <a:moveTo>
                    <a:pt x="0" y="0"/>
                  </a:moveTo>
                  <a:lnTo>
                    <a:pt x="464312" y="0"/>
                  </a:lnTo>
                  <a:lnTo>
                    <a:pt x="464312" y="3244088"/>
                  </a:lnTo>
                  <a:lnTo>
                    <a:pt x="0" y="3244088"/>
                  </a:lnTo>
                  <a:close/>
                </a:path>
              </a:pathLst>
            </a:custGeom>
            <a:solidFill>
              <a:srgbClr val="111111"/>
            </a:solidFill>
            <a:ln w="19050" cap="sq">
              <a:solidFill>
                <a:srgbClr val="111111"/>
              </a:solidFill>
              <a:prstDash val="solid"/>
              <a:miter/>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INTRODUCTION</a:t>
            </a:r>
          </a:p>
        </p:txBody>
      </p:sp>
      <p:grpSp>
        <p:nvGrpSpPr>
          <p:cNvPr name="Group 15" id="15"/>
          <p:cNvGrpSpPr/>
          <p:nvPr/>
        </p:nvGrpSpPr>
        <p:grpSpPr>
          <a:xfrm rot="0">
            <a:off x="1028700" y="2743200"/>
            <a:ext cx="8778240" cy="548640"/>
            <a:chOff x="0" y="0"/>
            <a:chExt cx="11704320" cy="731520"/>
          </a:xfrm>
        </p:grpSpPr>
        <p:sp>
          <p:nvSpPr>
            <p:cNvPr name="Freeform 16" id="16"/>
            <p:cNvSpPr/>
            <p:nvPr/>
          </p:nvSpPr>
          <p:spPr>
            <a:xfrm flipH="false" flipV="false" rot="0">
              <a:off x="0" y="0"/>
              <a:ext cx="11704320" cy="731520"/>
            </a:xfrm>
            <a:custGeom>
              <a:avLst/>
              <a:gdLst/>
              <a:ahLst/>
              <a:cxnLst/>
              <a:rect r="r" b="b" t="t" l="l"/>
              <a:pathLst>
                <a:path h="731520" w="11704320">
                  <a:moveTo>
                    <a:pt x="0" y="0"/>
                  </a:moveTo>
                  <a:lnTo>
                    <a:pt x="11704320" y="0"/>
                  </a:lnTo>
                  <a:lnTo>
                    <a:pt x="11704320" y="731520"/>
                  </a:lnTo>
                  <a:lnTo>
                    <a:pt x="0" y="731520"/>
                  </a:lnTo>
                  <a:close/>
                </a:path>
              </a:pathLst>
            </a:custGeom>
            <a:blipFill>
              <a:blip r:embed="rId3">
                <a:alphaModFix amt="0"/>
              </a:blip>
              <a:stretch>
                <a:fillRect l="0" t="-261760" r="0" b="-261760"/>
              </a:stretch>
            </a:blipFill>
          </p:spPr>
        </p:sp>
        <p:sp>
          <p:nvSpPr>
            <p:cNvPr name="TextBox 17" id="17"/>
            <p:cNvSpPr txBox="true"/>
            <p:nvPr/>
          </p:nvSpPr>
          <p:spPr>
            <a:xfrm>
              <a:off x="0" y="-19050"/>
              <a:ext cx="11704320" cy="750570"/>
            </a:xfrm>
            <a:prstGeom prst="rect">
              <a:avLst/>
            </a:prstGeom>
          </p:spPr>
          <p:txBody>
            <a:bodyPr anchor="ctr" rtlCol="false" tIns="0" lIns="0" bIns="0" rIns="0"/>
            <a:lstStyle/>
            <a:p>
              <a:pPr algn="l">
                <a:lnSpc>
                  <a:spcPts val="3600"/>
                </a:lnSpc>
              </a:pPr>
              <a:r>
                <a:rPr lang="en-US" sz="3000" b="true">
                  <a:solidFill>
                    <a:srgbClr val="00461A"/>
                  </a:solidFill>
                  <a:latin typeface="Arial Bold"/>
                  <a:ea typeface="Arial Bold"/>
                  <a:cs typeface="Arial Bold"/>
                  <a:sym typeface="Arial Bold"/>
                </a:rPr>
                <a:t>Web Application Testing &amp; Functional Bugs</a:t>
              </a:r>
            </a:p>
          </p:txBody>
        </p:sp>
      </p:grpSp>
      <p:sp>
        <p:nvSpPr>
          <p:cNvPr name="TextBox 18" id="18"/>
          <p:cNvSpPr txBox="true"/>
          <p:nvPr/>
        </p:nvSpPr>
        <p:spPr>
          <a:xfrm rot="0">
            <a:off x="1028700" y="3577590"/>
            <a:ext cx="8641080" cy="4583430"/>
          </a:xfrm>
          <a:prstGeom prst="rect">
            <a:avLst/>
          </a:prstGeom>
        </p:spPr>
        <p:txBody>
          <a:bodyPr anchor="t" rtlCol="false" tIns="0" lIns="0" bIns="0" rIns="0">
            <a:spAutoFit/>
          </a:bodyPr>
          <a:lstStyle/>
          <a:p>
            <a:pPr algn="l">
              <a:lnSpc>
                <a:spcPts val="3104"/>
              </a:lnSpc>
            </a:pPr>
            <a:r>
              <a:rPr lang="en-US" sz="2250">
                <a:solidFill>
                  <a:srgbClr val="111111"/>
                </a:solidFill>
                <a:latin typeface="Arial"/>
                <a:ea typeface="Arial"/>
                <a:cs typeface="Arial"/>
                <a:sym typeface="Arial"/>
              </a:rPr>
              <a:t>Web applications are tested to ensure that their features, workflows, and user interactions behave as intended. Web testing involves systematically evaluating an application's functionality, validating outputs, and checking whether user actions produce the expected results.</a:t>
            </a:r>
          </a:p>
          <a:p>
            <a:pPr algn="l">
              <a:lnSpc>
                <a:spcPts val="3104"/>
              </a:lnSpc>
            </a:pPr>
            <a:r>
              <a:rPr lang="en-US" sz="2250">
                <a:solidFill>
                  <a:srgbClr val="111111"/>
                </a:solidFill>
                <a:latin typeface="Arial"/>
                <a:ea typeface="Arial"/>
                <a:cs typeface="Arial"/>
                <a:sym typeface="Arial"/>
              </a:rPr>
              <a:t>Functional bugs occur when an application feature does not behave according to its intended requirements. These defects can affect individual operations or emerge across sequences of user interactions.</a:t>
            </a:r>
          </a:p>
        </p:txBody>
      </p:sp>
      <p:grpSp>
        <p:nvGrpSpPr>
          <p:cNvPr name="Group 19" id="19"/>
          <p:cNvGrpSpPr/>
          <p:nvPr/>
        </p:nvGrpSpPr>
        <p:grpSpPr>
          <a:xfrm rot="0">
            <a:off x="10346055" y="1636395"/>
            <a:ext cx="6918198" cy="6671310"/>
            <a:chOff x="0" y="0"/>
            <a:chExt cx="9224264" cy="8895080"/>
          </a:xfrm>
        </p:grpSpPr>
        <p:sp>
          <p:nvSpPr>
            <p:cNvPr name="Freeform 20" id="20"/>
            <p:cNvSpPr/>
            <p:nvPr/>
          </p:nvSpPr>
          <p:spPr>
            <a:xfrm flipH="false" flipV="false" rot="0">
              <a:off x="0" y="0"/>
              <a:ext cx="9224264" cy="8895080"/>
            </a:xfrm>
            <a:custGeom>
              <a:avLst/>
              <a:gdLst/>
              <a:ahLst/>
              <a:cxnLst/>
              <a:rect r="r" b="b" t="t" l="l"/>
              <a:pathLst>
                <a:path h="8895080" w="9224264">
                  <a:moveTo>
                    <a:pt x="0" y="403479"/>
                  </a:moveTo>
                  <a:cubicBezTo>
                    <a:pt x="0" y="180594"/>
                    <a:pt x="180594" y="0"/>
                    <a:pt x="403479" y="0"/>
                  </a:cubicBezTo>
                  <a:lnTo>
                    <a:pt x="8820785" y="0"/>
                  </a:lnTo>
                  <a:cubicBezTo>
                    <a:pt x="9043670" y="0"/>
                    <a:pt x="9224264" y="180594"/>
                    <a:pt x="9224264" y="403479"/>
                  </a:cubicBezTo>
                  <a:lnTo>
                    <a:pt x="9224264" y="8491601"/>
                  </a:lnTo>
                  <a:cubicBezTo>
                    <a:pt x="9224264" y="8714486"/>
                    <a:pt x="9043670" y="8895080"/>
                    <a:pt x="8820785" y="8895080"/>
                  </a:cubicBezTo>
                  <a:lnTo>
                    <a:pt x="403479" y="8895080"/>
                  </a:lnTo>
                  <a:cubicBezTo>
                    <a:pt x="180594" y="8895080"/>
                    <a:pt x="0" y="8714486"/>
                    <a:pt x="0" y="8491601"/>
                  </a:cubicBezTo>
                  <a:close/>
                </a:path>
              </a:pathLst>
            </a:custGeom>
            <a:solidFill>
              <a:srgbClr val="00461A"/>
            </a:solidFill>
            <a:ln w="19050" cap="sq">
              <a:solidFill>
                <a:srgbClr val="00461A"/>
              </a:solidFill>
              <a:prstDash val="solid"/>
              <a:miter/>
            </a:ln>
          </p:spPr>
        </p:sp>
      </p:grpSp>
      <p:grpSp>
        <p:nvGrpSpPr>
          <p:cNvPr name="Group 21" id="21"/>
          <p:cNvGrpSpPr/>
          <p:nvPr/>
        </p:nvGrpSpPr>
        <p:grpSpPr>
          <a:xfrm rot="0">
            <a:off x="10904220" y="2029968"/>
            <a:ext cx="5897880" cy="548640"/>
            <a:chOff x="0" y="0"/>
            <a:chExt cx="7863840" cy="731520"/>
          </a:xfrm>
        </p:grpSpPr>
        <p:sp>
          <p:nvSpPr>
            <p:cNvPr name="Freeform 22" id="22"/>
            <p:cNvSpPr/>
            <p:nvPr/>
          </p:nvSpPr>
          <p:spPr>
            <a:xfrm flipH="false" flipV="false" rot="0">
              <a:off x="0" y="0"/>
              <a:ext cx="7863840" cy="731520"/>
            </a:xfrm>
            <a:custGeom>
              <a:avLst/>
              <a:gdLst/>
              <a:ahLst/>
              <a:cxnLst/>
              <a:rect r="r" b="b" t="t" l="l"/>
              <a:pathLst>
                <a:path h="731520" w="7863840">
                  <a:moveTo>
                    <a:pt x="0" y="0"/>
                  </a:moveTo>
                  <a:lnTo>
                    <a:pt x="7863840" y="0"/>
                  </a:lnTo>
                  <a:lnTo>
                    <a:pt x="7863840" y="731520"/>
                  </a:lnTo>
                  <a:lnTo>
                    <a:pt x="0" y="731520"/>
                  </a:lnTo>
                  <a:close/>
                </a:path>
              </a:pathLst>
            </a:custGeom>
            <a:blipFill>
              <a:blip r:embed="rId3">
                <a:alphaModFix amt="0"/>
              </a:blip>
              <a:stretch>
                <a:fillRect l="0" t="-159464" r="0" b="-159464"/>
              </a:stretch>
            </a:blipFill>
          </p:spPr>
        </p:sp>
        <p:sp>
          <p:nvSpPr>
            <p:cNvPr name="TextBox 23" id="23"/>
            <p:cNvSpPr txBox="true"/>
            <p:nvPr/>
          </p:nvSpPr>
          <p:spPr>
            <a:xfrm>
              <a:off x="0" y="-19050"/>
              <a:ext cx="7863840" cy="750570"/>
            </a:xfrm>
            <a:prstGeom prst="rect">
              <a:avLst/>
            </a:prstGeom>
          </p:spPr>
          <p:txBody>
            <a:bodyPr anchor="ctr" rtlCol="false" tIns="0" lIns="0" bIns="0" rIns="0"/>
            <a:lstStyle/>
            <a:p>
              <a:pPr algn="l">
                <a:lnSpc>
                  <a:spcPts val="3240"/>
                </a:lnSpc>
              </a:pPr>
              <a:r>
                <a:rPr lang="en-US" sz="2700" b="true">
                  <a:solidFill>
                    <a:srgbClr val="FFFFFF"/>
                  </a:solidFill>
                  <a:latin typeface="Arial Bold"/>
                  <a:ea typeface="Arial Bold"/>
                  <a:cs typeface="Arial Bold"/>
                  <a:sym typeface="Arial Bold"/>
                </a:rPr>
                <a:t>Examples of functional bugs</a:t>
              </a:r>
            </a:p>
          </p:txBody>
        </p:sp>
      </p:grpSp>
      <p:grpSp>
        <p:nvGrpSpPr>
          <p:cNvPr name="Group 24" id="24"/>
          <p:cNvGrpSpPr/>
          <p:nvPr/>
        </p:nvGrpSpPr>
        <p:grpSpPr>
          <a:xfrm rot="0">
            <a:off x="10904220" y="2880360"/>
            <a:ext cx="5801868" cy="438912"/>
            <a:chOff x="0" y="0"/>
            <a:chExt cx="7735824" cy="585216"/>
          </a:xfrm>
        </p:grpSpPr>
        <p:sp>
          <p:nvSpPr>
            <p:cNvPr name="Freeform 25" id="25"/>
            <p:cNvSpPr/>
            <p:nvPr/>
          </p:nvSpPr>
          <p:spPr>
            <a:xfrm flipH="false" flipV="false" rot="0">
              <a:off x="0" y="0"/>
              <a:ext cx="7735824" cy="585216"/>
            </a:xfrm>
            <a:custGeom>
              <a:avLst/>
              <a:gdLst/>
              <a:ahLst/>
              <a:cxnLst/>
              <a:rect r="r" b="b" t="t" l="l"/>
              <a:pathLst>
                <a:path h="585216" w="7735824">
                  <a:moveTo>
                    <a:pt x="0" y="0"/>
                  </a:moveTo>
                  <a:lnTo>
                    <a:pt x="7735824" y="0"/>
                  </a:lnTo>
                  <a:lnTo>
                    <a:pt x="7735824" y="585216"/>
                  </a:lnTo>
                  <a:lnTo>
                    <a:pt x="0" y="585216"/>
                  </a:lnTo>
                  <a:close/>
                </a:path>
              </a:pathLst>
            </a:custGeom>
            <a:blipFill>
              <a:blip r:embed="rId3">
                <a:alphaModFix amt="0"/>
              </a:blip>
              <a:stretch>
                <a:fillRect l="0" t="-207567" r="0" b="-207567"/>
              </a:stretch>
            </a:blipFill>
          </p:spPr>
        </p:sp>
        <p:sp>
          <p:nvSpPr>
            <p:cNvPr name="TextBox 26" id="26"/>
            <p:cNvSpPr txBox="true"/>
            <p:nvPr/>
          </p:nvSpPr>
          <p:spPr>
            <a:xfrm>
              <a:off x="0" y="-19050"/>
              <a:ext cx="7735824" cy="604266"/>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Incorrect calculations</a:t>
              </a:r>
            </a:p>
          </p:txBody>
        </p:sp>
      </p:grpSp>
      <p:sp>
        <p:nvSpPr>
          <p:cNvPr name="TextBox 27" id="27"/>
          <p:cNvSpPr txBox="true"/>
          <p:nvPr/>
        </p:nvSpPr>
        <p:spPr>
          <a:xfrm rot="0">
            <a:off x="10904220" y="3313938"/>
            <a:ext cx="5801868" cy="636270"/>
          </a:xfrm>
          <a:prstGeom prst="rect">
            <a:avLst/>
          </a:prstGeom>
        </p:spPr>
        <p:txBody>
          <a:bodyPr anchor="t" rtlCol="false" tIns="0" lIns="0" bIns="0" rIns="0">
            <a:spAutoFit/>
          </a:bodyPr>
          <a:lstStyle/>
          <a:p>
            <a:pPr algn="l">
              <a:lnSpc>
                <a:spcPts val="2340"/>
              </a:lnSpc>
            </a:pPr>
            <a:r>
              <a:rPr lang="en-US" sz="1950">
                <a:solidFill>
                  <a:srgbClr val="E9EEEA"/>
                </a:solidFill>
                <a:latin typeface="Arial"/>
                <a:ea typeface="Arial"/>
                <a:cs typeface="Arial"/>
                <a:sym typeface="Arial"/>
              </a:rPr>
              <a:t>Cart totals or prices are updated incorrectly.</a:t>
            </a:r>
          </a:p>
        </p:txBody>
      </p:sp>
      <p:sp>
        <p:nvSpPr>
          <p:cNvPr name="AutoShape 28" id="28"/>
          <p:cNvSpPr/>
          <p:nvPr/>
        </p:nvSpPr>
        <p:spPr>
          <a:xfrm rot="8460">
            <a:off x="10897067" y="4041458"/>
            <a:ext cx="5816175" cy="0"/>
          </a:xfrm>
          <a:prstGeom prst="line">
            <a:avLst/>
          </a:prstGeom>
          <a:ln cap="rnd" w="9525">
            <a:solidFill>
              <a:srgbClr val="3F8C50"/>
            </a:solidFill>
            <a:prstDash val="solid"/>
            <a:headEnd type="none" len="sm" w="sm"/>
            <a:tailEnd type="none" len="sm" w="sm"/>
          </a:ln>
        </p:spPr>
      </p:sp>
      <p:grpSp>
        <p:nvGrpSpPr>
          <p:cNvPr name="Group 29" id="29"/>
          <p:cNvGrpSpPr/>
          <p:nvPr/>
        </p:nvGrpSpPr>
        <p:grpSpPr>
          <a:xfrm rot="0">
            <a:off x="10904220" y="4183380"/>
            <a:ext cx="5801868" cy="438912"/>
            <a:chOff x="0" y="0"/>
            <a:chExt cx="7735824" cy="585216"/>
          </a:xfrm>
        </p:grpSpPr>
        <p:sp>
          <p:nvSpPr>
            <p:cNvPr name="Freeform 30" id="30"/>
            <p:cNvSpPr/>
            <p:nvPr/>
          </p:nvSpPr>
          <p:spPr>
            <a:xfrm flipH="false" flipV="false" rot="0">
              <a:off x="0" y="0"/>
              <a:ext cx="7735824" cy="585216"/>
            </a:xfrm>
            <a:custGeom>
              <a:avLst/>
              <a:gdLst/>
              <a:ahLst/>
              <a:cxnLst/>
              <a:rect r="r" b="b" t="t" l="l"/>
              <a:pathLst>
                <a:path h="585216" w="7735824">
                  <a:moveTo>
                    <a:pt x="0" y="0"/>
                  </a:moveTo>
                  <a:lnTo>
                    <a:pt x="7735824" y="0"/>
                  </a:lnTo>
                  <a:lnTo>
                    <a:pt x="7735824" y="585216"/>
                  </a:lnTo>
                  <a:lnTo>
                    <a:pt x="0" y="585216"/>
                  </a:lnTo>
                  <a:close/>
                </a:path>
              </a:pathLst>
            </a:custGeom>
            <a:blipFill>
              <a:blip r:embed="rId3">
                <a:alphaModFix amt="0"/>
              </a:blip>
              <a:stretch>
                <a:fillRect l="0" t="-207567" r="0" b="-207567"/>
              </a:stretch>
            </a:blipFill>
          </p:spPr>
        </p:sp>
        <p:sp>
          <p:nvSpPr>
            <p:cNvPr name="TextBox 31" id="31"/>
            <p:cNvSpPr txBox="true"/>
            <p:nvPr/>
          </p:nvSpPr>
          <p:spPr>
            <a:xfrm>
              <a:off x="0" y="-19050"/>
              <a:ext cx="7735824" cy="604266"/>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Validation failures</a:t>
              </a:r>
            </a:p>
          </p:txBody>
        </p:sp>
      </p:grpSp>
      <p:sp>
        <p:nvSpPr>
          <p:cNvPr name="TextBox 32" id="32"/>
          <p:cNvSpPr txBox="true"/>
          <p:nvPr/>
        </p:nvSpPr>
        <p:spPr>
          <a:xfrm rot="0">
            <a:off x="10904220" y="4616958"/>
            <a:ext cx="5801868" cy="636270"/>
          </a:xfrm>
          <a:prstGeom prst="rect">
            <a:avLst/>
          </a:prstGeom>
        </p:spPr>
        <p:txBody>
          <a:bodyPr anchor="t" rtlCol="false" tIns="0" lIns="0" bIns="0" rIns="0">
            <a:spAutoFit/>
          </a:bodyPr>
          <a:lstStyle/>
          <a:p>
            <a:pPr algn="l">
              <a:lnSpc>
                <a:spcPts val="2340"/>
              </a:lnSpc>
            </a:pPr>
            <a:r>
              <a:rPr lang="en-US" sz="1950">
                <a:solidFill>
                  <a:srgbClr val="E9EEEA"/>
                </a:solidFill>
                <a:latin typeface="Arial"/>
                <a:ea typeface="Arial"/>
                <a:cs typeface="Arial"/>
                <a:sym typeface="Arial"/>
              </a:rPr>
              <a:t>Invalid inputs are accepted, or valid inputs are rejected.</a:t>
            </a:r>
          </a:p>
        </p:txBody>
      </p:sp>
      <p:sp>
        <p:nvSpPr>
          <p:cNvPr name="AutoShape 33" id="33"/>
          <p:cNvSpPr/>
          <p:nvPr/>
        </p:nvSpPr>
        <p:spPr>
          <a:xfrm rot="8460">
            <a:off x="10897067" y="5344478"/>
            <a:ext cx="5816175" cy="0"/>
          </a:xfrm>
          <a:prstGeom prst="line">
            <a:avLst/>
          </a:prstGeom>
          <a:ln cap="rnd" w="9525">
            <a:solidFill>
              <a:srgbClr val="3F8C50"/>
            </a:solidFill>
            <a:prstDash val="solid"/>
            <a:headEnd type="none" len="sm" w="sm"/>
            <a:tailEnd type="none" len="sm" w="sm"/>
          </a:ln>
        </p:spPr>
      </p:sp>
      <p:grpSp>
        <p:nvGrpSpPr>
          <p:cNvPr name="Group 34" id="34"/>
          <p:cNvGrpSpPr/>
          <p:nvPr/>
        </p:nvGrpSpPr>
        <p:grpSpPr>
          <a:xfrm rot="0">
            <a:off x="10904220" y="5486400"/>
            <a:ext cx="5801868" cy="438912"/>
            <a:chOff x="0" y="0"/>
            <a:chExt cx="7735824" cy="585216"/>
          </a:xfrm>
        </p:grpSpPr>
        <p:sp>
          <p:nvSpPr>
            <p:cNvPr name="Freeform 35" id="35"/>
            <p:cNvSpPr/>
            <p:nvPr/>
          </p:nvSpPr>
          <p:spPr>
            <a:xfrm flipH="false" flipV="false" rot="0">
              <a:off x="0" y="0"/>
              <a:ext cx="7735824" cy="585216"/>
            </a:xfrm>
            <a:custGeom>
              <a:avLst/>
              <a:gdLst/>
              <a:ahLst/>
              <a:cxnLst/>
              <a:rect r="r" b="b" t="t" l="l"/>
              <a:pathLst>
                <a:path h="585216" w="7735824">
                  <a:moveTo>
                    <a:pt x="0" y="0"/>
                  </a:moveTo>
                  <a:lnTo>
                    <a:pt x="7735824" y="0"/>
                  </a:lnTo>
                  <a:lnTo>
                    <a:pt x="7735824" y="585216"/>
                  </a:lnTo>
                  <a:lnTo>
                    <a:pt x="0" y="585216"/>
                  </a:lnTo>
                  <a:close/>
                </a:path>
              </a:pathLst>
            </a:custGeom>
            <a:blipFill>
              <a:blip r:embed="rId3">
                <a:alphaModFix amt="0"/>
              </a:blip>
              <a:stretch>
                <a:fillRect l="0" t="-207567" r="0" b="-207567"/>
              </a:stretch>
            </a:blipFill>
          </p:spPr>
        </p:sp>
        <p:sp>
          <p:nvSpPr>
            <p:cNvPr name="TextBox 36" id="36"/>
            <p:cNvSpPr txBox="true"/>
            <p:nvPr/>
          </p:nvSpPr>
          <p:spPr>
            <a:xfrm>
              <a:off x="0" y="-19050"/>
              <a:ext cx="7735824" cy="604266"/>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Data inconsistency</a:t>
              </a:r>
            </a:p>
          </p:txBody>
        </p:sp>
      </p:grpSp>
      <p:sp>
        <p:nvSpPr>
          <p:cNvPr name="TextBox 37" id="37"/>
          <p:cNvSpPr txBox="true"/>
          <p:nvPr/>
        </p:nvSpPr>
        <p:spPr>
          <a:xfrm rot="0">
            <a:off x="10904220" y="5919978"/>
            <a:ext cx="5801868" cy="636270"/>
          </a:xfrm>
          <a:prstGeom prst="rect">
            <a:avLst/>
          </a:prstGeom>
        </p:spPr>
        <p:txBody>
          <a:bodyPr anchor="t" rtlCol="false" tIns="0" lIns="0" bIns="0" rIns="0">
            <a:spAutoFit/>
          </a:bodyPr>
          <a:lstStyle/>
          <a:p>
            <a:pPr algn="l">
              <a:lnSpc>
                <a:spcPts val="2340"/>
              </a:lnSpc>
            </a:pPr>
            <a:r>
              <a:rPr lang="en-US" sz="1950">
                <a:solidFill>
                  <a:srgbClr val="E9EEEA"/>
                </a:solidFill>
                <a:latin typeface="Arial"/>
                <a:ea typeface="Arial"/>
                <a:cs typeface="Arial"/>
                <a:sym typeface="Arial"/>
              </a:rPr>
              <a:t>User changes are not saved or are lost after reloading.</a:t>
            </a:r>
          </a:p>
        </p:txBody>
      </p:sp>
      <p:sp>
        <p:nvSpPr>
          <p:cNvPr name="AutoShape 38" id="38"/>
          <p:cNvSpPr/>
          <p:nvPr/>
        </p:nvSpPr>
        <p:spPr>
          <a:xfrm rot="8460">
            <a:off x="10897067" y="6647497"/>
            <a:ext cx="5816175" cy="0"/>
          </a:xfrm>
          <a:prstGeom prst="line">
            <a:avLst/>
          </a:prstGeom>
          <a:ln cap="rnd" w="9525">
            <a:solidFill>
              <a:srgbClr val="3F8C50"/>
            </a:solidFill>
            <a:prstDash val="solid"/>
            <a:headEnd type="none" len="sm" w="sm"/>
            <a:tailEnd type="none" len="sm" w="sm"/>
          </a:ln>
        </p:spPr>
      </p:sp>
      <p:grpSp>
        <p:nvGrpSpPr>
          <p:cNvPr name="Group 39" id="39"/>
          <p:cNvGrpSpPr/>
          <p:nvPr/>
        </p:nvGrpSpPr>
        <p:grpSpPr>
          <a:xfrm rot="0">
            <a:off x="10904220" y="6789420"/>
            <a:ext cx="5801868" cy="438912"/>
            <a:chOff x="0" y="0"/>
            <a:chExt cx="7735824" cy="585216"/>
          </a:xfrm>
        </p:grpSpPr>
        <p:sp>
          <p:nvSpPr>
            <p:cNvPr name="Freeform 40" id="40"/>
            <p:cNvSpPr/>
            <p:nvPr/>
          </p:nvSpPr>
          <p:spPr>
            <a:xfrm flipH="false" flipV="false" rot="0">
              <a:off x="0" y="0"/>
              <a:ext cx="7735824" cy="585216"/>
            </a:xfrm>
            <a:custGeom>
              <a:avLst/>
              <a:gdLst/>
              <a:ahLst/>
              <a:cxnLst/>
              <a:rect r="r" b="b" t="t" l="l"/>
              <a:pathLst>
                <a:path h="585216" w="7735824">
                  <a:moveTo>
                    <a:pt x="0" y="0"/>
                  </a:moveTo>
                  <a:lnTo>
                    <a:pt x="7735824" y="0"/>
                  </a:lnTo>
                  <a:lnTo>
                    <a:pt x="7735824" y="585216"/>
                  </a:lnTo>
                  <a:lnTo>
                    <a:pt x="0" y="585216"/>
                  </a:lnTo>
                  <a:close/>
                </a:path>
              </a:pathLst>
            </a:custGeom>
            <a:blipFill>
              <a:blip r:embed="rId3">
                <a:alphaModFix amt="0"/>
              </a:blip>
              <a:stretch>
                <a:fillRect l="0" t="-207567" r="0" b="-207567"/>
              </a:stretch>
            </a:blipFill>
          </p:spPr>
        </p:sp>
        <p:sp>
          <p:nvSpPr>
            <p:cNvPr name="TextBox 41" id="41"/>
            <p:cNvSpPr txBox="true"/>
            <p:nvPr/>
          </p:nvSpPr>
          <p:spPr>
            <a:xfrm>
              <a:off x="0" y="-19050"/>
              <a:ext cx="7735824" cy="604266"/>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Workflow errors</a:t>
              </a:r>
            </a:p>
          </p:txBody>
        </p:sp>
      </p:grpSp>
      <p:sp>
        <p:nvSpPr>
          <p:cNvPr name="TextBox 42" id="42"/>
          <p:cNvSpPr txBox="true"/>
          <p:nvPr/>
        </p:nvSpPr>
        <p:spPr>
          <a:xfrm rot="0">
            <a:off x="10904220" y="7222998"/>
            <a:ext cx="5801868" cy="636270"/>
          </a:xfrm>
          <a:prstGeom prst="rect">
            <a:avLst/>
          </a:prstGeom>
        </p:spPr>
        <p:txBody>
          <a:bodyPr anchor="t" rtlCol="false" tIns="0" lIns="0" bIns="0" rIns="0">
            <a:spAutoFit/>
          </a:bodyPr>
          <a:lstStyle/>
          <a:p>
            <a:pPr algn="l">
              <a:lnSpc>
                <a:spcPts val="2340"/>
              </a:lnSpc>
            </a:pPr>
            <a:r>
              <a:rPr lang="en-US" sz="1950">
                <a:solidFill>
                  <a:srgbClr val="E9EEEA"/>
                </a:solidFill>
                <a:latin typeface="Arial"/>
                <a:ea typeface="Arial"/>
                <a:cs typeface="Arial"/>
                <a:sym typeface="Arial"/>
              </a:rPr>
              <a:t>A sequence of actions produces an unexpected outcome.</a:t>
            </a:r>
          </a:p>
        </p:txBody>
      </p:sp>
      <p:grpSp>
        <p:nvGrpSpPr>
          <p:cNvPr name="Group 43" id="43"/>
          <p:cNvGrpSpPr/>
          <p:nvPr/>
        </p:nvGrpSpPr>
        <p:grpSpPr>
          <a:xfrm rot="0">
            <a:off x="1019175" y="8631555"/>
            <a:ext cx="16249193" cy="1006602"/>
            <a:chOff x="0" y="0"/>
            <a:chExt cx="21665590" cy="1342136"/>
          </a:xfrm>
        </p:grpSpPr>
        <p:sp>
          <p:nvSpPr>
            <p:cNvPr name="Freeform 44" id="44"/>
            <p:cNvSpPr/>
            <p:nvPr/>
          </p:nvSpPr>
          <p:spPr>
            <a:xfrm flipH="false" flipV="false" rot="0">
              <a:off x="0" y="0"/>
              <a:ext cx="21665564" cy="1342136"/>
            </a:xfrm>
            <a:custGeom>
              <a:avLst/>
              <a:gdLst/>
              <a:ahLst/>
              <a:cxnLst/>
              <a:rect r="r" b="b" t="t" l="l"/>
              <a:pathLst>
                <a:path h="1342136" w="21665564">
                  <a:moveTo>
                    <a:pt x="0" y="149098"/>
                  </a:moveTo>
                  <a:cubicBezTo>
                    <a:pt x="0" y="66802"/>
                    <a:pt x="66802" y="0"/>
                    <a:pt x="149098" y="0"/>
                  </a:cubicBezTo>
                  <a:lnTo>
                    <a:pt x="21516467" y="0"/>
                  </a:lnTo>
                  <a:cubicBezTo>
                    <a:pt x="21598762" y="0"/>
                    <a:pt x="21665564" y="66802"/>
                    <a:pt x="21665564" y="149098"/>
                  </a:cubicBezTo>
                  <a:lnTo>
                    <a:pt x="21665564" y="1193038"/>
                  </a:lnTo>
                  <a:cubicBezTo>
                    <a:pt x="21665564" y="1275334"/>
                    <a:pt x="21598762" y="1342136"/>
                    <a:pt x="21516467" y="1342136"/>
                  </a:cubicBezTo>
                  <a:lnTo>
                    <a:pt x="149098" y="1342136"/>
                  </a:lnTo>
                  <a:cubicBezTo>
                    <a:pt x="66802" y="1342136"/>
                    <a:pt x="0" y="1275334"/>
                    <a:pt x="0" y="1193038"/>
                  </a:cubicBezTo>
                  <a:close/>
                </a:path>
              </a:pathLst>
            </a:custGeom>
            <a:solidFill>
              <a:srgbClr val="DDE5DF"/>
            </a:solidFill>
            <a:ln w="19050" cap="sq">
              <a:solidFill>
                <a:srgbClr val="DDE5DF"/>
              </a:solidFill>
              <a:prstDash val="solid"/>
              <a:miter/>
            </a:ln>
          </p:spPr>
        </p:sp>
      </p:grpSp>
      <p:grpSp>
        <p:nvGrpSpPr>
          <p:cNvPr name="Group 45" id="45"/>
          <p:cNvGrpSpPr/>
          <p:nvPr/>
        </p:nvGrpSpPr>
        <p:grpSpPr>
          <a:xfrm rot="0">
            <a:off x="1440180" y="8641080"/>
            <a:ext cx="15407183" cy="987552"/>
            <a:chOff x="0" y="0"/>
            <a:chExt cx="20542910" cy="1316736"/>
          </a:xfrm>
        </p:grpSpPr>
        <p:sp>
          <p:nvSpPr>
            <p:cNvPr name="Freeform 46" id="46"/>
            <p:cNvSpPr/>
            <p:nvPr/>
          </p:nvSpPr>
          <p:spPr>
            <a:xfrm flipH="false" flipV="false" rot="0">
              <a:off x="0" y="0"/>
              <a:ext cx="20542910" cy="1316736"/>
            </a:xfrm>
            <a:custGeom>
              <a:avLst/>
              <a:gdLst/>
              <a:ahLst/>
              <a:cxnLst/>
              <a:rect r="r" b="b" t="t" l="l"/>
              <a:pathLst>
                <a:path h="1316736" w="20542910">
                  <a:moveTo>
                    <a:pt x="0" y="0"/>
                  </a:moveTo>
                  <a:lnTo>
                    <a:pt x="20542910" y="0"/>
                  </a:lnTo>
                  <a:lnTo>
                    <a:pt x="20542910" y="1316736"/>
                  </a:lnTo>
                  <a:lnTo>
                    <a:pt x="0" y="1316736"/>
                  </a:lnTo>
                  <a:close/>
                </a:path>
              </a:pathLst>
            </a:custGeom>
            <a:blipFill>
              <a:blip r:embed="rId3">
                <a:alphaModFix amt="0"/>
              </a:blip>
              <a:stretch>
                <a:fillRect l="0" t="-253993" r="0" b="-253993"/>
              </a:stretch>
            </a:blipFill>
          </p:spPr>
        </p:sp>
        <p:sp>
          <p:nvSpPr>
            <p:cNvPr name="TextBox 47" id="47"/>
            <p:cNvSpPr txBox="true"/>
            <p:nvPr/>
          </p:nvSpPr>
          <p:spPr>
            <a:xfrm>
              <a:off x="0" y="-19050"/>
              <a:ext cx="20542910" cy="1335786"/>
            </a:xfrm>
            <a:prstGeom prst="rect">
              <a:avLst/>
            </a:prstGeom>
          </p:spPr>
          <p:txBody>
            <a:bodyPr anchor="ctr" rtlCol="false" tIns="0" lIns="0" bIns="0" rIns="0"/>
            <a:lstStyle/>
            <a:p>
              <a:pPr algn="l">
                <a:lnSpc>
                  <a:spcPts val="2700"/>
                </a:lnSpc>
              </a:pPr>
              <a:r>
                <a:rPr lang="en-US" sz="2250" i="true">
                  <a:solidFill>
                    <a:srgbClr val="111111"/>
                  </a:solidFill>
                  <a:latin typeface="Arial Italics"/>
                  <a:ea typeface="Arial Italics"/>
                  <a:cs typeface="Arial Italics"/>
                  <a:sym typeface="Arial Italics"/>
                </a:rPr>
                <a:t>Functional bugs may not crash an application or generate visible errors, making their detection an important aspect of reliable web application testing.</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grpSp>
        <p:nvGrpSpPr>
          <p:cNvPr name="Group 14" id="14"/>
          <p:cNvGrpSpPr/>
          <p:nvPr/>
        </p:nvGrpSpPr>
        <p:grpSpPr>
          <a:xfrm rot="0">
            <a:off x="1028700" y="2125980"/>
            <a:ext cx="16230143" cy="1371600"/>
            <a:chOff x="0" y="0"/>
            <a:chExt cx="21640190" cy="1828800"/>
          </a:xfrm>
        </p:grpSpPr>
        <p:sp>
          <p:nvSpPr>
            <p:cNvPr name="Freeform 15" id="15"/>
            <p:cNvSpPr/>
            <p:nvPr/>
          </p:nvSpPr>
          <p:spPr>
            <a:xfrm flipH="false" flipV="false" rot="0">
              <a:off x="0" y="0"/>
              <a:ext cx="21640191" cy="1828800"/>
            </a:xfrm>
            <a:custGeom>
              <a:avLst/>
              <a:gdLst/>
              <a:ahLst/>
              <a:cxnLst/>
              <a:rect r="r" b="b" t="t" l="l"/>
              <a:pathLst>
                <a:path h="1828800" w="21640191">
                  <a:moveTo>
                    <a:pt x="0" y="0"/>
                  </a:moveTo>
                  <a:lnTo>
                    <a:pt x="21640191" y="0"/>
                  </a:lnTo>
                  <a:lnTo>
                    <a:pt x="21640191" y="1828800"/>
                  </a:lnTo>
                  <a:lnTo>
                    <a:pt x="0" y="1828800"/>
                  </a:lnTo>
                  <a:close/>
                </a:path>
              </a:pathLst>
            </a:custGeom>
            <a:blipFill>
              <a:blip r:embed="rId3">
                <a:alphaModFix amt="0"/>
              </a:blip>
              <a:stretch>
                <a:fillRect l="0" t="-180566" r="0" b="-180566"/>
              </a:stretch>
            </a:blipFill>
          </p:spPr>
        </p:sp>
        <p:sp>
          <p:nvSpPr>
            <p:cNvPr name="TextBox 16" id="16"/>
            <p:cNvSpPr txBox="true"/>
            <p:nvPr/>
          </p:nvSpPr>
          <p:spPr>
            <a:xfrm>
              <a:off x="0" y="-28575"/>
              <a:ext cx="21640190" cy="1857375"/>
            </a:xfrm>
            <a:prstGeom prst="rect">
              <a:avLst/>
            </a:prstGeom>
          </p:spPr>
          <p:txBody>
            <a:bodyPr anchor="ctr" rtlCol="false" tIns="0" lIns="0" bIns="0" rIns="0"/>
            <a:lstStyle/>
            <a:p>
              <a:pPr algn="ctr">
                <a:lnSpc>
                  <a:spcPts val="8640"/>
                </a:lnSpc>
              </a:pPr>
              <a:r>
                <a:rPr lang="en-US" sz="7200">
                  <a:solidFill>
                    <a:srgbClr val="111111"/>
                  </a:solidFill>
                  <a:latin typeface="Arial"/>
                  <a:ea typeface="Arial"/>
                  <a:cs typeface="Arial"/>
                  <a:sym typeface="Arial"/>
                </a:rPr>
                <a:t>PROBLEM STATEMENT</a:t>
              </a:r>
            </a:p>
          </p:txBody>
        </p:sp>
      </p:grpSp>
      <p:grpSp>
        <p:nvGrpSpPr>
          <p:cNvPr name="Group 17" id="17"/>
          <p:cNvGrpSpPr/>
          <p:nvPr/>
        </p:nvGrpSpPr>
        <p:grpSpPr>
          <a:xfrm rot="0">
            <a:off x="1019175" y="4173855"/>
            <a:ext cx="5109058" cy="5162550"/>
            <a:chOff x="0" y="0"/>
            <a:chExt cx="6812077" cy="6883400"/>
          </a:xfrm>
        </p:grpSpPr>
        <p:sp>
          <p:nvSpPr>
            <p:cNvPr name="Freeform 18" id="18"/>
            <p:cNvSpPr/>
            <p:nvPr/>
          </p:nvSpPr>
          <p:spPr>
            <a:xfrm flipH="false" flipV="false" rot="0">
              <a:off x="0" y="0"/>
              <a:ext cx="6812153" cy="6883400"/>
            </a:xfrm>
            <a:custGeom>
              <a:avLst/>
              <a:gdLst/>
              <a:ahLst/>
              <a:cxnLst/>
              <a:rect r="r" b="b" t="t" l="l"/>
              <a:pathLst>
                <a:path h="6883400" w="6812153">
                  <a:moveTo>
                    <a:pt x="0" y="403860"/>
                  </a:moveTo>
                  <a:cubicBezTo>
                    <a:pt x="0" y="180848"/>
                    <a:pt x="180848" y="0"/>
                    <a:pt x="403860" y="0"/>
                  </a:cubicBezTo>
                  <a:lnTo>
                    <a:pt x="6408293" y="0"/>
                  </a:lnTo>
                  <a:cubicBezTo>
                    <a:pt x="6631305" y="0"/>
                    <a:pt x="6812153" y="180848"/>
                    <a:pt x="6812153" y="403860"/>
                  </a:cubicBezTo>
                  <a:lnTo>
                    <a:pt x="6812153" y="6479540"/>
                  </a:lnTo>
                  <a:cubicBezTo>
                    <a:pt x="6812153" y="6702552"/>
                    <a:pt x="6631305" y="6883400"/>
                    <a:pt x="6408293" y="6883400"/>
                  </a:cubicBezTo>
                  <a:lnTo>
                    <a:pt x="403860" y="6883400"/>
                  </a:lnTo>
                  <a:cubicBezTo>
                    <a:pt x="180848" y="6883400"/>
                    <a:pt x="0" y="6702552"/>
                    <a:pt x="0" y="6479540"/>
                  </a:cubicBezTo>
                  <a:close/>
                </a:path>
              </a:pathLst>
            </a:custGeom>
            <a:solidFill>
              <a:srgbClr val="00461A"/>
            </a:solidFill>
            <a:ln w="19050" cap="sq">
              <a:solidFill>
                <a:srgbClr val="00461A"/>
              </a:solidFill>
              <a:prstDash val="solid"/>
              <a:miter/>
            </a:ln>
          </p:spPr>
        </p:sp>
      </p:grpSp>
      <p:grpSp>
        <p:nvGrpSpPr>
          <p:cNvPr name="Group 19" id="19"/>
          <p:cNvGrpSpPr/>
          <p:nvPr/>
        </p:nvGrpSpPr>
        <p:grpSpPr>
          <a:xfrm rot="0">
            <a:off x="1467612" y="4526280"/>
            <a:ext cx="2743200" cy="1165860"/>
            <a:chOff x="0" y="0"/>
            <a:chExt cx="3657600" cy="1554480"/>
          </a:xfrm>
        </p:grpSpPr>
        <p:sp>
          <p:nvSpPr>
            <p:cNvPr name="Freeform 20" id="20"/>
            <p:cNvSpPr/>
            <p:nvPr/>
          </p:nvSpPr>
          <p:spPr>
            <a:xfrm flipH="false" flipV="false" rot="0">
              <a:off x="0" y="0"/>
              <a:ext cx="3657600" cy="1554480"/>
            </a:xfrm>
            <a:custGeom>
              <a:avLst/>
              <a:gdLst/>
              <a:ahLst/>
              <a:cxnLst/>
              <a:rect r="r" b="b" t="t" l="l"/>
              <a:pathLst>
                <a:path h="1554480" w="3657600">
                  <a:moveTo>
                    <a:pt x="0" y="0"/>
                  </a:moveTo>
                  <a:lnTo>
                    <a:pt x="3657600" y="0"/>
                  </a:lnTo>
                  <a:lnTo>
                    <a:pt x="3657600" y="1554480"/>
                  </a:lnTo>
                  <a:lnTo>
                    <a:pt x="0" y="1554480"/>
                  </a:lnTo>
                  <a:close/>
                </a:path>
              </a:pathLst>
            </a:custGeom>
            <a:blipFill>
              <a:blip r:embed="rId3">
                <a:alphaModFix amt="0"/>
              </a:blip>
              <a:stretch>
                <a:fillRect l="-4529" t="0" r="-4529" b="0"/>
              </a:stretch>
            </a:blipFill>
          </p:spPr>
        </p:sp>
        <p:sp>
          <p:nvSpPr>
            <p:cNvPr name="TextBox 21" id="21"/>
            <p:cNvSpPr txBox="true"/>
            <p:nvPr/>
          </p:nvSpPr>
          <p:spPr>
            <a:xfrm>
              <a:off x="0" y="-28575"/>
              <a:ext cx="3657600" cy="1583055"/>
            </a:xfrm>
            <a:prstGeom prst="rect">
              <a:avLst/>
            </a:prstGeom>
          </p:spPr>
          <p:txBody>
            <a:bodyPr anchor="ctr" rtlCol="false" tIns="0" lIns="0" bIns="0" rIns="0"/>
            <a:lstStyle/>
            <a:p>
              <a:pPr algn="l">
                <a:lnSpc>
                  <a:spcPts val="8640"/>
                </a:lnSpc>
              </a:pPr>
              <a:r>
                <a:rPr lang="en-US" sz="7200">
                  <a:solidFill>
                    <a:srgbClr val="FFFFFF"/>
                  </a:solidFill>
                  <a:latin typeface="Arial"/>
                  <a:ea typeface="Arial"/>
                  <a:cs typeface="Arial"/>
                  <a:sym typeface="Arial"/>
                </a:rPr>
                <a:t>01</a:t>
              </a:r>
            </a:p>
          </p:txBody>
        </p:sp>
      </p:grpSp>
      <p:sp>
        <p:nvSpPr>
          <p:cNvPr name="TextBox 22" id="22"/>
          <p:cNvSpPr txBox="true"/>
          <p:nvPr/>
        </p:nvSpPr>
        <p:spPr>
          <a:xfrm rot="0">
            <a:off x="1467612" y="5859780"/>
            <a:ext cx="4212184" cy="3192780"/>
          </a:xfrm>
          <a:prstGeom prst="rect">
            <a:avLst/>
          </a:prstGeom>
        </p:spPr>
        <p:txBody>
          <a:bodyPr anchor="t" rtlCol="false" tIns="0" lIns="0" bIns="0" rIns="0">
            <a:spAutoFit/>
          </a:bodyPr>
          <a:lstStyle/>
          <a:p>
            <a:pPr algn="l">
              <a:lnSpc>
                <a:spcPts val="2897"/>
              </a:lnSpc>
            </a:pPr>
            <a:r>
              <a:rPr lang="en-US" sz="2100" b="true">
                <a:solidFill>
                  <a:srgbClr val="FFFFFF"/>
                </a:solidFill>
                <a:latin typeface="Arial Bold"/>
                <a:ea typeface="Arial Bold"/>
                <a:cs typeface="Arial Bold"/>
                <a:sym typeface="Arial Bold"/>
              </a:rPr>
              <a:t>Scripted testing: </a:t>
            </a:r>
            <a:r>
              <a:rPr lang="en-US" sz="2100">
                <a:solidFill>
                  <a:srgbClr val="FFFFFF"/>
                </a:solidFill>
                <a:latin typeface="Arial"/>
                <a:ea typeface="Arial"/>
                <a:cs typeface="Arial"/>
                <a:sym typeface="Arial"/>
              </a:rPr>
              <a:t>Traditional web application testing relies heavily on predefined test cases and manually scripted workflows, limiting its ability to explore unexpected sequences of user interactions.</a:t>
            </a:r>
          </a:p>
        </p:txBody>
      </p:sp>
      <p:grpSp>
        <p:nvGrpSpPr>
          <p:cNvPr name="Group 23" id="23"/>
          <p:cNvGrpSpPr/>
          <p:nvPr/>
        </p:nvGrpSpPr>
        <p:grpSpPr>
          <a:xfrm rot="0">
            <a:off x="6589243" y="4173855"/>
            <a:ext cx="5109058" cy="5162550"/>
            <a:chOff x="0" y="0"/>
            <a:chExt cx="6812077" cy="6883400"/>
          </a:xfrm>
        </p:grpSpPr>
        <p:sp>
          <p:nvSpPr>
            <p:cNvPr name="Freeform 24" id="24"/>
            <p:cNvSpPr/>
            <p:nvPr/>
          </p:nvSpPr>
          <p:spPr>
            <a:xfrm flipH="false" flipV="false" rot="0">
              <a:off x="0" y="0"/>
              <a:ext cx="6812153" cy="6883400"/>
            </a:xfrm>
            <a:custGeom>
              <a:avLst/>
              <a:gdLst/>
              <a:ahLst/>
              <a:cxnLst/>
              <a:rect r="r" b="b" t="t" l="l"/>
              <a:pathLst>
                <a:path h="6883400" w="6812153">
                  <a:moveTo>
                    <a:pt x="0" y="403860"/>
                  </a:moveTo>
                  <a:cubicBezTo>
                    <a:pt x="0" y="180848"/>
                    <a:pt x="180848" y="0"/>
                    <a:pt x="403860" y="0"/>
                  </a:cubicBezTo>
                  <a:lnTo>
                    <a:pt x="6408293" y="0"/>
                  </a:lnTo>
                  <a:cubicBezTo>
                    <a:pt x="6631305" y="0"/>
                    <a:pt x="6812153" y="180848"/>
                    <a:pt x="6812153" y="403860"/>
                  </a:cubicBezTo>
                  <a:lnTo>
                    <a:pt x="6812153" y="6479540"/>
                  </a:lnTo>
                  <a:cubicBezTo>
                    <a:pt x="6812153" y="6702552"/>
                    <a:pt x="6631305" y="6883400"/>
                    <a:pt x="6408293" y="6883400"/>
                  </a:cubicBezTo>
                  <a:lnTo>
                    <a:pt x="403860" y="6883400"/>
                  </a:lnTo>
                  <a:cubicBezTo>
                    <a:pt x="180848" y="6883400"/>
                    <a:pt x="0" y="6702552"/>
                    <a:pt x="0" y="6479540"/>
                  </a:cubicBezTo>
                  <a:close/>
                </a:path>
              </a:pathLst>
            </a:custGeom>
            <a:solidFill>
              <a:srgbClr val="00461A"/>
            </a:solidFill>
            <a:ln w="19050" cap="sq">
              <a:solidFill>
                <a:srgbClr val="00461A"/>
              </a:solidFill>
              <a:prstDash val="solid"/>
              <a:miter/>
            </a:ln>
          </p:spPr>
        </p:sp>
      </p:grpSp>
      <p:grpSp>
        <p:nvGrpSpPr>
          <p:cNvPr name="Group 25" id="25"/>
          <p:cNvGrpSpPr/>
          <p:nvPr/>
        </p:nvGrpSpPr>
        <p:grpSpPr>
          <a:xfrm rot="0">
            <a:off x="7037680" y="4526280"/>
            <a:ext cx="2743200" cy="1165860"/>
            <a:chOff x="0" y="0"/>
            <a:chExt cx="3657600" cy="1554480"/>
          </a:xfrm>
        </p:grpSpPr>
        <p:sp>
          <p:nvSpPr>
            <p:cNvPr name="Freeform 26" id="26"/>
            <p:cNvSpPr/>
            <p:nvPr/>
          </p:nvSpPr>
          <p:spPr>
            <a:xfrm flipH="false" flipV="false" rot="0">
              <a:off x="0" y="0"/>
              <a:ext cx="3657600" cy="1554480"/>
            </a:xfrm>
            <a:custGeom>
              <a:avLst/>
              <a:gdLst/>
              <a:ahLst/>
              <a:cxnLst/>
              <a:rect r="r" b="b" t="t" l="l"/>
              <a:pathLst>
                <a:path h="1554480" w="3657600">
                  <a:moveTo>
                    <a:pt x="0" y="0"/>
                  </a:moveTo>
                  <a:lnTo>
                    <a:pt x="3657600" y="0"/>
                  </a:lnTo>
                  <a:lnTo>
                    <a:pt x="3657600" y="1554480"/>
                  </a:lnTo>
                  <a:lnTo>
                    <a:pt x="0" y="1554480"/>
                  </a:lnTo>
                  <a:close/>
                </a:path>
              </a:pathLst>
            </a:custGeom>
            <a:blipFill>
              <a:blip r:embed="rId3">
                <a:alphaModFix amt="0"/>
              </a:blip>
              <a:stretch>
                <a:fillRect l="-4529" t="0" r="-4529" b="0"/>
              </a:stretch>
            </a:blipFill>
          </p:spPr>
        </p:sp>
        <p:sp>
          <p:nvSpPr>
            <p:cNvPr name="TextBox 27" id="27"/>
            <p:cNvSpPr txBox="true"/>
            <p:nvPr/>
          </p:nvSpPr>
          <p:spPr>
            <a:xfrm>
              <a:off x="0" y="-28575"/>
              <a:ext cx="3657600" cy="1583055"/>
            </a:xfrm>
            <a:prstGeom prst="rect">
              <a:avLst/>
            </a:prstGeom>
          </p:spPr>
          <p:txBody>
            <a:bodyPr anchor="ctr" rtlCol="false" tIns="0" lIns="0" bIns="0" rIns="0"/>
            <a:lstStyle/>
            <a:p>
              <a:pPr algn="l">
                <a:lnSpc>
                  <a:spcPts val="8640"/>
                </a:lnSpc>
              </a:pPr>
              <a:r>
                <a:rPr lang="en-US" sz="7200">
                  <a:solidFill>
                    <a:srgbClr val="FFFFFF"/>
                  </a:solidFill>
                  <a:latin typeface="Arial"/>
                  <a:ea typeface="Arial"/>
                  <a:cs typeface="Arial"/>
                  <a:sym typeface="Arial"/>
                </a:rPr>
                <a:t>02</a:t>
              </a:r>
            </a:p>
          </p:txBody>
        </p:sp>
      </p:grpSp>
      <p:sp>
        <p:nvSpPr>
          <p:cNvPr name="TextBox 28" id="28"/>
          <p:cNvSpPr txBox="true"/>
          <p:nvPr/>
        </p:nvSpPr>
        <p:spPr>
          <a:xfrm rot="0">
            <a:off x="7037680" y="5859780"/>
            <a:ext cx="4212184" cy="3192780"/>
          </a:xfrm>
          <a:prstGeom prst="rect">
            <a:avLst/>
          </a:prstGeom>
        </p:spPr>
        <p:txBody>
          <a:bodyPr anchor="t" rtlCol="false" tIns="0" lIns="0" bIns="0" rIns="0">
            <a:spAutoFit/>
          </a:bodyPr>
          <a:lstStyle/>
          <a:p>
            <a:pPr algn="l">
              <a:lnSpc>
                <a:spcPts val="2897"/>
              </a:lnSpc>
            </a:pPr>
            <a:r>
              <a:rPr lang="en-US" sz="2100" b="true">
                <a:solidFill>
                  <a:srgbClr val="FFFFFF"/>
                </a:solidFill>
                <a:latin typeface="Arial Bold"/>
                <a:ea typeface="Arial Bold"/>
                <a:cs typeface="Arial Bold"/>
                <a:sym typeface="Arial Bold"/>
              </a:rPr>
              <a:t>Silent failures: </a:t>
            </a:r>
            <a:r>
              <a:rPr lang="en-US" sz="2100">
                <a:solidFill>
                  <a:srgbClr val="FFFFFF"/>
                </a:solidFill>
                <a:latin typeface="Arial"/>
                <a:ea typeface="Arial"/>
                <a:cs typeface="Arial"/>
                <a:sym typeface="Arial"/>
              </a:rPr>
              <a:t>Functional bugs can emerge only after multiple dependent actions and may produce incorrect outputs or inconsistent application states without triggering crashes or visible errors. Conventional error detection methods may fail to identify them.</a:t>
            </a:r>
          </a:p>
        </p:txBody>
      </p:sp>
      <p:grpSp>
        <p:nvGrpSpPr>
          <p:cNvPr name="Group 29" id="29"/>
          <p:cNvGrpSpPr/>
          <p:nvPr/>
        </p:nvGrpSpPr>
        <p:grpSpPr>
          <a:xfrm rot="0">
            <a:off x="12159310" y="4173855"/>
            <a:ext cx="5109058" cy="5162550"/>
            <a:chOff x="0" y="0"/>
            <a:chExt cx="6812077" cy="6883400"/>
          </a:xfrm>
        </p:grpSpPr>
        <p:sp>
          <p:nvSpPr>
            <p:cNvPr name="Freeform 30" id="30"/>
            <p:cNvSpPr/>
            <p:nvPr/>
          </p:nvSpPr>
          <p:spPr>
            <a:xfrm flipH="false" flipV="false" rot="0">
              <a:off x="0" y="0"/>
              <a:ext cx="6812153" cy="6883400"/>
            </a:xfrm>
            <a:custGeom>
              <a:avLst/>
              <a:gdLst/>
              <a:ahLst/>
              <a:cxnLst/>
              <a:rect r="r" b="b" t="t" l="l"/>
              <a:pathLst>
                <a:path h="6883400" w="6812153">
                  <a:moveTo>
                    <a:pt x="0" y="403860"/>
                  </a:moveTo>
                  <a:cubicBezTo>
                    <a:pt x="0" y="180848"/>
                    <a:pt x="180848" y="0"/>
                    <a:pt x="403860" y="0"/>
                  </a:cubicBezTo>
                  <a:lnTo>
                    <a:pt x="6408293" y="0"/>
                  </a:lnTo>
                  <a:cubicBezTo>
                    <a:pt x="6631305" y="0"/>
                    <a:pt x="6812153" y="180848"/>
                    <a:pt x="6812153" y="403860"/>
                  </a:cubicBezTo>
                  <a:lnTo>
                    <a:pt x="6812153" y="6479540"/>
                  </a:lnTo>
                  <a:cubicBezTo>
                    <a:pt x="6812153" y="6702552"/>
                    <a:pt x="6631305" y="6883400"/>
                    <a:pt x="6408293" y="6883400"/>
                  </a:cubicBezTo>
                  <a:lnTo>
                    <a:pt x="403860" y="6883400"/>
                  </a:lnTo>
                  <a:cubicBezTo>
                    <a:pt x="180848" y="6883400"/>
                    <a:pt x="0" y="6702552"/>
                    <a:pt x="0" y="6479540"/>
                  </a:cubicBezTo>
                  <a:close/>
                </a:path>
              </a:pathLst>
            </a:custGeom>
            <a:solidFill>
              <a:srgbClr val="00461A"/>
            </a:solidFill>
            <a:ln w="19050" cap="sq">
              <a:solidFill>
                <a:srgbClr val="00461A"/>
              </a:solidFill>
              <a:prstDash val="solid"/>
              <a:miter/>
            </a:ln>
          </p:spPr>
        </p:sp>
      </p:grpSp>
      <p:grpSp>
        <p:nvGrpSpPr>
          <p:cNvPr name="Group 31" id="31"/>
          <p:cNvGrpSpPr/>
          <p:nvPr/>
        </p:nvGrpSpPr>
        <p:grpSpPr>
          <a:xfrm rot="0">
            <a:off x="12607747" y="4526280"/>
            <a:ext cx="2743200" cy="1165860"/>
            <a:chOff x="0" y="0"/>
            <a:chExt cx="3657600" cy="1554480"/>
          </a:xfrm>
        </p:grpSpPr>
        <p:sp>
          <p:nvSpPr>
            <p:cNvPr name="Freeform 32" id="32"/>
            <p:cNvSpPr/>
            <p:nvPr/>
          </p:nvSpPr>
          <p:spPr>
            <a:xfrm flipH="false" flipV="false" rot="0">
              <a:off x="0" y="0"/>
              <a:ext cx="3657600" cy="1554480"/>
            </a:xfrm>
            <a:custGeom>
              <a:avLst/>
              <a:gdLst/>
              <a:ahLst/>
              <a:cxnLst/>
              <a:rect r="r" b="b" t="t" l="l"/>
              <a:pathLst>
                <a:path h="1554480" w="3657600">
                  <a:moveTo>
                    <a:pt x="0" y="0"/>
                  </a:moveTo>
                  <a:lnTo>
                    <a:pt x="3657600" y="0"/>
                  </a:lnTo>
                  <a:lnTo>
                    <a:pt x="3657600" y="1554480"/>
                  </a:lnTo>
                  <a:lnTo>
                    <a:pt x="0" y="1554480"/>
                  </a:lnTo>
                  <a:close/>
                </a:path>
              </a:pathLst>
            </a:custGeom>
            <a:blipFill>
              <a:blip r:embed="rId3">
                <a:alphaModFix amt="0"/>
              </a:blip>
              <a:stretch>
                <a:fillRect l="-4529" t="0" r="-4529" b="0"/>
              </a:stretch>
            </a:blipFill>
          </p:spPr>
        </p:sp>
        <p:sp>
          <p:nvSpPr>
            <p:cNvPr name="TextBox 33" id="33"/>
            <p:cNvSpPr txBox="true"/>
            <p:nvPr/>
          </p:nvSpPr>
          <p:spPr>
            <a:xfrm>
              <a:off x="0" y="-28575"/>
              <a:ext cx="3657600" cy="1583055"/>
            </a:xfrm>
            <a:prstGeom prst="rect">
              <a:avLst/>
            </a:prstGeom>
          </p:spPr>
          <p:txBody>
            <a:bodyPr anchor="ctr" rtlCol="false" tIns="0" lIns="0" bIns="0" rIns="0"/>
            <a:lstStyle/>
            <a:p>
              <a:pPr algn="l">
                <a:lnSpc>
                  <a:spcPts val="8640"/>
                </a:lnSpc>
              </a:pPr>
              <a:r>
                <a:rPr lang="en-US" sz="7200">
                  <a:solidFill>
                    <a:srgbClr val="FFFFFF"/>
                  </a:solidFill>
                  <a:latin typeface="Arial"/>
                  <a:ea typeface="Arial"/>
                  <a:cs typeface="Arial"/>
                  <a:sym typeface="Arial"/>
                </a:rPr>
                <a:t>03</a:t>
              </a:r>
            </a:p>
          </p:txBody>
        </p:sp>
      </p:grpSp>
      <p:sp>
        <p:nvSpPr>
          <p:cNvPr name="TextBox 34" id="34"/>
          <p:cNvSpPr txBox="true"/>
          <p:nvPr/>
        </p:nvSpPr>
        <p:spPr>
          <a:xfrm rot="0">
            <a:off x="12607747" y="5859780"/>
            <a:ext cx="4212184" cy="3192780"/>
          </a:xfrm>
          <a:prstGeom prst="rect">
            <a:avLst/>
          </a:prstGeom>
        </p:spPr>
        <p:txBody>
          <a:bodyPr anchor="t" rtlCol="false" tIns="0" lIns="0" bIns="0" rIns="0">
            <a:spAutoFit/>
          </a:bodyPr>
          <a:lstStyle/>
          <a:p>
            <a:pPr algn="l">
              <a:lnSpc>
                <a:spcPts val="2897"/>
              </a:lnSpc>
            </a:pPr>
            <a:r>
              <a:rPr lang="en-US" sz="2100" b="true">
                <a:solidFill>
                  <a:srgbClr val="FFFFFF"/>
                </a:solidFill>
                <a:latin typeface="Arial Bold"/>
                <a:ea typeface="Arial Bold"/>
                <a:cs typeface="Arial Bold"/>
                <a:sym typeface="Arial Bold"/>
              </a:rPr>
              <a:t>The need: </a:t>
            </a:r>
            <a:r>
              <a:rPr lang="en-US" sz="2100">
                <a:solidFill>
                  <a:srgbClr val="FFFFFF"/>
                </a:solidFill>
                <a:latin typeface="Arial"/>
                <a:ea typeface="Arial"/>
                <a:cs typeface="Arial"/>
                <a:sym typeface="Arial"/>
              </a:rPr>
              <a:t>An autonomous testing system that can systematically explore web application workflows, identify potential functional faults, and verify that detected faults are genuine and reproducible.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PROJECT OBJECTIVES</a:t>
            </a:r>
          </a:p>
        </p:txBody>
      </p:sp>
      <p:grpSp>
        <p:nvGrpSpPr>
          <p:cNvPr name="Group 15" id="15"/>
          <p:cNvGrpSpPr/>
          <p:nvPr/>
        </p:nvGrpSpPr>
        <p:grpSpPr>
          <a:xfrm rot="0">
            <a:off x="1019175" y="3145155"/>
            <a:ext cx="5154778" cy="2899410"/>
            <a:chOff x="0" y="0"/>
            <a:chExt cx="6873037" cy="3865880"/>
          </a:xfrm>
        </p:grpSpPr>
        <p:sp>
          <p:nvSpPr>
            <p:cNvPr name="Freeform 16" id="16"/>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17" id="17"/>
          <p:cNvGrpSpPr/>
          <p:nvPr/>
        </p:nvGrpSpPr>
        <p:grpSpPr>
          <a:xfrm rot="0">
            <a:off x="1440180" y="3497580"/>
            <a:ext cx="1097280" cy="548640"/>
            <a:chOff x="0" y="0"/>
            <a:chExt cx="1463040" cy="731520"/>
          </a:xfrm>
        </p:grpSpPr>
        <p:sp>
          <p:nvSpPr>
            <p:cNvPr name="Freeform 18" id="18"/>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19" id="19"/>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01</a:t>
              </a:r>
            </a:p>
          </p:txBody>
        </p:sp>
      </p:grpSp>
      <p:grpSp>
        <p:nvGrpSpPr>
          <p:cNvPr name="Group 20" id="20"/>
          <p:cNvGrpSpPr/>
          <p:nvPr/>
        </p:nvGrpSpPr>
        <p:grpSpPr>
          <a:xfrm rot="0">
            <a:off x="1440180" y="4046220"/>
            <a:ext cx="4449928" cy="480060"/>
            <a:chOff x="0" y="0"/>
            <a:chExt cx="5933237" cy="640080"/>
          </a:xfrm>
        </p:grpSpPr>
        <p:sp>
          <p:nvSpPr>
            <p:cNvPr name="Freeform 21" id="21"/>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22" id="22"/>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Autonomous Web Exploration</a:t>
              </a:r>
            </a:p>
          </p:txBody>
        </p:sp>
      </p:grpSp>
      <p:sp>
        <p:nvSpPr>
          <p:cNvPr name="TextBox 23" id="23"/>
          <p:cNvSpPr txBox="true"/>
          <p:nvPr/>
        </p:nvSpPr>
        <p:spPr>
          <a:xfrm rot="0">
            <a:off x="1440180" y="458838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Develop a testing agent that autonomously explores web applications through sequences of user interactions.</a:t>
            </a:r>
          </a:p>
        </p:txBody>
      </p:sp>
      <p:grpSp>
        <p:nvGrpSpPr>
          <p:cNvPr name="Group 24" id="24"/>
          <p:cNvGrpSpPr/>
          <p:nvPr/>
        </p:nvGrpSpPr>
        <p:grpSpPr>
          <a:xfrm rot="0">
            <a:off x="6566383" y="3145155"/>
            <a:ext cx="5154778" cy="2899410"/>
            <a:chOff x="0" y="0"/>
            <a:chExt cx="6873037" cy="3865880"/>
          </a:xfrm>
        </p:grpSpPr>
        <p:sp>
          <p:nvSpPr>
            <p:cNvPr name="Freeform 25" id="25"/>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26" id="26"/>
          <p:cNvGrpSpPr/>
          <p:nvPr/>
        </p:nvGrpSpPr>
        <p:grpSpPr>
          <a:xfrm rot="0">
            <a:off x="6987388" y="3497580"/>
            <a:ext cx="1097280" cy="548640"/>
            <a:chOff x="0" y="0"/>
            <a:chExt cx="1463040" cy="731520"/>
          </a:xfrm>
        </p:grpSpPr>
        <p:sp>
          <p:nvSpPr>
            <p:cNvPr name="Freeform 27" id="27"/>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28" id="28"/>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02</a:t>
              </a:r>
            </a:p>
          </p:txBody>
        </p:sp>
      </p:grpSp>
      <p:grpSp>
        <p:nvGrpSpPr>
          <p:cNvPr name="Group 29" id="29"/>
          <p:cNvGrpSpPr/>
          <p:nvPr/>
        </p:nvGrpSpPr>
        <p:grpSpPr>
          <a:xfrm rot="0">
            <a:off x="6987388" y="4046220"/>
            <a:ext cx="4449928" cy="480060"/>
            <a:chOff x="0" y="0"/>
            <a:chExt cx="5933237" cy="640080"/>
          </a:xfrm>
        </p:grpSpPr>
        <p:sp>
          <p:nvSpPr>
            <p:cNvPr name="Freeform 30" id="30"/>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31" id="31"/>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Structured State Exploration</a:t>
              </a:r>
            </a:p>
          </p:txBody>
        </p:sp>
      </p:grpSp>
      <p:sp>
        <p:nvSpPr>
          <p:cNvPr name="TextBox 32" id="32"/>
          <p:cNvSpPr txBox="true"/>
          <p:nvPr/>
        </p:nvSpPr>
        <p:spPr>
          <a:xfrm rot="0">
            <a:off x="6987388" y="458838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Integrate page-state abstraction and state revisitation to systematically explore workflows and revisit discovered states.</a:t>
            </a:r>
          </a:p>
        </p:txBody>
      </p:sp>
      <p:grpSp>
        <p:nvGrpSpPr>
          <p:cNvPr name="Group 33" id="33"/>
          <p:cNvGrpSpPr/>
          <p:nvPr/>
        </p:nvGrpSpPr>
        <p:grpSpPr>
          <a:xfrm rot="0">
            <a:off x="12113590" y="3145155"/>
            <a:ext cx="5154778" cy="2899410"/>
            <a:chOff x="0" y="0"/>
            <a:chExt cx="6873037" cy="3865880"/>
          </a:xfrm>
        </p:grpSpPr>
        <p:sp>
          <p:nvSpPr>
            <p:cNvPr name="Freeform 34" id="34"/>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35" id="35"/>
          <p:cNvGrpSpPr/>
          <p:nvPr/>
        </p:nvGrpSpPr>
        <p:grpSpPr>
          <a:xfrm rot="0">
            <a:off x="12534595" y="3497580"/>
            <a:ext cx="1097280" cy="548640"/>
            <a:chOff x="0" y="0"/>
            <a:chExt cx="1463040" cy="731520"/>
          </a:xfrm>
        </p:grpSpPr>
        <p:sp>
          <p:nvSpPr>
            <p:cNvPr name="Freeform 36" id="36"/>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37" id="37"/>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03</a:t>
              </a:r>
            </a:p>
          </p:txBody>
        </p:sp>
      </p:grpSp>
      <p:grpSp>
        <p:nvGrpSpPr>
          <p:cNvPr name="Group 38" id="38"/>
          <p:cNvGrpSpPr/>
          <p:nvPr/>
        </p:nvGrpSpPr>
        <p:grpSpPr>
          <a:xfrm rot="0">
            <a:off x="12534595" y="4046220"/>
            <a:ext cx="4449928" cy="480060"/>
            <a:chOff x="0" y="0"/>
            <a:chExt cx="5933237" cy="640080"/>
          </a:xfrm>
        </p:grpSpPr>
        <p:sp>
          <p:nvSpPr>
            <p:cNvPr name="Freeform 39" id="39"/>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40" id="40"/>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Test-Directed Exploration</a:t>
              </a:r>
            </a:p>
          </p:txBody>
        </p:sp>
      </p:grpSp>
      <p:sp>
        <p:nvSpPr>
          <p:cNvPr name="TextBox 41" id="41"/>
          <p:cNvSpPr txBox="true"/>
          <p:nvPr/>
        </p:nvSpPr>
        <p:spPr>
          <a:xfrm rot="0">
            <a:off x="12534595" y="458838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Incorporate test-design operators to explore meaningful interaction sequences and uncover functional faults.</a:t>
            </a:r>
          </a:p>
        </p:txBody>
      </p:sp>
      <p:grpSp>
        <p:nvGrpSpPr>
          <p:cNvPr name="Group 42" id="42"/>
          <p:cNvGrpSpPr/>
          <p:nvPr/>
        </p:nvGrpSpPr>
        <p:grpSpPr>
          <a:xfrm rot="0">
            <a:off x="1019175" y="6436995"/>
            <a:ext cx="5154778" cy="2899410"/>
            <a:chOff x="0" y="0"/>
            <a:chExt cx="6873037" cy="3865880"/>
          </a:xfrm>
        </p:grpSpPr>
        <p:sp>
          <p:nvSpPr>
            <p:cNvPr name="Freeform 43" id="43"/>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44" id="44"/>
          <p:cNvGrpSpPr/>
          <p:nvPr/>
        </p:nvGrpSpPr>
        <p:grpSpPr>
          <a:xfrm rot="0">
            <a:off x="1440180" y="6789420"/>
            <a:ext cx="1097280" cy="548640"/>
            <a:chOff x="0" y="0"/>
            <a:chExt cx="1463040" cy="731520"/>
          </a:xfrm>
        </p:grpSpPr>
        <p:sp>
          <p:nvSpPr>
            <p:cNvPr name="Freeform 45" id="45"/>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46" id="46"/>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04</a:t>
              </a:r>
            </a:p>
          </p:txBody>
        </p:sp>
      </p:grpSp>
      <p:grpSp>
        <p:nvGrpSpPr>
          <p:cNvPr name="Group 47" id="47"/>
          <p:cNvGrpSpPr/>
          <p:nvPr/>
        </p:nvGrpSpPr>
        <p:grpSpPr>
          <a:xfrm rot="0">
            <a:off x="1440180" y="7338060"/>
            <a:ext cx="4449928" cy="480060"/>
            <a:chOff x="0" y="0"/>
            <a:chExt cx="5933237" cy="640080"/>
          </a:xfrm>
        </p:grpSpPr>
        <p:sp>
          <p:nvSpPr>
            <p:cNvPr name="Freeform 48" id="48"/>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49" id="49"/>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Lightweight Online Learning</a:t>
              </a:r>
            </a:p>
          </p:txBody>
        </p:sp>
      </p:grpSp>
      <p:sp>
        <p:nvSpPr>
          <p:cNvPr name="TextBox 50" id="50"/>
          <p:cNvSpPr txBox="true"/>
          <p:nvPr/>
        </p:nvSpPr>
        <p:spPr>
          <a:xfrm rot="0">
            <a:off x="1440180" y="788022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Investigate whether Thompson-sampling bandits and count-based curiosity improve exploration effectiveness.</a:t>
            </a:r>
          </a:p>
        </p:txBody>
      </p:sp>
      <p:grpSp>
        <p:nvGrpSpPr>
          <p:cNvPr name="Group 51" id="51"/>
          <p:cNvGrpSpPr/>
          <p:nvPr/>
        </p:nvGrpSpPr>
        <p:grpSpPr>
          <a:xfrm rot="0">
            <a:off x="6566383" y="6436995"/>
            <a:ext cx="5154778" cy="2899410"/>
            <a:chOff x="0" y="0"/>
            <a:chExt cx="6873037" cy="3865880"/>
          </a:xfrm>
        </p:grpSpPr>
        <p:sp>
          <p:nvSpPr>
            <p:cNvPr name="Freeform 52" id="52"/>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53" id="53"/>
          <p:cNvGrpSpPr/>
          <p:nvPr/>
        </p:nvGrpSpPr>
        <p:grpSpPr>
          <a:xfrm rot="0">
            <a:off x="6987388" y="6789420"/>
            <a:ext cx="1097280" cy="548640"/>
            <a:chOff x="0" y="0"/>
            <a:chExt cx="1463040" cy="731520"/>
          </a:xfrm>
        </p:grpSpPr>
        <p:sp>
          <p:nvSpPr>
            <p:cNvPr name="Freeform 54" id="54"/>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55" id="55"/>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05</a:t>
              </a:r>
            </a:p>
          </p:txBody>
        </p:sp>
      </p:grpSp>
      <p:grpSp>
        <p:nvGrpSpPr>
          <p:cNvPr name="Group 56" id="56"/>
          <p:cNvGrpSpPr/>
          <p:nvPr/>
        </p:nvGrpSpPr>
        <p:grpSpPr>
          <a:xfrm rot="0">
            <a:off x="6987388" y="7338060"/>
            <a:ext cx="4449928" cy="480060"/>
            <a:chOff x="0" y="0"/>
            <a:chExt cx="5933237" cy="640080"/>
          </a:xfrm>
        </p:grpSpPr>
        <p:sp>
          <p:nvSpPr>
            <p:cNvPr name="Freeform 57" id="57"/>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58" id="58"/>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Reliable Fault Verification</a:t>
              </a:r>
            </a:p>
          </p:txBody>
        </p:sp>
      </p:grpSp>
      <p:sp>
        <p:nvSpPr>
          <p:cNvPr name="TextBox 59" id="59"/>
          <p:cNvSpPr txBox="true"/>
          <p:nvPr/>
        </p:nvSpPr>
        <p:spPr>
          <a:xfrm rot="0">
            <a:off x="6987388" y="788022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Check reproducibility in fresh browser sessions, compare against a control build, and minimise failing sequences.</a:t>
            </a:r>
          </a:p>
        </p:txBody>
      </p:sp>
      <p:grpSp>
        <p:nvGrpSpPr>
          <p:cNvPr name="Group 60" id="60"/>
          <p:cNvGrpSpPr/>
          <p:nvPr/>
        </p:nvGrpSpPr>
        <p:grpSpPr>
          <a:xfrm rot="0">
            <a:off x="12113590" y="6436995"/>
            <a:ext cx="5154778" cy="2899410"/>
            <a:chOff x="0" y="0"/>
            <a:chExt cx="6873037" cy="3865880"/>
          </a:xfrm>
        </p:grpSpPr>
        <p:sp>
          <p:nvSpPr>
            <p:cNvPr name="Freeform 61" id="61"/>
            <p:cNvSpPr/>
            <p:nvPr/>
          </p:nvSpPr>
          <p:spPr>
            <a:xfrm flipH="false" flipV="false" rot="0">
              <a:off x="0" y="0"/>
              <a:ext cx="6872986" cy="3865880"/>
            </a:xfrm>
            <a:custGeom>
              <a:avLst/>
              <a:gdLst/>
              <a:ahLst/>
              <a:cxnLst/>
              <a:rect r="r" b="b" t="t" l="l"/>
              <a:pathLst>
                <a:path h="3865880" w="6872986">
                  <a:moveTo>
                    <a:pt x="0" y="368173"/>
                  </a:moveTo>
                  <a:cubicBezTo>
                    <a:pt x="0" y="164846"/>
                    <a:pt x="164846" y="0"/>
                    <a:pt x="368173" y="0"/>
                  </a:cubicBezTo>
                  <a:lnTo>
                    <a:pt x="6504813" y="0"/>
                  </a:lnTo>
                  <a:cubicBezTo>
                    <a:pt x="6708140" y="0"/>
                    <a:pt x="6872986" y="164846"/>
                    <a:pt x="6872986" y="368173"/>
                  </a:cubicBezTo>
                  <a:lnTo>
                    <a:pt x="6872986" y="3497707"/>
                  </a:lnTo>
                  <a:cubicBezTo>
                    <a:pt x="6872986" y="3701034"/>
                    <a:pt x="6708140" y="3865880"/>
                    <a:pt x="6504813" y="3865880"/>
                  </a:cubicBezTo>
                  <a:lnTo>
                    <a:pt x="368173" y="3865880"/>
                  </a:lnTo>
                  <a:cubicBezTo>
                    <a:pt x="164846" y="3865880"/>
                    <a:pt x="0" y="3701034"/>
                    <a:pt x="0" y="3497707"/>
                  </a:cubicBezTo>
                  <a:close/>
                </a:path>
              </a:pathLst>
            </a:custGeom>
            <a:solidFill>
              <a:srgbClr val="00461A"/>
            </a:solidFill>
            <a:ln w="19050" cap="sq">
              <a:solidFill>
                <a:srgbClr val="00461A"/>
              </a:solidFill>
              <a:prstDash val="solid"/>
              <a:miter/>
            </a:ln>
          </p:spPr>
        </p:sp>
      </p:grpSp>
      <p:grpSp>
        <p:nvGrpSpPr>
          <p:cNvPr name="Group 62" id="62"/>
          <p:cNvGrpSpPr/>
          <p:nvPr/>
        </p:nvGrpSpPr>
        <p:grpSpPr>
          <a:xfrm rot="0">
            <a:off x="12534595" y="6789420"/>
            <a:ext cx="1097280" cy="548640"/>
            <a:chOff x="0" y="0"/>
            <a:chExt cx="1463040" cy="731520"/>
          </a:xfrm>
        </p:grpSpPr>
        <p:sp>
          <p:nvSpPr>
            <p:cNvPr name="Freeform 63" id="63"/>
            <p:cNvSpPr/>
            <p:nvPr/>
          </p:nvSpPr>
          <p:spPr>
            <a:xfrm flipH="false" flipV="false" rot="0">
              <a:off x="0" y="0"/>
              <a:ext cx="1463040" cy="731520"/>
            </a:xfrm>
            <a:custGeom>
              <a:avLst/>
              <a:gdLst/>
              <a:ahLst/>
              <a:cxnLst/>
              <a:rect r="r" b="b" t="t" l="l"/>
              <a:pathLst>
                <a:path h="731520" w="1463040">
                  <a:moveTo>
                    <a:pt x="0" y="0"/>
                  </a:moveTo>
                  <a:lnTo>
                    <a:pt x="1463040" y="0"/>
                  </a:lnTo>
                  <a:lnTo>
                    <a:pt x="1463040" y="731520"/>
                  </a:lnTo>
                  <a:lnTo>
                    <a:pt x="0" y="731520"/>
                  </a:lnTo>
                  <a:close/>
                </a:path>
              </a:pathLst>
            </a:custGeom>
            <a:blipFill>
              <a:blip r:embed="rId3">
                <a:alphaModFix amt="0"/>
              </a:blip>
              <a:stretch>
                <a:fillRect l="-14151" t="0" r="-14151" b="0"/>
              </a:stretch>
            </a:blipFill>
          </p:spPr>
        </p:sp>
        <p:sp>
          <p:nvSpPr>
            <p:cNvPr name="TextBox 64" id="64"/>
            <p:cNvSpPr txBox="true"/>
            <p:nvPr/>
          </p:nvSpPr>
          <p:spPr>
            <a:xfrm>
              <a:off x="0" y="-19050"/>
              <a:ext cx="1463040" cy="750570"/>
            </a:xfrm>
            <a:prstGeom prst="rect">
              <a:avLst/>
            </a:prstGeom>
          </p:spPr>
          <p:txBody>
            <a:bodyPr anchor="ctr" rtlCol="false" tIns="0" lIns="0" bIns="0" rIns="0"/>
            <a:lstStyle/>
            <a:p>
              <a:pPr algn="l">
                <a:lnSpc>
                  <a:spcPts val="3240"/>
                </a:lnSpc>
              </a:pPr>
              <a:r>
                <a:rPr lang="en-US" sz="2700">
                  <a:solidFill>
                    <a:srgbClr val="A8D5B2"/>
                  </a:solidFill>
                  <a:latin typeface="Arial"/>
                  <a:ea typeface="Arial"/>
                  <a:cs typeface="Arial"/>
                  <a:sym typeface="Arial"/>
                </a:rPr>
                <a:t>06</a:t>
              </a:r>
            </a:p>
          </p:txBody>
        </p:sp>
      </p:grpSp>
      <p:grpSp>
        <p:nvGrpSpPr>
          <p:cNvPr name="Group 65" id="65"/>
          <p:cNvGrpSpPr/>
          <p:nvPr/>
        </p:nvGrpSpPr>
        <p:grpSpPr>
          <a:xfrm rot="0">
            <a:off x="12534595" y="7338060"/>
            <a:ext cx="4449928" cy="480060"/>
            <a:chOff x="0" y="0"/>
            <a:chExt cx="5933237" cy="640080"/>
          </a:xfrm>
        </p:grpSpPr>
        <p:sp>
          <p:nvSpPr>
            <p:cNvPr name="Freeform 66" id="66"/>
            <p:cNvSpPr/>
            <p:nvPr/>
          </p:nvSpPr>
          <p:spPr>
            <a:xfrm flipH="false" flipV="false" rot="0">
              <a:off x="0" y="0"/>
              <a:ext cx="5933236" cy="640080"/>
            </a:xfrm>
            <a:custGeom>
              <a:avLst/>
              <a:gdLst/>
              <a:ahLst/>
              <a:cxnLst/>
              <a:rect r="r" b="b" t="t" l="l"/>
              <a:pathLst>
                <a:path h="640080" w="5933236">
                  <a:moveTo>
                    <a:pt x="0" y="0"/>
                  </a:moveTo>
                  <a:lnTo>
                    <a:pt x="5933236" y="0"/>
                  </a:lnTo>
                  <a:lnTo>
                    <a:pt x="5933236" y="640080"/>
                  </a:lnTo>
                  <a:lnTo>
                    <a:pt x="0" y="640080"/>
                  </a:lnTo>
                  <a:close/>
                </a:path>
              </a:pathLst>
            </a:custGeom>
            <a:blipFill>
              <a:blip r:embed="rId3">
                <a:alphaModFix amt="0"/>
              </a:blip>
              <a:stretch>
                <a:fillRect l="0" t="-130617" r="0" b="-130617"/>
              </a:stretch>
            </a:blipFill>
          </p:spPr>
        </p:sp>
        <p:sp>
          <p:nvSpPr>
            <p:cNvPr name="TextBox 67" id="67"/>
            <p:cNvSpPr txBox="true"/>
            <p:nvPr/>
          </p:nvSpPr>
          <p:spPr>
            <a:xfrm>
              <a:off x="0" y="-19050"/>
              <a:ext cx="5933237" cy="659130"/>
            </a:xfrm>
            <a:prstGeom prst="rect">
              <a:avLst/>
            </a:prstGeom>
          </p:spPr>
          <p:txBody>
            <a:bodyPr anchor="ctr" rtlCol="false" tIns="0" lIns="0" bIns="0" rIns="0"/>
            <a:lstStyle/>
            <a:p>
              <a:pPr algn="l">
                <a:lnSpc>
                  <a:spcPts val="2700"/>
                </a:lnSpc>
              </a:pPr>
              <a:r>
                <a:rPr lang="en-US" sz="2250" b="true">
                  <a:solidFill>
                    <a:srgbClr val="FFFFFF"/>
                  </a:solidFill>
                  <a:latin typeface="Arial Bold"/>
                  <a:ea typeface="Arial Bold"/>
                  <a:cs typeface="Arial Bold"/>
                  <a:sym typeface="Arial Bold"/>
                </a:rPr>
                <a:t>Empirical Evaluation</a:t>
              </a:r>
            </a:p>
          </p:txBody>
        </p:sp>
      </p:grpSp>
      <p:sp>
        <p:nvSpPr>
          <p:cNvPr name="TextBox 68" id="68"/>
          <p:cNvSpPr txBox="true"/>
          <p:nvPr/>
        </p:nvSpPr>
        <p:spPr>
          <a:xfrm rot="0">
            <a:off x="12534595" y="7880223"/>
            <a:ext cx="4312768" cy="1282065"/>
          </a:xfrm>
          <a:prstGeom prst="rect">
            <a:avLst/>
          </a:prstGeom>
        </p:spPr>
        <p:txBody>
          <a:bodyPr anchor="t" rtlCol="false" tIns="0" lIns="0" bIns="0" rIns="0">
            <a:spAutoFit/>
          </a:bodyPr>
          <a:lstStyle/>
          <a:p>
            <a:pPr algn="l">
              <a:lnSpc>
                <a:spcPts val="2475"/>
              </a:lnSpc>
            </a:pPr>
            <a:r>
              <a:rPr lang="en-US" sz="1875">
                <a:solidFill>
                  <a:srgbClr val="E9EEEA"/>
                </a:solidFill>
                <a:latin typeface="Arial"/>
                <a:ea typeface="Arial"/>
                <a:cs typeface="Arial"/>
                <a:sym typeface="Arial"/>
              </a:rPr>
              <a:t>Evaluate the approaches against random exploration using verified functional faults and false-positive rates.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LITERATURE REVIEW</a:t>
            </a:r>
          </a:p>
        </p:txBody>
      </p:sp>
      <p:graphicFrame>
        <p:nvGraphicFramePr>
          <p:cNvPr name="Table 15" id="15"/>
          <p:cNvGraphicFramePr>
            <a:graphicFrameLocks noGrp="true"/>
          </p:cNvGraphicFramePr>
          <p:nvPr/>
        </p:nvGraphicFramePr>
        <p:xfrm>
          <a:off x="1028700" y="2880360"/>
          <a:ext cx="16173450" cy="6477000"/>
        </p:xfrm>
        <a:graphic>
          <a:graphicData uri="http://schemas.openxmlformats.org/drawingml/2006/table">
            <a:tbl>
              <a:tblPr/>
              <a:tblGrid>
                <a:gridCol w="3822857"/>
                <a:gridCol w="3280768"/>
                <a:gridCol w="3145245"/>
                <a:gridCol w="3213006"/>
                <a:gridCol w="2711574"/>
              </a:tblGrid>
              <a:tr h="620465">
                <a:tc>
                  <a:txBody>
                    <a:bodyPr anchor="t" rtlCol="false"/>
                    <a:lstStyle/>
                    <a:p>
                      <a:pPr algn="l">
                        <a:lnSpc>
                          <a:spcPts val="2160"/>
                        </a:lnSpc>
                        <a:defRPr/>
                      </a:pPr>
                      <a:r>
                        <a:rPr lang="en-US" sz="1800" b="true">
                          <a:solidFill>
                            <a:srgbClr val="FFFFFF"/>
                          </a:solidFill>
                          <a:latin typeface="Arial Bold"/>
                          <a:ea typeface="Arial Bold"/>
                          <a:cs typeface="Arial Bold"/>
                          <a:sym typeface="Arial Bold"/>
                        </a:rPr>
                        <a:t>Paper</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00461A"/>
                    </a:solidFill>
                  </a:tcPr>
                </a:tc>
                <a:tc>
                  <a:txBody>
                    <a:bodyPr anchor="t" rtlCol="false"/>
                    <a:lstStyle/>
                    <a:p>
                      <a:pPr algn="l">
                        <a:lnSpc>
                          <a:spcPts val="2160"/>
                        </a:lnSpc>
                        <a:defRPr/>
                      </a:pPr>
                      <a:r>
                        <a:rPr lang="en-US" sz="1800" b="true">
                          <a:solidFill>
                            <a:srgbClr val="FFFFFF"/>
                          </a:solidFill>
                          <a:latin typeface="Arial Bold"/>
                          <a:ea typeface="Arial Bold"/>
                          <a:cs typeface="Arial Bold"/>
                          <a:sym typeface="Arial Bold"/>
                        </a:rPr>
                        <a:t>Approach and contribution</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00461A"/>
                    </a:solidFill>
                  </a:tcPr>
                </a:tc>
                <a:tc>
                  <a:txBody>
                    <a:bodyPr anchor="t" rtlCol="false"/>
                    <a:lstStyle/>
                    <a:p>
                      <a:pPr algn="l">
                        <a:lnSpc>
                          <a:spcPts val="2160"/>
                        </a:lnSpc>
                        <a:defRPr/>
                      </a:pPr>
                      <a:r>
                        <a:rPr lang="en-US" sz="1800" b="true">
                          <a:solidFill>
                            <a:srgbClr val="FFFFFF"/>
                          </a:solidFill>
                          <a:latin typeface="Arial Bold"/>
                          <a:ea typeface="Arial Bold"/>
                          <a:cs typeface="Arial Bold"/>
                          <a:sym typeface="Arial Bold"/>
                        </a:rPr>
                        <a:t>Limitation</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00461A"/>
                    </a:solidFill>
                  </a:tcPr>
                </a:tc>
                <a:tc>
                  <a:txBody>
                    <a:bodyPr anchor="t" rtlCol="false"/>
                    <a:lstStyle/>
                    <a:p>
                      <a:pPr algn="l">
                        <a:lnSpc>
                          <a:spcPts val="2160"/>
                        </a:lnSpc>
                        <a:defRPr/>
                      </a:pPr>
                      <a:r>
                        <a:rPr lang="en-US" sz="1800" b="true">
                          <a:solidFill>
                            <a:srgbClr val="FFFFFF"/>
                          </a:solidFill>
                          <a:latin typeface="Arial Bold"/>
                          <a:ea typeface="Arial Bold"/>
                          <a:cs typeface="Arial Bold"/>
                          <a:sym typeface="Arial Bold"/>
                        </a:rPr>
                        <a:t>How Katalyze addresses it</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00461A"/>
                    </a:solidFill>
                  </a:tcPr>
                </a:tc>
                <a:tc>
                  <a:txBody>
                    <a:bodyPr anchor="t" rtlCol="false"/>
                    <a:lstStyle/>
                    <a:p>
                      <a:pPr algn="l">
                        <a:lnSpc>
                          <a:spcPts val="2160"/>
                        </a:lnSpc>
                        <a:defRPr/>
                      </a:pPr>
                      <a:r>
                        <a:rPr lang="en-US" sz="1800" b="true">
                          <a:solidFill>
                            <a:srgbClr val="FFFFFF"/>
                          </a:solidFill>
                          <a:latin typeface="Arial Bold"/>
                          <a:ea typeface="Arial Bold"/>
                          <a:cs typeface="Arial Bold"/>
                          <a:sym typeface="Arial Bold"/>
                        </a:rPr>
                        <a:t>What we adopt</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00461A"/>
                    </a:solidFill>
                  </a:tcPr>
                </a:tc>
              </a:tr>
              <a:tr h="1160764">
                <a:tc>
                  <a:txBody>
                    <a:bodyPr anchor="t" rtlCol="false"/>
                    <a:lstStyle/>
                    <a:p>
                      <a:pPr algn="l">
                        <a:lnSpc>
                          <a:spcPts val="1889"/>
                        </a:lnSpc>
                        <a:defRPr/>
                      </a:pPr>
                      <a:r>
                        <a:rPr lang="en-US" sz="1575" b="true">
                          <a:solidFill>
                            <a:srgbClr val="00461A"/>
                          </a:solidFill>
                          <a:latin typeface="Arial Bold"/>
                          <a:ea typeface="Arial Bold"/>
                          <a:cs typeface="Arial Bold"/>
                          <a:sym typeface="Arial Bold"/>
                        </a:rPr>
                        <a:t>Automatic Web Testing Using Curiosity-Driven Reinforcement Learning (WebExplor), ICSE 2021 [1]</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Tabular Q-learning with a curiosity reward; an automaton steers the agent back to unexplored states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Console errors as the only oracle; failures never verified; silent functional bugs missed</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Verified-fault oracle covering six functional bug classes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The curiosity reward; its six benchmark applications and measures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r>
              <a:tr h="1160764">
                <a:tc>
                  <a:txBody>
                    <a:bodyPr anchor="t" rtlCol="false"/>
                    <a:lstStyle/>
                    <a:p>
                      <a:pPr algn="l">
                        <a:lnSpc>
                          <a:spcPts val="1889"/>
                        </a:lnSpc>
                        <a:defRPr/>
                      </a:pPr>
                      <a:r>
                        <a:rPr lang="en-US" sz="1575" b="true">
                          <a:solidFill>
                            <a:srgbClr val="00461A"/>
                          </a:solidFill>
                          <a:latin typeface="Arial Bold"/>
                          <a:ea typeface="Arial Bold"/>
                          <a:cs typeface="Arial Bold"/>
                          <a:sym typeface="Arial Bold"/>
                        </a:rPr>
                        <a:t>Deep Reinforcement Learning for Automated Web GUI Testing (WebRLED), 2025 [2]</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Deep Q-network with grid action values and a learned discriminator of actionable elements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Same implicit oracle; the learner's share of the gains is not isolated</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Controlled comparison of decision strategies on one shared structure</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The importance of detecting actionable elements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r>
              <a:tr h="1160764">
                <a:tc>
                  <a:txBody>
                    <a:bodyPr anchor="t" rtlCol="false"/>
                    <a:lstStyle/>
                    <a:p>
                      <a:pPr algn="l">
                        <a:lnSpc>
                          <a:spcPts val="1889"/>
                        </a:lnSpc>
                        <a:defRPr/>
                      </a:pPr>
                      <a:r>
                        <a:rPr lang="en-US" sz="1575" b="true">
                          <a:solidFill>
                            <a:srgbClr val="00461A"/>
                          </a:solidFill>
                          <a:latin typeface="Arial Bold"/>
                          <a:ea typeface="Arial Bold"/>
                          <a:cs typeface="Arial Bold"/>
                          <a:sym typeface="Arial Bold"/>
                        </a:rPr>
                        <a:t>First Return, Then Explore (Go-Explore), Nature 2021 [3]</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Keeps an archive of reached states, returns to promising ones, then explores from there</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Designed for games; has no notion of a bug or an oracle</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Applied to web testing with exact browser replay and abstract page states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The archive-and-return loop at the heart of our explorer</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r>
              <a:tr h="1213477">
                <a:tc>
                  <a:txBody>
                    <a:bodyPr anchor="t" rtlCol="false"/>
                    <a:lstStyle/>
                    <a:p>
                      <a:pPr algn="l">
                        <a:lnSpc>
                          <a:spcPts val="1889"/>
                        </a:lnSpc>
                        <a:defRPr/>
                      </a:pPr>
                      <a:r>
                        <a:rPr lang="en-US" sz="1575" b="true">
                          <a:solidFill>
                            <a:srgbClr val="00461A"/>
                          </a:solidFill>
                          <a:latin typeface="Arial Bold"/>
                          <a:ea typeface="Arial Bold"/>
                          <a:cs typeface="Arial Bold"/>
                          <a:sym typeface="Arial Bold"/>
                        </a:rPr>
                        <a:t>Understanding Automated Web GUI Testing: An Empirical Study Across Exploration Strategies and State Abstractions, 2026 [4]</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Compares model-, RL- and LLM-based web testers under six state abstractions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Code coverage is only weakly linked to revealing failures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Verified faults as the primary measure, coverage reported beside it</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c>
                  <a:txBody>
                    <a:bodyPr anchor="t" rtlCol="false"/>
                    <a:lstStyle/>
                    <a:p>
                      <a:pPr algn="l">
                        <a:lnSpc>
                          <a:spcPts val="1980"/>
                        </a:lnSpc>
                        <a:defRPr/>
                      </a:pPr>
                      <a:r>
                        <a:rPr lang="en-US" sz="1650">
                          <a:solidFill>
                            <a:srgbClr val="111111"/>
                          </a:solidFill>
                          <a:latin typeface="Arial"/>
                          <a:ea typeface="Arial"/>
                          <a:cs typeface="Arial"/>
                          <a:sym typeface="Arial"/>
                        </a:rPr>
                        <a:t>A compact state abstraction (our page cells)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E9EEEA"/>
                    </a:solidFill>
                  </a:tcPr>
                </a:tc>
              </a:tr>
              <a:tr h="1160764">
                <a:tc>
                  <a:txBody>
                    <a:bodyPr anchor="t" rtlCol="false"/>
                    <a:lstStyle/>
                    <a:p>
                      <a:pPr algn="l">
                        <a:lnSpc>
                          <a:spcPts val="1889"/>
                        </a:lnSpc>
                        <a:defRPr/>
                      </a:pPr>
                      <a:r>
                        <a:rPr lang="en-US" sz="1575" b="true">
                          <a:solidFill>
                            <a:srgbClr val="00461A"/>
                          </a:solidFill>
                          <a:latin typeface="Arial Bold"/>
                          <a:ea typeface="Arial Bold"/>
                          <a:cs typeface="Arial Bold"/>
                          <a:sym typeface="Arial Bold"/>
                        </a:rPr>
                        <a:t>The Oracle Problem in Software Testing: A Survey, IEEE TSE 2015 [5]</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Surveys how tests decide whether observed behaviour is correct</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Implicit oracles (crashes, errors) cannot see wrong results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Specified oracles for seeded faults, verified against control builds</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c>
                  <a:txBody>
                    <a:bodyPr anchor="t" rtlCol="false"/>
                    <a:lstStyle/>
                    <a:p>
                      <a:pPr algn="l">
                        <a:lnSpc>
                          <a:spcPts val="1980"/>
                        </a:lnSpc>
                        <a:defRPr/>
                      </a:pPr>
                      <a:r>
                        <a:rPr lang="en-US" sz="1650">
                          <a:solidFill>
                            <a:srgbClr val="111111"/>
                          </a:solidFill>
                          <a:latin typeface="Arial"/>
                          <a:ea typeface="Arial"/>
                          <a:cs typeface="Arial"/>
                          <a:sym typeface="Arial"/>
                        </a:rPr>
                        <a:t>The specified versus implicit oracle distinction</a:t>
                      </a:r>
                      <a:endParaRPr lang="en-US" sz="1100"/>
                    </a:p>
                  </a:txBody>
                  <a:tcPr marL="91440" marR="91440" marT="91440" marB="91440" anchor="ctr">
                    <a:lnL cmpd="sng" algn="ctr" cap="flat" w="9525">
                      <a:solidFill>
                        <a:srgbClr val="D5DCD7"/>
                      </a:solidFill>
                      <a:prstDash val="solid"/>
                      <a:round/>
                      <a:headEnd type="none" w="med" len="med"/>
                      <a:tailEnd type="none" w="med" len="med"/>
                    </a:lnL>
                    <a:lnR cmpd="sng" algn="ctr" cap="flat" w="9525">
                      <a:solidFill>
                        <a:srgbClr val="D5DCD7"/>
                      </a:solidFill>
                      <a:prstDash val="solid"/>
                      <a:round/>
                      <a:headEnd type="none" w="med" len="med"/>
                      <a:tailEnd type="none" w="med" len="med"/>
                    </a:lnR>
                    <a:lnT cmpd="sng" algn="ctr" cap="flat" w="9525">
                      <a:solidFill>
                        <a:srgbClr val="D5DCD7"/>
                      </a:solidFill>
                      <a:prstDash val="solid"/>
                      <a:round/>
                      <a:headEnd type="none" w="med" len="med"/>
                      <a:tailEnd type="none" w="med" len="med"/>
                    </a:lnT>
                    <a:lnB cmpd="sng" algn="ctr" cap="flat" w="9525">
                      <a:solidFill>
                        <a:srgbClr val="D5DC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RESEARCH GAP</a:t>
            </a:r>
          </a:p>
        </p:txBody>
      </p:sp>
      <p:sp>
        <p:nvSpPr>
          <p:cNvPr name="TextBox 15" id="15"/>
          <p:cNvSpPr txBox="true"/>
          <p:nvPr/>
        </p:nvSpPr>
        <p:spPr>
          <a:xfrm rot="0">
            <a:off x="1028700" y="2754630"/>
            <a:ext cx="8092440" cy="1085850"/>
          </a:xfrm>
          <a:prstGeom prst="rect">
            <a:avLst/>
          </a:prstGeom>
        </p:spPr>
        <p:txBody>
          <a:bodyPr anchor="t" rtlCol="false" tIns="0" lIns="0" bIns="0" rIns="0">
            <a:spAutoFit/>
          </a:bodyPr>
          <a:lstStyle/>
          <a:p>
            <a:pPr algn="l">
              <a:lnSpc>
                <a:spcPts val="3311"/>
              </a:lnSpc>
            </a:pPr>
            <a:r>
              <a:rPr lang="en-US" sz="2400">
                <a:solidFill>
                  <a:srgbClr val="111111"/>
                </a:solidFill>
                <a:latin typeface="Arial"/>
                <a:ea typeface="Arial"/>
                <a:cs typeface="Arial"/>
                <a:sym typeface="Arial"/>
              </a:rPr>
              <a:t>Despite advances in reinforcement learning and autonomous web testing, several limitations remain.</a:t>
            </a:r>
          </a:p>
        </p:txBody>
      </p:sp>
      <p:grpSp>
        <p:nvGrpSpPr>
          <p:cNvPr name="Group 16" id="16"/>
          <p:cNvGrpSpPr/>
          <p:nvPr/>
        </p:nvGrpSpPr>
        <p:grpSpPr>
          <a:xfrm rot="0">
            <a:off x="9865995" y="1636395"/>
            <a:ext cx="7398258" cy="2693670"/>
            <a:chOff x="0" y="0"/>
            <a:chExt cx="9864344" cy="3591560"/>
          </a:xfrm>
        </p:grpSpPr>
        <p:sp>
          <p:nvSpPr>
            <p:cNvPr name="Freeform 17" id="17"/>
            <p:cNvSpPr/>
            <p:nvPr/>
          </p:nvSpPr>
          <p:spPr>
            <a:xfrm flipH="false" flipV="false" rot="0">
              <a:off x="0" y="0"/>
              <a:ext cx="9864344" cy="3591560"/>
            </a:xfrm>
            <a:custGeom>
              <a:avLst/>
              <a:gdLst/>
              <a:ahLst/>
              <a:cxnLst/>
              <a:rect r="r" b="b" t="t" l="l"/>
              <a:pathLst>
                <a:path h="3591560" w="9864344">
                  <a:moveTo>
                    <a:pt x="0" y="405257"/>
                  </a:moveTo>
                  <a:cubicBezTo>
                    <a:pt x="0" y="181356"/>
                    <a:pt x="181356" y="0"/>
                    <a:pt x="405257" y="0"/>
                  </a:cubicBezTo>
                  <a:lnTo>
                    <a:pt x="9459087" y="0"/>
                  </a:lnTo>
                  <a:cubicBezTo>
                    <a:pt x="9682861" y="0"/>
                    <a:pt x="9864344" y="181356"/>
                    <a:pt x="9864344" y="405257"/>
                  </a:cubicBezTo>
                  <a:lnTo>
                    <a:pt x="9864344" y="3186303"/>
                  </a:lnTo>
                  <a:cubicBezTo>
                    <a:pt x="9864344" y="3410077"/>
                    <a:pt x="9682988" y="3591560"/>
                    <a:pt x="9459087" y="3591560"/>
                  </a:cubicBezTo>
                  <a:lnTo>
                    <a:pt x="405257" y="3591560"/>
                  </a:lnTo>
                  <a:cubicBezTo>
                    <a:pt x="181356" y="3591560"/>
                    <a:pt x="0" y="3410204"/>
                    <a:pt x="0" y="3186303"/>
                  </a:cubicBezTo>
                  <a:close/>
                </a:path>
              </a:pathLst>
            </a:custGeom>
            <a:solidFill>
              <a:srgbClr val="00461A"/>
            </a:solidFill>
            <a:ln w="19050" cap="sq">
              <a:solidFill>
                <a:srgbClr val="00461A"/>
              </a:solidFill>
              <a:prstDash val="solid"/>
              <a:miter/>
            </a:ln>
          </p:spPr>
        </p:sp>
      </p:grpSp>
      <p:grpSp>
        <p:nvGrpSpPr>
          <p:cNvPr name="Group 18" id="18"/>
          <p:cNvGrpSpPr/>
          <p:nvPr/>
        </p:nvGrpSpPr>
        <p:grpSpPr>
          <a:xfrm rot="0">
            <a:off x="10355580" y="1947672"/>
            <a:ext cx="6446520" cy="480060"/>
            <a:chOff x="0" y="0"/>
            <a:chExt cx="8595360" cy="640080"/>
          </a:xfrm>
        </p:grpSpPr>
        <p:sp>
          <p:nvSpPr>
            <p:cNvPr name="Freeform 19" id="19"/>
            <p:cNvSpPr/>
            <p:nvPr/>
          </p:nvSpPr>
          <p:spPr>
            <a:xfrm flipH="false" flipV="false" rot="0">
              <a:off x="0" y="0"/>
              <a:ext cx="8595360" cy="640080"/>
            </a:xfrm>
            <a:custGeom>
              <a:avLst/>
              <a:gdLst/>
              <a:ahLst/>
              <a:cxnLst/>
              <a:rect r="r" b="b" t="t" l="l"/>
              <a:pathLst>
                <a:path h="640080" w="8595360">
                  <a:moveTo>
                    <a:pt x="0" y="0"/>
                  </a:moveTo>
                  <a:lnTo>
                    <a:pt x="8595360" y="0"/>
                  </a:lnTo>
                  <a:lnTo>
                    <a:pt x="8595360" y="640080"/>
                  </a:lnTo>
                  <a:lnTo>
                    <a:pt x="0" y="640080"/>
                  </a:lnTo>
                  <a:close/>
                </a:path>
              </a:pathLst>
            </a:custGeom>
            <a:blipFill>
              <a:blip r:embed="rId3">
                <a:alphaModFix amt="0"/>
              </a:blip>
              <a:stretch>
                <a:fillRect l="0" t="-211656" r="0" b="-211656"/>
              </a:stretch>
            </a:blipFill>
          </p:spPr>
        </p:sp>
        <p:sp>
          <p:nvSpPr>
            <p:cNvPr name="TextBox 20" id="20"/>
            <p:cNvSpPr txBox="true"/>
            <p:nvPr/>
          </p:nvSpPr>
          <p:spPr>
            <a:xfrm>
              <a:off x="0" y="-9525"/>
              <a:ext cx="8595360" cy="649605"/>
            </a:xfrm>
            <a:prstGeom prst="rect">
              <a:avLst/>
            </a:prstGeom>
          </p:spPr>
          <p:txBody>
            <a:bodyPr anchor="ctr" rtlCol="false" tIns="0" lIns="0" bIns="0" rIns="0"/>
            <a:lstStyle/>
            <a:p>
              <a:pPr algn="l">
                <a:lnSpc>
                  <a:spcPts val="2879"/>
                </a:lnSpc>
              </a:pPr>
              <a:r>
                <a:rPr lang="en-US" sz="2400" b="true">
                  <a:solidFill>
                    <a:srgbClr val="A8D5B2"/>
                  </a:solidFill>
                  <a:latin typeface="Arial Bold"/>
                  <a:ea typeface="Arial Bold"/>
                  <a:cs typeface="Arial Bold"/>
                  <a:sym typeface="Arial Bold"/>
                </a:rPr>
                <a:t>Research Need</a:t>
              </a:r>
            </a:p>
          </p:txBody>
        </p:sp>
      </p:grpSp>
      <p:sp>
        <p:nvSpPr>
          <p:cNvPr name="TextBox 21" id="21"/>
          <p:cNvSpPr txBox="true"/>
          <p:nvPr/>
        </p:nvSpPr>
        <p:spPr>
          <a:xfrm rot="0">
            <a:off x="10355580" y="2458212"/>
            <a:ext cx="6446520" cy="1684020"/>
          </a:xfrm>
          <a:prstGeom prst="rect">
            <a:avLst/>
          </a:prstGeom>
        </p:spPr>
        <p:txBody>
          <a:bodyPr anchor="t" rtlCol="false" tIns="0" lIns="0" bIns="0" rIns="0">
            <a:spAutoFit/>
          </a:bodyPr>
          <a:lstStyle/>
          <a:p>
            <a:pPr algn="l">
              <a:lnSpc>
                <a:spcPts val="2822"/>
              </a:lnSpc>
            </a:pPr>
            <a:r>
              <a:rPr lang="en-US" sz="2100">
                <a:solidFill>
                  <a:srgbClr val="FFFFFF"/>
                </a:solidFill>
                <a:latin typeface="Arial"/>
                <a:ea typeface="Arial"/>
                <a:cs typeface="Arial"/>
                <a:sym typeface="Arial"/>
              </a:rPr>
              <a:t>An integrated autonomous testing framework that combines structured web exploration with systematic verification of functional faults and controlled evaluation of exploration strategies.</a:t>
            </a:r>
          </a:p>
        </p:txBody>
      </p:sp>
      <p:grpSp>
        <p:nvGrpSpPr>
          <p:cNvPr name="Group 22" id="22"/>
          <p:cNvGrpSpPr/>
          <p:nvPr/>
        </p:nvGrpSpPr>
        <p:grpSpPr>
          <a:xfrm rot="0">
            <a:off x="1028700" y="4937760"/>
            <a:ext cx="2057400" cy="1097280"/>
            <a:chOff x="0" y="0"/>
            <a:chExt cx="2743200" cy="1463040"/>
          </a:xfrm>
        </p:grpSpPr>
        <p:sp>
          <p:nvSpPr>
            <p:cNvPr name="Freeform 23" id="23"/>
            <p:cNvSpPr/>
            <p:nvPr/>
          </p:nvSpPr>
          <p:spPr>
            <a:xfrm flipH="false" flipV="false" rot="0">
              <a:off x="0" y="0"/>
              <a:ext cx="2743200" cy="1463040"/>
            </a:xfrm>
            <a:custGeom>
              <a:avLst/>
              <a:gdLst/>
              <a:ahLst/>
              <a:cxnLst/>
              <a:rect r="r" b="b" t="t" l="l"/>
              <a:pathLst>
                <a:path h="1463040" w="2743200">
                  <a:moveTo>
                    <a:pt x="0" y="0"/>
                  </a:moveTo>
                  <a:lnTo>
                    <a:pt x="2743200" y="0"/>
                  </a:lnTo>
                  <a:lnTo>
                    <a:pt x="2743200" y="1463040"/>
                  </a:lnTo>
                  <a:lnTo>
                    <a:pt x="0" y="1463040"/>
                  </a:lnTo>
                  <a:close/>
                </a:path>
              </a:pathLst>
            </a:custGeom>
            <a:blipFill>
              <a:blip r:embed="rId3">
                <a:alphaModFix amt="0"/>
              </a:blip>
              <a:stretch>
                <a:fillRect l="-18428" t="0" r="-18428" b="0"/>
              </a:stretch>
            </a:blipFill>
          </p:spPr>
        </p:sp>
        <p:sp>
          <p:nvSpPr>
            <p:cNvPr name="TextBox 24" id="24"/>
            <p:cNvSpPr txBox="true"/>
            <p:nvPr/>
          </p:nvSpPr>
          <p:spPr>
            <a:xfrm>
              <a:off x="0" y="-38100"/>
              <a:ext cx="2743200" cy="1501140"/>
            </a:xfrm>
            <a:prstGeom prst="rect">
              <a:avLst/>
            </a:prstGeom>
          </p:spPr>
          <p:txBody>
            <a:bodyPr anchor="ctr" rtlCol="false" tIns="0" lIns="0" bIns="0" rIns="0"/>
            <a:lstStyle/>
            <a:p>
              <a:pPr algn="l">
                <a:lnSpc>
                  <a:spcPts val="7920"/>
                </a:lnSpc>
              </a:pPr>
              <a:r>
                <a:rPr lang="en-US" sz="6600">
                  <a:solidFill>
                    <a:srgbClr val="00461A"/>
                  </a:solidFill>
                  <a:latin typeface="Arial"/>
                  <a:ea typeface="Arial"/>
                  <a:cs typeface="Arial"/>
                  <a:sym typeface="Arial"/>
                </a:rPr>
                <a:t>01</a:t>
              </a:r>
            </a:p>
          </p:txBody>
        </p:sp>
      </p:grpSp>
      <p:sp>
        <p:nvSpPr>
          <p:cNvPr name="TextBox 25" id="25"/>
          <p:cNvSpPr txBox="true"/>
          <p:nvPr/>
        </p:nvSpPr>
        <p:spPr>
          <a:xfrm rot="0">
            <a:off x="1028700" y="6153150"/>
            <a:ext cx="3646056" cy="869442"/>
          </a:xfrm>
          <a:prstGeom prst="rect">
            <a:avLst/>
          </a:prstGeom>
        </p:spPr>
        <p:txBody>
          <a:bodyPr anchor="t" rtlCol="false" tIns="0" lIns="0" bIns="0" rIns="0">
            <a:spAutoFit/>
          </a:bodyPr>
          <a:lstStyle/>
          <a:p>
            <a:pPr algn="l">
              <a:lnSpc>
                <a:spcPts val="2700"/>
              </a:lnSpc>
            </a:pPr>
            <a:r>
              <a:rPr lang="en-US" sz="2250" b="true">
                <a:solidFill>
                  <a:srgbClr val="111111"/>
                </a:solidFill>
                <a:latin typeface="Arial Bold"/>
                <a:ea typeface="Arial Bold"/>
                <a:cs typeface="Arial Bold"/>
                <a:sym typeface="Arial Bold"/>
              </a:rPr>
              <a:t>Limited exploration structure</a:t>
            </a:r>
          </a:p>
        </p:txBody>
      </p:sp>
      <p:sp>
        <p:nvSpPr>
          <p:cNvPr name="TextBox 26" id="26"/>
          <p:cNvSpPr txBox="true"/>
          <p:nvPr/>
        </p:nvSpPr>
        <p:spPr>
          <a:xfrm rot="0">
            <a:off x="1028700" y="7043547"/>
            <a:ext cx="3646056" cy="2310765"/>
          </a:xfrm>
          <a:prstGeom prst="rect">
            <a:avLst/>
          </a:prstGeom>
        </p:spPr>
        <p:txBody>
          <a:bodyPr anchor="t" rtlCol="false" tIns="0" lIns="0" bIns="0" rIns="0">
            <a:spAutoFit/>
          </a:bodyPr>
          <a:lstStyle/>
          <a:p>
            <a:pPr algn="l">
              <a:lnSpc>
                <a:spcPts val="2620"/>
              </a:lnSpc>
            </a:pPr>
            <a:r>
              <a:rPr lang="en-US" sz="1950">
                <a:solidFill>
                  <a:srgbClr val="555555"/>
                </a:solidFill>
                <a:latin typeface="Arial"/>
                <a:ea typeface="Arial"/>
                <a:cs typeface="Arial"/>
                <a:sym typeface="Arial"/>
              </a:rPr>
              <a:t>Existing approaches do not fully address systematic exploration and revisitation of web application states within a unified testing framework.</a:t>
            </a:r>
          </a:p>
        </p:txBody>
      </p:sp>
      <p:grpSp>
        <p:nvGrpSpPr>
          <p:cNvPr name="Group 27" id="27"/>
          <p:cNvGrpSpPr/>
          <p:nvPr/>
        </p:nvGrpSpPr>
        <p:grpSpPr>
          <a:xfrm rot="0">
            <a:off x="5223396" y="4937760"/>
            <a:ext cx="2057400" cy="1097280"/>
            <a:chOff x="0" y="0"/>
            <a:chExt cx="2743200" cy="1463040"/>
          </a:xfrm>
        </p:grpSpPr>
        <p:sp>
          <p:nvSpPr>
            <p:cNvPr name="Freeform 28" id="28"/>
            <p:cNvSpPr/>
            <p:nvPr/>
          </p:nvSpPr>
          <p:spPr>
            <a:xfrm flipH="false" flipV="false" rot="0">
              <a:off x="0" y="0"/>
              <a:ext cx="2743200" cy="1463040"/>
            </a:xfrm>
            <a:custGeom>
              <a:avLst/>
              <a:gdLst/>
              <a:ahLst/>
              <a:cxnLst/>
              <a:rect r="r" b="b" t="t" l="l"/>
              <a:pathLst>
                <a:path h="1463040" w="2743200">
                  <a:moveTo>
                    <a:pt x="0" y="0"/>
                  </a:moveTo>
                  <a:lnTo>
                    <a:pt x="2743200" y="0"/>
                  </a:lnTo>
                  <a:lnTo>
                    <a:pt x="2743200" y="1463040"/>
                  </a:lnTo>
                  <a:lnTo>
                    <a:pt x="0" y="1463040"/>
                  </a:lnTo>
                  <a:close/>
                </a:path>
              </a:pathLst>
            </a:custGeom>
            <a:blipFill>
              <a:blip r:embed="rId3">
                <a:alphaModFix amt="0"/>
              </a:blip>
              <a:stretch>
                <a:fillRect l="-18428" t="0" r="-18428" b="0"/>
              </a:stretch>
            </a:blipFill>
          </p:spPr>
        </p:sp>
        <p:sp>
          <p:nvSpPr>
            <p:cNvPr name="TextBox 29" id="29"/>
            <p:cNvSpPr txBox="true"/>
            <p:nvPr/>
          </p:nvSpPr>
          <p:spPr>
            <a:xfrm>
              <a:off x="0" y="-38100"/>
              <a:ext cx="2743200" cy="1501140"/>
            </a:xfrm>
            <a:prstGeom prst="rect">
              <a:avLst/>
            </a:prstGeom>
          </p:spPr>
          <p:txBody>
            <a:bodyPr anchor="ctr" rtlCol="false" tIns="0" lIns="0" bIns="0" rIns="0"/>
            <a:lstStyle/>
            <a:p>
              <a:pPr algn="l">
                <a:lnSpc>
                  <a:spcPts val="7920"/>
                </a:lnSpc>
              </a:pPr>
              <a:r>
                <a:rPr lang="en-US" sz="6600">
                  <a:solidFill>
                    <a:srgbClr val="00461A"/>
                  </a:solidFill>
                  <a:latin typeface="Arial"/>
                  <a:ea typeface="Arial"/>
                  <a:cs typeface="Arial"/>
                  <a:sym typeface="Arial"/>
                </a:rPr>
                <a:t>02</a:t>
              </a:r>
            </a:p>
          </p:txBody>
        </p:sp>
      </p:grpSp>
      <p:sp>
        <p:nvSpPr>
          <p:cNvPr name="TextBox 30" id="30"/>
          <p:cNvSpPr txBox="true"/>
          <p:nvPr/>
        </p:nvSpPr>
        <p:spPr>
          <a:xfrm rot="0">
            <a:off x="5223396" y="6153150"/>
            <a:ext cx="3646056" cy="869442"/>
          </a:xfrm>
          <a:prstGeom prst="rect">
            <a:avLst/>
          </a:prstGeom>
        </p:spPr>
        <p:txBody>
          <a:bodyPr anchor="t" rtlCol="false" tIns="0" lIns="0" bIns="0" rIns="0">
            <a:spAutoFit/>
          </a:bodyPr>
          <a:lstStyle/>
          <a:p>
            <a:pPr algn="l">
              <a:lnSpc>
                <a:spcPts val="2700"/>
              </a:lnSpc>
            </a:pPr>
            <a:r>
              <a:rPr lang="en-US" sz="2250" b="true">
                <a:solidFill>
                  <a:srgbClr val="111111"/>
                </a:solidFill>
                <a:latin typeface="Arial Bold"/>
                <a:ea typeface="Arial Bold"/>
                <a:cs typeface="Arial Bold"/>
                <a:sym typeface="Arial Bold"/>
              </a:rPr>
              <a:t>Inadequate fault verification</a:t>
            </a:r>
          </a:p>
        </p:txBody>
      </p:sp>
      <p:sp>
        <p:nvSpPr>
          <p:cNvPr name="TextBox 31" id="31"/>
          <p:cNvSpPr txBox="true"/>
          <p:nvPr/>
        </p:nvSpPr>
        <p:spPr>
          <a:xfrm rot="0">
            <a:off x="5223396" y="7043547"/>
            <a:ext cx="3646056" cy="2310765"/>
          </a:xfrm>
          <a:prstGeom prst="rect">
            <a:avLst/>
          </a:prstGeom>
        </p:spPr>
        <p:txBody>
          <a:bodyPr anchor="t" rtlCol="false" tIns="0" lIns="0" bIns="0" rIns="0">
            <a:spAutoFit/>
          </a:bodyPr>
          <a:lstStyle/>
          <a:p>
            <a:pPr algn="l">
              <a:lnSpc>
                <a:spcPts val="2620"/>
              </a:lnSpc>
            </a:pPr>
            <a:r>
              <a:rPr lang="en-US" sz="1950">
                <a:solidFill>
                  <a:srgbClr val="555555"/>
                </a:solidFill>
                <a:latin typeface="Arial"/>
                <a:ea typeface="Arial"/>
                <a:cs typeface="Arial"/>
                <a:sym typeface="Arial"/>
              </a:rPr>
              <a:t>Many approaches rely on indirect indicators, such as console errors or code coverage, rather than verifying whether functional faults are genuine and reproducible.</a:t>
            </a:r>
          </a:p>
        </p:txBody>
      </p:sp>
      <p:grpSp>
        <p:nvGrpSpPr>
          <p:cNvPr name="Group 32" id="32"/>
          <p:cNvGrpSpPr/>
          <p:nvPr/>
        </p:nvGrpSpPr>
        <p:grpSpPr>
          <a:xfrm rot="0">
            <a:off x="9418091" y="4937760"/>
            <a:ext cx="2057400" cy="1097280"/>
            <a:chOff x="0" y="0"/>
            <a:chExt cx="2743200" cy="1463040"/>
          </a:xfrm>
        </p:grpSpPr>
        <p:sp>
          <p:nvSpPr>
            <p:cNvPr name="Freeform 33" id="33"/>
            <p:cNvSpPr/>
            <p:nvPr/>
          </p:nvSpPr>
          <p:spPr>
            <a:xfrm flipH="false" flipV="false" rot="0">
              <a:off x="0" y="0"/>
              <a:ext cx="2743200" cy="1463040"/>
            </a:xfrm>
            <a:custGeom>
              <a:avLst/>
              <a:gdLst/>
              <a:ahLst/>
              <a:cxnLst/>
              <a:rect r="r" b="b" t="t" l="l"/>
              <a:pathLst>
                <a:path h="1463040" w="2743200">
                  <a:moveTo>
                    <a:pt x="0" y="0"/>
                  </a:moveTo>
                  <a:lnTo>
                    <a:pt x="2743200" y="0"/>
                  </a:lnTo>
                  <a:lnTo>
                    <a:pt x="2743200" y="1463040"/>
                  </a:lnTo>
                  <a:lnTo>
                    <a:pt x="0" y="1463040"/>
                  </a:lnTo>
                  <a:close/>
                </a:path>
              </a:pathLst>
            </a:custGeom>
            <a:blipFill>
              <a:blip r:embed="rId3">
                <a:alphaModFix amt="0"/>
              </a:blip>
              <a:stretch>
                <a:fillRect l="-18428" t="0" r="-18428" b="0"/>
              </a:stretch>
            </a:blipFill>
          </p:spPr>
        </p:sp>
        <p:sp>
          <p:nvSpPr>
            <p:cNvPr name="TextBox 34" id="34"/>
            <p:cNvSpPr txBox="true"/>
            <p:nvPr/>
          </p:nvSpPr>
          <p:spPr>
            <a:xfrm>
              <a:off x="0" y="-38100"/>
              <a:ext cx="2743200" cy="1501140"/>
            </a:xfrm>
            <a:prstGeom prst="rect">
              <a:avLst/>
            </a:prstGeom>
          </p:spPr>
          <p:txBody>
            <a:bodyPr anchor="ctr" rtlCol="false" tIns="0" lIns="0" bIns="0" rIns="0"/>
            <a:lstStyle/>
            <a:p>
              <a:pPr algn="l">
                <a:lnSpc>
                  <a:spcPts val="7920"/>
                </a:lnSpc>
              </a:pPr>
              <a:r>
                <a:rPr lang="en-US" sz="6600">
                  <a:solidFill>
                    <a:srgbClr val="00461A"/>
                  </a:solidFill>
                  <a:latin typeface="Arial"/>
                  <a:ea typeface="Arial"/>
                  <a:cs typeface="Arial"/>
                  <a:sym typeface="Arial"/>
                </a:rPr>
                <a:t>03</a:t>
              </a:r>
            </a:p>
          </p:txBody>
        </p:sp>
      </p:grpSp>
      <p:sp>
        <p:nvSpPr>
          <p:cNvPr name="TextBox 35" id="35"/>
          <p:cNvSpPr txBox="true"/>
          <p:nvPr/>
        </p:nvSpPr>
        <p:spPr>
          <a:xfrm rot="0">
            <a:off x="9418091" y="6153150"/>
            <a:ext cx="3646056" cy="869442"/>
          </a:xfrm>
          <a:prstGeom prst="rect">
            <a:avLst/>
          </a:prstGeom>
        </p:spPr>
        <p:txBody>
          <a:bodyPr anchor="t" rtlCol="false" tIns="0" lIns="0" bIns="0" rIns="0">
            <a:spAutoFit/>
          </a:bodyPr>
          <a:lstStyle/>
          <a:p>
            <a:pPr algn="l">
              <a:lnSpc>
                <a:spcPts val="2700"/>
              </a:lnSpc>
            </a:pPr>
            <a:r>
              <a:rPr lang="en-US" sz="2250" b="true">
                <a:solidFill>
                  <a:srgbClr val="111111"/>
                </a:solidFill>
                <a:latin typeface="Arial Bold"/>
                <a:ea typeface="Arial Bold"/>
                <a:cs typeface="Arial Bold"/>
                <a:sym typeface="Arial Bold"/>
              </a:rPr>
              <a:t>Insufficient evaluation of strategies</a:t>
            </a:r>
          </a:p>
        </p:txBody>
      </p:sp>
      <p:sp>
        <p:nvSpPr>
          <p:cNvPr name="TextBox 36" id="36"/>
          <p:cNvSpPr txBox="true"/>
          <p:nvPr/>
        </p:nvSpPr>
        <p:spPr>
          <a:xfrm rot="0">
            <a:off x="9418091" y="7043547"/>
            <a:ext cx="3646056" cy="2310765"/>
          </a:xfrm>
          <a:prstGeom prst="rect">
            <a:avLst/>
          </a:prstGeom>
        </p:spPr>
        <p:txBody>
          <a:bodyPr anchor="t" rtlCol="false" tIns="0" lIns="0" bIns="0" rIns="0">
            <a:spAutoFit/>
          </a:bodyPr>
          <a:lstStyle/>
          <a:p>
            <a:pPr algn="l">
              <a:lnSpc>
                <a:spcPts val="2620"/>
              </a:lnSpc>
            </a:pPr>
            <a:r>
              <a:rPr lang="en-US" sz="1950">
                <a:solidFill>
                  <a:srgbClr val="555555"/>
                </a:solidFill>
                <a:latin typeface="Arial"/>
                <a:ea typeface="Arial"/>
                <a:cs typeface="Arial"/>
                <a:sym typeface="Arial"/>
              </a:rPr>
              <a:t>The individual benefits of structured exploration, test-design strategies, and lightweight online learning are not clearly isolated.</a:t>
            </a:r>
          </a:p>
        </p:txBody>
      </p:sp>
      <p:grpSp>
        <p:nvGrpSpPr>
          <p:cNvPr name="Group 37" id="37"/>
          <p:cNvGrpSpPr/>
          <p:nvPr/>
        </p:nvGrpSpPr>
        <p:grpSpPr>
          <a:xfrm rot="0">
            <a:off x="13612787" y="4937760"/>
            <a:ext cx="2057400" cy="1097280"/>
            <a:chOff x="0" y="0"/>
            <a:chExt cx="2743200" cy="1463040"/>
          </a:xfrm>
        </p:grpSpPr>
        <p:sp>
          <p:nvSpPr>
            <p:cNvPr name="Freeform 38" id="38"/>
            <p:cNvSpPr/>
            <p:nvPr/>
          </p:nvSpPr>
          <p:spPr>
            <a:xfrm flipH="false" flipV="false" rot="0">
              <a:off x="0" y="0"/>
              <a:ext cx="2743200" cy="1463040"/>
            </a:xfrm>
            <a:custGeom>
              <a:avLst/>
              <a:gdLst/>
              <a:ahLst/>
              <a:cxnLst/>
              <a:rect r="r" b="b" t="t" l="l"/>
              <a:pathLst>
                <a:path h="1463040" w="2743200">
                  <a:moveTo>
                    <a:pt x="0" y="0"/>
                  </a:moveTo>
                  <a:lnTo>
                    <a:pt x="2743200" y="0"/>
                  </a:lnTo>
                  <a:lnTo>
                    <a:pt x="2743200" y="1463040"/>
                  </a:lnTo>
                  <a:lnTo>
                    <a:pt x="0" y="1463040"/>
                  </a:lnTo>
                  <a:close/>
                </a:path>
              </a:pathLst>
            </a:custGeom>
            <a:blipFill>
              <a:blip r:embed="rId3">
                <a:alphaModFix amt="0"/>
              </a:blip>
              <a:stretch>
                <a:fillRect l="-18428" t="0" r="-18428" b="0"/>
              </a:stretch>
            </a:blipFill>
          </p:spPr>
        </p:sp>
        <p:sp>
          <p:nvSpPr>
            <p:cNvPr name="TextBox 39" id="39"/>
            <p:cNvSpPr txBox="true"/>
            <p:nvPr/>
          </p:nvSpPr>
          <p:spPr>
            <a:xfrm>
              <a:off x="0" y="-38100"/>
              <a:ext cx="2743200" cy="1501140"/>
            </a:xfrm>
            <a:prstGeom prst="rect">
              <a:avLst/>
            </a:prstGeom>
          </p:spPr>
          <p:txBody>
            <a:bodyPr anchor="ctr" rtlCol="false" tIns="0" lIns="0" bIns="0" rIns="0"/>
            <a:lstStyle/>
            <a:p>
              <a:pPr algn="l">
                <a:lnSpc>
                  <a:spcPts val="7920"/>
                </a:lnSpc>
              </a:pPr>
              <a:r>
                <a:rPr lang="en-US" sz="6600">
                  <a:solidFill>
                    <a:srgbClr val="00461A"/>
                  </a:solidFill>
                  <a:latin typeface="Arial"/>
                  <a:ea typeface="Arial"/>
                  <a:cs typeface="Arial"/>
                  <a:sym typeface="Arial"/>
                </a:rPr>
                <a:t>04</a:t>
              </a:r>
            </a:p>
          </p:txBody>
        </p:sp>
      </p:grpSp>
      <p:sp>
        <p:nvSpPr>
          <p:cNvPr name="TextBox 40" id="40"/>
          <p:cNvSpPr txBox="true"/>
          <p:nvPr/>
        </p:nvSpPr>
        <p:spPr>
          <a:xfrm rot="0">
            <a:off x="13612787" y="6153150"/>
            <a:ext cx="3646056" cy="869442"/>
          </a:xfrm>
          <a:prstGeom prst="rect">
            <a:avLst/>
          </a:prstGeom>
        </p:spPr>
        <p:txBody>
          <a:bodyPr anchor="t" rtlCol="false" tIns="0" lIns="0" bIns="0" rIns="0">
            <a:spAutoFit/>
          </a:bodyPr>
          <a:lstStyle/>
          <a:p>
            <a:pPr algn="l">
              <a:lnSpc>
                <a:spcPts val="2700"/>
              </a:lnSpc>
            </a:pPr>
            <a:r>
              <a:rPr lang="en-US" sz="2250" b="true">
                <a:solidFill>
                  <a:srgbClr val="111111"/>
                </a:solidFill>
                <a:latin typeface="Arial Bold"/>
                <a:ea typeface="Arial Bold"/>
                <a:cs typeface="Arial Bold"/>
                <a:sym typeface="Arial Bold"/>
              </a:rPr>
              <a:t>Lack of robust fault validation</a:t>
            </a:r>
          </a:p>
        </p:txBody>
      </p:sp>
      <p:sp>
        <p:nvSpPr>
          <p:cNvPr name="TextBox 41" id="41"/>
          <p:cNvSpPr txBox="true"/>
          <p:nvPr/>
        </p:nvSpPr>
        <p:spPr>
          <a:xfrm rot="0">
            <a:off x="13612787" y="7043547"/>
            <a:ext cx="3646056" cy="2310765"/>
          </a:xfrm>
          <a:prstGeom prst="rect">
            <a:avLst/>
          </a:prstGeom>
        </p:spPr>
        <p:txBody>
          <a:bodyPr anchor="t" rtlCol="false" tIns="0" lIns="0" bIns="0" rIns="0">
            <a:spAutoFit/>
          </a:bodyPr>
          <a:lstStyle/>
          <a:p>
            <a:pPr algn="l">
              <a:lnSpc>
                <a:spcPts val="2620"/>
              </a:lnSpc>
            </a:pPr>
            <a:r>
              <a:rPr lang="en-US" sz="1950">
                <a:solidFill>
                  <a:srgbClr val="555555"/>
                </a:solidFill>
                <a:latin typeface="Arial"/>
                <a:ea typeface="Arial"/>
                <a:cs typeface="Arial"/>
                <a:sym typeface="Arial"/>
              </a:rPr>
              <a:t>Detected failures require reproducibility checks, comparison against a fault-free control build, and minimisation of failing interaction sequences.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HOW THE LITERATURE CONNECTS</a:t>
            </a:r>
          </a:p>
          <a:p>
            <a:pPr algn="l">
              <a:lnSpc>
                <a:spcPts val="6336"/>
              </a:lnSpc>
            </a:pPr>
            <a:r>
              <a:rPr lang="en-US" sz="6000">
                <a:solidFill>
                  <a:srgbClr val="111111"/>
                </a:solidFill>
                <a:latin typeface="Arial"/>
                <a:ea typeface="Arial"/>
                <a:cs typeface="Arial"/>
                <a:sym typeface="Arial"/>
              </a:rPr>
              <a:t>TO OUR CONTRIBUTIONS</a:t>
            </a:r>
          </a:p>
        </p:txBody>
      </p:sp>
      <p:grpSp>
        <p:nvGrpSpPr>
          <p:cNvPr name="Group 15" id="15"/>
          <p:cNvGrpSpPr/>
          <p:nvPr/>
        </p:nvGrpSpPr>
        <p:grpSpPr>
          <a:xfrm rot="0">
            <a:off x="1440180" y="3840480"/>
            <a:ext cx="6858000" cy="411480"/>
            <a:chOff x="0" y="0"/>
            <a:chExt cx="9144000" cy="548640"/>
          </a:xfrm>
        </p:grpSpPr>
        <p:sp>
          <p:nvSpPr>
            <p:cNvPr name="Freeform 16" id="16"/>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17" id="17"/>
            <p:cNvSpPr txBox="true"/>
            <p:nvPr/>
          </p:nvSpPr>
          <p:spPr>
            <a:xfrm>
              <a:off x="0" y="-19050"/>
              <a:ext cx="9144000" cy="567690"/>
            </a:xfrm>
            <a:prstGeom prst="rect">
              <a:avLst/>
            </a:prstGeom>
          </p:spPr>
          <p:txBody>
            <a:bodyPr anchor="ctr" rtlCol="false" tIns="0" lIns="0" bIns="0" rIns="0"/>
            <a:lstStyle/>
            <a:p>
              <a:pPr algn="l">
                <a:lnSpc>
                  <a:spcPts val="1980"/>
                </a:lnSpc>
              </a:pPr>
              <a:r>
                <a:rPr lang="en-US" b="true" sz="1650" spc="299">
                  <a:solidFill>
                    <a:srgbClr val="3F8C50"/>
                  </a:solidFill>
                  <a:latin typeface="Arial Bold"/>
                  <a:ea typeface="Arial Bold"/>
                  <a:cs typeface="Arial Bold"/>
                  <a:sym typeface="Arial Bold"/>
                </a:rPr>
                <a:t>LITERATURE LIMITATION</a:t>
              </a:r>
            </a:p>
          </p:txBody>
        </p:sp>
      </p:grpSp>
      <p:grpSp>
        <p:nvGrpSpPr>
          <p:cNvPr name="Group 18" id="18"/>
          <p:cNvGrpSpPr/>
          <p:nvPr/>
        </p:nvGrpSpPr>
        <p:grpSpPr>
          <a:xfrm rot="0">
            <a:off x="9436608" y="3840480"/>
            <a:ext cx="8233715" cy="411480"/>
            <a:chOff x="0" y="0"/>
            <a:chExt cx="10978286" cy="548640"/>
          </a:xfrm>
        </p:grpSpPr>
        <p:sp>
          <p:nvSpPr>
            <p:cNvPr name="Freeform 19" id="19"/>
            <p:cNvSpPr/>
            <p:nvPr/>
          </p:nvSpPr>
          <p:spPr>
            <a:xfrm flipH="false" flipV="false" rot="0">
              <a:off x="0" y="0"/>
              <a:ext cx="10978286" cy="548640"/>
            </a:xfrm>
            <a:custGeom>
              <a:avLst/>
              <a:gdLst/>
              <a:ahLst/>
              <a:cxnLst/>
              <a:rect r="r" b="b" t="t" l="l"/>
              <a:pathLst>
                <a:path h="548640" w="10978286">
                  <a:moveTo>
                    <a:pt x="0" y="0"/>
                  </a:moveTo>
                  <a:lnTo>
                    <a:pt x="10978286" y="0"/>
                  </a:lnTo>
                  <a:lnTo>
                    <a:pt x="10978286" y="548640"/>
                  </a:lnTo>
                  <a:lnTo>
                    <a:pt x="0" y="548640"/>
                  </a:lnTo>
                  <a:close/>
                </a:path>
              </a:pathLst>
            </a:custGeom>
            <a:blipFill>
              <a:blip r:embed="rId3">
                <a:alphaModFix amt="0"/>
              </a:blip>
              <a:stretch>
                <a:fillRect l="0" t="-339895" r="0" b="-339895"/>
              </a:stretch>
            </a:blipFill>
          </p:spPr>
        </p:sp>
        <p:sp>
          <p:nvSpPr>
            <p:cNvPr name="TextBox 20" id="20"/>
            <p:cNvSpPr txBox="true"/>
            <p:nvPr/>
          </p:nvSpPr>
          <p:spPr>
            <a:xfrm>
              <a:off x="0" y="-19050"/>
              <a:ext cx="10978286" cy="567690"/>
            </a:xfrm>
            <a:prstGeom prst="rect">
              <a:avLst/>
            </a:prstGeom>
          </p:spPr>
          <p:txBody>
            <a:bodyPr anchor="ctr" rtlCol="false" tIns="0" lIns="0" bIns="0" rIns="0"/>
            <a:lstStyle/>
            <a:p>
              <a:pPr algn="l">
                <a:lnSpc>
                  <a:spcPts val="1980"/>
                </a:lnSpc>
              </a:pPr>
              <a:r>
                <a:rPr lang="en-US" b="true" sz="1650" spc="299">
                  <a:solidFill>
                    <a:srgbClr val="3F8C50"/>
                  </a:solidFill>
                  <a:latin typeface="Arial Bold"/>
                  <a:ea typeface="Arial Bold"/>
                  <a:cs typeface="Arial Bold"/>
                  <a:sym typeface="Arial Bold"/>
                </a:rPr>
                <a:t>KATALYZE'S RESPONSE</a:t>
              </a:r>
            </a:p>
          </p:txBody>
        </p:sp>
      </p:grpSp>
      <p:grpSp>
        <p:nvGrpSpPr>
          <p:cNvPr name="Group 21" id="21"/>
          <p:cNvGrpSpPr/>
          <p:nvPr/>
        </p:nvGrpSpPr>
        <p:grpSpPr>
          <a:xfrm rot="0">
            <a:off x="1019175" y="4379595"/>
            <a:ext cx="6877050" cy="842010"/>
            <a:chOff x="0" y="0"/>
            <a:chExt cx="9169400" cy="1122680"/>
          </a:xfrm>
        </p:grpSpPr>
        <p:sp>
          <p:nvSpPr>
            <p:cNvPr name="Freeform 22" id="22"/>
            <p:cNvSpPr/>
            <p:nvPr/>
          </p:nvSpPr>
          <p:spPr>
            <a:xfrm flipH="false" flipV="false" rot="0">
              <a:off x="0" y="0"/>
              <a:ext cx="9169400" cy="1122680"/>
            </a:xfrm>
            <a:custGeom>
              <a:avLst/>
              <a:gdLst/>
              <a:ahLst/>
              <a:cxnLst/>
              <a:rect r="r" b="b" t="t" l="l"/>
              <a:pathLst>
                <a:path h="1122680" w="9169400">
                  <a:moveTo>
                    <a:pt x="0" y="224536"/>
                  </a:moveTo>
                  <a:cubicBezTo>
                    <a:pt x="0" y="100584"/>
                    <a:pt x="100584" y="0"/>
                    <a:pt x="224536" y="0"/>
                  </a:cubicBezTo>
                  <a:lnTo>
                    <a:pt x="8944864" y="0"/>
                  </a:lnTo>
                  <a:cubicBezTo>
                    <a:pt x="9068816" y="0"/>
                    <a:pt x="9169400" y="100584"/>
                    <a:pt x="9169400" y="224536"/>
                  </a:cubicBezTo>
                  <a:lnTo>
                    <a:pt x="9169400" y="898144"/>
                  </a:lnTo>
                  <a:cubicBezTo>
                    <a:pt x="9169400" y="1022096"/>
                    <a:pt x="9068816" y="1122680"/>
                    <a:pt x="8944864" y="1122680"/>
                  </a:cubicBezTo>
                  <a:lnTo>
                    <a:pt x="224536" y="1122680"/>
                  </a:lnTo>
                  <a:cubicBezTo>
                    <a:pt x="100584" y="1122680"/>
                    <a:pt x="0" y="1022096"/>
                    <a:pt x="0" y="898144"/>
                  </a:cubicBezTo>
                  <a:close/>
                </a:path>
              </a:pathLst>
            </a:custGeom>
            <a:solidFill>
              <a:srgbClr val="DDE5DF"/>
            </a:solidFill>
            <a:ln w="19050" cap="sq">
              <a:solidFill>
                <a:srgbClr val="DDE5DF"/>
              </a:solidFill>
              <a:prstDash val="solid"/>
              <a:miter/>
            </a:ln>
          </p:spPr>
        </p:sp>
      </p:grpSp>
      <p:grpSp>
        <p:nvGrpSpPr>
          <p:cNvPr name="Group 23" id="23"/>
          <p:cNvGrpSpPr/>
          <p:nvPr/>
        </p:nvGrpSpPr>
        <p:grpSpPr>
          <a:xfrm rot="0">
            <a:off x="1440180" y="4389120"/>
            <a:ext cx="6172200" cy="822960"/>
            <a:chOff x="0" y="0"/>
            <a:chExt cx="8229600" cy="1097280"/>
          </a:xfrm>
        </p:grpSpPr>
        <p:sp>
          <p:nvSpPr>
            <p:cNvPr name="Freeform 24" id="24"/>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25" id="25"/>
            <p:cNvSpPr txBox="true"/>
            <p:nvPr/>
          </p:nvSpPr>
          <p:spPr>
            <a:xfrm>
              <a:off x="0" y="-9525"/>
              <a:ext cx="8229600" cy="1106805"/>
            </a:xfrm>
            <a:prstGeom prst="rect">
              <a:avLst/>
            </a:prstGeom>
          </p:spPr>
          <p:txBody>
            <a:bodyPr anchor="ctr" rtlCol="false" tIns="0" lIns="0" bIns="0" rIns="0"/>
            <a:lstStyle/>
            <a:p>
              <a:pPr algn="l">
                <a:lnSpc>
                  <a:spcPts val="2520"/>
                </a:lnSpc>
              </a:pPr>
              <a:r>
                <a:rPr lang="en-US" sz="2100">
                  <a:solidFill>
                    <a:srgbClr val="111111"/>
                  </a:solidFill>
                  <a:latin typeface="Arial"/>
                  <a:ea typeface="Arial"/>
                  <a:cs typeface="Arial"/>
                  <a:sym typeface="Arial"/>
                </a:rPr>
                <a:t>Console errors can miss silent functional bugs</a:t>
              </a:r>
            </a:p>
          </p:txBody>
        </p:sp>
      </p:grpSp>
      <p:grpSp>
        <p:nvGrpSpPr>
          <p:cNvPr name="Group 26" id="26"/>
          <p:cNvGrpSpPr/>
          <p:nvPr/>
        </p:nvGrpSpPr>
        <p:grpSpPr>
          <a:xfrm rot="0">
            <a:off x="8274939" y="4612767"/>
            <a:ext cx="361950" cy="375666"/>
            <a:chOff x="0" y="0"/>
            <a:chExt cx="482600" cy="500888"/>
          </a:xfrm>
        </p:grpSpPr>
        <p:sp>
          <p:nvSpPr>
            <p:cNvPr name="Freeform 27" id="27"/>
            <p:cNvSpPr/>
            <p:nvPr/>
          </p:nvSpPr>
          <p:spPr>
            <a:xfrm flipH="false" flipV="false" rot="0">
              <a:off x="0" y="0"/>
              <a:ext cx="482600" cy="500888"/>
            </a:xfrm>
            <a:custGeom>
              <a:avLst/>
              <a:gdLst/>
              <a:ahLst/>
              <a:cxnLst/>
              <a:rect r="r" b="b" t="t" l="l"/>
              <a:pathLst>
                <a:path h="500888" w="482600">
                  <a:moveTo>
                    <a:pt x="0" y="0"/>
                  </a:moveTo>
                  <a:lnTo>
                    <a:pt x="241300" y="0"/>
                  </a:lnTo>
                  <a:lnTo>
                    <a:pt x="482600" y="250444"/>
                  </a:lnTo>
                  <a:lnTo>
                    <a:pt x="241300" y="500888"/>
                  </a:lnTo>
                  <a:lnTo>
                    <a:pt x="0" y="500888"/>
                  </a:lnTo>
                  <a:lnTo>
                    <a:pt x="241300" y="250444"/>
                  </a:lnTo>
                  <a:close/>
                </a:path>
              </a:pathLst>
            </a:custGeom>
            <a:solidFill>
              <a:srgbClr val="00461A"/>
            </a:solidFill>
            <a:ln w="19050" cap="sq">
              <a:solidFill>
                <a:srgbClr val="00461A"/>
              </a:solidFill>
              <a:prstDash val="solid"/>
              <a:miter/>
            </a:ln>
          </p:spPr>
        </p:sp>
      </p:grpSp>
      <p:grpSp>
        <p:nvGrpSpPr>
          <p:cNvPr name="Group 28" id="28"/>
          <p:cNvGrpSpPr/>
          <p:nvPr/>
        </p:nvGrpSpPr>
        <p:grpSpPr>
          <a:xfrm rot="0">
            <a:off x="9015603" y="4379595"/>
            <a:ext cx="8252765" cy="842010"/>
            <a:chOff x="0" y="0"/>
            <a:chExt cx="11003686" cy="1122680"/>
          </a:xfrm>
        </p:grpSpPr>
        <p:sp>
          <p:nvSpPr>
            <p:cNvPr name="Freeform 29" id="29"/>
            <p:cNvSpPr/>
            <p:nvPr/>
          </p:nvSpPr>
          <p:spPr>
            <a:xfrm flipH="false" flipV="false" rot="0">
              <a:off x="0" y="0"/>
              <a:ext cx="11003661" cy="1122680"/>
            </a:xfrm>
            <a:custGeom>
              <a:avLst/>
              <a:gdLst/>
              <a:ahLst/>
              <a:cxnLst/>
              <a:rect r="r" b="b" t="t" l="l"/>
              <a:pathLst>
                <a:path h="1122680" w="11003661">
                  <a:moveTo>
                    <a:pt x="0" y="224536"/>
                  </a:moveTo>
                  <a:cubicBezTo>
                    <a:pt x="0" y="100584"/>
                    <a:pt x="100584" y="0"/>
                    <a:pt x="224536" y="0"/>
                  </a:cubicBezTo>
                  <a:lnTo>
                    <a:pt x="10779125" y="0"/>
                  </a:lnTo>
                  <a:cubicBezTo>
                    <a:pt x="10903077" y="0"/>
                    <a:pt x="11003661" y="100584"/>
                    <a:pt x="11003661" y="224536"/>
                  </a:cubicBezTo>
                  <a:lnTo>
                    <a:pt x="11003661" y="898144"/>
                  </a:lnTo>
                  <a:cubicBezTo>
                    <a:pt x="11003661" y="1022096"/>
                    <a:pt x="10903077" y="1122680"/>
                    <a:pt x="10779125" y="1122680"/>
                  </a:cubicBezTo>
                  <a:lnTo>
                    <a:pt x="224536" y="1122680"/>
                  </a:lnTo>
                  <a:cubicBezTo>
                    <a:pt x="100584" y="1122680"/>
                    <a:pt x="0" y="1022096"/>
                    <a:pt x="0" y="898144"/>
                  </a:cubicBezTo>
                  <a:close/>
                </a:path>
              </a:pathLst>
            </a:custGeom>
            <a:solidFill>
              <a:srgbClr val="00461A"/>
            </a:solidFill>
            <a:ln w="19050" cap="sq">
              <a:solidFill>
                <a:srgbClr val="00461A"/>
              </a:solidFill>
              <a:prstDash val="solid"/>
              <a:miter/>
            </a:ln>
          </p:spPr>
        </p:sp>
      </p:grpSp>
      <p:grpSp>
        <p:nvGrpSpPr>
          <p:cNvPr name="Group 30" id="30"/>
          <p:cNvGrpSpPr/>
          <p:nvPr/>
        </p:nvGrpSpPr>
        <p:grpSpPr>
          <a:xfrm rot="0">
            <a:off x="9436608" y="4389120"/>
            <a:ext cx="7547915" cy="822960"/>
            <a:chOff x="0" y="0"/>
            <a:chExt cx="10063886" cy="1097280"/>
          </a:xfrm>
        </p:grpSpPr>
        <p:sp>
          <p:nvSpPr>
            <p:cNvPr name="Freeform 31" id="31"/>
            <p:cNvSpPr/>
            <p:nvPr/>
          </p:nvSpPr>
          <p:spPr>
            <a:xfrm flipH="false" flipV="false" rot="0">
              <a:off x="0" y="0"/>
              <a:ext cx="10063886" cy="1097280"/>
            </a:xfrm>
            <a:custGeom>
              <a:avLst/>
              <a:gdLst/>
              <a:ahLst/>
              <a:cxnLst/>
              <a:rect r="r" b="b" t="t" l="l"/>
              <a:pathLst>
                <a:path h="1097280" w="10063886">
                  <a:moveTo>
                    <a:pt x="0" y="0"/>
                  </a:moveTo>
                  <a:lnTo>
                    <a:pt x="10063886" y="0"/>
                  </a:lnTo>
                  <a:lnTo>
                    <a:pt x="10063886" y="1097280"/>
                  </a:lnTo>
                  <a:lnTo>
                    <a:pt x="0" y="1097280"/>
                  </a:lnTo>
                  <a:close/>
                </a:path>
              </a:pathLst>
            </a:custGeom>
            <a:blipFill>
              <a:blip r:embed="rId3">
                <a:alphaModFix amt="0"/>
              </a:blip>
              <a:stretch>
                <a:fillRect l="0" t="-128710" r="0" b="-128710"/>
              </a:stretch>
            </a:blipFill>
          </p:spPr>
        </p:sp>
        <p:sp>
          <p:nvSpPr>
            <p:cNvPr name="TextBox 32" id="32"/>
            <p:cNvSpPr txBox="true"/>
            <p:nvPr/>
          </p:nvSpPr>
          <p:spPr>
            <a:xfrm>
              <a:off x="0" y="-9525"/>
              <a:ext cx="10063886" cy="1106805"/>
            </a:xfrm>
            <a:prstGeom prst="rect">
              <a:avLst/>
            </a:prstGeom>
          </p:spPr>
          <p:txBody>
            <a:bodyPr anchor="ctr" rtlCol="false" tIns="0" lIns="0" bIns="0" rIns="0"/>
            <a:lstStyle/>
            <a:p>
              <a:pPr algn="l">
                <a:lnSpc>
                  <a:spcPts val="2520"/>
                </a:lnSpc>
              </a:pPr>
              <a:r>
                <a:rPr lang="en-US" sz="2100">
                  <a:solidFill>
                    <a:srgbClr val="FFFFFF"/>
                  </a:solidFill>
                  <a:latin typeface="Arial"/>
                  <a:ea typeface="Arial"/>
                  <a:cs typeface="Arial"/>
                  <a:sym typeface="Arial"/>
                </a:rPr>
                <a:t>Verify functional faults using a dedicated oracle</a:t>
              </a:r>
            </a:p>
          </p:txBody>
        </p:sp>
      </p:grpSp>
      <p:grpSp>
        <p:nvGrpSpPr>
          <p:cNvPr name="Group 33" id="33"/>
          <p:cNvGrpSpPr/>
          <p:nvPr/>
        </p:nvGrpSpPr>
        <p:grpSpPr>
          <a:xfrm rot="0">
            <a:off x="1019175" y="5394579"/>
            <a:ext cx="6877050" cy="842010"/>
            <a:chOff x="0" y="0"/>
            <a:chExt cx="9169400" cy="1122680"/>
          </a:xfrm>
        </p:grpSpPr>
        <p:sp>
          <p:nvSpPr>
            <p:cNvPr name="Freeform 34" id="34"/>
            <p:cNvSpPr/>
            <p:nvPr/>
          </p:nvSpPr>
          <p:spPr>
            <a:xfrm flipH="false" flipV="false" rot="0">
              <a:off x="0" y="0"/>
              <a:ext cx="9169400" cy="1122680"/>
            </a:xfrm>
            <a:custGeom>
              <a:avLst/>
              <a:gdLst/>
              <a:ahLst/>
              <a:cxnLst/>
              <a:rect r="r" b="b" t="t" l="l"/>
              <a:pathLst>
                <a:path h="1122680" w="9169400">
                  <a:moveTo>
                    <a:pt x="0" y="224536"/>
                  </a:moveTo>
                  <a:cubicBezTo>
                    <a:pt x="0" y="100584"/>
                    <a:pt x="100584" y="0"/>
                    <a:pt x="224536" y="0"/>
                  </a:cubicBezTo>
                  <a:lnTo>
                    <a:pt x="8944864" y="0"/>
                  </a:lnTo>
                  <a:cubicBezTo>
                    <a:pt x="9068816" y="0"/>
                    <a:pt x="9169400" y="100584"/>
                    <a:pt x="9169400" y="224536"/>
                  </a:cubicBezTo>
                  <a:lnTo>
                    <a:pt x="9169400" y="898144"/>
                  </a:lnTo>
                  <a:cubicBezTo>
                    <a:pt x="9169400" y="1022096"/>
                    <a:pt x="9068816" y="1122680"/>
                    <a:pt x="8944864" y="1122680"/>
                  </a:cubicBezTo>
                  <a:lnTo>
                    <a:pt x="224536" y="1122680"/>
                  </a:lnTo>
                  <a:cubicBezTo>
                    <a:pt x="100584" y="1122680"/>
                    <a:pt x="0" y="1022096"/>
                    <a:pt x="0" y="898144"/>
                  </a:cubicBezTo>
                  <a:close/>
                </a:path>
              </a:pathLst>
            </a:custGeom>
            <a:solidFill>
              <a:srgbClr val="DDE5DF"/>
            </a:solidFill>
            <a:ln w="19050" cap="sq">
              <a:solidFill>
                <a:srgbClr val="DDE5DF"/>
              </a:solidFill>
              <a:prstDash val="solid"/>
              <a:miter/>
            </a:ln>
          </p:spPr>
        </p:sp>
      </p:grpSp>
      <p:grpSp>
        <p:nvGrpSpPr>
          <p:cNvPr name="Group 35" id="35"/>
          <p:cNvGrpSpPr/>
          <p:nvPr/>
        </p:nvGrpSpPr>
        <p:grpSpPr>
          <a:xfrm rot="0">
            <a:off x="1440180" y="5404104"/>
            <a:ext cx="6172200" cy="822960"/>
            <a:chOff x="0" y="0"/>
            <a:chExt cx="8229600" cy="1097280"/>
          </a:xfrm>
        </p:grpSpPr>
        <p:sp>
          <p:nvSpPr>
            <p:cNvPr name="Freeform 36" id="36"/>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37" id="37"/>
            <p:cNvSpPr txBox="true"/>
            <p:nvPr/>
          </p:nvSpPr>
          <p:spPr>
            <a:xfrm>
              <a:off x="0" y="-9525"/>
              <a:ext cx="8229600" cy="1106805"/>
            </a:xfrm>
            <a:prstGeom prst="rect">
              <a:avLst/>
            </a:prstGeom>
          </p:spPr>
          <p:txBody>
            <a:bodyPr anchor="ctr" rtlCol="false" tIns="0" lIns="0" bIns="0" rIns="0"/>
            <a:lstStyle/>
            <a:p>
              <a:pPr algn="l">
                <a:lnSpc>
                  <a:spcPts val="2520"/>
                </a:lnSpc>
              </a:pPr>
              <a:r>
                <a:rPr lang="en-US" sz="2100">
                  <a:solidFill>
                    <a:srgbClr val="111111"/>
                  </a:solidFill>
                  <a:latin typeface="Arial"/>
                  <a:ea typeface="Arial"/>
                  <a:cs typeface="Arial"/>
                  <a:sym typeface="Arial"/>
                </a:rPr>
                <a:t>Limited systematic state exploration</a:t>
              </a:r>
            </a:p>
          </p:txBody>
        </p:sp>
      </p:grpSp>
      <p:grpSp>
        <p:nvGrpSpPr>
          <p:cNvPr name="Group 38" id="38"/>
          <p:cNvGrpSpPr/>
          <p:nvPr/>
        </p:nvGrpSpPr>
        <p:grpSpPr>
          <a:xfrm rot="0">
            <a:off x="8274939" y="5627751"/>
            <a:ext cx="361950" cy="375666"/>
            <a:chOff x="0" y="0"/>
            <a:chExt cx="482600" cy="500888"/>
          </a:xfrm>
        </p:grpSpPr>
        <p:sp>
          <p:nvSpPr>
            <p:cNvPr name="Freeform 39" id="39"/>
            <p:cNvSpPr/>
            <p:nvPr/>
          </p:nvSpPr>
          <p:spPr>
            <a:xfrm flipH="false" flipV="false" rot="0">
              <a:off x="0" y="0"/>
              <a:ext cx="482600" cy="500888"/>
            </a:xfrm>
            <a:custGeom>
              <a:avLst/>
              <a:gdLst/>
              <a:ahLst/>
              <a:cxnLst/>
              <a:rect r="r" b="b" t="t" l="l"/>
              <a:pathLst>
                <a:path h="500888" w="482600">
                  <a:moveTo>
                    <a:pt x="0" y="0"/>
                  </a:moveTo>
                  <a:lnTo>
                    <a:pt x="241300" y="0"/>
                  </a:lnTo>
                  <a:lnTo>
                    <a:pt x="482600" y="250444"/>
                  </a:lnTo>
                  <a:lnTo>
                    <a:pt x="241300" y="500888"/>
                  </a:lnTo>
                  <a:lnTo>
                    <a:pt x="0" y="500888"/>
                  </a:lnTo>
                  <a:lnTo>
                    <a:pt x="241300" y="250444"/>
                  </a:lnTo>
                  <a:close/>
                </a:path>
              </a:pathLst>
            </a:custGeom>
            <a:solidFill>
              <a:srgbClr val="00461A"/>
            </a:solidFill>
            <a:ln w="19050" cap="sq">
              <a:solidFill>
                <a:srgbClr val="00461A"/>
              </a:solidFill>
              <a:prstDash val="solid"/>
              <a:miter/>
            </a:ln>
          </p:spPr>
        </p:sp>
      </p:grpSp>
      <p:grpSp>
        <p:nvGrpSpPr>
          <p:cNvPr name="Group 40" id="40"/>
          <p:cNvGrpSpPr/>
          <p:nvPr/>
        </p:nvGrpSpPr>
        <p:grpSpPr>
          <a:xfrm rot="0">
            <a:off x="9015603" y="5394579"/>
            <a:ext cx="8252765" cy="842010"/>
            <a:chOff x="0" y="0"/>
            <a:chExt cx="11003686" cy="1122680"/>
          </a:xfrm>
        </p:grpSpPr>
        <p:sp>
          <p:nvSpPr>
            <p:cNvPr name="Freeform 41" id="41"/>
            <p:cNvSpPr/>
            <p:nvPr/>
          </p:nvSpPr>
          <p:spPr>
            <a:xfrm flipH="false" flipV="false" rot="0">
              <a:off x="0" y="0"/>
              <a:ext cx="11003661" cy="1122680"/>
            </a:xfrm>
            <a:custGeom>
              <a:avLst/>
              <a:gdLst/>
              <a:ahLst/>
              <a:cxnLst/>
              <a:rect r="r" b="b" t="t" l="l"/>
              <a:pathLst>
                <a:path h="1122680" w="11003661">
                  <a:moveTo>
                    <a:pt x="0" y="224536"/>
                  </a:moveTo>
                  <a:cubicBezTo>
                    <a:pt x="0" y="100584"/>
                    <a:pt x="100584" y="0"/>
                    <a:pt x="224536" y="0"/>
                  </a:cubicBezTo>
                  <a:lnTo>
                    <a:pt x="10779125" y="0"/>
                  </a:lnTo>
                  <a:cubicBezTo>
                    <a:pt x="10903077" y="0"/>
                    <a:pt x="11003661" y="100584"/>
                    <a:pt x="11003661" y="224536"/>
                  </a:cubicBezTo>
                  <a:lnTo>
                    <a:pt x="11003661" y="898144"/>
                  </a:lnTo>
                  <a:cubicBezTo>
                    <a:pt x="11003661" y="1022096"/>
                    <a:pt x="10903077" y="1122680"/>
                    <a:pt x="10779125" y="1122680"/>
                  </a:cubicBezTo>
                  <a:lnTo>
                    <a:pt x="224536" y="1122680"/>
                  </a:lnTo>
                  <a:cubicBezTo>
                    <a:pt x="100584" y="1122680"/>
                    <a:pt x="0" y="1022096"/>
                    <a:pt x="0" y="898144"/>
                  </a:cubicBezTo>
                  <a:close/>
                </a:path>
              </a:pathLst>
            </a:custGeom>
            <a:solidFill>
              <a:srgbClr val="00461A"/>
            </a:solidFill>
            <a:ln w="19050" cap="sq">
              <a:solidFill>
                <a:srgbClr val="00461A"/>
              </a:solidFill>
              <a:prstDash val="solid"/>
              <a:miter/>
            </a:ln>
          </p:spPr>
        </p:sp>
      </p:grpSp>
      <p:grpSp>
        <p:nvGrpSpPr>
          <p:cNvPr name="Group 42" id="42"/>
          <p:cNvGrpSpPr/>
          <p:nvPr/>
        </p:nvGrpSpPr>
        <p:grpSpPr>
          <a:xfrm rot="0">
            <a:off x="9436608" y="5404104"/>
            <a:ext cx="7547915" cy="822960"/>
            <a:chOff x="0" y="0"/>
            <a:chExt cx="10063886" cy="1097280"/>
          </a:xfrm>
        </p:grpSpPr>
        <p:sp>
          <p:nvSpPr>
            <p:cNvPr name="Freeform 43" id="43"/>
            <p:cNvSpPr/>
            <p:nvPr/>
          </p:nvSpPr>
          <p:spPr>
            <a:xfrm flipH="false" flipV="false" rot="0">
              <a:off x="0" y="0"/>
              <a:ext cx="10063886" cy="1097280"/>
            </a:xfrm>
            <a:custGeom>
              <a:avLst/>
              <a:gdLst/>
              <a:ahLst/>
              <a:cxnLst/>
              <a:rect r="r" b="b" t="t" l="l"/>
              <a:pathLst>
                <a:path h="1097280" w="10063886">
                  <a:moveTo>
                    <a:pt x="0" y="0"/>
                  </a:moveTo>
                  <a:lnTo>
                    <a:pt x="10063886" y="0"/>
                  </a:lnTo>
                  <a:lnTo>
                    <a:pt x="10063886" y="1097280"/>
                  </a:lnTo>
                  <a:lnTo>
                    <a:pt x="0" y="1097280"/>
                  </a:lnTo>
                  <a:close/>
                </a:path>
              </a:pathLst>
            </a:custGeom>
            <a:blipFill>
              <a:blip r:embed="rId3">
                <a:alphaModFix amt="0"/>
              </a:blip>
              <a:stretch>
                <a:fillRect l="0" t="-128710" r="0" b="-128710"/>
              </a:stretch>
            </a:blipFill>
          </p:spPr>
        </p:sp>
        <p:sp>
          <p:nvSpPr>
            <p:cNvPr name="TextBox 44" id="44"/>
            <p:cNvSpPr txBox="true"/>
            <p:nvPr/>
          </p:nvSpPr>
          <p:spPr>
            <a:xfrm>
              <a:off x="0" y="-9525"/>
              <a:ext cx="10063886" cy="1106805"/>
            </a:xfrm>
            <a:prstGeom prst="rect">
              <a:avLst/>
            </a:prstGeom>
          </p:spPr>
          <p:txBody>
            <a:bodyPr anchor="ctr" rtlCol="false" tIns="0" lIns="0" bIns="0" rIns="0"/>
            <a:lstStyle/>
            <a:p>
              <a:pPr algn="l">
                <a:lnSpc>
                  <a:spcPts val="2520"/>
                </a:lnSpc>
              </a:pPr>
              <a:r>
                <a:rPr lang="en-US" sz="2100">
                  <a:solidFill>
                    <a:srgbClr val="FFFFFF"/>
                  </a:solidFill>
                  <a:latin typeface="Arial"/>
                  <a:ea typeface="Arial"/>
                  <a:cs typeface="Arial"/>
                  <a:sym typeface="Arial"/>
                </a:rPr>
                <a:t>Archive-and-return exploration with abstract page states</a:t>
              </a:r>
            </a:p>
          </p:txBody>
        </p:sp>
      </p:grpSp>
      <p:grpSp>
        <p:nvGrpSpPr>
          <p:cNvPr name="Group 45" id="45"/>
          <p:cNvGrpSpPr/>
          <p:nvPr/>
        </p:nvGrpSpPr>
        <p:grpSpPr>
          <a:xfrm rot="0">
            <a:off x="1019175" y="6409563"/>
            <a:ext cx="6877050" cy="842010"/>
            <a:chOff x="0" y="0"/>
            <a:chExt cx="9169400" cy="1122680"/>
          </a:xfrm>
        </p:grpSpPr>
        <p:sp>
          <p:nvSpPr>
            <p:cNvPr name="Freeform 46" id="46"/>
            <p:cNvSpPr/>
            <p:nvPr/>
          </p:nvSpPr>
          <p:spPr>
            <a:xfrm flipH="false" flipV="false" rot="0">
              <a:off x="0" y="0"/>
              <a:ext cx="9169400" cy="1122680"/>
            </a:xfrm>
            <a:custGeom>
              <a:avLst/>
              <a:gdLst/>
              <a:ahLst/>
              <a:cxnLst/>
              <a:rect r="r" b="b" t="t" l="l"/>
              <a:pathLst>
                <a:path h="1122680" w="9169400">
                  <a:moveTo>
                    <a:pt x="0" y="224536"/>
                  </a:moveTo>
                  <a:cubicBezTo>
                    <a:pt x="0" y="100584"/>
                    <a:pt x="100584" y="0"/>
                    <a:pt x="224536" y="0"/>
                  </a:cubicBezTo>
                  <a:lnTo>
                    <a:pt x="8944864" y="0"/>
                  </a:lnTo>
                  <a:cubicBezTo>
                    <a:pt x="9068816" y="0"/>
                    <a:pt x="9169400" y="100584"/>
                    <a:pt x="9169400" y="224536"/>
                  </a:cubicBezTo>
                  <a:lnTo>
                    <a:pt x="9169400" y="898144"/>
                  </a:lnTo>
                  <a:cubicBezTo>
                    <a:pt x="9169400" y="1022096"/>
                    <a:pt x="9068816" y="1122680"/>
                    <a:pt x="8944864" y="1122680"/>
                  </a:cubicBezTo>
                  <a:lnTo>
                    <a:pt x="224536" y="1122680"/>
                  </a:lnTo>
                  <a:cubicBezTo>
                    <a:pt x="100584" y="1122680"/>
                    <a:pt x="0" y="1022096"/>
                    <a:pt x="0" y="898144"/>
                  </a:cubicBezTo>
                  <a:close/>
                </a:path>
              </a:pathLst>
            </a:custGeom>
            <a:solidFill>
              <a:srgbClr val="DDE5DF"/>
            </a:solidFill>
            <a:ln w="19050" cap="sq">
              <a:solidFill>
                <a:srgbClr val="DDE5DF"/>
              </a:solidFill>
              <a:prstDash val="solid"/>
              <a:miter/>
            </a:ln>
          </p:spPr>
        </p:sp>
      </p:grpSp>
      <p:grpSp>
        <p:nvGrpSpPr>
          <p:cNvPr name="Group 47" id="47"/>
          <p:cNvGrpSpPr/>
          <p:nvPr/>
        </p:nvGrpSpPr>
        <p:grpSpPr>
          <a:xfrm rot="0">
            <a:off x="1440180" y="6419088"/>
            <a:ext cx="6172200" cy="822960"/>
            <a:chOff x="0" y="0"/>
            <a:chExt cx="8229600" cy="1097280"/>
          </a:xfrm>
        </p:grpSpPr>
        <p:sp>
          <p:nvSpPr>
            <p:cNvPr name="Freeform 48" id="48"/>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49" id="49"/>
            <p:cNvSpPr txBox="true"/>
            <p:nvPr/>
          </p:nvSpPr>
          <p:spPr>
            <a:xfrm>
              <a:off x="0" y="-9525"/>
              <a:ext cx="8229600" cy="1106805"/>
            </a:xfrm>
            <a:prstGeom prst="rect">
              <a:avLst/>
            </a:prstGeom>
          </p:spPr>
          <p:txBody>
            <a:bodyPr anchor="ctr" rtlCol="false" tIns="0" lIns="0" bIns="0" rIns="0"/>
            <a:lstStyle/>
            <a:p>
              <a:pPr algn="l">
                <a:lnSpc>
                  <a:spcPts val="2520"/>
                </a:lnSpc>
              </a:pPr>
              <a:r>
                <a:rPr lang="en-US" sz="2100">
                  <a:solidFill>
                    <a:srgbClr val="111111"/>
                  </a:solidFill>
                  <a:latin typeface="Arial"/>
                  <a:ea typeface="Arial"/>
                  <a:cs typeface="Arial"/>
                  <a:sym typeface="Arial"/>
                </a:rPr>
                <a:t>Benefits of learning strategies are unclear</a:t>
              </a:r>
            </a:p>
          </p:txBody>
        </p:sp>
      </p:grpSp>
      <p:grpSp>
        <p:nvGrpSpPr>
          <p:cNvPr name="Group 50" id="50"/>
          <p:cNvGrpSpPr/>
          <p:nvPr/>
        </p:nvGrpSpPr>
        <p:grpSpPr>
          <a:xfrm rot="0">
            <a:off x="8274939" y="6642735"/>
            <a:ext cx="361950" cy="375666"/>
            <a:chOff x="0" y="0"/>
            <a:chExt cx="482600" cy="500888"/>
          </a:xfrm>
        </p:grpSpPr>
        <p:sp>
          <p:nvSpPr>
            <p:cNvPr name="Freeform 51" id="51"/>
            <p:cNvSpPr/>
            <p:nvPr/>
          </p:nvSpPr>
          <p:spPr>
            <a:xfrm flipH="false" flipV="false" rot="0">
              <a:off x="0" y="0"/>
              <a:ext cx="482600" cy="500888"/>
            </a:xfrm>
            <a:custGeom>
              <a:avLst/>
              <a:gdLst/>
              <a:ahLst/>
              <a:cxnLst/>
              <a:rect r="r" b="b" t="t" l="l"/>
              <a:pathLst>
                <a:path h="500888" w="482600">
                  <a:moveTo>
                    <a:pt x="0" y="0"/>
                  </a:moveTo>
                  <a:lnTo>
                    <a:pt x="241300" y="0"/>
                  </a:lnTo>
                  <a:lnTo>
                    <a:pt x="482600" y="250444"/>
                  </a:lnTo>
                  <a:lnTo>
                    <a:pt x="241300" y="500888"/>
                  </a:lnTo>
                  <a:lnTo>
                    <a:pt x="0" y="500888"/>
                  </a:lnTo>
                  <a:lnTo>
                    <a:pt x="241300" y="250444"/>
                  </a:lnTo>
                  <a:close/>
                </a:path>
              </a:pathLst>
            </a:custGeom>
            <a:solidFill>
              <a:srgbClr val="00461A"/>
            </a:solidFill>
            <a:ln w="19050" cap="sq">
              <a:solidFill>
                <a:srgbClr val="00461A"/>
              </a:solidFill>
              <a:prstDash val="solid"/>
              <a:miter/>
            </a:ln>
          </p:spPr>
        </p:sp>
      </p:grpSp>
      <p:grpSp>
        <p:nvGrpSpPr>
          <p:cNvPr name="Group 52" id="52"/>
          <p:cNvGrpSpPr/>
          <p:nvPr/>
        </p:nvGrpSpPr>
        <p:grpSpPr>
          <a:xfrm rot="0">
            <a:off x="9015603" y="6409563"/>
            <a:ext cx="8252765" cy="842010"/>
            <a:chOff x="0" y="0"/>
            <a:chExt cx="11003686" cy="1122680"/>
          </a:xfrm>
        </p:grpSpPr>
        <p:sp>
          <p:nvSpPr>
            <p:cNvPr name="Freeform 53" id="53"/>
            <p:cNvSpPr/>
            <p:nvPr/>
          </p:nvSpPr>
          <p:spPr>
            <a:xfrm flipH="false" flipV="false" rot="0">
              <a:off x="0" y="0"/>
              <a:ext cx="11003661" cy="1122680"/>
            </a:xfrm>
            <a:custGeom>
              <a:avLst/>
              <a:gdLst/>
              <a:ahLst/>
              <a:cxnLst/>
              <a:rect r="r" b="b" t="t" l="l"/>
              <a:pathLst>
                <a:path h="1122680" w="11003661">
                  <a:moveTo>
                    <a:pt x="0" y="224536"/>
                  </a:moveTo>
                  <a:cubicBezTo>
                    <a:pt x="0" y="100584"/>
                    <a:pt x="100584" y="0"/>
                    <a:pt x="224536" y="0"/>
                  </a:cubicBezTo>
                  <a:lnTo>
                    <a:pt x="10779125" y="0"/>
                  </a:lnTo>
                  <a:cubicBezTo>
                    <a:pt x="10903077" y="0"/>
                    <a:pt x="11003661" y="100584"/>
                    <a:pt x="11003661" y="224536"/>
                  </a:cubicBezTo>
                  <a:lnTo>
                    <a:pt x="11003661" y="898144"/>
                  </a:lnTo>
                  <a:cubicBezTo>
                    <a:pt x="11003661" y="1022096"/>
                    <a:pt x="10903077" y="1122680"/>
                    <a:pt x="10779125" y="1122680"/>
                  </a:cubicBezTo>
                  <a:lnTo>
                    <a:pt x="224536" y="1122680"/>
                  </a:lnTo>
                  <a:cubicBezTo>
                    <a:pt x="100584" y="1122680"/>
                    <a:pt x="0" y="1022096"/>
                    <a:pt x="0" y="898144"/>
                  </a:cubicBezTo>
                  <a:close/>
                </a:path>
              </a:pathLst>
            </a:custGeom>
            <a:solidFill>
              <a:srgbClr val="00461A"/>
            </a:solidFill>
            <a:ln w="19050" cap="sq">
              <a:solidFill>
                <a:srgbClr val="00461A"/>
              </a:solidFill>
              <a:prstDash val="solid"/>
              <a:miter/>
            </a:ln>
          </p:spPr>
        </p:sp>
      </p:grpSp>
      <p:grpSp>
        <p:nvGrpSpPr>
          <p:cNvPr name="Group 54" id="54"/>
          <p:cNvGrpSpPr/>
          <p:nvPr/>
        </p:nvGrpSpPr>
        <p:grpSpPr>
          <a:xfrm rot="0">
            <a:off x="9436608" y="6419088"/>
            <a:ext cx="7547915" cy="822960"/>
            <a:chOff x="0" y="0"/>
            <a:chExt cx="10063886" cy="1097280"/>
          </a:xfrm>
        </p:grpSpPr>
        <p:sp>
          <p:nvSpPr>
            <p:cNvPr name="Freeform 55" id="55"/>
            <p:cNvSpPr/>
            <p:nvPr/>
          </p:nvSpPr>
          <p:spPr>
            <a:xfrm flipH="false" flipV="false" rot="0">
              <a:off x="0" y="0"/>
              <a:ext cx="10063886" cy="1097280"/>
            </a:xfrm>
            <a:custGeom>
              <a:avLst/>
              <a:gdLst/>
              <a:ahLst/>
              <a:cxnLst/>
              <a:rect r="r" b="b" t="t" l="l"/>
              <a:pathLst>
                <a:path h="1097280" w="10063886">
                  <a:moveTo>
                    <a:pt x="0" y="0"/>
                  </a:moveTo>
                  <a:lnTo>
                    <a:pt x="10063886" y="0"/>
                  </a:lnTo>
                  <a:lnTo>
                    <a:pt x="10063886" y="1097280"/>
                  </a:lnTo>
                  <a:lnTo>
                    <a:pt x="0" y="1097280"/>
                  </a:lnTo>
                  <a:close/>
                </a:path>
              </a:pathLst>
            </a:custGeom>
            <a:blipFill>
              <a:blip r:embed="rId3">
                <a:alphaModFix amt="0"/>
              </a:blip>
              <a:stretch>
                <a:fillRect l="0" t="-128710" r="0" b="-128710"/>
              </a:stretch>
            </a:blipFill>
          </p:spPr>
        </p:sp>
        <p:sp>
          <p:nvSpPr>
            <p:cNvPr name="TextBox 56" id="56"/>
            <p:cNvSpPr txBox="true"/>
            <p:nvPr/>
          </p:nvSpPr>
          <p:spPr>
            <a:xfrm>
              <a:off x="0" y="-9525"/>
              <a:ext cx="10063886" cy="1106805"/>
            </a:xfrm>
            <a:prstGeom prst="rect">
              <a:avLst/>
            </a:prstGeom>
          </p:spPr>
          <p:txBody>
            <a:bodyPr anchor="ctr" rtlCol="false" tIns="0" lIns="0" bIns="0" rIns="0"/>
            <a:lstStyle/>
            <a:p>
              <a:pPr algn="l">
                <a:lnSpc>
                  <a:spcPts val="2520"/>
                </a:lnSpc>
              </a:pPr>
              <a:r>
                <a:rPr lang="en-US" sz="2100">
                  <a:solidFill>
                    <a:srgbClr val="FFFFFF"/>
                  </a:solidFill>
                  <a:latin typeface="Arial"/>
                  <a:ea typeface="Arial"/>
                  <a:cs typeface="Arial"/>
                  <a:sym typeface="Arial"/>
                </a:rPr>
                <a:t>Compare structured exploration with learning-enhanced variants</a:t>
              </a:r>
            </a:p>
          </p:txBody>
        </p:sp>
      </p:grpSp>
      <p:grpSp>
        <p:nvGrpSpPr>
          <p:cNvPr name="Group 57" id="57"/>
          <p:cNvGrpSpPr/>
          <p:nvPr/>
        </p:nvGrpSpPr>
        <p:grpSpPr>
          <a:xfrm rot="0">
            <a:off x="1019175" y="7424547"/>
            <a:ext cx="6877050" cy="842010"/>
            <a:chOff x="0" y="0"/>
            <a:chExt cx="9169400" cy="1122680"/>
          </a:xfrm>
        </p:grpSpPr>
        <p:sp>
          <p:nvSpPr>
            <p:cNvPr name="Freeform 58" id="58"/>
            <p:cNvSpPr/>
            <p:nvPr/>
          </p:nvSpPr>
          <p:spPr>
            <a:xfrm flipH="false" flipV="false" rot="0">
              <a:off x="0" y="0"/>
              <a:ext cx="9169400" cy="1122680"/>
            </a:xfrm>
            <a:custGeom>
              <a:avLst/>
              <a:gdLst/>
              <a:ahLst/>
              <a:cxnLst/>
              <a:rect r="r" b="b" t="t" l="l"/>
              <a:pathLst>
                <a:path h="1122680" w="9169400">
                  <a:moveTo>
                    <a:pt x="0" y="224536"/>
                  </a:moveTo>
                  <a:cubicBezTo>
                    <a:pt x="0" y="100584"/>
                    <a:pt x="100584" y="0"/>
                    <a:pt x="224536" y="0"/>
                  </a:cubicBezTo>
                  <a:lnTo>
                    <a:pt x="8944864" y="0"/>
                  </a:lnTo>
                  <a:cubicBezTo>
                    <a:pt x="9068816" y="0"/>
                    <a:pt x="9169400" y="100584"/>
                    <a:pt x="9169400" y="224536"/>
                  </a:cubicBezTo>
                  <a:lnTo>
                    <a:pt x="9169400" y="898144"/>
                  </a:lnTo>
                  <a:cubicBezTo>
                    <a:pt x="9169400" y="1022096"/>
                    <a:pt x="9068816" y="1122680"/>
                    <a:pt x="8944864" y="1122680"/>
                  </a:cubicBezTo>
                  <a:lnTo>
                    <a:pt x="224536" y="1122680"/>
                  </a:lnTo>
                  <a:cubicBezTo>
                    <a:pt x="100584" y="1122680"/>
                    <a:pt x="0" y="1022096"/>
                    <a:pt x="0" y="898144"/>
                  </a:cubicBezTo>
                  <a:close/>
                </a:path>
              </a:pathLst>
            </a:custGeom>
            <a:solidFill>
              <a:srgbClr val="DDE5DF"/>
            </a:solidFill>
            <a:ln w="19050" cap="sq">
              <a:solidFill>
                <a:srgbClr val="DDE5DF"/>
              </a:solidFill>
              <a:prstDash val="solid"/>
              <a:miter/>
            </a:ln>
          </p:spPr>
        </p:sp>
      </p:grpSp>
      <p:grpSp>
        <p:nvGrpSpPr>
          <p:cNvPr name="Group 59" id="59"/>
          <p:cNvGrpSpPr/>
          <p:nvPr/>
        </p:nvGrpSpPr>
        <p:grpSpPr>
          <a:xfrm rot="0">
            <a:off x="1440180" y="7434072"/>
            <a:ext cx="6172200" cy="822960"/>
            <a:chOff x="0" y="0"/>
            <a:chExt cx="8229600" cy="1097280"/>
          </a:xfrm>
        </p:grpSpPr>
        <p:sp>
          <p:nvSpPr>
            <p:cNvPr name="Freeform 60" id="60"/>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61" id="61"/>
            <p:cNvSpPr txBox="true"/>
            <p:nvPr/>
          </p:nvSpPr>
          <p:spPr>
            <a:xfrm>
              <a:off x="0" y="-9525"/>
              <a:ext cx="8229600" cy="1106805"/>
            </a:xfrm>
            <a:prstGeom prst="rect">
              <a:avLst/>
            </a:prstGeom>
          </p:spPr>
          <p:txBody>
            <a:bodyPr anchor="ctr" rtlCol="false" tIns="0" lIns="0" bIns="0" rIns="0"/>
            <a:lstStyle/>
            <a:p>
              <a:pPr algn="l">
                <a:lnSpc>
                  <a:spcPts val="2520"/>
                </a:lnSpc>
              </a:pPr>
              <a:r>
                <a:rPr lang="en-US" sz="2100">
                  <a:solidFill>
                    <a:srgbClr val="111111"/>
                  </a:solidFill>
                  <a:latin typeface="Arial"/>
                  <a:ea typeface="Arial"/>
                  <a:cs typeface="Arial"/>
                  <a:sym typeface="Arial"/>
                </a:rPr>
                <a:t>Code coverage does not establish fault correctness</a:t>
              </a:r>
            </a:p>
          </p:txBody>
        </p:sp>
      </p:grpSp>
      <p:grpSp>
        <p:nvGrpSpPr>
          <p:cNvPr name="Group 62" id="62"/>
          <p:cNvGrpSpPr/>
          <p:nvPr/>
        </p:nvGrpSpPr>
        <p:grpSpPr>
          <a:xfrm rot="0">
            <a:off x="8274939" y="7657719"/>
            <a:ext cx="361950" cy="375666"/>
            <a:chOff x="0" y="0"/>
            <a:chExt cx="482600" cy="500888"/>
          </a:xfrm>
        </p:grpSpPr>
        <p:sp>
          <p:nvSpPr>
            <p:cNvPr name="Freeform 63" id="63"/>
            <p:cNvSpPr/>
            <p:nvPr/>
          </p:nvSpPr>
          <p:spPr>
            <a:xfrm flipH="false" flipV="false" rot="0">
              <a:off x="0" y="0"/>
              <a:ext cx="482600" cy="500888"/>
            </a:xfrm>
            <a:custGeom>
              <a:avLst/>
              <a:gdLst/>
              <a:ahLst/>
              <a:cxnLst/>
              <a:rect r="r" b="b" t="t" l="l"/>
              <a:pathLst>
                <a:path h="500888" w="482600">
                  <a:moveTo>
                    <a:pt x="0" y="0"/>
                  </a:moveTo>
                  <a:lnTo>
                    <a:pt x="241300" y="0"/>
                  </a:lnTo>
                  <a:lnTo>
                    <a:pt x="482600" y="250444"/>
                  </a:lnTo>
                  <a:lnTo>
                    <a:pt x="241300" y="500888"/>
                  </a:lnTo>
                  <a:lnTo>
                    <a:pt x="0" y="500888"/>
                  </a:lnTo>
                  <a:lnTo>
                    <a:pt x="241300" y="250444"/>
                  </a:lnTo>
                  <a:close/>
                </a:path>
              </a:pathLst>
            </a:custGeom>
            <a:solidFill>
              <a:srgbClr val="00461A"/>
            </a:solidFill>
            <a:ln w="19050" cap="sq">
              <a:solidFill>
                <a:srgbClr val="00461A"/>
              </a:solidFill>
              <a:prstDash val="solid"/>
              <a:miter/>
            </a:ln>
          </p:spPr>
        </p:sp>
      </p:grpSp>
      <p:grpSp>
        <p:nvGrpSpPr>
          <p:cNvPr name="Group 64" id="64"/>
          <p:cNvGrpSpPr/>
          <p:nvPr/>
        </p:nvGrpSpPr>
        <p:grpSpPr>
          <a:xfrm rot="0">
            <a:off x="9015603" y="7424547"/>
            <a:ext cx="8252765" cy="842010"/>
            <a:chOff x="0" y="0"/>
            <a:chExt cx="11003686" cy="1122680"/>
          </a:xfrm>
        </p:grpSpPr>
        <p:sp>
          <p:nvSpPr>
            <p:cNvPr name="Freeform 65" id="65"/>
            <p:cNvSpPr/>
            <p:nvPr/>
          </p:nvSpPr>
          <p:spPr>
            <a:xfrm flipH="false" flipV="false" rot="0">
              <a:off x="0" y="0"/>
              <a:ext cx="11003661" cy="1122680"/>
            </a:xfrm>
            <a:custGeom>
              <a:avLst/>
              <a:gdLst/>
              <a:ahLst/>
              <a:cxnLst/>
              <a:rect r="r" b="b" t="t" l="l"/>
              <a:pathLst>
                <a:path h="1122680" w="11003661">
                  <a:moveTo>
                    <a:pt x="0" y="224536"/>
                  </a:moveTo>
                  <a:cubicBezTo>
                    <a:pt x="0" y="100584"/>
                    <a:pt x="100584" y="0"/>
                    <a:pt x="224536" y="0"/>
                  </a:cubicBezTo>
                  <a:lnTo>
                    <a:pt x="10779125" y="0"/>
                  </a:lnTo>
                  <a:cubicBezTo>
                    <a:pt x="10903077" y="0"/>
                    <a:pt x="11003661" y="100584"/>
                    <a:pt x="11003661" y="224536"/>
                  </a:cubicBezTo>
                  <a:lnTo>
                    <a:pt x="11003661" y="898144"/>
                  </a:lnTo>
                  <a:cubicBezTo>
                    <a:pt x="11003661" y="1022096"/>
                    <a:pt x="10903077" y="1122680"/>
                    <a:pt x="10779125" y="1122680"/>
                  </a:cubicBezTo>
                  <a:lnTo>
                    <a:pt x="224536" y="1122680"/>
                  </a:lnTo>
                  <a:cubicBezTo>
                    <a:pt x="100584" y="1122680"/>
                    <a:pt x="0" y="1022096"/>
                    <a:pt x="0" y="898144"/>
                  </a:cubicBezTo>
                  <a:close/>
                </a:path>
              </a:pathLst>
            </a:custGeom>
            <a:solidFill>
              <a:srgbClr val="00461A"/>
            </a:solidFill>
            <a:ln w="19050" cap="sq">
              <a:solidFill>
                <a:srgbClr val="00461A"/>
              </a:solidFill>
              <a:prstDash val="solid"/>
              <a:miter/>
            </a:ln>
          </p:spPr>
        </p:sp>
      </p:grpSp>
      <p:grpSp>
        <p:nvGrpSpPr>
          <p:cNvPr name="Group 66" id="66"/>
          <p:cNvGrpSpPr/>
          <p:nvPr/>
        </p:nvGrpSpPr>
        <p:grpSpPr>
          <a:xfrm rot="0">
            <a:off x="9436608" y="7434072"/>
            <a:ext cx="7547915" cy="822960"/>
            <a:chOff x="0" y="0"/>
            <a:chExt cx="10063886" cy="1097280"/>
          </a:xfrm>
        </p:grpSpPr>
        <p:sp>
          <p:nvSpPr>
            <p:cNvPr name="Freeform 67" id="67"/>
            <p:cNvSpPr/>
            <p:nvPr/>
          </p:nvSpPr>
          <p:spPr>
            <a:xfrm flipH="false" flipV="false" rot="0">
              <a:off x="0" y="0"/>
              <a:ext cx="10063886" cy="1097280"/>
            </a:xfrm>
            <a:custGeom>
              <a:avLst/>
              <a:gdLst/>
              <a:ahLst/>
              <a:cxnLst/>
              <a:rect r="r" b="b" t="t" l="l"/>
              <a:pathLst>
                <a:path h="1097280" w="10063886">
                  <a:moveTo>
                    <a:pt x="0" y="0"/>
                  </a:moveTo>
                  <a:lnTo>
                    <a:pt x="10063886" y="0"/>
                  </a:lnTo>
                  <a:lnTo>
                    <a:pt x="10063886" y="1097280"/>
                  </a:lnTo>
                  <a:lnTo>
                    <a:pt x="0" y="1097280"/>
                  </a:lnTo>
                  <a:close/>
                </a:path>
              </a:pathLst>
            </a:custGeom>
            <a:blipFill>
              <a:blip r:embed="rId3">
                <a:alphaModFix amt="0"/>
              </a:blip>
              <a:stretch>
                <a:fillRect l="0" t="-128710" r="0" b="-128710"/>
              </a:stretch>
            </a:blipFill>
          </p:spPr>
        </p:sp>
        <p:sp>
          <p:nvSpPr>
            <p:cNvPr name="TextBox 68" id="68"/>
            <p:cNvSpPr txBox="true"/>
            <p:nvPr/>
          </p:nvSpPr>
          <p:spPr>
            <a:xfrm>
              <a:off x="0" y="-9525"/>
              <a:ext cx="10063886" cy="1106805"/>
            </a:xfrm>
            <a:prstGeom prst="rect">
              <a:avLst/>
            </a:prstGeom>
          </p:spPr>
          <p:txBody>
            <a:bodyPr anchor="ctr" rtlCol="false" tIns="0" lIns="0" bIns="0" rIns="0"/>
            <a:lstStyle/>
            <a:p>
              <a:pPr algn="l">
                <a:lnSpc>
                  <a:spcPts val="2520"/>
                </a:lnSpc>
              </a:pPr>
              <a:r>
                <a:rPr lang="en-US" sz="2100">
                  <a:solidFill>
                    <a:srgbClr val="FFFFFF"/>
                  </a:solidFill>
                  <a:latin typeface="Arial"/>
                  <a:ea typeface="Arial"/>
                  <a:cs typeface="Arial"/>
                  <a:sym typeface="Arial"/>
                </a:rPr>
                <a:t>Use verified faults as the primary evaluation measure</a:t>
              </a:r>
            </a:p>
          </p:txBody>
        </p:sp>
      </p:grpSp>
      <p:grpSp>
        <p:nvGrpSpPr>
          <p:cNvPr name="Group 69" id="69"/>
          <p:cNvGrpSpPr/>
          <p:nvPr/>
        </p:nvGrpSpPr>
        <p:grpSpPr>
          <a:xfrm rot="0">
            <a:off x="1019175" y="8439531"/>
            <a:ext cx="6877050" cy="842010"/>
            <a:chOff x="0" y="0"/>
            <a:chExt cx="9169400" cy="1122680"/>
          </a:xfrm>
        </p:grpSpPr>
        <p:sp>
          <p:nvSpPr>
            <p:cNvPr name="Freeform 70" id="70"/>
            <p:cNvSpPr/>
            <p:nvPr/>
          </p:nvSpPr>
          <p:spPr>
            <a:xfrm flipH="false" flipV="false" rot="0">
              <a:off x="0" y="0"/>
              <a:ext cx="9169400" cy="1122680"/>
            </a:xfrm>
            <a:custGeom>
              <a:avLst/>
              <a:gdLst/>
              <a:ahLst/>
              <a:cxnLst/>
              <a:rect r="r" b="b" t="t" l="l"/>
              <a:pathLst>
                <a:path h="1122680" w="9169400">
                  <a:moveTo>
                    <a:pt x="0" y="224536"/>
                  </a:moveTo>
                  <a:cubicBezTo>
                    <a:pt x="0" y="100584"/>
                    <a:pt x="100584" y="0"/>
                    <a:pt x="224536" y="0"/>
                  </a:cubicBezTo>
                  <a:lnTo>
                    <a:pt x="8944864" y="0"/>
                  </a:lnTo>
                  <a:cubicBezTo>
                    <a:pt x="9068816" y="0"/>
                    <a:pt x="9169400" y="100584"/>
                    <a:pt x="9169400" y="224536"/>
                  </a:cubicBezTo>
                  <a:lnTo>
                    <a:pt x="9169400" y="898144"/>
                  </a:lnTo>
                  <a:cubicBezTo>
                    <a:pt x="9169400" y="1022096"/>
                    <a:pt x="9068816" y="1122680"/>
                    <a:pt x="8944864" y="1122680"/>
                  </a:cubicBezTo>
                  <a:lnTo>
                    <a:pt x="224536" y="1122680"/>
                  </a:lnTo>
                  <a:cubicBezTo>
                    <a:pt x="100584" y="1122680"/>
                    <a:pt x="0" y="1022096"/>
                    <a:pt x="0" y="898144"/>
                  </a:cubicBezTo>
                  <a:close/>
                </a:path>
              </a:pathLst>
            </a:custGeom>
            <a:solidFill>
              <a:srgbClr val="DDE5DF"/>
            </a:solidFill>
            <a:ln w="19050" cap="sq">
              <a:solidFill>
                <a:srgbClr val="DDE5DF"/>
              </a:solidFill>
              <a:prstDash val="solid"/>
              <a:miter/>
            </a:ln>
          </p:spPr>
        </p:sp>
      </p:grpSp>
      <p:grpSp>
        <p:nvGrpSpPr>
          <p:cNvPr name="Group 71" id="71"/>
          <p:cNvGrpSpPr/>
          <p:nvPr/>
        </p:nvGrpSpPr>
        <p:grpSpPr>
          <a:xfrm rot="0">
            <a:off x="1440180" y="8449056"/>
            <a:ext cx="6172200" cy="822960"/>
            <a:chOff x="0" y="0"/>
            <a:chExt cx="8229600" cy="1097280"/>
          </a:xfrm>
        </p:grpSpPr>
        <p:sp>
          <p:nvSpPr>
            <p:cNvPr name="Freeform 72" id="72"/>
            <p:cNvSpPr/>
            <p:nvPr/>
          </p:nvSpPr>
          <p:spPr>
            <a:xfrm flipH="false" flipV="false" rot="0">
              <a:off x="0" y="0"/>
              <a:ext cx="8229600" cy="1097280"/>
            </a:xfrm>
            <a:custGeom>
              <a:avLst/>
              <a:gdLst/>
              <a:ahLst/>
              <a:cxnLst/>
              <a:rect r="r" b="b" t="t" l="l"/>
              <a:pathLst>
                <a:path h="1097280" w="8229600">
                  <a:moveTo>
                    <a:pt x="0" y="0"/>
                  </a:moveTo>
                  <a:lnTo>
                    <a:pt x="8229600" y="0"/>
                  </a:lnTo>
                  <a:lnTo>
                    <a:pt x="8229600" y="1097280"/>
                  </a:lnTo>
                  <a:lnTo>
                    <a:pt x="0" y="1097280"/>
                  </a:lnTo>
                  <a:close/>
                </a:path>
              </a:pathLst>
            </a:custGeom>
            <a:blipFill>
              <a:blip r:embed="rId3">
                <a:alphaModFix amt="0"/>
              </a:blip>
              <a:stretch>
                <a:fillRect l="0" t="-96137" r="0" b="-96137"/>
              </a:stretch>
            </a:blipFill>
          </p:spPr>
        </p:sp>
        <p:sp>
          <p:nvSpPr>
            <p:cNvPr name="TextBox 73" id="73"/>
            <p:cNvSpPr txBox="true"/>
            <p:nvPr/>
          </p:nvSpPr>
          <p:spPr>
            <a:xfrm>
              <a:off x="0" y="-9525"/>
              <a:ext cx="8229600" cy="1106805"/>
            </a:xfrm>
            <a:prstGeom prst="rect">
              <a:avLst/>
            </a:prstGeom>
          </p:spPr>
          <p:txBody>
            <a:bodyPr anchor="ctr" rtlCol="false" tIns="0" lIns="0" bIns="0" rIns="0"/>
            <a:lstStyle/>
            <a:p>
              <a:pPr algn="l">
                <a:lnSpc>
                  <a:spcPts val="2520"/>
                </a:lnSpc>
              </a:pPr>
              <a:r>
                <a:rPr lang="en-US" sz="2100">
                  <a:solidFill>
                    <a:srgbClr val="111111"/>
                  </a:solidFill>
                  <a:latin typeface="Arial"/>
                  <a:ea typeface="Arial"/>
                  <a:cs typeface="Arial"/>
                  <a:sym typeface="Arial"/>
                </a:rPr>
                <a:t>Candidate failures may be false positives</a:t>
              </a:r>
            </a:p>
          </p:txBody>
        </p:sp>
      </p:grpSp>
      <p:grpSp>
        <p:nvGrpSpPr>
          <p:cNvPr name="Group 74" id="74"/>
          <p:cNvGrpSpPr/>
          <p:nvPr/>
        </p:nvGrpSpPr>
        <p:grpSpPr>
          <a:xfrm rot="0">
            <a:off x="8274939" y="8672703"/>
            <a:ext cx="361950" cy="375666"/>
            <a:chOff x="0" y="0"/>
            <a:chExt cx="482600" cy="500888"/>
          </a:xfrm>
        </p:grpSpPr>
        <p:sp>
          <p:nvSpPr>
            <p:cNvPr name="Freeform 75" id="75"/>
            <p:cNvSpPr/>
            <p:nvPr/>
          </p:nvSpPr>
          <p:spPr>
            <a:xfrm flipH="false" flipV="false" rot="0">
              <a:off x="0" y="0"/>
              <a:ext cx="482600" cy="500888"/>
            </a:xfrm>
            <a:custGeom>
              <a:avLst/>
              <a:gdLst/>
              <a:ahLst/>
              <a:cxnLst/>
              <a:rect r="r" b="b" t="t" l="l"/>
              <a:pathLst>
                <a:path h="500888" w="482600">
                  <a:moveTo>
                    <a:pt x="0" y="0"/>
                  </a:moveTo>
                  <a:lnTo>
                    <a:pt x="241300" y="0"/>
                  </a:lnTo>
                  <a:lnTo>
                    <a:pt x="482600" y="250444"/>
                  </a:lnTo>
                  <a:lnTo>
                    <a:pt x="241300" y="500888"/>
                  </a:lnTo>
                  <a:lnTo>
                    <a:pt x="0" y="500888"/>
                  </a:lnTo>
                  <a:lnTo>
                    <a:pt x="241300" y="250444"/>
                  </a:lnTo>
                  <a:close/>
                </a:path>
              </a:pathLst>
            </a:custGeom>
            <a:solidFill>
              <a:srgbClr val="00461A"/>
            </a:solidFill>
            <a:ln w="19050" cap="sq">
              <a:solidFill>
                <a:srgbClr val="00461A"/>
              </a:solidFill>
              <a:prstDash val="solid"/>
              <a:miter/>
            </a:ln>
          </p:spPr>
        </p:sp>
      </p:grpSp>
      <p:grpSp>
        <p:nvGrpSpPr>
          <p:cNvPr name="Group 76" id="76"/>
          <p:cNvGrpSpPr/>
          <p:nvPr/>
        </p:nvGrpSpPr>
        <p:grpSpPr>
          <a:xfrm rot="0">
            <a:off x="9015603" y="8439531"/>
            <a:ext cx="8252765" cy="842010"/>
            <a:chOff x="0" y="0"/>
            <a:chExt cx="11003686" cy="1122680"/>
          </a:xfrm>
        </p:grpSpPr>
        <p:sp>
          <p:nvSpPr>
            <p:cNvPr name="Freeform 77" id="77"/>
            <p:cNvSpPr/>
            <p:nvPr/>
          </p:nvSpPr>
          <p:spPr>
            <a:xfrm flipH="false" flipV="false" rot="0">
              <a:off x="0" y="0"/>
              <a:ext cx="11003661" cy="1122680"/>
            </a:xfrm>
            <a:custGeom>
              <a:avLst/>
              <a:gdLst/>
              <a:ahLst/>
              <a:cxnLst/>
              <a:rect r="r" b="b" t="t" l="l"/>
              <a:pathLst>
                <a:path h="1122680" w="11003661">
                  <a:moveTo>
                    <a:pt x="0" y="224536"/>
                  </a:moveTo>
                  <a:cubicBezTo>
                    <a:pt x="0" y="100584"/>
                    <a:pt x="100584" y="0"/>
                    <a:pt x="224536" y="0"/>
                  </a:cubicBezTo>
                  <a:lnTo>
                    <a:pt x="10779125" y="0"/>
                  </a:lnTo>
                  <a:cubicBezTo>
                    <a:pt x="10903077" y="0"/>
                    <a:pt x="11003661" y="100584"/>
                    <a:pt x="11003661" y="224536"/>
                  </a:cubicBezTo>
                  <a:lnTo>
                    <a:pt x="11003661" y="898144"/>
                  </a:lnTo>
                  <a:cubicBezTo>
                    <a:pt x="11003661" y="1022096"/>
                    <a:pt x="10903077" y="1122680"/>
                    <a:pt x="10779125" y="1122680"/>
                  </a:cubicBezTo>
                  <a:lnTo>
                    <a:pt x="224536" y="1122680"/>
                  </a:lnTo>
                  <a:cubicBezTo>
                    <a:pt x="100584" y="1122680"/>
                    <a:pt x="0" y="1022096"/>
                    <a:pt x="0" y="898144"/>
                  </a:cubicBezTo>
                  <a:close/>
                </a:path>
              </a:pathLst>
            </a:custGeom>
            <a:solidFill>
              <a:srgbClr val="00461A"/>
            </a:solidFill>
            <a:ln w="19050" cap="sq">
              <a:solidFill>
                <a:srgbClr val="00461A"/>
              </a:solidFill>
              <a:prstDash val="solid"/>
              <a:miter/>
            </a:ln>
          </p:spPr>
        </p:sp>
      </p:grpSp>
      <p:grpSp>
        <p:nvGrpSpPr>
          <p:cNvPr name="Group 78" id="78"/>
          <p:cNvGrpSpPr/>
          <p:nvPr/>
        </p:nvGrpSpPr>
        <p:grpSpPr>
          <a:xfrm rot="0">
            <a:off x="9436608" y="8449056"/>
            <a:ext cx="7547915" cy="822960"/>
            <a:chOff x="0" y="0"/>
            <a:chExt cx="10063886" cy="1097280"/>
          </a:xfrm>
        </p:grpSpPr>
        <p:sp>
          <p:nvSpPr>
            <p:cNvPr name="Freeform 79" id="79"/>
            <p:cNvSpPr/>
            <p:nvPr/>
          </p:nvSpPr>
          <p:spPr>
            <a:xfrm flipH="false" flipV="false" rot="0">
              <a:off x="0" y="0"/>
              <a:ext cx="10063886" cy="1097280"/>
            </a:xfrm>
            <a:custGeom>
              <a:avLst/>
              <a:gdLst/>
              <a:ahLst/>
              <a:cxnLst/>
              <a:rect r="r" b="b" t="t" l="l"/>
              <a:pathLst>
                <a:path h="1097280" w="10063886">
                  <a:moveTo>
                    <a:pt x="0" y="0"/>
                  </a:moveTo>
                  <a:lnTo>
                    <a:pt x="10063886" y="0"/>
                  </a:lnTo>
                  <a:lnTo>
                    <a:pt x="10063886" y="1097280"/>
                  </a:lnTo>
                  <a:lnTo>
                    <a:pt x="0" y="1097280"/>
                  </a:lnTo>
                  <a:close/>
                </a:path>
              </a:pathLst>
            </a:custGeom>
            <a:blipFill>
              <a:blip r:embed="rId3">
                <a:alphaModFix amt="0"/>
              </a:blip>
              <a:stretch>
                <a:fillRect l="0" t="-128710" r="0" b="-128710"/>
              </a:stretch>
            </a:blipFill>
          </p:spPr>
        </p:sp>
        <p:sp>
          <p:nvSpPr>
            <p:cNvPr name="TextBox 80" id="80"/>
            <p:cNvSpPr txBox="true"/>
            <p:nvPr/>
          </p:nvSpPr>
          <p:spPr>
            <a:xfrm>
              <a:off x="0" y="-9525"/>
              <a:ext cx="10063886" cy="1106805"/>
            </a:xfrm>
            <a:prstGeom prst="rect">
              <a:avLst/>
            </a:prstGeom>
          </p:spPr>
          <p:txBody>
            <a:bodyPr anchor="ctr" rtlCol="false" tIns="0" lIns="0" bIns="0" rIns="0"/>
            <a:lstStyle/>
            <a:p>
              <a:pPr algn="l">
                <a:lnSpc>
                  <a:spcPts val="2520"/>
                </a:lnSpc>
              </a:pPr>
              <a:r>
                <a:rPr lang="en-US" sz="2100">
                  <a:solidFill>
                    <a:srgbClr val="FFFFFF"/>
                  </a:solidFill>
                  <a:latin typeface="Arial"/>
                  <a:ea typeface="Arial"/>
                  <a:cs typeface="Arial"/>
                  <a:sym typeface="Arial"/>
                </a:rPr>
                <a:t>Reproduce, compare against a control build, and minimise failures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WHAT ARE FUNCTIONAL BUGS?</a:t>
            </a:r>
          </a:p>
        </p:txBody>
      </p:sp>
      <p:grpSp>
        <p:nvGrpSpPr>
          <p:cNvPr name="Group 15" id="15"/>
          <p:cNvGrpSpPr/>
          <p:nvPr/>
        </p:nvGrpSpPr>
        <p:grpSpPr>
          <a:xfrm rot="0">
            <a:off x="1021556" y="3078956"/>
            <a:ext cx="5150015" cy="3059240"/>
            <a:chOff x="0" y="0"/>
            <a:chExt cx="6866687" cy="4078986"/>
          </a:xfrm>
        </p:grpSpPr>
        <p:sp>
          <p:nvSpPr>
            <p:cNvPr name="Freeform 16" id="16"/>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17" id="17"/>
          <p:cNvGrpSpPr/>
          <p:nvPr/>
        </p:nvGrpSpPr>
        <p:grpSpPr>
          <a:xfrm rot="0">
            <a:off x="1403223" y="3419475"/>
            <a:ext cx="732282" cy="732282"/>
            <a:chOff x="0" y="0"/>
            <a:chExt cx="976376" cy="976376"/>
          </a:xfrm>
        </p:grpSpPr>
        <p:sp>
          <p:nvSpPr>
            <p:cNvPr name="Freeform 18" id="18"/>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19" id="19"/>
          <p:cNvGrpSpPr/>
          <p:nvPr/>
        </p:nvGrpSpPr>
        <p:grpSpPr>
          <a:xfrm rot="0">
            <a:off x="1591056" y="3607308"/>
            <a:ext cx="356616" cy="356616"/>
            <a:chOff x="0" y="0"/>
            <a:chExt cx="475488" cy="475488"/>
          </a:xfrm>
        </p:grpSpPr>
        <p:sp>
          <p:nvSpPr>
            <p:cNvPr name="Freeform 20" id="20" descr="Calculation Errors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4"/>
              <a:stretch>
                <a:fillRect l="0" t="0" r="0" b="0"/>
              </a:stretch>
            </a:blipFill>
          </p:spPr>
        </p:sp>
      </p:grpSp>
      <p:grpSp>
        <p:nvGrpSpPr>
          <p:cNvPr name="Group 21" id="21"/>
          <p:cNvGrpSpPr/>
          <p:nvPr/>
        </p:nvGrpSpPr>
        <p:grpSpPr>
          <a:xfrm rot="0">
            <a:off x="2331720" y="3429000"/>
            <a:ext cx="3489808" cy="713232"/>
            <a:chOff x="0" y="0"/>
            <a:chExt cx="4653077" cy="950976"/>
          </a:xfrm>
        </p:grpSpPr>
        <p:sp>
          <p:nvSpPr>
            <p:cNvPr name="Freeform 22" id="22"/>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23" id="23"/>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Calculation Errors</a:t>
              </a:r>
            </a:p>
          </p:txBody>
        </p:sp>
      </p:grpSp>
      <p:sp>
        <p:nvSpPr>
          <p:cNvPr name="TextBox 24" id="24"/>
          <p:cNvSpPr txBox="true"/>
          <p:nvPr/>
        </p:nvSpPr>
        <p:spPr>
          <a:xfrm rot="0">
            <a:off x="1412748" y="4291965"/>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The application produces an incorrect numerical result.</a:t>
            </a:r>
          </a:p>
        </p:txBody>
      </p:sp>
      <p:sp>
        <p:nvSpPr>
          <p:cNvPr name="TextBox 25" id="25"/>
          <p:cNvSpPr txBox="true"/>
          <p:nvPr/>
        </p:nvSpPr>
        <p:spPr>
          <a:xfrm rot="0">
            <a:off x="1412748" y="5343906"/>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Increasing the quantity of a product does not update the cart total correctly.</a:t>
            </a:r>
          </a:p>
        </p:txBody>
      </p:sp>
      <p:grpSp>
        <p:nvGrpSpPr>
          <p:cNvPr name="Group 26" id="26"/>
          <p:cNvGrpSpPr/>
          <p:nvPr/>
        </p:nvGrpSpPr>
        <p:grpSpPr>
          <a:xfrm rot="0">
            <a:off x="6568764" y="3078956"/>
            <a:ext cx="5150015" cy="3059240"/>
            <a:chOff x="0" y="0"/>
            <a:chExt cx="6866687" cy="4078986"/>
          </a:xfrm>
        </p:grpSpPr>
        <p:sp>
          <p:nvSpPr>
            <p:cNvPr name="Freeform 27" id="27"/>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28" id="28"/>
          <p:cNvGrpSpPr/>
          <p:nvPr/>
        </p:nvGrpSpPr>
        <p:grpSpPr>
          <a:xfrm rot="0">
            <a:off x="6950431" y="3419475"/>
            <a:ext cx="732282" cy="732282"/>
            <a:chOff x="0" y="0"/>
            <a:chExt cx="976376" cy="976376"/>
          </a:xfrm>
        </p:grpSpPr>
        <p:sp>
          <p:nvSpPr>
            <p:cNvPr name="Freeform 29" id="29"/>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30" id="30"/>
          <p:cNvGrpSpPr/>
          <p:nvPr/>
        </p:nvGrpSpPr>
        <p:grpSpPr>
          <a:xfrm rot="0">
            <a:off x="7138264" y="3607308"/>
            <a:ext cx="356616" cy="356616"/>
            <a:chOff x="0" y="0"/>
            <a:chExt cx="475488" cy="475488"/>
          </a:xfrm>
        </p:grpSpPr>
        <p:sp>
          <p:nvSpPr>
            <p:cNvPr name="Freeform 31" id="31" descr="Constraint Bypasses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5"/>
              <a:stretch>
                <a:fillRect l="0" t="0" r="0" b="0"/>
              </a:stretch>
            </a:blipFill>
          </p:spPr>
        </p:sp>
      </p:grpSp>
      <p:grpSp>
        <p:nvGrpSpPr>
          <p:cNvPr name="Group 32" id="32"/>
          <p:cNvGrpSpPr/>
          <p:nvPr/>
        </p:nvGrpSpPr>
        <p:grpSpPr>
          <a:xfrm rot="0">
            <a:off x="7878928" y="3429000"/>
            <a:ext cx="3489808" cy="713232"/>
            <a:chOff x="0" y="0"/>
            <a:chExt cx="4653077" cy="950976"/>
          </a:xfrm>
        </p:grpSpPr>
        <p:sp>
          <p:nvSpPr>
            <p:cNvPr name="Freeform 33" id="33"/>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34" id="34"/>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Constraint Bypasses</a:t>
              </a:r>
            </a:p>
          </p:txBody>
        </p:sp>
      </p:grpSp>
      <p:sp>
        <p:nvSpPr>
          <p:cNvPr name="TextBox 35" id="35"/>
          <p:cNvSpPr txBox="true"/>
          <p:nvPr/>
        </p:nvSpPr>
        <p:spPr>
          <a:xfrm rot="0">
            <a:off x="6959956" y="4291965"/>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The application accepts invalid input or allows an action that a rule should block.</a:t>
            </a:r>
          </a:p>
        </p:txBody>
      </p:sp>
      <p:sp>
        <p:nvSpPr>
          <p:cNvPr name="TextBox 36" id="36"/>
          <p:cNvSpPr txBox="true"/>
          <p:nvPr/>
        </p:nvSpPr>
        <p:spPr>
          <a:xfrm rot="0">
            <a:off x="6959956" y="5343906"/>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An order is placed without a required delivery address.</a:t>
            </a:r>
          </a:p>
        </p:txBody>
      </p:sp>
      <p:grpSp>
        <p:nvGrpSpPr>
          <p:cNvPr name="Group 37" id="37"/>
          <p:cNvGrpSpPr/>
          <p:nvPr/>
        </p:nvGrpSpPr>
        <p:grpSpPr>
          <a:xfrm rot="0">
            <a:off x="12115971" y="3078956"/>
            <a:ext cx="5150015" cy="3059240"/>
            <a:chOff x="0" y="0"/>
            <a:chExt cx="6866687" cy="4078986"/>
          </a:xfrm>
        </p:grpSpPr>
        <p:sp>
          <p:nvSpPr>
            <p:cNvPr name="Freeform 38" id="38"/>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39" id="39"/>
          <p:cNvGrpSpPr/>
          <p:nvPr/>
        </p:nvGrpSpPr>
        <p:grpSpPr>
          <a:xfrm rot="0">
            <a:off x="12497638" y="3419475"/>
            <a:ext cx="732282" cy="732282"/>
            <a:chOff x="0" y="0"/>
            <a:chExt cx="976376" cy="976376"/>
          </a:xfrm>
        </p:grpSpPr>
        <p:sp>
          <p:nvSpPr>
            <p:cNvPr name="Freeform 40" id="40"/>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41" id="41"/>
          <p:cNvGrpSpPr/>
          <p:nvPr/>
        </p:nvGrpSpPr>
        <p:grpSpPr>
          <a:xfrm rot="0">
            <a:off x="12685471" y="3607308"/>
            <a:ext cx="356616" cy="356616"/>
            <a:chOff x="0" y="0"/>
            <a:chExt cx="475488" cy="475488"/>
          </a:xfrm>
        </p:grpSpPr>
        <p:sp>
          <p:nvSpPr>
            <p:cNvPr name="Freeform 42" id="42" descr="State Corruption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6"/>
              <a:stretch>
                <a:fillRect l="0" t="0" r="0" b="0"/>
              </a:stretch>
            </a:blipFill>
          </p:spPr>
        </p:sp>
      </p:grpSp>
      <p:grpSp>
        <p:nvGrpSpPr>
          <p:cNvPr name="Group 43" id="43"/>
          <p:cNvGrpSpPr/>
          <p:nvPr/>
        </p:nvGrpSpPr>
        <p:grpSpPr>
          <a:xfrm rot="0">
            <a:off x="13426135" y="3429000"/>
            <a:ext cx="3489808" cy="713232"/>
            <a:chOff x="0" y="0"/>
            <a:chExt cx="4653077" cy="950976"/>
          </a:xfrm>
        </p:grpSpPr>
        <p:sp>
          <p:nvSpPr>
            <p:cNvPr name="Freeform 44" id="44"/>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45" id="45"/>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State Corruption</a:t>
              </a:r>
            </a:p>
          </p:txBody>
        </p:sp>
      </p:grpSp>
      <p:sp>
        <p:nvSpPr>
          <p:cNvPr name="TextBox 46" id="46"/>
          <p:cNvSpPr txBox="true"/>
          <p:nvPr/>
        </p:nvSpPr>
        <p:spPr>
          <a:xfrm rot="0">
            <a:off x="12507163" y="4291965"/>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Information entered or selected by the user becomes incorrect in a later screen or state.</a:t>
            </a:r>
          </a:p>
        </p:txBody>
      </p:sp>
      <p:sp>
        <p:nvSpPr>
          <p:cNvPr name="TextBox 47" id="47"/>
          <p:cNvSpPr txBox="true"/>
          <p:nvPr/>
        </p:nvSpPr>
        <p:spPr>
          <a:xfrm rot="0">
            <a:off x="12507163" y="5343906"/>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Express delivery is selected, but the confirmation shows standard delivery.</a:t>
            </a:r>
          </a:p>
        </p:txBody>
      </p:sp>
      <p:grpSp>
        <p:nvGrpSpPr>
          <p:cNvPr name="Group 48" id="48"/>
          <p:cNvGrpSpPr/>
          <p:nvPr/>
        </p:nvGrpSpPr>
        <p:grpSpPr>
          <a:xfrm rot="0">
            <a:off x="1021556" y="6466808"/>
            <a:ext cx="5150015" cy="3059240"/>
            <a:chOff x="0" y="0"/>
            <a:chExt cx="6866687" cy="4078986"/>
          </a:xfrm>
        </p:grpSpPr>
        <p:sp>
          <p:nvSpPr>
            <p:cNvPr name="Freeform 49" id="49"/>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50" id="50"/>
          <p:cNvGrpSpPr/>
          <p:nvPr/>
        </p:nvGrpSpPr>
        <p:grpSpPr>
          <a:xfrm rot="0">
            <a:off x="1403223" y="6807327"/>
            <a:ext cx="732282" cy="732282"/>
            <a:chOff x="0" y="0"/>
            <a:chExt cx="976376" cy="976376"/>
          </a:xfrm>
        </p:grpSpPr>
        <p:sp>
          <p:nvSpPr>
            <p:cNvPr name="Freeform 51" id="51"/>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52" id="52"/>
          <p:cNvGrpSpPr/>
          <p:nvPr/>
        </p:nvGrpSpPr>
        <p:grpSpPr>
          <a:xfrm rot="0">
            <a:off x="1591056" y="6995160"/>
            <a:ext cx="356616" cy="356616"/>
            <a:chOff x="0" y="0"/>
            <a:chExt cx="475488" cy="475488"/>
          </a:xfrm>
        </p:grpSpPr>
        <p:sp>
          <p:nvSpPr>
            <p:cNvPr name="Freeform 53" id="53" descr="Persistence Failures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7"/>
              <a:stretch>
                <a:fillRect l="0" t="0" r="0" b="0"/>
              </a:stretch>
            </a:blipFill>
          </p:spPr>
        </p:sp>
      </p:grpSp>
      <p:grpSp>
        <p:nvGrpSpPr>
          <p:cNvPr name="Group 54" id="54"/>
          <p:cNvGrpSpPr/>
          <p:nvPr/>
        </p:nvGrpSpPr>
        <p:grpSpPr>
          <a:xfrm rot="0">
            <a:off x="2331720" y="6816852"/>
            <a:ext cx="3489808" cy="713232"/>
            <a:chOff x="0" y="0"/>
            <a:chExt cx="4653077" cy="950976"/>
          </a:xfrm>
        </p:grpSpPr>
        <p:sp>
          <p:nvSpPr>
            <p:cNvPr name="Freeform 55" id="55"/>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56" id="56"/>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Persistence Failures</a:t>
              </a:r>
            </a:p>
          </p:txBody>
        </p:sp>
      </p:grpSp>
      <p:sp>
        <p:nvSpPr>
          <p:cNvPr name="TextBox 57" id="57"/>
          <p:cNvSpPr txBox="true"/>
          <p:nvPr/>
        </p:nvSpPr>
        <p:spPr>
          <a:xfrm rot="0">
            <a:off x="1412748" y="7679817"/>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Data that should be saved is lost, reverted, or not stored correctly.</a:t>
            </a:r>
          </a:p>
        </p:txBody>
      </p:sp>
      <p:sp>
        <p:nvSpPr>
          <p:cNvPr name="TextBox 58" id="58"/>
          <p:cNvSpPr txBox="true"/>
          <p:nvPr/>
        </p:nvSpPr>
        <p:spPr>
          <a:xfrm rot="0">
            <a:off x="1412748" y="8731758"/>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After editing a record and reloading the page, the old value returns.</a:t>
            </a:r>
          </a:p>
        </p:txBody>
      </p:sp>
      <p:grpSp>
        <p:nvGrpSpPr>
          <p:cNvPr name="Group 59" id="59"/>
          <p:cNvGrpSpPr/>
          <p:nvPr/>
        </p:nvGrpSpPr>
        <p:grpSpPr>
          <a:xfrm rot="0">
            <a:off x="6568764" y="6466808"/>
            <a:ext cx="5150015" cy="3059240"/>
            <a:chOff x="0" y="0"/>
            <a:chExt cx="6866687" cy="4078986"/>
          </a:xfrm>
        </p:grpSpPr>
        <p:sp>
          <p:nvSpPr>
            <p:cNvPr name="Freeform 60" id="60"/>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61" id="61"/>
          <p:cNvGrpSpPr/>
          <p:nvPr/>
        </p:nvGrpSpPr>
        <p:grpSpPr>
          <a:xfrm rot="0">
            <a:off x="6950431" y="6807327"/>
            <a:ext cx="732282" cy="732282"/>
            <a:chOff x="0" y="0"/>
            <a:chExt cx="976376" cy="976376"/>
          </a:xfrm>
        </p:grpSpPr>
        <p:sp>
          <p:nvSpPr>
            <p:cNvPr name="Freeform 62" id="62"/>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63" id="63"/>
          <p:cNvGrpSpPr/>
          <p:nvPr/>
        </p:nvGrpSpPr>
        <p:grpSpPr>
          <a:xfrm rot="0">
            <a:off x="7138264" y="6995160"/>
            <a:ext cx="356616" cy="356616"/>
            <a:chOff x="0" y="0"/>
            <a:chExt cx="475488" cy="475488"/>
          </a:xfrm>
        </p:grpSpPr>
        <p:sp>
          <p:nvSpPr>
            <p:cNvPr name="Freeform 64" id="64" descr="Broken Transitions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8"/>
              <a:stretch>
                <a:fillRect l="0" t="0" r="0" b="0"/>
              </a:stretch>
            </a:blipFill>
          </p:spPr>
        </p:sp>
      </p:grpSp>
      <p:grpSp>
        <p:nvGrpSpPr>
          <p:cNvPr name="Group 65" id="65"/>
          <p:cNvGrpSpPr/>
          <p:nvPr/>
        </p:nvGrpSpPr>
        <p:grpSpPr>
          <a:xfrm rot="0">
            <a:off x="7878928" y="6816852"/>
            <a:ext cx="3489808" cy="713232"/>
            <a:chOff x="0" y="0"/>
            <a:chExt cx="4653077" cy="950976"/>
          </a:xfrm>
        </p:grpSpPr>
        <p:sp>
          <p:nvSpPr>
            <p:cNvPr name="Freeform 66" id="66"/>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67" id="67"/>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Broken Transitions</a:t>
              </a:r>
            </a:p>
          </p:txBody>
        </p:sp>
      </p:grpSp>
      <p:sp>
        <p:nvSpPr>
          <p:cNvPr name="TextBox 68" id="68"/>
          <p:cNvSpPr txBox="true"/>
          <p:nvPr/>
        </p:nvSpPr>
        <p:spPr>
          <a:xfrm rot="0">
            <a:off x="6959956" y="7679817"/>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An action navigates to the wrong page or state, or fails to navigate when it should.</a:t>
            </a:r>
          </a:p>
        </p:txBody>
      </p:sp>
      <p:sp>
        <p:nvSpPr>
          <p:cNvPr name="TextBox 69" id="69"/>
          <p:cNvSpPr txBox="true"/>
          <p:nvPr/>
        </p:nvSpPr>
        <p:spPr>
          <a:xfrm rot="0">
            <a:off x="6959956" y="8731758"/>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Clicking “Next” in a multi-step form returns to the first step.</a:t>
            </a:r>
          </a:p>
        </p:txBody>
      </p:sp>
      <p:grpSp>
        <p:nvGrpSpPr>
          <p:cNvPr name="Group 70" id="70"/>
          <p:cNvGrpSpPr/>
          <p:nvPr/>
        </p:nvGrpSpPr>
        <p:grpSpPr>
          <a:xfrm rot="0">
            <a:off x="12115971" y="6466808"/>
            <a:ext cx="5150015" cy="3059240"/>
            <a:chOff x="0" y="0"/>
            <a:chExt cx="6866687" cy="4078986"/>
          </a:xfrm>
        </p:grpSpPr>
        <p:sp>
          <p:nvSpPr>
            <p:cNvPr name="Freeform 71" id="71"/>
            <p:cNvSpPr/>
            <p:nvPr/>
          </p:nvSpPr>
          <p:spPr>
            <a:xfrm flipH="false" flipV="false" rot="0">
              <a:off x="0" y="0"/>
              <a:ext cx="6866636" cy="4078986"/>
            </a:xfrm>
            <a:custGeom>
              <a:avLst/>
              <a:gdLst/>
              <a:ahLst/>
              <a:cxnLst/>
              <a:rect r="r" b="b" t="t" l="l"/>
              <a:pathLst>
                <a:path h="4078986" w="6866636">
                  <a:moveTo>
                    <a:pt x="0" y="330708"/>
                  </a:moveTo>
                  <a:cubicBezTo>
                    <a:pt x="0" y="148082"/>
                    <a:pt x="148082" y="0"/>
                    <a:pt x="330708" y="0"/>
                  </a:cubicBezTo>
                  <a:lnTo>
                    <a:pt x="6535928" y="0"/>
                  </a:lnTo>
                  <a:cubicBezTo>
                    <a:pt x="6718554" y="0"/>
                    <a:pt x="6866636" y="148082"/>
                    <a:pt x="6866636" y="330708"/>
                  </a:cubicBezTo>
                  <a:lnTo>
                    <a:pt x="6866636" y="3748278"/>
                  </a:lnTo>
                  <a:cubicBezTo>
                    <a:pt x="6866636" y="3930904"/>
                    <a:pt x="6718554" y="4078986"/>
                    <a:pt x="6535928" y="4078986"/>
                  </a:cubicBezTo>
                  <a:lnTo>
                    <a:pt x="330708" y="4078986"/>
                  </a:lnTo>
                  <a:cubicBezTo>
                    <a:pt x="148082" y="4078986"/>
                    <a:pt x="0" y="3930904"/>
                    <a:pt x="0" y="3748278"/>
                  </a:cubicBezTo>
                  <a:close/>
                </a:path>
              </a:pathLst>
            </a:custGeom>
            <a:solidFill>
              <a:srgbClr val="FFFFFF"/>
            </a:solidFill>
            <a:ln w="14288" cap="sq">
              <a:solidFill>
                <a:srgbClr val="E2E6E3"/>
              </a:solidFill>
              <a:prstDash val="solid"/>
              <a:miter/>
            </a:ln>
          </p:spPr>
        </p:sp>
      </p:grpSp>
      <p:grpSp>
        <p:nvGrpSpPr>
          <p:cNvPr name="Group 72" id="72"/>
          <p:cNvGrpSpPr/>
          <p:nvPr/>
        </p:nvGrpSpPr>
        <p:grpSpPr>
          <a:xfrm rot="0">
            <a:off x="12497638" y="6807327"/>
            <a:ext cx="732282" cy="732282"/>
            <a:chOff x="0" y="0"/>
            <a:chExt cx="976376" cy="976376"/>
          </a:xfrm>
        </p:grpSpPr>
        <p:sp>
          <p:nvSpPr>
            <p:cNvPr name="Freeform 73" id="73"/>
            <p:cNvSpPr/>
            <p:nvPr/>
          </p:nvSpPr>
          <p:spPr>
            <a:xfrm flipH="false" flipV="false" rot="0">
              <a:off x="0" y="0"/>
              <a:ext cx="976376" cy="976376"/>
            </a:xfrm>
            <a:custGeom>
              <a:avLst/>
              <a:gdLst/>
              <a:ahLst/>
              <a:cxnLst/>
              <a:rect r="r" b="b" t="t" l="l"/>
              <a:pathLst>
                <a:path h="976376" w="976376">
                  <a:moveTo>
                    <a:pt x="0" y="488188"/>
                  </a:moveTo>
                  <a:cubicBezTo>
                    <a:pt x="0" y="218567"/>
                    <a:pt x="218567" y="0"/>
                    <a:pt x="488188" y="0"/>
                  </a:cubicBezTo>
                  <a:cubicBezTo>
                    <a:pt x="757809" y="0"/>
                    <a:pt x="976376" y="218567"/>
                    <a:pt x="976376" y="488188"/>
                  </a:cubicBezTo>
                  <a:cubicBezTo>
                    <a:pt x="976376" y="757809"/>
                    <a:pt x="757809" y="976376"/>
                    <a:pt x="488188" y="976376"/>
                  </a:cubicBezTo>
                  <a:cubicBezTo>
                    <a:pt x="218567" y="976376"/>
                    <a:pt x="0" y="757809"/>
                    <a:pt x="0" y="488188"/>
                  </a:cubicBezTo>
                  <a:close/>
                </a:path>
              </a:pathLst>
            </a:custGeom>
            <a:solidFill>
              <a:srgbClr val="00461A"/>
            </a:solidFill>
            <a:ln w="19050" cap="sq">
              <a:solidFill>
                <a:srgbClr val="00461A"/>
              </a:solidFill>
              <a:prstDash val="solid"/>
              <a:miter/>
            </a:ln>
          </p:spPr>
        </p:sp>
      </p:grpSp>
      <p:grpSp>
        <p:nvGrpSpPr>
          <p:cNvPr name="Group 74" id="74"/>
          <p:cNvGrpSpPr/>
          <p:nvPr/>
        </p:nvGrpSpPr>
        <p:grpSpPr>
          <a:xfrm rot="0">
            <a:off x="12685471" y="6995160"/>
            <a:ext cx="356616" cy="356616"/>
            <a:chOff x="0" y="0"/>
            <a:chExt cx="475488" cy="475488"/>
          </a:xfrm>
        </p:grpSpPr>
        <p:sp>
          <p:nvSpPr>
            <p:cNvPr name="Freeform 75" id="75" descr="Crash-Type Faults icon"/>
            <p:cNvSpPr/>
            <p:nvPr/>
          </p:nvSpPr>
          <p:spPr>
            <a:xfrm flipH="false" flipV="false" rot="0">
              <a:off x="0" y="0"/>
              <a:ext cx="475488" cy="475488"/>
            </a:xfrm>
            <a:custGeom>
              <a:avLst/>
              <a:gdLst/>
              <a:ahLst/>
              <a:cxnLst/>
              <a:rect r="r" b="b" t="t" l="l"/>
              <a:pathLst>
                <a:path h="475488" w="475488">
                  <a:moveTo>
                    <a:pt x="0" y="0"/>
                  </a:moveTo>
                  <a:lnTo>
                    <a:pt x="475488" y="0"/>
                  </a:lnTo>
                  <a:lnTo>
                    <a:pt x="475488" y="475488"/>
                  </a:lnTo>
                  <a:lnTo>
                    <a:pt x="0" y="475488"/>
                  </a:lnTo>
                  <a:lnTo>
                    <a:pt x="0" y="0"/>
                  </a:lnTo>
                  <a:close/>
                </a:path>
              </a:pathLst>
            </a:custGeom>
            <a:blipFill>
              <a:blip r:embed="rId9"/>
              <a:stretch>
                <a:fillRect l="0" t="0" r="0" b="0"/>
              </a:stretch>
            </a:blipFill>
          </p:spPr>
        </p:sp>
      </p:grpSp>
      <p:grpSp>
        <p:nvGrpSpPr>
          <p:cNvPr name="Group 76" id="76"/>
          <p:cNvGrpSpPr/>
          <p:nvPr/>
        </p:nvGrpSpPr>
        <p:grpSpPr>
          <a:xfrm rot="0">
            <a:off x="13426135" y="6816852"/>
            <a:ext cx="3489808" cy="713232"/>
            <a:chOff x="0" y="0"/>
            <a:chExt cx="4653077" cy="950976"/>
          </a:xfrm>
        </p:grpSpPr>
        <p:sp>
          <p:nvSpPr>
            <p:cNvPr name="Freeform 77" id="77"/>
            <p:cNvSpPr/>
            <p:nvPr/>
          </p:nvSpPr>
          <p:spPr>
            <a:xfrm flipH="false" flipV="false" rot="0">
              <a:off x="0" y="0"/>
              <a:ext cx="4653076" cy="950976"/>
            </a:xfrm>
            <a:custGeom>
              <a:avLst/>
              <a:gdLst/>
              <a:ahLst/>
              <a:cxnLst/>
              <a:rect r="r" b="b" t="t" l="l"/>
              <a:pathLst>
                <a:path h="950976" w="4653076">
                  <a:moveTo>
                    <a:pt x="0" y="0"/>
                  </a:moveTo>
                  <a:lnTo>
                    <a:pt x="4653076" y="0"/>
                  </a:lnTo>
                  <a:lnTo>
                    <a:pt x="4653076" y="950976"/>
                  </a:lnTo>
                  <a:lnTo>
                    <a:pt x="0" y="950976"/>
                  </a:lnTo>
                  <a:close/>
                </a:path>
              </a:pathLst>
            </a:custGeom>
            <a:blipFill>
              <a:blip r:embed="rId3">
                <a:alphaModFix amt="0"/>
              </a:blip>
              <a:stretch>
                <a:fillRect l="0" t="-45339" r="0" b="-45339"/>
              </a:stretch>
            </a:blipFill>
          </p:spPr>
        </p:sp>
        <p:sp>
          <p:nvSpPr>
            <p:cNvPr name="TextBox 78" id="78"/>
            <p:cNvSpPr txBox="true"/>
            <p:nvPr/>
          </p:nvSpPr>
          <p:spPr>
            <a:xfrm>
              <a:off x="0" y="-9525"/>
              <a:ext cx="4653077" cy="960501"/>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Crash-Type Faults</a:t>
              </a:r>
            </a:p>
          </p:txBody>
        </p:sp>
      </p:grpSp>
      <p:sp>
        <p:nvSpPr>
          <p:cNvPr name="TextBox 79" id="79"/>
          <p:cNvSpPr txBox="true"/>
          <p:nvPr/>
        </p:nvSpPr>
        <p:spPr>
          <a:xfrm rot="0">
            <a:off x="12507163" y="7679817"/>
            <a:ext cx="4449928" cy="1016127"/>
          </a:xfrm>
          <a:prstGeom prst="rect">
            <a:avLst/>
          </a:prstGeom>
        </p:spPr>
        <p:txBody>
          <a:bodyPr anchor="t" rtlCol="false" tIns="0" lIns="0" bIns="0" rIns="0">
            <a:spAutoFit/>
          </a:bodyPr>
          <a:lstStyle/>
          <a:p>
            <a:pPr algn="l">
              <a:lnSpc>
                <a:spcPts val="2250"/>
              </a:lnSpc>
            </a:pPr>
            <a:r>
              <a:rPr lang="en-US" sz="1875">
                <a:solidFill>
                  <a:srgbClr val="111111"/>
                </a:solidFill>
                <a:latin typeface="Arial"/>
                <a:ea typeface="Arial"/>
                <a:cs typeface="Arial"/>
                <a:sym typeface="Arial"/>
              </a:rPr>
              <a:t>An interaction triggers an uncaught script error or a failed application request.</a:t>
            </a:r>
          </a:p>
        </p:txBody>
      </p:sp>
      <p:sp>
        <p:nvSpPr>
          <p:cNvPr name="TextBox 80" id="80"/>
          <p:cNvSpPr txBox="true"/>
          <p:nvPr/>
        </p:nvSpPr>
        <p:spPr>
          <a:xfrm rot="0">
            <a:off x="12507163" y="8731758"/>
            <a:ext cx="4449928" cy="636270"/>
          </a:xfrm>
          <a:prstGeom prst="rect">
            <a:avLst/>
          </a:prstGeom>
        </p:spPr>
        <p:txBody>
          <a:bodyPr anchor="t" rtlCol="false" tIns="0" lIns="0" bIns="0" rIns="0">
            <a:spAutoFit/>
          </a:bodyPr>
          <a:lstStyle/>
          <a:p>
            <a:pPr algn="l">
              <a:lnSpc>
                <a:spcPts val="2070"/>
              </a:lnSpc>
            </a:pPr>
            <a:r>
              <a:rPr lang="en-US" sz="1725" i="true">
                <a:solidFill>
                  <a:srgbClr val="555555"/>
                </a:solidFill>
                <a:latin typeface="Arial Italics"/>
                <a:ea typeface="Arial Italics"/>
                <a:cs typeface="Arial Italics"/>
                <a:sym typeface="Arial Italics"/>
              </a:rPr>
              <a:t>Selecting a checklist item causes a JavaScript error.</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ARCHITECTURE &amp; METHODOLOGY</a:t>
            </a:r>
          </a:p>
        </p:txBody>
      </p:sp>
      <p:grpSp>
        <p:nvGrpSpPr>
          <p:cNvPr name="Group 15" id="15"/>
          <p:cNvGrpSpPr/>
          <p:nvPr/>
        </p:nvGrpSpPr>
        <p:grpSpPr>
          <a:xfrm rot="0">
            <a:off x="1019175" y="2870835"/>
            <a:ext cx="2967990" cy="1116330"/>
            <a:chOff x="0" y="0"/>
            <a:chExt cx="3957320" cy="1488440"/>
          </a:xfrm>
        </p:grpSpPr>
        <p:sp>
          <p:nvSpPr>
            <p:cNvPr name="Freeform 16" id="16"/>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00461A"/>
            </a:solidFill>
            <a:ln w="19050" cap="sq">
              <a:solidFill>
                <a:srgbClr val="00461A"/>
              </a:solidFill>
              <a:prstDash val="solid"/>
              <a:miter/>
            </a:ln>
          </p:spPr>
        </p:sp>
      </p:grpSp>
      <p:grpSp>
        <p:nvGrpSpPr>
          <p:cNvPr name="Group 17" id="17"/>
          <p:cNvGrpSpPr/>
          <p:nvPr/>
        </p:nvGrpSpPr>
        <p:grpSpPr>
          <a:xfrm rot="0">
            <a:off x="1371600" y="2880360"/>
            <a:ext cx="2263140" cy="1097280"/>
            <a:chOff x="0" y="0"/>
            <a:chExt cx="3017520" cy="1463040"/>
          </a:xfrm>
        </p:grpSpPr>
        <p:sp>
          <p:nvSpPr>
            <p:cNvPr name="Freeform 18" id="18"/>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19" id="19"/>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01</a:t>
              </a:r>
            </a:p>
          </p:txBody>
        </p:sp>
      </p:grpSp>
      <p:sp>
        <p:nvSpPr>
          <p:cNvPr name="TextBox 20" id="20"/>
          <p:cNvSpPr txBox="true"/>
          <p:nvPr/>
        </p:nvSpPr>
        <p:spPr>
          <a:xfrm rot="0">
            <a:off x="1193292"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Application Input &amp; Setup</a:t>
            </a:r>
          </a:p>
        </p:txBody>
      </p:sp>
      <p:grpSp>
        <p:nvGrpSpPr>
          <p:cNvPr name="Group 21" id="21"/>
          <p:cNvGrpSpPr/>
          <p:nvPr/>
        </p:nvGrpSpPr>
        <p:grpSpPr>
          <a:xfrm rot="0">
            <a:off x="1183767" y="5271135"/>
            <a:ext cx="2400967" cy="869442"/>
            <a:chOff x="0" y="0"/>
            <a:chExt cx="3201289" cy="1159256"/>
          </a:xfrm>
        </p:grpSpPr>
        <p:sp>
          <p:nvSpPr>
            <p:cNvPr name="Freeform 22" id="22"/>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E9EEEA"/>
            </a:solidFill>
            <a:ln w="19050" cap="sq">
              <a:solidFill>
                <a:srgbClr val="E9EEEA"/>
              </a:solidFill>
              <a:prstDash val="solid"/>
              <a:miter/>
            </a:ln>
          </p:spPr>
        </p:sp>
      </p:grpSp>
      <p:grpSp>
        <p:nvGrpSpPr>
          <p:cNvPr name="Group 23" id="23"/>
          <p:cNvGrpSpPr/>
          <p:nvPr/>
        </p:nvGrpSpPr>
        <p:grpSpPr>
          <a:xfrm rot="0">
            <a:off x="1330452" y="5280660"/>
            <a:ext cx="2107597" cy="850392"/>
            <a:chOff x="0" y="0"/>
            <a:chExt cx="2810129" cy="1133856"/>
          </a:xfrm>
        </p:grpSpPr>
        <p:sp>
          <p:nvSpPr>
            <p:cNvPr name="Freeform 24" id="24"/>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25" id="25"/>
            <p:cNvSpPr txBox="true"/>
            <p:nvPr/>
          </p:nvSpPr>
          <p:spPr>
            <a:xfrm>
              <a:off x="0" y="-19050"/>
              <a:ext cx="2810129" cy="1152906"/>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URL / ZIP / Dockerfile repository</a:t>
              </a:r>
            </a:p>
          </p:txBody>
        </p:sp>
      </p:grpSp>
      <p:grpSp>
        <p:nvGrpSpPr>
          <p:cNvPr name="Group 26" id="26"/>
          <p:cNvGrpSpPr/>
          <p:nvPr/>
        </p:nvGrpSpPr>
        <p:grpSpPr>
          <a:xfrm rot="0">
            <a:off x="1183767" y="6258687"/>
            <a:ext cx="2400967" cy="869442"/>
            <a:chOff x="0" y="0"/>
            <a:chExt cx="3201289" cy="1159256"/>
          </a:xfrm>
        </p:grpSpPr>
        <p:sp>
          <p:nvSpPr>
            <p:cNvPr name="Freeform 27" id="27"/>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E9EEEA"/>
            </a:solidFill>
            <a:ln w="19050" cap="sq">
              <a:solidFill>
                <a:srgbClr val="E9EEEA"/>
              </a:solidFill>
              <a:prstDash val="solid"/>
              <a:miter/>
            </a:ln>
          </p:spPr>
        </p:sp>
      </p:grpSp>
      <p:grpSp>
        <p:nvGrpSpPr>
          <p:cNvPr name="Group 28" id="28"/>
          <p:cNvGrpSpPr/>
          <p:nvPr/>
        </p:nvGrpSpPr>
        <p:grpSpPr>
          <a:xfrm rot="0">
            <a:off x="1330452" y="6268212"/>
            <a:ext cx="2107597" cy="850392"/>
            <a:chOff x="0" y="0"/>
            <a:chExt cx="2810129" cy="1133856"/>
          </a:xfrm>
        </p:grpSpPr>
        <p:sp>
          <p:nvSpPr>
            <p:cNvPr name="Freeform 29" id="29"/>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30" id="30"/>
            <p:cNvSpPr txBox="true"/>
            <p:nvPr/>
          </p:nvSpPr>
          <p:spPr>
            <a:xfrm>
              <a:off x="0" y="-19050"/>
              <a:ext cx="2810129" cy="1152906"/>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Validation &amp; sandboxed deployment</a:t>
              </a:r>
            </a:p>
          </p:txBody>
        </p:sp>
      </p:grpSp>
      <p:grpSp>
        <p:nvGrpSpPr>
          <p:cNvPr name="Group 31" id="31"/>
          <p:cNvGrpSpPr/>
          <p:nvPr/>
        </p:nvGrpSpPr>
        <p:grpSpPr>
          <a:xfrm rot="0">
            <a:off x="3675412" y="2870835"/>
            <a:ext cx="2967990" cy="1116330"/>
            <a:chOff x="0" y="0"/>
            <a:chExt cx="3957320" cy="1488440"/>
          </a:xfrm>
        </p:grpSpPr>
        <p:sp>
          <p:nvSpPr>
            <p:cNvPr name="Freeform 32" id="32"/>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3F8C50"/>
            </a:solidFill>
            <a:ln w="19050" cap="sq">
              <a:solidFill>
                <a:srgbClr val="3F8C50"/>
              </a:solidFill>
              <a:prstDash val="solid"/>
              <a:miter/>
            </a:ln>
          </p:spPr>
        </p:sp>
      </p:grpSp>
      <p:grpSp>
        <p:nvGrpSpPr>
          <p:cNvPr name="Group 33" id="33"/>
          <p:cNvGrpSpPr/>
          <p:nvPr/>
        </p:nvGrpSpPr>
        <p:grpSpPr>
          <a:xfrm rot="0">
            <a:off x="4027837" y="2880360"/>
            <a:ext cx="2263140" cy="1097280"/>
            <a:chOff x="0" y="0"/>
            <a:chExt cx="3017520" cy="1463040"/>
          </a:xfrm>
        </p:grpSpPr>
        <p:sp>
          <p:nvSpPr>
            <p:cNvPr name="Freeform 34" id="34"/>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35" id="35"/>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02</a:t>
              </a:r>
            </a:p>
          </p:txBody>
        </p:sp>
      </p:grpSp>
      <p:sp>
        <p:nvSpPr>
          <p:cNvPr name="TextBox 36" id="36"/>
          <p:cNvSpPr txBox="true"/>
          <p:nvPr/>
        </p:nvSpPr>
        <p:spPr>
          <a:xfrm rot="0">
            <a:off x="3849529"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Browser Automation</a:t>
            </a:r>
          </a:p>
        </p:txBody>
      </p:sp>
      <p:grpSp>
        <p:nvGrpSpPr>
          <p:cNvPr name="Group 37" id="37"/>
          <p:cNvGrpSpPr/>
          <p:nvPr/>
        </p:nvGrpSpPr>
        <p:grpSpPr>
          <a:xfrm rot="0">
            <a:off x="3840004" y="5271135"/>
            <a:ext cx="2400967" cy="704850"/>
            <a:chOff x="0" y="0"/>
            <a:chExt cx="3201289" cy="939800"/>
          </a:xfrm>
        </p:grpSpPr>
        <p:sp>
          <p:nvSpPr>
            <p:cNvPr name="Freeform 38" id="38"/>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39" id="39"/>
          <p:cNvGrpSpPr/>
          <p:nvPr/>
        </p:nvGrpSpPr>
        <p:grpSpPr>
          <a:xfrm rot="0">
            <a:off x="3986689" y="5280660"/>
            <a:ext cx="2107597" cy="685800"/>
            <a:chOff x="0" y="0"/>
            <a:chExt cx="2810129" cy="914400"/>
          </a:xfrm>
        </p:grpSpPr>
        <p:sp>
          <p:nvSpPr>
            <p:cNvPr name="Freeform 40" id="40"/>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41" id="41"/>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Playwright + Chromium</a:t>
              </a:r>
            </a:p>
          </p:txBody>
        </p:sp>
      </p:grpSp>
      <p:grpSp>
        <p:nvGrpSpPr>
          <p:cNvPr name="Group 42" id="42"/>
          <p:cNvGrpSpPr/>
          <p:nvPr/>
        </p:nvGrpSpPr>
        <p:grpSpPr>
          <a:xfrm rot="0">
            <a:off x="3840004" y="6094095"/>
            <a:ext cx="2400967" cy="704850"/>
            <a:chOff x="0" y="0"/>
            <a:chExt cx="3201289" cy="939800"/>
          </a:xfrm>
        </p:grpSpPr>
        <p:sp>
          <p:nvSpPr>
            <p:cNvPr name="Freeform 43" id="43"/>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44" id="44"/>
          <p:cNvGrpSpPr/>
          <p:nvPr/>
        </p:nvGrpSpPr>
        <p:grpSpPr>
          <a:xfrm rot="0">
            <a:off x="3986689" y="6103620"/>
            <a:ext cx="2107597" cy="685800"/>
            <a:chOff x="0" y="0"/>
            <a:chExt cx="2810129" cy="914400"/>
          </a:xfrm>
        </p:grpSpPr>
        <p:sp>
          <p:nvSpPr>
            <p:cNvPr name="Freeform 45" id="45"/>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46" id="46"/>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Capture page state</a:t>
              </a:r>
            </a:p>
          </p:txBody>
        </p:sp>
      </p:grpSp>
      <p:grpSp>
        <p:nvGrpSpPr>
          <p:cNvPr name="Group 47" id="47"/>
          <p:cNvGrpSpPr/>
          <p:nvPr/>
        </p:nvGrpSpPr>
        <p:grpSpPr>
          <a:xfrm rot="0">
            <a:off x="3840004" y="6917055"/>
            <a:ext cx="2400967" cy="704850"/>
            <a:chOff x="0" y="0"/>
            <a:chExt cx="3201289" cy="939800"/>
          </a:xfrm>
        </p:grpSpPr>
        <p:sp>
          <p:nvSpPr>
            <p:cNvPr name="Freeform 48" id="48"/>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49" id="49"/>
          <p:cNvGrpSpPr/>
          <p:nvPr/>
        </p:nvGrpSpPr>
        <p:grpSpPr>
          <a:xfrm rot="0">
            <a:off x="3986689" y="6926580"/>
            <a:ext cx="2107597" cy="685800"/>
            <a:chOff x="0" y="0"/>
            <a:chExt cx="2810129" cy="914400"/>
          </a:xfrm>
        </p:grpSpPr>
        <p:sp>
          <p:nvSpPr>
            <p:cNvPr name="Freeform 50" id="50"/>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51" id="51"/>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Identify forms, links &amp; custom clickables</a:t>
              </a:r>
            </a:p>
          </p:txBody>
        </p:sp>
      </p:grpSp>
      <p:grpSp>
        <p:nvGrpSpPr>
          <p:cNvPr name="Group 52" id="52"/>
          <p:cNvGrpSpPr/>
          <p:nvPr/>
        </p:nvGrpSpPr>
        <p:grpSpPr>
          <a:xfrm rot="0">
            <a:off x="3840004" y="7740015"/>
            <a:ext cx="2400967" cy="704850"/>
            <a:chOff x="0" y="0"/>
            <a:chExt cx="3201289" cy="939800"/>
          </a:xfrm>
        </p:grpSpPr>
        <p:sp>
          <p:nvSpPr>
            <p:cNvPr name="Freeform 53" id="53"/>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54" id="54"/>
          <p:cNvGrpSpPr/>
          <p:nvPr/>
        </p:nvGrpSpPr>
        <p:grpSpPr>
          <a:xfrm rot="0">
            <a:off x="3986689" y="7749540"/>
            <a:ext cx="2107597" cy="685800"/>
            <a:chOff x="0" y="0"/>
            <a:chExt cx="2810129" cy="914400"/>
          </a:xfrm>
        </p:grpSpPr>
        <p:sp>
          <p:nvSpPr>
            <p:cNvPr name="Freeform 55" id="55"/>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56" id="56"/>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Record browser events</a:t>
              </a:r>
            </a:p>
          </p:txBody>
        </p:sp>
      </p:grpSp>
      <p:grpSp>
        <p:nvGrpSpPr>
          <p:cNvPr name="Group 57" id="57"/>
          <p:cNvGrpSpPr/>
          <p:nvPr/>
        </p:nvGrpSpPr>
        <p:grpSpPr>
          <a:xfrm rot="0">
            <a:off x="6331658" y="2870835"/>
            <a:ext cx="2967990" cy="1116330"/>
            <a:chOff x="0" y="0"/>
            <a:chExt cx="3957320" cy="1488440"/>
          </a:xfrm>
        </p:grpSpPr>
        <p:sp>
          <p:nvSpPr>
            <p:cNvPr name="Freeform 58" id="58"/>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00461A"/>
            </a:solidFill>
            <a:ln w="19050" cap="sq">
              <a:solidFill>
                <a:srgbClr val="00461A"/>
              </a:solidFill>
              <a:prstDash val="solid"/>
              <a:miter/>
            </a:ln>
          </p:spPr>
        </p:sp>
      </p:grpSp>
      <p:grpSp>
        <p:nvGrpSpPr>
          <p:cNvPr name="Group 59" id="59"/>
          <p:cNvGrpSpPr/>
          <p:nvPr/>
        </p:nvGrpSpPr>
        <p:grpSpPr>
          <a:xfrm rot="0">
            <a:off x="6684083" y="2880360"/>
            <a:ext cx="2263140" cy="1097280"/>
            <a:chOff x="0" y="0"/>
            <a:chExt cx="3017520" cy="1463040"/>
          </a:xfrm>
        </p:grpSpPr>
        <p:sp>
          <p:nvSpPr>
            <p:cNvPr name="Freeform 60" id="60"/>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61" id="61"/>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03</a:t>
              </a:r>
            </a:p>
          </p:txBody>
        </p:sp>
      </p:grpSp>
      <p:sp>
        <p:nvSpPr>
          <p:cNvPr name="TextBox 62" id="62"/>
          <p:cNvSpPr txBox="true"/>
          <p:nvPr/>
        </p:nvSpPr>
        <p:spPr>
          <a:xfrm rot="0">
            <a:off x="6505775"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Hybrid Exploration Engine</a:t>
            </a:r>
          </a:p>
        </p:txBody>
      </p:sp>
      <p:grpSp>
        <p:nvGrpSpPr>
          <p:cNvPr name="Group 63" id="63"/>
          <p:cNvGrpSpPr/>
          <p:nvPr/>
        </p:nvGrpSpPr>
        <p:grpSpPr>
          <a:xfrm rot="0">
            <a:off x="6496250" y="5271135"/>
            <a:ext cx="2400967" cy="869442"/>
            <a:chOff x="0" y="0"/>
            <a:chExt cx="3201289" cy="1159256"/>
          </a:xfrm>
        </p:grpSpPr>
        <p:sp>
          <p:nvSpPr>
            <p:cNvPr name="Freeform 64" id="64"/>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65" id="65"/>
          <p:cNvGrpSpPr/>
          <p:nvPr/>
        </p:nvGrpSpPr>
        <p:grpSpPr>
          <a:xfrm rot="0">
            <a:off x="6642935" y="5280660"/>
            <a:ext cx="2107597" cy="850392"/>
            <a:chOff x="0" y="0"/>
            <a:chExt cx="2810129" cy="1133856"/>
          </a:xfrm>
        </p:grpSpPr>
        <p:sp>
          <p:nvSpPr>
            <p:cNvPr name="Freeform 66" id="66"/>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67" id="67"/>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Page Abstraction</a:t>
              </a:r>
            </a:p>
            <a:p>
              <a:pPr algn="l">
                <a:lnSpc>
                  <a:spcPts val="1889"/>
                </a:lnSpc>
              </a:pPr>
              <a:r>
                <a:rPr lang="en-US" sz="1575">
                  <a:solidFill>
                    <a:srgbClr val="555555"/>
                  </a:solidFill>
                  <a:latin typeface="Arial"/>
                  <a:ea typeface="Arial"/>
                  <a:cs typeface="Arial"/>
                  <a:sym typeface="Arial"/>
                </a:rPr>
                <a:t>Generate state cells</a:t>
              </a:r>
            </a:p>
          </p:txBody>
        </p:sp>
      </p:grpSp>
      <p:grpSp>
        <p:nvGrpSpPr>
          <p:cNvPr name="Group 68" id="68"/>
          <p:cNvGrpSpPr/>
          <p:nvPr/>
        </p:nvGrpSpPr>
        <p:grpSpPr>
          <a:xfrm rot="0">
            <a:off x="6496250" y="6258687"/>
            <a:ext cx="2400967" cy="869442"/>
            <a:chOff x="0" y="0"/>
            <a:chExt cx="3201289" cy="1159256"/>
          </a:xfrm>
        </p:grpSpPr>
        <p:sp>
          <p:nvSpPr>
            <p:cNvPr name="Freeform 69" id="69"/>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70" id="70"/>
          <p:cNvGrpSpPr/>
          <p:nvPr/>
        </p:nvGrpSpPr>
        <p:grpSpPr>
          <a:xfrm rot="0">
            <a:off x="6642935" y="6268212"/>
            <a:ext cx="2107597" cy="850392"/>
            <a:chOff x="0" y="0"/>
            <a:chExt cx="2810129" cy="1133856"/>
          </a:xfrm>
        </p:grpSpPr>
        <p:sp>
          <p:nvSpPr>
            <p:cNvPr name="Freeform 71" id="71"/>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72" id="72"/>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Go-Explore Archive</a:t>
              </a:r>
            </a:p>
            <a:p>
              <a:pPr algn="l">
                <a:lnSpc>
                  <a:spcPts val="1889"/>
                </a:lnSpc>
              </a:pPr>
              <a:r>
                <a:rPr lang="en-US" sz="1575">
                  <a:solidFill>
                    <a:srgbClr val="555555"/>
                  </a:solidFill>
                  <a:latin typeface="Arial"/>
                  <a:ea typeface="Arial"/>
                  <a:cs typeface="Arial"/>
                  <a:sym typeface="Arial"/>
                </a:rPr>
                <a:t>Select &amp; replay states</a:t>
              </a:r>
            </a:p>
          </p:txBody>
        </p:sp>
      </p:grpSp>
      <p:grpSp>
        <p:nvGrpSpPr>
          <p:cNvPr name="Group 73" id="73"/>
          <p:cNvGrpSpPr/>
          <p:nvPr/>
        </p:nvGrpSpPr>
        <p:grpSpPr>
          <a:xfrm rot="0">
            <a:off x="6496250" y="7246239"/>
            <a:ext cx="2400967" cy="869442"/>
            <a:chOff x="0" y="0"/>
            <a:chExt cx="3201289" cy="1159256"/>
          </a:xfrm>
        </p:grpSpPr>
        <p:sp>
          <p:nvSpPr>
            <p:cNvPr name="Freeform 74" id="74"/>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75" id="75"/>
          <p:cNvGrpSpPr/>
          <p:nvPr/>
        </p:nvGrpSpPr>
        <p:grpSpPr>
          <a:xfrm rot="0">
            <a:off x="6642935" y="7255764"/>
            <a:ext cx="2107597" cy="850392"/>
            <a:chOff x="0" y="0"/>
            <a:chExt cx="2810129" cy="1133856"/>
          </a:xfrm>
        </p:grpSpPr>
        <p:sp>
          <p:nvSpPr>
            <p:cNvPr name="Freeform 76" id="76"/>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77" id="77"/>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Policy + Operators</a:t>
              </a:r>
            </a:p>
            <a:p>
              <a:pPr algn="l">
                <a:lnSpc>
                  <a:spcPts val="1889"/>
                </a:lnSpc>
              </a:pPr>
              <a:r>
                <a:rPr lang="en-US" sz="1575">
                  <a:solidFill>
                    <a:srgbClr val="555555"/>
                  </a:solidFill>
                  <a:latin typeface="Arial"/>
                  <a:ea typeface="Arial"/>
                  <a:cs typeface="Arial"/>
                  <a:sym typeface="Arial"/>
                </a:rPr>
                <a:t>Choose &amp; execute tests</a:t>
              </a:r>
            </a:p>
          </p:txBody>
        </p:sp>
      </p:grpSp>
      <p:sp>
        <p:nvSpPr>
          <p:cNvPr name="TextBox 78" id="78"/>
          <p:cNvSpPr txBox="true"/>
          <p:nvPr/>
        </p:nvSpPr>
        <p:spPr>
          <a:xfrm rot="0">
            <a:off x="6505775" y="8302371"/>
            <a:ext cx="2381917" cy="832485"/>
          </a:xfrm>
          <a:prstGeom prst="rect">
            <a:avLst/>
          </a:prstGeom>
        </p:spPr>
        <p:txBody>
          <a:bodyPr anchor="t" rtlCol="false" tIns="0" lIns="0" bIns="0" rIns="0">
            <a:spAutoFit/>
          </a:bodyPr>
          <a:lstStyle/>
          <a:p>
            <a:pPr algn="l">
              <a:lnSpc>
                <a:spcPts val="1889"/>
              </a:lnSpc>
            </a:pPr>
            <a:r>
              <a:rPr lang="en-US" sz="1575" i="true">
                <a:solidFill>
                  <a:srgbClr val="555555"/>
                </a:solidFill>
                <a:latin typeface="Arial Italics"/>
                <a:ea typeface="Arial Italics"/>
                <a:cs typeface="Arial Italics"/>
                <a:sym typeface="Arial Italics"/>
              </a:rPr>
              <a:t>Observe outcome → update archive / learner → repeat</a:t>
            </a:r>
          </a:p>
        </p:txBody>
      </p:sp>
      <p:grpSp>
        <p:nvGrpSpPr>
          <p:cNvPr name="Group 79" id="79"/>
          <p:cNvGrpSpPr/>
          <p:nvPr/>
        </p:nvGrpSpPr>
        <p:grpSpPr>
          <a:xfrm rot="0">
            <a:off x="8987895" y="2870835"/>
            <a:ext cx="2967990" cy="1116330"/>
            <a:chOff x="0" y="0"/>
            <a:chExt cx="3957320" cy="1488440"/>
          </a:xfrm>
        </p:grpSpPr>
        <p:sp>
          <p:nvSpPr>
            <p:cNvPr name="Freeform 80" id="80"/>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3F8C50"/>
            </a:solidFill>
            <a:ln w="19050" cap="sq">
              <a:solidFill>
                <a:srgbClr val="3F8C50"/>
              </a:solidFill>
              <a:prstDash val="solid"/>
              <a:miter/>
            </a:ln>
          </p:spPr>
        </p:sp>
      </p:grpSp>
      <p:grpSp>
        <p:nvGrpSpPr>
          <p:cNvPr name="Group 81" id="81"/>
          <p:cNvGrpSpPr/>
          <p:nvPr/>
        </p:nvGrpSpPr>
        <p:grpSpPr>
          <a:xfrm rot="0">
            <a:off x="9340320" y="2880360"/>
            <a:ext cx="2263140" cy="1097280"/>
            <a:chOff x="0" y="0"/>
            <a:chExt cx="3017520" cy="1463040"/>
          </a:xfrm>
        </p:grpSpPr>
        <p:sp>
          <p:nvSpPr>
            <p:cNvPr name="Freeform 82" id="82"/>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83" id="83"/>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04</a:t>
              </a:r>
            </a:p>
          </p:txBody>
        </p:sp>
      </p:grpSp>
      <p:sp>
        <p:nvSpPr>
          <p:cNvPr name="TextBox 84" id="84"/>
          <p:cNvSpPr txBox="true"/>
          <p:nvPr/>
        </p:nvSpPr>
        <p:spPr>
          <a:xfrm rot="0">
            <a:off x="9162012"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Fault Detection</a:t>
            </a:r>
          </a:p>
        </p:txBody>
      </p:sp>
      <p:grpSp>
        <p:nvGrpSpPr>
          <p:cNvPr name="Group 85" id="85"/>
          <p:cNvGrpSpPr/>
          <p:nvPr/>
        </p:nvGrpSpPr>
        <p:grpSpPr>
          <a:xfrm rot="0">
            <a:off x="9152487" y="5271135"/>
            <a:ext cx="2400967" cy="869442"/>
            <a:chOff x="0" y="0"/>
            <a:chExt cx="3201289" cy="1159256"/>
          </a:xfrm>
        </p:grpSpPr>
        <p:sp>
          <p:nvSpPr>
            <p:cNvPr name="Freeform 86" id="86"/>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87" id="87"/>
          <p:cNvGrpSpPr/>
          <p:nvPr/>
        </p:nvGrpSpPr>
        <p:grpSpPr>
          <a:xfrm rot="0">
            <a:off x="9299172" y="5280660"/>
            <a:ext cx="2107597" cy="850392"/>
            <a:chOff x="0" y="0"/>
            <a:chExt cx="2810129" cy="1133856"/>
          </a:xfrm>
        </p:grpSpPr>
        <p:sp>
          <p:nvSpPr>
            <p:cNvPr name="Freeform 88" id="88"/>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89" id="89"/>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Seeded Oracle</a:t>
              </a:r>
            </a:p>
            <a:p>
              <a:pPr algn="l">
                <a:lnSpc>
                  <a:spcPts val="1889"/>
                </a:lnSpc>
              </a:pPr>
              <a:r>
                <a:rPr lang="en-US" sz="1575">
                  <a:solidFill>
                    <a:srgbClr val="555555"/>
                  </a:solidFill>
                  <a:latin typeface="Arial"/>
                  <a:ea typeface="Arial"/>
                  <a:cs typeface="Arial"/>
                  <a:sym typeface="Arial"/>
                </a:rPr>
                <a:t>Known fault assertions</a:t>
              </a:r>
            </a:p>
          </p:txBody>
        </p:sp>
      </p:grpSp>
      <p:grpSp>
        <p:nvGrpSpPr>
          <p:cNvPr name="Group 90" id="90"/>
          <p:cNvGrpSpPr/>
          <p:nvPr/>
        </p:nvGrpSpPr>
        <p:grpSpPr>
          <a:xfrm rot="0">
            <a:off x="9152487" y="6258687"/>
            <a:ext cx="2400967" cy="869442"/>
            <a:chOff x="0" y="0"/>
            <a:chExt cx="3201289" cy="1159256"/>
          </a:xfrm>
        </p:grpSpPr>
        <p:sp>
          <p:nvSpPr>
            <p:cNvPr name="Freeform 91" id="91"/>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92" id="92"/>
          <p:cNvGrpSpPr/>
          <p:nvPr/>
        </p:nvGrpSpPr>
        <p:grpSpPr>
          <a:xfrm rot="0">
            <a:off x="9299172" y="6268212"/>
            <a:ext cx="2107597" cy="850392"/>
            <a:chOff x="0" y="0"/>
            <a:chExt cx="2810129" cy="1133856"/>
          </a:xfrm>
        </p:grpSpPr>
        <p:sp>
          <p:nvSpPr>
            <p:cNvPr name="Freeform 93" id="93"/>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94" id="94"/>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Generic Triggers</a:t>
              </a:r>
            </a:p>
            <a:p>
              <a:pPr algn="l">
                <a:lnSpc>
                  <a:spcPts val="1889"/>
                </a:lnSpc>
              </a:pPr>
              <a:r>
                <a:rPr lang="en-US" sz="1575">
                  <a:solidFill>
                    <a:srgbClr val="555555"/>
                  </a:solidFill>
                  <a:latin typeface="Arial"/>
                  <a:ea typeface="Arial"/>
                  <a:cs typeface="Arial"/>
                  <a:sym typeface="Arial"/>
                </a:rPr>
                <a:t>Runtime / state errors</a:t>
              </a:r>
            </a:p>
          </p:txBody>
        </p:sp>
      </p:grpSp>
      <p:grpSp>
        <p:nvGrpSpPr>
          <p:cNvPr name="Group 95" id="95"/>
          <p:cNvGrpSpPr/>
          <p:nvPr/>
        </p:nvGrpSpPr>
        <p:grpSpPr>
          <a:xfrm rot="0">
            <a:off x="9152487" y="7246239"/>
            <a:ext cx="2400967" cy="869442"/>
            <a:chOff x="0" y="0"/>
            <a:chExt cx="3201289" cy="1159256"/>
          </a:xfrm>
        </p:grpSpPr>
        <p:sp>
          <p:nvSpPr>
            <p:cNvPr name="Freeform 96" id="96"/>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FFFFFF"/>
            </a:solidFill>
            <a:ln w="19050" cap="sq">
              <a:solidFill>
                <a:srgbClr val="FFFFFF"/>
              </a:solidFill>
              <a:prstDash val="solid"/>
              <a:miter/>
            </a:ln>
          </p:spPr>
        </p:sp>
      </p:grpSp>
      <p:grpSp>
        <p:nvGrpSpPr>
          <p:cNvPr name="Group 97" id="97"/>
          <p:cNvGrpSpPr/>
          <p:nvPr/>
        </p:nvGrpSpPr>
        <p:grpSpPr>
          <a:xfrm rot="0">
            <a:off x="9299172" y="7255764"/>
            <a:ext cx="2107597" cy="850392"/>
            <a:chOff x="0" y="0"/>
            <a:chExt cx="2810129" cy="1133856"/>
          </a:xfrm>
        </p:grpSpPr>
        <p:sp>
          <p:nvSpPr>
            <p:cNvPr name="Freeform 98" id="98"/>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99" id="99"/>
            <p:cNvSpPr txBox="true"/>
            <p:nvPr/>
          </p:nvSpPr>
          <p:spPr>
            <a:xfrm>
              <a:off x="0" y="-19050"/>
              <a:ext cx="2810129" cy="1152906"/>
            </a:xfrm>
            <a:prstGeom prst="rect">
              <a:avLst/>
            </a:prstGeom>
          </p:spPr>
          <p:txBody>
            <a:bodyPr anchor="ctr" rtlCol="false" tIns="0" lIns="0" bIns="0" rIns="0"/>
            <a:lstStyle/>
            <a:p>
              <a:pPr algn="l">
                <a:lnSpc>
                  <a:spcPts val="1980"/>
                </a:lnSpc>
              </a:pPr>
              <a:r>
                <a:rPr lang="en-US" sz="1650" b="true">
                  <a:solidFill>
                    <a:srgbClr val="111111"/>
                  </a:solidFill>
                  <a:latin typeface="Arial Bold"/>
                  <a:ea typeface="Arial Bold"/>
                  <a:cs typeface="Arial Bold"/>
                  <a:sym typeface="Arial Bold"/>
                </a:rPr>
                <a:t>LLM-Inferred Rules</a:t>
              </a:r>
            </a:p>
            <a:p>
              <a:pPr algn="l">
                <a:lnSpc>
                  <a:spcPts val="1889"/>
                </a:lnSpc>
              </a:pPr>
              <a:r>
                <a:rPr lang="en-US" sz="1575">
                  <a:solidFill>
                    <a:srgbClr val="555555"/>
                  </a:solidFill>
                  <a:latin typeface="Arial"/>
                  <a:ea typeface="Arial"/>
                  <a:cs typeface="Arial"/>
                  <a:sym typeface="Arial"/>
                </a:rPr>
                <a:t>Silent functional bugs</a:t>
              </a:r>
            </a:p>
          </p:txBody>
        </p:sp>
      </p:grpSp>
      <p:sp>
        <p:nvSpPr>
          <p:cNvPr name="TextBox 100" id="100"/>
          <p:cNvSpPr txBox="true"/>
          <p:nvPr/>
        </p:nvSpPr>
        <p:spPr>
          <a:xfrm rot="0">
            <a:off x="9162012" y="8302371"/>
            <a:ext cx="2381917" cy="832485"/>
          </a:xfrm>
          <a:prstGeom prst="rect">
            <a:avLst/>
          </a:prstGeom>
        </p:spPr>
        <p:txBody>
          <a:bodyPr anchor="t" rtlCol="false" tIns="0" lIns="0" bIns="0" rIns="0">
            <a:spAutoFit/>
          </a:bodyPr>
          <a:lstStyle/>
          <a:p>
            <a:pPr algn="l">
              <a:lnSpc>
                <a:spcPts val="1889"/>
              </a:lnSpc>
            </a:pPr>
            <a:r>
              <a:rPr lang="en-US" sz="1575" i="true">
                <a:solidFill>
                  <a:srgbClr val="555555"/>
                </a:solidFill>
                <a:latin typeface="Arial Italics"/>
                <a:ea typeface="Arial Italics"/>
                <a:cs typeface="Arial Italics"/>
                <a:sym typeface="Arial Italics"/>
              </a:rPr>
              <a:t>Three parallel checks</a:t>
            </a:r>
          </a:p>
        </p:txBody>
      </p:sp>
      <p:grpSp>
        <p:nvGrpSpPr>
          <p:cNvPr name="Group 101" id="101"/>
          <p:cNvGrpSpPr/>
          <p:nvPr/>
        </p:nvGrpSpPr>
        <p:grpSpPr>
          <a:xfrm rot="0">
            <a:off x="11644141" y="2870835"/>
            <a:ext cx="2967990" cy="1116330"/>
            <a:chOff x="0" y="0"/>
            <a:chExt cx="3957320" cy="1488440"/>
          </a:xfrm>
        </p:grpSpPr>
        <p:sp>
          <p:nvSpPr>
            <p:cNvPr name="Freeform 102" id="102"/>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00461A"/>
            </a:solidFill>
            <a:ln w="19050" cap="sq">
              <a:solidFill>
                <a:srgbClr val="00461A"/>
              </a:solidFill>
              <a:prstDash val="solid"/>
              <a:miter/>
            </a:ln>
          </p:spPr>
        </p:sp>
      </p:grpSp>
      <p:grpSp>
        <p:nvGrpSpPr>
          <p:cNvPr name="Group 103" id="103"/>
          <p:cNvGrpSpPr/>
          <p:nvPr/>
        </p:nvGrpSpPr>
        <p:grpSpPr>
          <a:xfrm rot="0">
            <a:off x="11996566" y="2880360"/>
            <a:ext cx="2263140" cy="1097280"/>
            <a:chOff x="0" y="0"/>
            <a:chExt cx="3017520" cy="1463040"/>
          </a:xfrm>
        </p:grpSpPr>
        <p:sp>
          <p:nvSpPr>
            <p:cNvPr name="Freeform 104" id="104"/>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105" id="105"/>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05</a:t>
              </a:r>
            </a:p>
          </p:txBody>
        </p:sp>
      </p:grpSp>
      <p:sp>
        <p:nvSpPr>
          <p:cNvPr name="TextBox 106" id="106"/>
          <p:cNvSpPr txBox="true"/>
          <p:nvPr/>
        </p:nvSpPr>
        <p:spPr>
          <a:xfrm rot="0">
            <a:off x="11818258"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Fault Verification</a:t>
            </a:r>
          </a:p>
        </p:txBody>
      </p:sp>
      <p:grpSp>
        <p:nvGrpSpPr>
          <p:cNvPr name="Group 107" id="107"/>
          <p:cNvGrpSpPr/>
          <p:nvPr/>
        </p:nvGrpSpPr>
        <p:grpSpPr>
          <a:xfrm rot="0">
            <a:off x="11808733" y="5271135"/>
            <a:ext cx="2400967" cy="869442"/>
            <a:chOff x="0" y="0"/>
            <a:chExt cx="3201289" cy="1159256"/>
          </a:xfrm>
        </p:grpSpPr>
        <p:sp>
          <p:nvSpPr>
            <p:cNvPr name="Freeform 108" id="108"/>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E9EEEA"/>
            </a:solidFill>
            <a:ln w="19050" cap="sq">
              <a:solidFill>
                <a:srgbClr val="E9EEEA"/>
              </a:solidFill>
              <a:prstDash val="solid"/>
              <a:miter/>
            </a:ln>
          </p:spPr>
        </p:sp>
      </p:grpSp>
      <p:grpSp>
        <p:nvGrpSpPr>
          <p:cNvPr name="Group 109" id="109"/>
          <p:cNvGrpSpPr/>
          <p:nvPr/>
        </p:nvGrpSpPr>
        <p:grpSpPr>
          <a:xfrm rot="0">
            <a:off x="11955418" y="5280660"/>
            <a:ext cx="2107597" cy="850392"/>
            <a:chOff x="0" y="0"/>
            <a:chExt cx="2810129" cy="1133856"/>
          </a:xfrm>
        </p:grpSpPr>
        <p:sp>
          <p:nvSpPr>
            <p:cNvPr name="Freeform 110" id="110"/>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111" id="111"/>
            <p:cNvSpPr txBox="true"/>
            <p:nvPr/>
          </p:nvSpPr>
          <p:spPr>
            <a:xfrm>
              <a:off x="0" y="-19050"/>
              <a:ext cx="2810129" cy="1152906"/>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Replay ×2</a:t>
              </a:r>
            </a:p>
          </p:txBody>
        </p:sp>
      </p:grpSp>
      <p:grpSp>
        <p:nvGrpSpPr>
          <p:cNvPr name="Group 112" id="112"/>
          <p:cNvGrpSpPr/>
          <p:nvPr/>
        </p:nvGrpSpPr>
        <p:grpSpPr>
          <a:xfrm rot="0">
            <a:off x="11808733" y="6258687"/>
            <a:ext cx="2400967" cy="869442"/>
            <a:chOff x="0" y="0"/>
            <a:chExt cx="3201289" cy="1159256"/>
          </a:xfrm>
        </p:grpSpPr>
        <p:sp>
          <p:nvSpPr>
            <p:cNvPr name="Freeform 113" id="113"/>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E9EEEA"/>
            </a:solidFill>
            <a:ln w="19050" cap="sq">
              <a:solidFill>
                <a:srgbClr val="E9EEEA"/>
              </a:solidFill>
              <a:prstDash val="solid"/>
              <a:miter/>
            </a:ln>
          </p:spPr>
        </p:sp>
      </p:grpSp>
      <p:grpSp>
        <p:nvGrpSpPr>
          <p:cNvPr name="Group 114" id="114"/>
          <p:cNvGrpSpPr/>
          <p:nvPr/>
        </p:nvGrpSpPr>
        <p:grpSpPr>
          <a:xfrm rot="0">
            <a:off x="11955418" y="6268212"/>
            <a:ext cx="2107597" cy="850392"/>
            <a:chOff x="0" y="0"/>
            <a:chExt cx="2810129" cy="1133856"/>
          </a:xfrm>
        </p:grpSpPr>
        <p:sp>
          <p:nvSpPr>
            <p:cNvPr name="Freeform 115" id="115"/>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116" id="116"/>
            <p:cNvSpPr txBox="true"/>
            <p:nvPr/>
          </p:nvSpPr>
          <p:spPr>
            <a:xfrm>
              <a:off x="0" y="-19050"/>
              <a:ext cx="2810129" cy="1152906"/>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Delta debugging</a:t>
              </a:r>
            </a:p>
          </p:txBody>
        </p:sp>
      </p:grpSp>
      <p:grpSp>
        <p:nvGrpSpPr>
          <p:cNvPr name="Group 117" id="117"/>
          <p:cNvGrpSpPr/>
          <p:nvPr/>
        </p:nvGrpSpPr>
        <p:grpSpPr>
          <a:xfrm rot="0">
            <a:off x="11808733" y="7246239"/>
            <a:ext cx="2400967" cy="869442"/>
            <a:chOff x="0" y="0"/>
            <a:chExt cx="3201289" cy="1159256"/>
          </a:xfrm>
        </p:grpSpPr>
        <p:sp>
          <p:nvSpPr>
            <p:cNvPr name="Freeform 118" id="118"/>
            <p:cNvSpPr/>
            <p:nvPr/>
          </p:nvSpPr>
          <p:spPr>
            <a:xfrm flipH="false" flipV="false" rot="0">
              <a:off x="0" y="0"/>
              <a:ext cx="3201289" cy="1159256"/>
            </a:xfrm>
            <a:custGeom>
              <a:avLst/>
              <a:gdLst/>
              <a:ahLst/>
              <a:cxnLst/>
              <a:rect r="r" b="b" t="t" l="l"/>
              <a:pathLst>
                <a:path h="1159256" w="3201289">
                  <a:moveTo>
                    <a:pt x="0" y="149606"/>
                  </a:moveTo>
                  <a:cubicBezTo>
                    <a:pt x="0" y="66929"/>
                    <a:pt x="66929" y="0"/>
                    <a:pt x="149606" y="0"/>
                  </a:cubicBezTo>
                  <a:lnTo>
                    <a:pt x="3051683" y="0"/>
                  </a:lnTo>
                  <a:cubicBezTo>
                    <a:pt x="3134233" y="0"/>
                    <a:pt x="3201289" y="66929"/>
                    <a:pt x="3201289" y="149606"/>
                  </a:cubicBezTo>
                  <a:lnTo>
                    <a:pt x="3201289" y="1009650"/>
                  </a:lnTo>
                  <a:cubicBezTo>
                    <a:pt x="3201289" y="1092200"/>
                    <a:pt x="3134360" y="1159256"/>
                    <a:pt x="3051683" y="1159256"/>
                  </a:cubicBezTo>
                  <a:lnTo>
                    <a:pt x="149606" y="1159256"/>
                  </a:lnTo>
                  <a:cubicBezTo>
                    <a:pt x="66929" y="1159256"/>
                    <a:pt x="0" y="1092327"/>
                    <a:pt x="0" y="1009650"/>
                  </a:cubicBezTo>
                  <a:close/>
                </a:path>
              </a:pathLst>
            </a:custGeom>
            <a:solidFill>
              <a:srgbClr val="E9EEEA"/>
            </a:solidFill>
            <a:ln w="19050" cap="sq">
              <a:solidFill>
                <a:srgbClr val="E9EEEA"/>
              </a:solidFill>
              <a:prstDash val="solid"/>
              <a:miter/>
            </a:ln>
          </p:spPr>
        </p:sp>
      </p:grpSp>
      <p:grpSp>
        <p:nvGrpSpPr>
          <p:cNvPr name="Group 119" id="119"/>
          <p:cNvGrpSpPr/>
          <p:nvPr/>
        </p:nvGrpSpPr>
        <p:grpSpPr>
          <a:xfrm rot="0">
            <a:off x="11955418" y="7255764"/>
            <a:ext cx="2107597" cy="850392"/>
            <a:chOff x="0" y="0"/>
            <a:chExt cx="2810129" cy="1133856"/>
          </a:xfrm>
        </p:grpSpPr>
        <p:sp>
          <p:nvSpPr>
            <p:cNvPr name="Freeform 120" id="120"/>
            <p:cNvSpPr/>
            <p:nvPr/>
          </p:nvSpPr>
          <p:spPr>
            <a:xfrm flipH="false" flipV="false" rot="0">
              <a:off x="0" y="0"/>
              <a:ext cx="2810134" cy="1133856"/>
            </a:xfrm>
            <a:custGeom>
              <a:avLst/>
              <a:gdLst/>
              <a:ahLst/>
              <a:cxnLst/>
              <a:rect r="r" b="b" t="t" l="l"/>
              <a:pathLst>
                <a:path h="1133856" w="2810134">
                  <a:moveTo>
                    <a:pt x="0" y="0"/>
                  </a:moveTo>
                  <a:lnTo>
                    <a:pt x="2810134" y="0"/>
                  </a:lnTo>
                  <a:lnTo>
                    <a:pt x="2810134" y="1133856"/>
                  </a:lnTo>
                  <a:lnTo>
                    <a:pt x="0" y="1133856"/>
                  </a:lnTo>
                  <a:close/>
                </a:path>
              </a:pathLst>
            </a:custGeom>
            <a:blipFill>
              <a:blip r:embed="rId3">
                <a:alphaModFix amt="0"/>
              </a:blip>
              <a:stretch>
                <a:fillRect l="-1769" t="0" r="-1768" b="0"/>
              </a:stretch>
            </a:blipFill>
          </p:spPr>
        </p:sp>
        <p:sp>
          <p:nvSpPr>
            <p:cNvPr name="TextBox 121" id="121"/>
            <p:cNvSpPr txBox="true"/>
            <p:nvPr/>
          </p:nvSpPr>
          <p:spPr>
            <a:xfrm>
              <a:off x="0" y="-19050"/>
              <a:ext cx="2810129" cy="1152906"/>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Control-build comparison / LLM judgement</a:t>
              </a:r>
            </a:p>
          </p:txBody>
        </p:sp>
      </p:grpSp>
      <p:sp>
        <p:nvSpPr>
          <p:cNvPr name="TextBox 122" id="122"/>
          <p:cNvSpPr txBox="true"/>
          <p:nvPr/>
        </p:nvSpPr>
        <p:spPr>
          <a:xfrm rot="0">
            <a:off x="11818258" y="8302371"/>
            <a:ext cx="2381917" cy="832485"/>
          </a:xfrm>
          <a:prstGeom prst="rect">
            <a:avLst/>
          </a:prstGeom>
        </p:spPr>
        <p:txBody>
          <a:bodyPr anchor="t" rtlCol="false" tIns="0" lIns="0" bIns="0" rIns="0">
            <a:spAutoFit/>
          </a:bodyPr>
          <a:lstStyle/>
          <a:p>
            <a:pPr algn="l">
              <a:lnSpc>
                <a:spcPts val="1889"/>
              </a:lnSpc>
            </a:pPr>
            <a:r>
              <a:rPr lang="en-US" sz="1575" i="true">
                <a:solidFill>
                  <a:srgbClr val="555555"/>
                </a:solidFill>
                <a:latin typeface="Arial Italics"/>
                <a:ea typeface="Arial Italics"/>
                <a:cs typeface="Arial Italics"/>
                <a:sym typeface="Arial Italics"/>
              </a:rPr>
              <a:t>Generic failures require additional confirmation when needed</a:t>
            </a:r>
          </a:p>
        </p:txBody>
      </p:sp>
      <p:grpSp>
        <p:nvGrpSpPr>
          <p:cNvPr name="Group 123" id="123"/>
          <p:cNvGrpSpPr/>
          <p:nvPr/>
        </p:nvGrpSpPr>
        <p:grpSpPr>
          <a:xfrm rot="0">
            <a:off x="14300378" y="2870835"/>
            <a:ext cx="2967990" cy="1116330"/>
            <a:chOff x="0" y="0"/>
            <a:chExt cx="3957320" cy="1488440"/>
          </a:xfrm>
        </p:grpSpPr>
        <p:sp>
          <p:nvSpPr>
            <p:cNvPr name="Freeform 124" id="124"/>
            <p:cNvSpPr/>
            <p:nvPr/>
          </p:nvSpPr>
          <p:spPr>
            <a:xfrm flipH="false" flipV="false" rot="0">
              <a:off x="0" y="0"/>
              <a:ext cx="3957320" cy="1488440"/>
            </a:xfrm>
            <a:custGeom>
              <a:avLst/>
              <a:gdLst/>
              <a:ahLst/>
              <a:cxnLst/>
              <a:rect r="r" b="b" t="t" l="l"/>
              <a:pathLst>
                <a:path h="1488440" w="3957320">
                  <a:moveTo>
                    <a:pt x="0" y="0"/>
                  </a:moveTo>
                  <a:lnTo>
                    <a:pt x="3213100" y="0"/>
                  </a:lnTo>
                  <a:lnTo>
                    <a:pt x="3957320" y="744220"/>
                  </a:lnTo>
                  <a:lnTo>
                    <a:pt x="3213100" y="1488440"/>
                  </a:lnTo>
                  <a:lnTo>
                    <a:pt x="0" y="1488440"/>
                  </a:lnTo>
                  <a:lnTo>
                    <a:pt x="744220" y="744220"/>
                  </a:lnTo>
                  <a:close/>
                </a:path>
              </a:pathLst>
            </a:custGeom>
            <a:solidFill>
              <a:srgbClr val="3F8C50"/>
            </a:solidFill>
            <a:ln w="19050" cap="sq">
              <a:solidFill>
                <a:srgbClr val="3F8C50"/>
              </a:solidFill>
              <a:prstDash val="solid"/>
              <a:miter/>
            </a:ln>
          </p:spPr>
        </p:sp>
      </p:grpSp>
      <p:grpSp>
        <p:nvGrpSpPr>
          <p:cNvPr name="Group 125" id="125"/>
          <p:cNvGrpSpPr/>
          <p:nvPr/>
        </p:nvGrpSpPr>
        <p:grpSpPr>
          <a:xfrm rot="0">
            <a:off x="14652803" y="2880360"/>
            <a:ext cx="2263140" cy="1097280"/>
            <a:chOff x="0" y="0"/>
            <a:chExt cx="3017520" cy="1463040"/>
          </a:xfrm>
        </p:grpSpPr>
        <p:sp>
          <p:nvSpPr>
            <p:cNvPr name="Freeform 126" id="126"/>
            <p:cNvSpPr/>
            <p:nvPr/>
          </p:nvSpPr>
          <p:spPr>
            <a:xfrm flipH="false" flipV="false" rot="0">
              <a:off x="0" y="0"/>
              <a:ext cx="3017520" cy="1463040"/>
            </a:xfrm>
            <a:custGeom>
              <a:avLst/>
              <a:gdLst/>
              <a:ahLst/>
              <a:cxnLst/>
              <a:rect r="r" b="b" t="t" l="l"/>
              <a:pathLst>
                <a:path h="1463040" w="3017520">
                  <a:moveTo>
                    <a:pt x="0" y="0"/>
                  </a:moveTo>
                  <a:lnTo>
                    <a:pt x="3017520" y="0"/>
                  </a:lnTo>
                  <a:lnTo>
                    <a:pt x="3017520" y="1463040"/>
                  </a:lnTo>
                  <a:lnTo>
                    <a:pt x="0" y="1463040"/>
                  </a:lnTo>
                  <a:close/>
                </a:path>
              </a:pathLst>
            </a:custGeom>
            <a:blipFill>
              <a:blip r:embed="rId3">
                <a:alphaModFix amt="0"/>
              </a:blip>
              <a:stretch>
                <a:fillRect l="-12207" t="0" r="-12207" b="0"/>
              </a:stretch>
            </a:blipFill>
          </p:spPr>
        </p:sp>
        <p:sp>
          <p:nvSpPr>
            <p:cNvPr name="TextBox 127" id="127"/>
            <p:cNvSpPr txBox="true"/>
            <p:nvPr/>
          </p:nvSpPr>
          <p:spPr>
            <a:xfrm>
              <a:off x="0" y="-28575"/>
              <a:ext cx="3017520" cy="1491615"/>
            </a:xfrm>
            <a:prstGeom prst="rect">
              <a:avLst/>
            </a:prstGeom>
          </p:spPr>
          <p:txBody>
            <a:bodyPr anchor="ctr" rtlCol="false" tIns="0" lIns="0" bIns="0" rIns="0"/>
            <a:lstStyle/>
            <a:p>
              <a:pPr algn="ctr">
                <a:lnSpc>
                  <a:spcPts val="4320"/>
                </a:lnSpc>
              </a:pPr>
              <a:r>
                <a:rPr lang="en-US" sz="3600">
                  <a:solidFill>
                    <a:srgbClr val="FFFFFF"/>
                  </a:solidFill>
                  <a:latin typeface="Arial"/>
                  <a:ea typeface="Arial"/>
                  <a:cs typeface="Arial"/>
                  <a:sym typeface="Arial"/>
                </a:rPr>
                <a:t>06</a:t>
              </a:r>
            </a:p>
          </p:txBody>
        </p:sp>
      </p:grpSp>
      <p:sp>
        <p:nvSpPr>
          <p:cNvPr name="TextBox 128" id="128"/>
          <p:cNvSpPr txBox="true"/>
          <p:nvPr/>
        </p:nvSpPr>
        <p:spPr>
          <a:xfrm rot="0">
            <a:off x="14474495" y="4232910"/>
            <a:ext cx="2381917" cy="869442"/>
          </a:xfrm>
          <a:prstGeom prst="rect">
            <a:avLst/>
          </a:prstGeom>
        </p:spPr>
        <p:txBody>
          <a:bodyPr anchor="t" rtlCol="false" tIns="0" lIns="0" bIns="0" rIns="0">
            <a:spAutoFit/>
          </a:bodyPr>
          <a:lstStyle/>
          <a:p>
            <a:pPr algn="l">
              <a:lnSpc>
                <a:spcPts val="2340"/>
              </a:lnSpc>
            </a:pPr>
            <a:r>
              <a:rPr lang="en-US" sz="1950" b="true">
                <a:solidFill>
                  <a:srgbClr val="00461A"/>
                </a:solidFill>
                <a:latin typeface="Arial Bold"/>
                <a:ea typeface="Arial Bold"/>
                <a:cs typeface="Arial Bold"/>
                <a:sym typeface="Arial Bold"/>
              </a:rPr>
              <a:t>Results &amp; Reports</a:t>
            </a:r>
          </a:p>
        </p:txBody>
      </p:sp>
      <p:grpSp>
        <p:nvGrpSpPr>
          <p:cNvPr name="Group 129" id="129"/>
          <p:cNvGrpSpPr/>
          <p:nvPr/>
        </p:nvGrpSpPr>
        <p:grpSpPr>
          <a:xfrm rot="0">
            <a:off x="14464970" y="5271135"/>
            <a:ext cx="2400967" cy="704850"/>
            <a:chOff x="0" y="0"/>
            <a:chExt cx="3201289" cy="939800"/>
          </a:xfrm>
        </p:grpSpPr>
        <p:sp>
          <p:nvSpPr>
            <p:cNvPr name="Freeform 130" id="130"/>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131" id="131"/>
          <p:cNvGrpSpPr/>
          <p:nvPr/>
        </p:nvGrpSpPr>
        <p:grpSpPr>
          <a:xfrm rot="0">
            <a:off x="14611655" y="5280660"/>
            <a:ext cx="2107597" cy="685800"/>
            <a:chOff x="0" y="0"/>
            <a:chExt cx="2810129" cy="914400"/>
          </a:xfrm>
        </p:grpSpPr>
        <p:sp>
          <p:nvSpPr>
            <p:cNvPr name="Freeform 132" id="132"/>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133" id="133"/>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Verified bugs</a:t>
              </a:r>
            </a:p>
          </p:txBody>
        </p:sp>
      </p:grpSp>
      <p:grpSp>
        <p:nvGrpSpPr>
          <p:cNvPr name="Group 134" id="134"/>
          <p:cNvGrpSpPr/>
          <p:nvPr/>
        </p:nvGrpSpPr>
        <p:grpSpPr>
          <a:xfrm rot="0">
            <a:off x="14464970" y="6094095"/>
            <a:ext cx="2400967" cy="704850"/>
            <a:chOff x="0" y="0"/>
            <a:chExt cx="3201289" cy="939800"/>
          </a:xfrm>
        </p:grpSpPr>
        <p:sp>
          <p:nvSpPr>
            <p:cNvPr name="Freeform 135" id="135"/>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136" id="136"/>
          <p:cNvGrpSpPr/>
          <p:nvPr/>
        </p:nvGrpSpPr>
        <p:grpSpPr>
          <a:xfrm rot="0">
            <a:off x="14611655" y="6103620"/>
            <a:ext cx="2107597" cy="685800"/>
            <a:chOff x="0" y="0"/>
            <a:chExt cx="2810129" cy="914400"/>
          </a:xfrm>
        </p:grpSpPr>
        <p:sp>
          <p:nvSpPr>
            <p:cNvPr name="Freeform 137" id="137"/>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138" id="138"/>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Reproduction steps &amp; screenshots</a:t>
              </a:r>
            </a:p>
          </p:txBody>
        </p:sp>
      </p:grpSp>
      <p:grpSp>
        <p:nvGrpSpPr>
          <p:cNvPr name="Group 139" id="139"/>
          <p:cNvGrpSpPr/>
          <p:nvPr/>
        </p:nvGrpSpPr>
        <p:grpSpPr>
          <a:xfrm rot="0">
            <a:off x="14464970" y="6917055"/>
            <a:ext cx="2400967" cy="704850"/>
            <a:chOff x="0" y="0"/>
            <a:chExt cx="3201289" cy="939800"/>
          </a:xfrm>
        </p:grpSpPr>
        <p:sp>
          <p:nvSpPr>
            <p:cNvPr name="Freeform 140" id="140"/>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141" id="141"/>
          <p:cNvGrpSpPr/>
          <p:nvPr/>
        </p:nvGrpSpPr>
        <p:grpSpPr>
          <a:xfrm rot="0">
            <a:off x="14611655" y="6926580"/>
            <a:ext cx="2107597" cy="685800"/>
            <a:chOff x="0" y="0"/>
            <a:chExt cx="2810129" cy="914400"/>
          </a:xfrm>
        </p:grpSpPr>
        <p:sp>
          <p:nvSpPr>
            <p:cNvPr name="Freeform 142" id="142"/>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143" id="143"/>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Coverage</a:t>
              </a:r>
            </a:p>
          </p:txBody>
        </p:sp>
      </p:grpSp>
      <p:grpSp>
        <p:nvGrpSpPr>
          <p:cNvPr name="Group 144" id="144"/>
          <p:cNvGrpSpPr/>
          <p:nvPr/>
        </p:nvGrpSpPr>
        <p:grpSpPr>
          <a:xfrm rot="0">
            <a:off x="14464970" y="7740015"/>
            <a:ext cx="2400967" cy="704850"/>
            <a:chOff x="0" y="0"/>
            <a:chExt cx="3201289" cy="939800"/>
          </a:xfrm>
        </p:grpSpPr>
        <p:sp>
          <p:nvSpPr>
            <p:cNvPr name="Freeform 145" id="145"/>
            <p:cNvSpPr/>
            <p:nvPr/>
          </p:nvSpPr>
          <p:spPr>
            <a:xfrm flipH="false" flipV="false" rot="0">
              <a:off x="0" y="0"/>
              <a:ext cx="3201289" cy="939800"/>
            </a:xfrm>
            <a:custGeom>
              <a:avLst/>
              <a:gdLst/>
              <a:ahLst/>
              <a:cxnLst/>
              <a:rect r="r" b="b" t="t" l="l"/>
              <a:pathLst>
                <a:path h="939800" w="3201289">
                  <a:moveTo>
                    <a:pt x="0" y="150368"/>
                  </a:moveTo>
                  <a:cubicBezTo>
                    <a:pt x="0" y="67310"/>
                    <a:pt x="67310" y="0"/>
                    <a:pt x="150368" y="0"/>
                  </a:cubicBezTo>
                  <a:lnTo>
                    <a:pt x="3050921" y="0"/>
                  </a:lnTo>
                  <a:cubicBezTo>
                    <a:pt x="3133979" y="0"/>
                    <a:pt x="3201289" y="67310"/>
                    <a:pt x="3201289" y="150368"/>
                  </a:cubicBezTo>
                  <a:lnTo>
                    <a:pt x="3201289" y="789432"/>
                  </a:lnTo>
                  <a:cubicBezTo>
                    <a:pt x="3201289" y="872490"/>
                    <a:pt x="3133979" y="939800"/>
                    <a:pt x="3050921" y="939800"/>
                  </a:cubicBezTo>
                  <a:lnTo>
                    <a:pt x="150368" y="939800"/>
                  </a:lnTo>
                  <a:cubicBezTo>
                    <a:pt x="67310" y="939800"/>
                    <a:pt x="0" y="872490"/>
                    <a:pt x="0" y="789432"/>
                  </a:cubicBezTo>
                  <a:close/>
                </a:path>
              </a:pathLst>
            </a:custGeom>
            <a:solidFill>
              <a:srgbClr val="E9EEEA"/>
            </a:solidFill>
            <a:ln w="19050" cap="sq">
              <a:solidFill>
                <a:srgbClr val="E9EEEA"/>
              </a:solidFill>
              <a:prstDash val="solid"/>
              <a:miter/>
            </a:ln>
          </p:spPr>
        </p:sp>
      </p:grpSp>
      <p:grpSp>
        <p:nvGrpSpPr>
          <p:cNvPr name="Group 146" id="146"/>
          <p:cNvGrpSpPr/>
          <p:nvPr/>
        </p:nvGrpSpPr>
        <p:grpSpPr>
          <a:xfrm rot="0">
            <a:off x="14611655" y="7749540"/>
            <a:ext cx="2107597" cy="685800"/>
            <a:chOff x="0" y="0"/>
            <a:chExt cx="2810129" cy="914400"/>
          </a:xfrm>
        </p:grpSpPr>
        <p:sp>
          <p:nvSpPr>
            <p:cNvPr name="Freeform 147" id="147"/>
            <p:cNvSpPr/>
            <p:nvPr/>
          </p:nvSpPr>
          <p:spPr>
            <a:xfrm flipH="false" flipV="false" rot="0">
              <a:off x="0" y="0"/>
              <a:ext cx="2810134" cy="914400"/>
            </a:xfrm>
            <a:custGeom>
              <a:avLst/>
              <a:gdLst/>
              <a:ahLst/>
              <a:cxnLst/>
              <a:rect r="r" b="b" t="t" l="l"/>
              <a:pathLst>
                <a:path h="914400" w="2810134">
                  <a:moveTo>
                    <a:pt x="0" y="0"/>
                  </a:moveTo>
                  <a:lnTo>
                    <a:pt x="2810134" y="0"/>
                  </a:lnTo>
                  <a:lnTo>
                    <a:pt x="2810134" y="914400"/>
                  </a:lnTo>
                  <a:lnTo>
                    <a:pt x="0" y="914400"/>
                  </a:lnTo>
                  <a:close/>
                </a:path>
              </a:pathLst>
            </a:custGeom>
            <a:blipFill>
              <a:blip r:embed="rId3">
                <a:alphaModFix amt="0"/>
              </a:blip>
              <a:stretch>
                <a:fillRect l="0" t="-9881" r="0" b="-9881"/>
              </a:stretch>
            </a:blipFill>
          </p:spPr>
        </p:sp>
        <p:sp>
          <p:nvSpPr>
            <p:cNvPr name="TextBox 148" id="148"/>
            <p:cNvSpPr txBox="true"/>
            <p:nvPr/>
          </p:nvSpPr>
          <p:spPr>
            <a:xfrm>
              <a:off x="0" y="-19050"/>
              <a:ext cx="2810129" cy="933450"/>
            </a:xfrm>
            <a:prstGeom prst="rect">
              <a:avLst/>
            </a:prstGeom>
          </p:spPr>
          <p:txBody>
            <a:bodyPr anchor="ctr" rtlCol="false" tIns="0" lIns="0" bIns="0" rIns="0"/>
            <a:lstStyle/>
            <a:p>
              <a:pPr algn="l">
                <a:lnSpc>
                  <a:spcPts val="1980"/>
                </a:lnSpc>
              </a:pPr>
              <a:r>
                <a:rPr lang="en-US" sz="1650">
                  <a:solidFill>
                    <a:srgbClr val="111111"/>
                  </a:solidFill>
                  <a:latin typeface="Arial"/>
                  <a:ea typeface="Arial"/>
                  <a:cs typeface="Arial"/>
                  <a:sym typeface="Arial"/>
                </a:rPr>
                <a:t>HTML / JSON reports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EVALUATION METRICS &amp;</a:t>
            </a:r>
          </a:p>
          <a:p>
            <a:pPr algn="l">
              <a:lnSpc>
                <a:spcPts val="6336"/>
              </a:lnSpc>
            </a:pPr>
            <a:r>
              <a:rPr lang="en-US" sz="6000">
                <a:solidFill>
                  <a:srgbClr val="111111"/>
                </a:solidFill>
                <a:latin typeface="Arial"/>
                <a:ea typeface="Arial"/>
                <a:cs typeface="Arial"/>
                <a:sym typeface="Arial"/>
              </a:rPr>
              <a:t>STATISTICAL METHODOLOGY</a:t>
            </a:r>
          </a:p>
        </p:txBody>
      </p:sp>
      <p:grpSp>
        <p:nvGrpSpPr>
          <p:cNvPr name="Group 15" id="15"/>
          <p:cNvGrpSpPr/>
          <p:nvPr/>
        </p:nvGrpSpPr>
        <p:grpSpPr>
          <a:xfrm rot="0">
            <a:off x="1021556" y="3764756"/>
            <a:ext cx="7923619" cy="2208848"/>
            <a:chOff x="0" y="0"/>
            <a:chExt cx="10564825" cy="2945130"/>
          </a:xfrm>
        </p:grpSpPr>
        <p:sp>
          <p:nvSpPr>
            <p:cNvPr name="Freeform 16" id="16"/>
            <p:cNvSpPr/>
            <p:nvPr/>
          </p:nvSpPr>
          <p:spPr>
            <a:xfrm flipH="false" flipV="false" rot="0">
              <a:off x="0" y="0"/>
              <a:ext cx="10564876" cy="2945130"/>
            </a:xfrm>
            <a:custGeom>
              <a:avLst/>
              <a:gdLst/>
              <a:ahLst/>
              <a:cxnLst/>
              <a:rect r="r" b="b" t="t" l="l"/>
              <a:pathLst>
                <a:path h="2945130" w="10564876">
                  <a:moveTo>
                    <a:pt x="0" y="331343"/>
                  </a:moveTo>
                  <a:cubicBezTo>
                    <a:pt x="0" y="148336"/>
                    <a:pt x="148336" y="0"/>
                    <a:pt x="331343" y="0"/>
                  </a:cubicBezTo>
                  <a:lnTo>
                    <a:pt x="10233533" y="0"/>
                  </a:lnTo>
                  <a:cubicBezTo>
                    <a:pt x="10416540" y="0"/>
                    <a:pt x="10564876" y="148336"/>
                    <a:pt x="10564876" y="331343"/>
                  </a:cubicBezTo>
                  <a:lnTo>
                    <a:pt x="10564876" y="2613787"/>
                  </a:lnTo>
                  <a:cubicBezTo>
                    <a:pt x="10564876" y="2796794"/>
                    <a:pt x="10416540" y="2945130"/>
                    <a:pt x="10233533" y="2945130"/>
                  </a:cubicBezTo>
                  <a:lnTo>
                    <a:pt x="331343" y="2945130"/>
                  </a:lnTo>
                  <a:cubicBezTo>
                    <a:pt x="148336" y="2945130"/>
                    <a:pt x="0" y="2796794"/>
                    <a:pt x="0" y="2613787"/>
                  </a:cubicBezTo>
                  <a:close/>
                </a:path>
              </a:pathLst>
            </a:custGeom>
            <a:solidFill>
              <a:srgbClr val="FFFFFF"/>
            </a:solidFill>
            <a:ln w="14288" cap="sq">
              <a:solidFill>
                <a:srgbClr val="E2E6E3"/>
              </a:solidFill>
              <a:prstDash val="solid"/>
              <a:miter/>
            </a:ln>
          </p:spPr>
        </p:sp>
      </p:grpSp>
      <p:grpSp>
        <p:nvGrpSpPr>
          <p:cNvPr name="Group 17" id="17"/>
          <p:cNvGrpSpPr/>
          <p:nvPr/>
        </p:nvGrpSpPr>
        <p:grpSpPr>
          <a:xfrm rot="0">
            <a:off x="1440180" y="4046220"/>
            <a:ext cx="7086371" cy="521208"/>
            <a:chOff x="0" y="0"/>
            <a:chExt cx="9448495" cy="694944"/>
          </a:xfrm>
        </p:grpSpPr>
        <p:sp>
          <p:nvSpPr>
            <p:cNvPr name="Freeform 18" id="18"/>
            <p:cNvSpPr/>
            <p:nvPr/>
          </p:nvSpPr>
          <p:spPr>
            <a:xfrm flipH="false" flipV="false" rot="0">
              <a:off x="0" y="0"/>
              <a:ext cx="9448496" cy="694944"/>
            </a:xfrm>
            <a:custGeom>
              <a:avLst/>
              <a:gdLst/>
              <a:ahLst/>
              <a:cxnLst/>
              <a:rect r="r" b="b" t="t" l="l"/>
              <a:pathLst>
                <a:path h="694944" w="9448496">
                  <a:moveTo>
                    <a:pt x="0" y="0"/>
                  </a:moveTo>
                  <a:lnTo>
                    <a:pt x="9448496" y="0"/>
                  </a:lnTo>
                  <a:lnTo>
                    <a:pt x="9448496" y="694944"/>
                  </a:lnTo>
                  <a:lnTo>
                    <a:pt x="0" y="694944"/>
                  </a:lnTo>
                  <a:close/>
                </a:path>
              </a:pathLst>
            </a:custGeom>
            <a:blipFill>
              <a:blip r:embed="rId3">
                <a:alphaModFix amt="0"/>
              </a:blip>
              <a:stretch>
                <a:fillRect l="0" t="-214919" r="0" b="-214919"/>
              </a:stretch>
            </a:blipFill>
          </p:spPr>
        </p:sp>
        <p:sp>
          <p:nvSpPr>
            <p:cNvPr name="TextBox 19" id="19"/>
            <p:cNvSpPr txBox="true"/>
            <p:nvPr/>
          </p:nvSpPr>
          <p:spPr>
            <a:xfrm>
              <a:off x="0" y="-9525"/>
              <a:ext cx="9448495" cy="704469"/>
            </a:xfrm>
            <a:prstGeom prst="rect">
              <a:avLst/>
            </a:prstGeom>
          </p:spPr>
          <p:txBody>
            <a:bodyPr anchor="ctr" rtlCol="false" tIns="0" lIns="0" bIns="0" rIns="0"/>
            <a:lstStyle/>
            <a:p>
              <a:pPr algn="l">
                <a:lnSpc>
                  <a:spcPts val="2879"/>
                </a:lnSpc>
              </a:pPr>
              <a:r>
                <a:rPr lang="en-US" sz="2400" b="true">
                  <a:solidFill>
                    <a:srgbClr val="3F8C50"/>
                  </a:solidFill>
                  <a:latin typeface="Arial Bold"/>
                  <a:ea typeface="Arial Bold"/>
                  <a:cs typeface="Arial Bold"/>
                  <a:sym typeface="Arial Bold"/>
                </a:rPr>
                <a:t>METRIC 01   </a:t>
              </a:r>
              <a:r>
                <a:rPr lang="en-US" sz="2400" b="true">
                  <a:solidFill>
                    <a:srgbClr val="111111"/>
                  </a:solidFill>
                  <a:latin typeface="Arial Bold"/>
                  <a:ea typeface="Arial Bold"/>
                  <a:cs typeface="Arial Bold"/>
                  <a:sym typeface="Arial Bold"/>
                </a:rPr>
                <a:t>Distinct verified faults</a:t>
              </a:r>
            </a:p>
          </p:txBody>
        </p:sp>
      </p:grpSp>
      <p:grpSp>
        <p:nvGrpSpPr>
          <p:cNvPr name="Group 20" id="20"/>
          <p:cNvGrpSpPr/>
          <p:nvPr/>
        </p:nvGrpSpPr>
        <p:grpSpPr>
          <a:xfrm rot="0">
            <a:off x="1778013" y="4937760"/>
            <a:ext cx="6410716" cy="466344"/>
            <a:chOff x="0" y="0"/>
            <a:chExt cx="8547621" cy="621792"/>
          </a:xfrm>
        </p:grpSpPr>
        <p:sp>
          <p:nvSpPr>
            <p:cNvPr name="Freeform 21" id="21" descr="f1"/>
            <p:cNvSpPr/>
            <p:nvPr/>
          </p:nvSpPr>
          <p:spPr>
            <a:xfrm flipH="false" flipV="false" rot="0">
              <a:off x="0" y="0"/>
              <a:ext cx="8547608" cy="621792"/>
            </a:xfrm>
            <a:custGeom>
              <a:avLst/>
              <a:gdLst/>
              <a:ahLst/>
              <a:cxnLst/>
              <a:rect r="r" b="b" t="t" l="l"/>
              <a:pathLst>
                <a:path h="621792" w="8547608">
                  <a:moveTo>
                    <a:pt x="0" y="0"/>
                  </a:moveTo>
                  <a:lnTo>
                    <a:pt x="8547608" y="0"/>
                  </a:lnTo>
                  <a:lnTo>
                    <a:pt x="8547608" y="621792"/>
                  </a:lnTo>
                  <a:lnTo>
                    <a:pt x="0" y="621792"/>
                  </a:lnTo>
                  <a:lnTo>
                    <a:pt x="0" y="0"/>
                  </a:lnTo>
                  <a:close/>
                </a:path>
              </a:pathLst>
            </a:custGeom>
            <a:blipFill>
              <a:blip r:embed="rId4"/>
              <a:stretch>
                <a:fillRect l="0" t="0" r="0" b="0"/>
              </a:stretch>
            </a:blipFill>
          </p:spPr>
        </p:sp>
      </p:grpSp>
      <p:grpSp>
        <p:nvGrpSpPr>
          <p:cNvPr name="Group 22" id="22"/>
          <p:cNvGrpSpPr/>
          <p:nvPr/>
        </p:nvGrpSpPr>
        <p:grpSpPr>
          <a:xfrm rot="0">
            <a:off x="9342368" y="3764756"/>
            <a:ext cx="7923619" cy="2208848"/>
            <a:chOff x="0" y="0"/>
            <a:chExt cx="10564825" cy="2945130"/>
          </a:xfrm>
        </p:grpSpPr>
        <p:sp>
          <p:nvSpPr>
            <p:cNvPr name="Freeform 23" id="23"/>
            <p:cNvSpPr/>
            <p:nvPr/>
          </p:nvSpPr>
          <p:spPr>
            <a:xfrm flipH="false" flipV="false" rot="0">
              <a:off x="0" y="0"/>
              <a:ext cx="10564876" cy="2945130"/>
            </a:xfrm>
            <a:custGeom>
              <a:avLst/>
              <a:gdLst/>
              <a:ahLst/>
              <a:cxnLst/>
              <a:rect r="r" b="b" t="t" l="l"/>
              <a:pathLst>
                <a:path h="2945130" w="10564876">
                  <a:moveTo>
                    <a:pt x="0" y="331343"/>
                  </a:moveTo>
                  <a:cubicBezTo>
                    <a:pt x="0" y="148336"/>
                    <a:pt x="148336" y="0"/>
                    <a:pt x="331343" y="0"/>
                  </a:cubicBezTo>
                  <a:lnTo>
                    <a:pt x="10233533" y="0"/>
                  </a:lnTo>
                  <a:cubicBezTo>
                    <a:pt x="10416540" y="0"/>
                    <a:pt x="10564876" y="148336"/>
                    <a:pt x="10564876" y="331343"/>
                  </a:cubicBezTo>
                  <a:lnTo>
                    <a:pt x="10564876" y="2613787"/>
                  </a:lnTo>
                  <a:cubicBezTo>
                    <a:pt x="10564876" y="2796794"/>
                    <a:pt x="10416540" y="2945130"/>
                    <a:pt x="10233533" y="2945130"/>
                  </a:cubicBezTo>
                  <a:lnTo>
                    <a:pt x="331343" y="2945130"/>
                  </a:lnTo>
                  <a:cubicBezTo>
                    <a:pt x="148336" y="2945130"/>
                    <a:pt x="0" y="2796794"/>
                    <a:pt x="0" y="2613787"/>
                  </a:cubicBezTo>
                  <a:close/>
                </a:path>
              </a:pathLst>
            </a:custGeom>
            <a:solidFill>
              <a:srgbClr val="FFFFFF"/>
            </a:solidFill>
            <a:ln w="14288" cap="sq">
              <a:solidFill>
                <a:srgbClr val="E2E6E3"/>
              </a:solidFill>
              <a:prstDash val="solid"/>
              <a:miter/>
            </a:ln>
          </p:spPr>
        </p:sp>
      </p:grpSp>
      <p:grpSp>
        <p:nvGrpSpPr>
          <p:cNvPr name="Group 24" id="24"/>
          <p:cNvGrpSpPr/>
          <p:nvPr/>
        </p:nvGrpSpPr>
        <p:grpSpPr>
          <a:xfrm rot="0">
            <a:off x="9760991" y="4046220"/>
            <a:ext cx="7086371" cy="521208"/>
            <a:chOff x="0" y="0"/>
            <a:chExt cx="9448495" cy="694944"/>
          </a:xfrm>
        </p:grpSpPr>
        <p:sp>
          <p:nvSpPr>
            <p:cNvPr name="Freeform 25" id="25"/>
            <p:cNvSpPr/>
            <p:nvPr/>
          </p:nvSpPr>
          <p:spPr>
            <a:xfrm flipH="false" flipV="false" rot="0">
              <a:off x="0" y="0"/>
              <a:ext cx="9448496" cy="694944"/>
            </a:xfrm>
            <a:custGeom>
              <a:avLst/>
              <a:gdLst/>
              <a:ahLst/>
              <a:cxnLst/>
              <a:rect r="r" b="b" t="t" l="l"/>
              <a:pathLst>
                <a:path h="694944" w="9448496">
                  <a:moveTo>
                    <a:pt x="0" y="0"/>
                  </a:moveTo>
                  <a:lnTo>
                    <a:pt x="9448496" y="0"/>
                  </a:lnTo>
                  <a:lnTo>
                    <a:pt x="9448496" y="694944"/>
                  </a:lnTo>
                  <a:lnTo>
                    <a:pt x="0" y="694944"/>
                  </a:lnTo>
                  <a:close/>
                </a:path>
              </a:pathLst>
            </a:custGeom>
            <a:blipFill>
              <a:blip r:embed="rId3">
                <a:alphaModFix amt="0"/>
              </a:blip>
              <a:stretch>
                <a:fillRect l="0" t="-214919" r="0" b="-214919"/>
              </a:stretch>
            </a:blipFill>
          </p:spPr>
        </p:sp>
        <p:sp>
          <p:nvSpPr>
            <p:cNvPr name="TextBox 26" id="26"/>
            <p:cNvSpPr txBox="true"/>
            <p:nvPr/>
          </p:nvSpPr>
          <p:spPr>
            <a:xfrm>
              <a:off x="0" y="-9525"/>
              <a:ext cx="9448495" cy="704469"/>
            </a:xfrm>
            <a:prstGeom prst="rect">
              <a:avLst/>
            </a:prstGeom>
          </p:spPr>
          <p:txBody>
            <a:bodyPr anchor="ctr" rtlCol="false" tIns="0" lIns="0" bIns="0" rIns="0"/>
            <a:lstStyle/>
            <a:p>
              <a:pPr algn="l">
                <a:lnSpc>
                  <a:spcPts val="2879"/>
                </a:lnSpc>
              </a:pPr>
              <a:r>
                <a:rPr lang="en-US" sz="2400" b="true">
                  <a:solidFill>
                    <a:srgbClr val="3F8C50"/>
                  </a:solidFill>
                  <a:latin typeface="Arial Bold"/>
                  <a:ea typeface="Arial Bold"/>
                  <a:cs typeface="Arial Bold"/>
                  <a:sym typeface="Arial Bold"/>
                </a:rPr>
                <a:t>METRIC 02   </a:t>
              </a:r>
              <a:r>
                <a:rPr lang="en-US" sz="2400" b="true">
                  <a:solidFill>
                    <a:srgbClr val="111111"/>
                  </a:solidFill>
                  <a:latin typeface="Arial Bold"/>
                  <a:ea typeface="Arial Bold"/>
                  <a:cs typeface="Arial Bold"/>
                  <a:sym typeface="Arial Bold"/>
                </a:rPr>
                <a:t>Fault discovery rate</a:t>
              </a:r>
            </a:p>
          </p:txBody>
        </p:sp>
      </p:grpSp>
      <p:grpSp>
        <p:nvGrpSpPr>
          <p:cNvPr name="Group 27" id="27"/>
          <p:cNvGrpSpPr/>
          <p:nvPr/>
        </p:nvGrpSpPr>
        <p:grpSpPr>
          <a:xfrm rot="0">
            <a:off x="9966731" y="4709055"/>
            <a:ext cx="6674891" cy="923744"/>
            <a:chOff x="0" y="0"/>
            <a:chExt cx="8899855" cy="1231659"/>
          </a:xfrm>
        </p:grpSpPr>
        <p:sp>
          <p:nvSpPr>
            <p:cNvPr name="Freeform 28" id="28" descr="f2"/>
            <p:cNvSpPr/>
            <p:nvPr/>
          </p:nvSpPr>
          <p:spPr>
            <a:xfrm flipH="false" flipV="false" rot="0">
              <a:off x="0" y="0"/>
              <a:ext cx="8899906" cy="1231646"/>
            </a:xfrm>
            <a:custGeom>
              <a:avLst/>
              <a:gdLst/>
              <a:ahLst/>
              <a:cxnLst/>
              <a:rect r="r" b="b" t="t" l="l"/>
              <a:pathLst>
                <a:path h="1231646" w="8899906">
                  <a:moveTo>
                    <a:pt x="0" y="0"/>
                  </a:moveTo>
                  <a:lnTo>
                    <a:pt x="8899906" y="0"/>
                  </a:lnTo>
                  <a:lnTo>
                    <a:pt x="8899906" y="1231646"/>
                  </a:lnTo>
                  <a:lnTo>
                    <a:pt x="0" y="1231646"/>
                  </a:lnTo>
                  <a:lnTo>
                    <a:pt x="0" y="0"/>
                  </a:lnTo>
                  <a:close/>
                </a:path>
              </a:pathLst>
            </a:custGeom>
            <a:blipFill>
              <a:blip r:embed="rId5"/>
              <a:stretch>
                <a:fillRect l="0" t="0" r="0" b="-1"/>
              </a:stretch>
            </a:blipFill>
          </p:spPr>
        </p:sp>
      </p:grpSp>
      <p:grpSp>
        <p:nvGrpSpPr>
          <p:cNvPr name="Group 29" id="29"/>
          <p:cNvGrpSpPr/>
          <p:nvPr/>
        </p:nvGrpSpPr>
        <p:grpSpPr>
          <a:xfrm rot="0">
            <a:off x="1021556" y="6302216"/>
            <a:ext cx="7923619" cy="2208848"/>
            <a:chOff x="0" y="0"/>
            <a:chExt cx="10564825" cy="2945130"/>
          </a:xfrm>
        </p:grpSpPr>
        <p:sp>
          <p:nvSpPr>
            <p:cNvPr name="Freeform 30" id="30"/>
            <p:cNvSpPr/>
            <p:nvPr/>
          </p:nvSpPr>
          <p:spPr>
            <a:xfrm flipH="false" flipV="false" rot="0">
              <a:off x="0" y="0"/>
              <a:ext cx="10564876" cy="2945130"/>
            </a:xfrm>
            <a:custGeom>
              <a:avLst/>
              <a:gdLst/>
              <a:ahLst/>
              <a:cxnLst/>
              <a:rect r="r" b="b" t="t" l="l"/>
              <a:pathLst>
                <a:path h="2945130" w="10564876">
                  <a:moveTo>
                    <a:pt x="0" y="331343"/>
                  </a:moveTo>
                  <a:cubicBezTo>
                    <a:pt x="0" y="148336"/>
                    <a:pt x="148336" y="0"/>
                    <a:pt x="331343" y="0"/>
                  </a:cubicBezTo>
                  <a:lnTo>
                    <a:pt x="10233533" y="0"/>
                  </a:lnTo>
                  <a:cubicBezTo>
                    <a:pt x="10416540" y="0"/>
                    <a:pt x="10564876" y="148336"/>
                    <a:pt x="10564876" y="331343"/>
                  </a:cubicBezTo>
                  <a:lnTo>
                    <a:pt x="10564876" y="2613787"/>
                  </a:lnTo>
                  <a:cubicBezTo>
                    <a:pt x="10564876" y="2796794"/>
                    <a:pt x="10416540" y="2945130"/>
                    <a:pt x="10233533" y="2945130"/>
                  </a:cubicBezTo>
                  <a:lnTo>
                    <a:pt x="331343" y="2945130"/>
                  </a:lnTo>
                  <a:cubicBezTo>
                    <a:pt x="148336" y="2945130"/>
                    <a:pt x="0" y="2796794"/>
                    <a:pt x="0" y="2613787"/>
                  </a:cubicBezTo>
                  <a:close/>
                </a:path>
              </a:pathLst>
            </a:custGeom>
            <a:solidFill>
              <a:srgbClr val="FFFFFF"/>
            </a:solidFill>
            <a:ln w="14288" cap="sq">
              <a:solidFill>
                <a:srgbClr val="E2E6E3"/>
              </a:solidFill>
              <a:prstDash val="solid"/>
              <a:miter/>
            </a:ln>
          </p:spPr>
        </p:sp>
      </p:grpSp>
      <p:grpSp>
        <p:nvGrpSpPr>
          <p:cNvPr name="Group 31" id="31"/>
          <p:cNvGrpSpPr/>
          <p:nvPr/>
        </p:nvGrpSpPr>
        <p:grpSpPr>
          <a:xfrm rot="0">
            <a:off x="1440180" y="6583680"/>
            <a:ext cx="7086371" cy="521208"/>
            <a:chOff x="0" y="0"/>
            <a:chExt cx="9448495" cy="694944"/>
          </a:xfrm>
        </p:grpSpPr>
        <p:sp>
          <p:nvSpPr>
            <p:cNvPr name="Freeform 32" id="32"/>
            <p:cNvSpPr/>
            <p:nvPr/>
          </p:nvSpPr>
          <p:spPr>
            <a:xfrm flipH="false" flipV="false" rot="0">
              <a:off x="0" y="0"/>
              <a:ext cx="9448496" cy="694944"/>
            </a:xfrm>
            <a:custGeom>
              <a:avLst/>
              <a:gdLst/>
              <a:ahLst/>
              <a:cxnLst/>
              <a:rect r="r" b="b" t="t" l="l"/>
              <a:pathLst>
                <a:path h="694944" w="9448496">
                  <a:moveTo>
                    <a:pt x="0" y="0"/>
                  </a:moveTo>
                  <a:lnTo>
                    <a:pt x="9448496" y="0"/>
                  </a:lnTo>
                  <a:lnTo>
                    <a:pt x="9448496" y="694944"/>
                  </a:lnTo>
                  <a:lnTo>
                    <a:pt x="0" y="694944"/>
                  </a:lnTo>
                  <a:close/>
                </a:path>
              </a:pathLst>
            </a:custGeom>
            <a:blipFill>
              <a:blip r:embed="rId3">
                <a:alphaModFix amt="0"/>
              </a:blip>
              <a:stretch>
                <a:fillRect l="0" t="-214919" r="0" b="-214919"/>
              </a:stretch>
            </a:blipFill>
          </p:spPr>
        </p:sp>
        <p:sp>
          <p:nvSpPr>
            <p:cNvPr name="TextBox 33" id="33"/>
            <p:cNvSpPr txBox="true"/>
            <p:nvPr/>
          </p:nvSpPr>
          <p:spPr>
            <a:xfrm>
              <a:off x="0" y="-9525"/>
              <a:ext cx="9448495" cy="704469"/>
            </a:xfrm>
            <a:prstGeom prst="rect">
              <a:avLst/>
            </a:prstGeom>
          </p:spPr>
          <p:txBody>
            <a:bodyPr anchor="ctr" rtlCol="false" tIns="0" lIns="0" bIns="0" rIns="0"/>
            <a:lstStyle/>
            <a:p>
              <a:pPr algn="l">
                <a:lnSpc>
                  <a:spcPts val="2879"/>
                </a:lnSpc>
              </a:pPr>
              <a:r>
                <a:rPr lang="en-US" sz="2400" b="true">
                  <a:solidFill>
                    <a:srgbClr val="3F8C50"/>
                  </a:solidFill>
                  <a:latin typeface="Arial Bold"/>
                  <a:ea typeface="Arial Bold"/>
                  <a:cs typeface="Arial Bold"/>
                  <a:sym typeface="Arial Bold"/>
                </a:rPr>
                <a:t>METRIC 03   </a:t>
              </a:r>
              <a:r>
                <a:rPr lang="en-US" sz="2400" b="true">
                  <a:solidFill>
                    <a:srgbClr val="111111"/>
                  </a:solidFill>
                  <a:latin typeface="Arial Bold"/>
                  <a:ea typeface="Arial Bold"/>
                  <a:cs typeface="Arial Bold"/>
                  <a:sym typeface="Arial Bold"/>
                </a:rPr>
                <a:t>Branch coverage</a:t>
              </a:r>
            </a:p>
          </p:txBody>
        </p:sp>
      </p:grpSp>
      <p:grpSp>
        <p:nvGrpSpPr>
          <p:cNvPr name="Group 34" id="34"/>
          <p:cNvGrpSpPr/>
          <p:nvPr/>
        </p:nvGrpSpPr>
        <p:grpSpPr>
          <a:xfrm rot="0">
            <a:off x="1645920" y="7246306"/>
            <a:ext cx="6674891" cy="924173"/>
            <a:chOff x="0" y="0"/>
            <a:chExt cx="8899855" cy="1232230"/>
          </a:xfrm>
        </p:grpSpPr>
        <p:sp>
          <p:nvSpPr>
            <p:cNvPr name="Freeform 35" id="35" descr="f3"/>
            <p:cNvSpPr/>
            <p:nvPr/>
          </p:nvSpPr>
          <p:spPr>
            <a:xfrm flipH="false" flipV="false" rot="0">
              <a:off x="0" y="0"/>
              <a:ext cx="8899906" cy="1232281"/>
            </a:xfrm>
            <a:custGeom>
              <a:avLst/>
              <a:gdLst/>
              <a:ahLst/>
              <a:cxnLst/>
              <a:rect r="r" b="b" t="t" l="l"/>
              <a:pathLst>
                <a:path h="1232281" w="8899906">
                  <a:moveTo>
                    <a:pt x="0" y="0"/>
                  </a:moveTo>
                  <a:lnTo>
                    <a:pt x="8899906" y="0"/>
                  </a:lnTo>
                  <a:lnTo>
                    <a:pt x="8899906" y="1232281"/>
                  </a:lnTo>
                  <a:lnTo>
                    <a:pt x="0" y="1232281"/>
                  </a:lnTo>
                  <a:lnTo>
                    <a:pt x="0" y="0"/>
                  </a:lnTo>
                  <a:close/>
                </a:path>
              </a:pathLst>
            </a:custGeom>
            <a:blipFill>
              <a:blip r:embed="rId6"/>
              <a:stretch>
                <a:fillRect l="0" t="0" r="0" b="4"/>
              </a:stretch>
            </a:blipFill>
          </p:spPr>
        </p:sp>
      </p:grpSp>
      <p:grpSp>
        <p:nvGrpSpPr>
          <p:cNvPr name="Group 36" id="36"/>
          <p:cNvGrpSpPr/>
          <p:nvPr/>
        </p:nvGrpSpPr>
        <p:grpSpPr>
          <a:xfrm rot="0">
            <a:off x="9342368" y="6302216"/>
            <a:ext cx="7923619" cy="2208848"/>
            <a:chOff x="0" y="0"/>
            <a:chExt cx="10564825" cy="2945130"/>
          </a:xfrm>
        </p:grpSpPr>
        <p:sp>
          <p:nvSpPr>
            <p:cNvPr name="Freeform 37" id="37"/>
            <p:cNvSpPr/>
            <p:nvPr/>
          </p:nvSpPr>
          <p:spPr>
            <a:xfrm flipH="false" flipV="false" rot="0">
              <a:off x="0" y="0"/>
              <a:ext cx="10564876" cy="2945130"/>
            </a:xfrm>
            <a:custGeom>
              <a:avLst/>
              <a:gdLst/>
              <a:ahLst/>
              <a:cxnLst/>
              <a:rect r="r" b="b" t="t" l="l"/>
              <a:pathLst>
                <a:path h="2945130" w="10564876">
                  <a:moveTo>
                    <a:pt x="0" y="331343"/>
                  </a:moveTo>
                  <a:cubicBezTo>
                    <a:pt x="0" y="148336"/>
                    <a:pt x="148336" y="0"/>
                    <a:pt x="331343" y="0"/>
                  </a:cubicBezTo>
                  <a:lnTo>
                    <a:pt x="10233533" y="0"/>
                  </a:lnTo>
                  <a:cubicBezTo>
                    <a:pt x="10416540" y="0"/>
                    <a:pt x="10564876" y="148336"/>
                    <a:pt x="10564876" y="331343"/>
                  </a:cubicBezTo>
                  <a:lnTo>
                    <a:pt x="10564876" y="2613787"/>
                  </a:lnTo>
                  <a:cubicBezTo>
                    <a:pt x="10564876" y="2796794"/>
                    <a:pt x="10416540" y="2945130"/>
                    <a:pt x="10233533" y="2945130"/>
                  </a:cubicBezTo>
                  <a:lnTo>
                    <a:pt x="331343" y="2945130"/>
                  </a:lnTo>
                  <a:cubicBezTo>
                    <a:pt x="148336" y="2945130"/>
                    <a:pt x="0" y="2796794"/>
                    <a:pt x="0" y="2613787"/>
                  </a:cubicBezTo>
                  <a:close/>
                </a:path>
              </a:pathLst>
            </a:custGeom>
            <a:solidFill>
              <a:srgbClr val="FFFFFF"/>
            </a:solidFill>
            <a:ln w="14288" cap="sq">
              <a:solidFill>
                <a:srgbClr val="E2E6E3"/>
              </a:solidFill>
              <a:prstDash val="solid"/>
              <a:miter/>
            </a:ln>
          </p:spPr>
        </p:sp>
      </p:grpSp>
      <p:grpSp>
        <p:nvGrpSpPr>
          <p:cNvPr name="Group 38" id="38"/>
          <p:cNvGrpSpPr/>
          <p:nvPr/>
        </p:nvGrpSpPr>
        <p:grpSpPr>
          <a:xfrm rot="0">
            <a:off x="9760991" y="6583680"/>
            <a:ext cx="7086371" cy="521208"/>
            <a:chOff x="0" y="0"/>
            <a:chExt cx="9448495" cy="694944"/>
          </a:xfrm>
        </p:grpSpPr>
        <p:sp>
          <p:nvSpPr>
            <p:cNvPr name="Freeform 39" id="39"/>
            <p:cNvSpPr/>
            <p:nvPr/>
          </p:nvSpPr>
          <p:spPr>
            <a:xfrm flipH="false" flipV="false" rot="0">
              <a:off x="0" y="0"/>
              <a:ext cx="9448496" cy="694944"/>
            </a:xfrm>
            <a:custGeom>
              <a:avLst/>
              <a:gdLst/>
              <a:ahLst/>
              <a:cxnLst/>
              <a:rect r="r" b="b" t="t" l="l"/>
              <a:pathLst>
                <a:path h="694944" w="9448496">
                  <a:moveTo>
                    <a:pt x="0" y="0"/>
                  </a:moveTo>
                  <a:lnTo>
                    <a:pt x="9448496" y="0"/>
                  </a:lnTo>
                  <a:lnTo>
                    <a:pt x="9448496" y="694944"/>
                  </a:lnTo>
                  <a:lnTo>
                    <a:pt x="0" y="694944"/>
                  </a:lnTo>
                  <a:close/>
                </a:path>
              </a:pathLst>
            </a:custGeom>
            <a:blipFill>
              <a:blip r:embed="rId3">
                <a:alphaModFix amt="0"/>
              </a:blip>
              <a:stretch>
                <a:fillRect l="0" t="-214919" r="0" b="-214919"/>
              </a:stretch>
            </a:blipFill>
          </p:spPr>
        </p:sp>
        <p:sp>
          <p:nvSpPr>
            <p:cNvPr name="TextBox 40" id="40"/>
            <p:cNvSpPr txBox="true"/>
            <p:nvPr/>
          </p:nvSpPr>
          <p:spPr>
            <a:xfrm>
              <a:off x="0" y="-9525"/>
              <a:ext cx="9448495" cy="704469"/>
            </a:xfrm>
            <a:prstGeom prst="rect">
              <a:avLst/>
            </a:prstGeom>
          </p:spPr>
          <p:txBody>
            <a:bodyPr anchor="ctr" rtlCol="false" tIns="0" lIns="0" bIns="0" rIns="0"/>
            <a:lstStyle/>
            <a:p>
              <a:pPr algn="l">
                <a:lnSpc>
                  <a:spcPts val="2879"/>
                </a:lnSpc>
              </a:pPr>
              <a:r>
                <a:rPr lang="en-US" sz="2400" b="true">
                  <a:solidFill>
                    <a:srgbClr val="3F8C50"/>
                  </a:solidFill>
                  <a:latin typeface="Arial Bold"/>
                  <a:ea typeface="Arial Bold"/>
                  <a:cs typeface="Arial Bold"/>
                  <a:sym typeface="Arial Bold"/>
                </a:rPr>
                <a:t>METRIC 04   </a:t>
              </a:r>
              <a:r>
                <a:rPr lang="en-US" sz="2400" b="true">
                  <a:solidFill>
                    <a:srgbClr val="111111"/>
                  </a:solidFill>
                  <a:latin typeface="Arial Bold"/>
                  <a:ea typeface="Arial Bold"/>
                  <a:cs typeface="Arial Bold"/>
                  <a:sym typeface="Arial Bold"/>
                </a:rPr>
                <a:t>Time to first verified fault</a:t>
              </a:r>
            </a:p>
          </p:txBody>
        </p:sp>
      </p:grpSp>
      <p:grpSp>
        <p:nvGrpSpPr>
          <p:cNvPr name="Group 41" id="41"/>
          <p:cNvGrpSpPr/>
          <p:nvPr/>
        </p:nvGrpSpPr>
        <p:grpSpPr>
          <a:xfrm rot="0">
            <a:off x="9829571" y="7403459"/>
            <a:ext cx="3017520" cy="609867"/>
            <a:chOff x="0" y="0"/>
            <a:chExt cx="4023360" cy="813156"/>
          </a:xfrm>
        </p:grpSpPr>
        <p:sp>
          <p:nvSpPr>
            <p:cNvPr name="Freeform 42" id="42" descr="f4"/>
            <p:cNvSpPr/>
            <p:nvPr/>
          </p:nvSpPr>
          <p:spPr>
            <a:xfrm flipH="false" flipV="false" rot="0">
              <a:off x="0" y="0"/>
              <a:ext cx="4023360" cy="813181"/>
            </a:xfrm>
            <a:custGeom>
              <a:avLst/>
              <a:gdLst/>
              <a:ahLst/>
              <a:cxnLst/>
              <a:rect r="r" b="b" t="t" l="l"/>
              <a:pathLst>
                <a:path h="813181" w="4023360">
                  <a:moveTo>
                    <a:pt x="0" y="0"/>
                  </a:moveTo>
                  <a:lnTo>
                    <a:pt x="4023360" y="0"/>
                  </a:lnTo>
                  <a:lnTo>
                    <a:pt x="4023360" y="813181"/>
                  </a:lnTo>
                  <a:lnTo>
                    <a:pt x="0" y="813181"/>
                  </a:lnTo>
                  <a:lnTo>
                    <a:pt x="0" y="0"/>
                  </a:lnTo>
                  <a:close/>
                </a:path>
              </a:pathLst>
            </a:custGeom>
            <a:blipFill>
              <a:blip r:embed="rId7"/>
              <a:stretch>
                <a:fillRect l="0" t="0" r="0" b="3"/>
              </a:stretch>
            </a:blipFill>
          </p:spPr>
        </p:sp>
      </p:grpSp>
      <p:grpSp>
        <p:nvGrpSpPr>
          <p:cNvPr name="Group 43" id="43"/>
          <p:cNvGrpSpPr/>
          <p:nvPr/>
        </p:nvGrpSpPr>
        <p:grpSpPr>
          <a:xfrm rot="0">
            <a:off x="13121411" y="7132320"/>
            <a:ext cx="3794531" cy="1234440"/>
            <a:chOff x="0" y="0"/>
            <a:chExt cx="5059375" cy="1645920"/>
          </a:xfrm>
        </p:grpSpPr>
        <p:sp>
          <p:nvSpPr>
            <p:cNvPr name="Freeform 44" id="44"/>
            <p:cNvSpPr/>
            <p:nvPr/>
          </p:nvSpPr>
          <p:spPr>
            <a:xfrm flipH="false" flipV="false" rot="0">
              <a:off x="0" y="0"/>
              <a:ext cx="5059376" cy="1645920"/>
            </a:xfrm>
            <a:custGeom>
              <a:avLst/>
              <a:gdLst/>
              <a:ahLst/>
              <a:cxnLst/>
              <a:rect r="r" b="b" t="t" l="l"/>
              <a:pathLst>
                <a:path h="1645920" w="5059376">
                  <a:moveTo>
                    <a:pt x="0" y="0"/>
                  </a:moveTo>
                  <a:lnTo>
                    <a:pt x="5059376" y="0"/>
                  </a:lnTo>
                  <a:lnTo>
                    <a:pt x="5059376" y="1645920"/>
                  </a:lnTo>
                  <a:lnTo>
                    <a:pt x="0" y="1645920"/>
                  </a:lnTo>
                  <a:close/>
                </a:path>
              </a:pathLst>
            </a:custGeom>
            <a:blipFill>
              <a:blip r:embed="rId3">
                <a:alphaModFix amt="0"/>
              </a:blip>
              <a:stretch>
                <a:fillRect l="0" t="-9894" r="0" b="-9894"/>
              </a:stretch>
            </a:blipFill>
          </p:spPr>
        </p:sp>
        <p:sp>
          <p:nvSpPr>
            <p:cNvPr name="TextBox 45" id="45"/>
            <p:cNvSpPr txBox="true"/>
            <p:nvPr/>
          </p:nvSpPr>
          <p:spPr>
            <a:xfrm>
              <a:off x="0" y="-19050"/>
              <a:ext cx="5059375" cy="1664970"/>
            </a:xfrm>
            <a:prstGeom prst="rect">
              <a:avLst/>
            </a:prstGeom>
          </p:spPr>
          <p:txBody>
            <a:bodyPr anchor="ctr" rtlCol="false" tIns="0" lIns="0" bIns="0" rIns="0"/>
            <a:lstStyle/>
            <a:p>
              <a:pPr algn="l">
                <a:lnSpc>
                  <a:spcPts val="1980"/>
                </a:lnSpc>
              </a:pPr>
              <a:r>
                <a:rPr lang="en-US" sz="1650">
                  <a:solidFill>
                    <a:srgbClr val="555555"/>
                  </a:solidFill>
                  <a:latin typeface="Arial"/>
                  <a:ea typeface="Arial"/>
                  <a:cs typeface="Arial"/>
                  <a:sym typeface="Arial"/>
                </a:rPr>
                <a:t>Interactions to the first verified fault, with runs that find none censored at the budget; summarised by restricted mean survival time (RMST), not by averaging successful runs alone.</a:t>
              </a:r>
            </a:p>
          </p:txBody>
        </p:sp>
      </p:grpSp>
      <p:grpSp>
        <p:nvGrpSpPr>
          <p:cNvPr name="Group 46" id="46"/>
          <p:cNvGrpSpPr/>
          <p:nvPr/>
        </p:nvGrpSpPr>
        <p:grpSpPr>
          <a:xfrm rot="0">
            <a:off x="1019175" y="8837295"/>
            <a:ext cx="16249193" cy="704850"/>
            <a:chOff x="0" y="0"/>
            <a:chExt cx="21665590" cy="939800"/>
          </a:xfrm>
        </p:grpSpPr>
        <p:sp>
          <p:nvSpPr>
            <p:cNvPr name="Freeform 47" id="47"/>
            <p:cNvSpPr/>
            <p:nvPr/>
          </p:nvSpPr>
          <p:spPr>
            <a:xfrm flipH="false" flipV="false" rot="0">
              <a:off x="0" y="0"/>
              <a:ext cx="21665564" cy="939800"/>
            </a:xfrm>
            <a:custGeom>
              <a:avLst/>
              <a:gdLst/>
              <a:ahLst/>
              <a:cxnLst/>
              <a:rect r="r" b="b" t="t" l="l"/>
              <a:pathLst>
                <a:path h="939800" w="21665564">
                  <a:moveTo>
                    <a:pt x="0" y="150368"/>
                  </a:moveTo>
                  <a:cubicBezTo>
                    <a:pt x="0" y="67310"/>
                    <a:pt x="67310" y="0"/>
                    <a:pt x="150368" y="0"/>
                  </a:cubicBezTo>
                  <a:lnTo>
                    <a:pt x="21515197" y="0"/>
                  </a:lnTo>
                  <a:cubicBezTo>
                    <a:pt x="21598255" y="0"/>
                    <a:pt x="21665564" y="67310"/>
                    <a:pt x="21665564" y="150368"/>
                  </a:cubicBezTo>
                  <a:lnTo>
                    <a:pt x="21665564" y="789432"/>
                  </a:lnTo>
                  <a:cubicBezTo>
                    <a:pt x="21665564" y="872490"/>
                    <a:pt x="21598255" y="939800"/>
                    <a:pt x="21515197" y="939800"/>
                  </a:cubicBezTo>
                  <a:lnTo>
                    <a:pt x="150368" y="939800"/>
                  </a:lnTo>
                  <a:cubicBezTo>
                    <a:pt x="67310" y="939800"/>
                    <a:pt x="0" y="872490"/>
                    <a:pt x="0" y="789432"/>
                  </a:cubicBezTo>
                  <a:close/>
                </a:path>
              </a:pathLst>
            </a:custGeom>
            <a:solidFill>
              <a:srgbClr val="DDE5DF"/>
            </a:solidFill>
            <a:ln w="19050" cap="sq">
              <a:solidFill>
                <a:srgbClr val="DDE5DF"/>
              </a:solidFill>
              <a:prstDash val="solid"/>
              <a:miter/>
            </a:ln>
          </p:spPr>
        </p:sp>
      </p:grpSp>
      <p:grpSp>
        <p:nvGrpSpPr>
          <p:cNvPr name="Group 48" id="48"/>
          <p:cNvGrpSpPr/>
          <p:nvPr/>
        </p:nvGrpSpPr>
        <p:grpSpPr>
          <a:xfrm rot="0">
            <a:off x="1440180" y="8846820"/>
            <a:ext cx="15407183" cy="685800"/>
            <a:chOff x="0" y="0"/>
            <a:chExt cx="20542910" cy="914400"/>
          </a:xfrm>
        </p:grpSpPr>
        <p:sp>
          <p:nvSpPr>
            <p:cNvPr name="Freeform 49" id="49"/>
            <p:cNvSpPr/>
            <p:nvPr/>
          </p:nvSpPr>
          <p:spPr>
            <a:xfrm flipH="false" flipV="false" rot="0">
              <a:off x="0" y="0"/>
              <a:ext cx="20542910" cy="914400"/>
            </a:xfrm>
            <a:custGeom>
              <a:avLst/>
              <a:gdLst/>
              <a:ahLst/>
              <a:cxnLst/>
              <a:rect r="r" b="b" t="t" l="l"/>
              <a:pathLst>
                <a:path h="914400" w="20542910">
                  <a:moveTo>
                    <a:pt x="0" y="0"/>
                  </a:moveTo>
                  <a:lnTo>
                    <a:pt x="20542910" y="0"/>
                  </a:lnTo>
                  <a:lnTo>
                    <a:pt x="20542910" y="914400"/>
                  </a:lnTo>
                  <a:lnTo>
                    <a:pt x="0" y="914400"/>
                  </a:lnTo>
                  <a:close/>
                </a:path>
              </a:pathLst>
            </a:custGeom>
            <a:blipFill>
              <a:blip r:embed="rId3">
                <a:alphaModFix amt="0"/>
              </a:blip>
              <a:stretch>
                <a:fillRect l="0" t="-387750" r="0" b="-387750"/>
              </a:stretch>
            </a:blipFill>
          </p:spPr>
        </p:sp>
        <p:sp>
          <p:nvSpPr>
            <p:cNvPr name="TextBox 50" id="50"/>
            <p:cNvSpPr txBox="true"/>
            <p:nvPr/>
          </p:nvSpPr>
          <p:spPr>
            <a:xfrm>
              <a:off x="0" y="-19050"/>
              <a:ext cx="20542910" cy="933450"/>
            </a:xfrm>
            <a:prstGeom prst="rect">
              <a:avLst/>
            </a:prstGeom>
          </p:spPr>
          <p:txBody>
            <a:bodyPr anchor="ctr" rtlCol="false" tIns="0" lIns="0" bIns="0" rIns="0"/>
            <a:lstStyle/>
            <a:p>
              <a:pPr algn="l">
                <a:lnSpc>
                  <a:spcPts val="2700"/>
                </a:lnSpc>
              </a:pPr>
              <a:r>
                <a:rPr lang="en-US" sz="2250" i="true">
                  <a:solidFill>
                    <a:srgbClr val="111111"/>
                  </a:solidFill>
                  <a:latin typeface="Arial Italics"/>
                  <a:ea typeface="Arial Italics"/>
                  <a:cs typeface="Arial Italics"/>
                  <a:sym typeface="Arial Italics"/>
                </a:rPr>
                <a:t>Fault-discovery and coverage metrics are reported separately, never combined as though they measure the same thing.</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RESULTS: OUR EVALUATION</a:t>
            </a:r>
          </a:p>
        </p:txBody>
      </p:sp>
      <p:sp>
        <p:nvSpPr>
          <p:cNvPr id="293" name="Text 293"/>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Our evaluation: verified functional faults on seeded applications</a:t>
            </a:r>
            <a:endParaRPr lang="en-US" sz="1800" dirty="0"/>
          </a:p>
        </p:txBody>
      </p:sp>
      <p:sp>
        <p:nvSpPr>
          <p:cNvPr id="294" name="Text 294"/>
          <p:cNvSpPr txBox="1"/>
          <p:nvPr/>
        </p:nvSpPr>
        <p:spPr>
          <a:xfrm>
            <a:off x="1028700" y="3017520"/>
            <a:ext cx="16230600" cy="411480"/>
          </a:xfrm>
          <a:prstGeom prst="rect">
            <a:avLst/>
          </a:prstGeom>
          <a:noFill/>
          <a:ln>
            <a:noFill/>
          </a:ln>
        </p:spPr>
        <p:txBody>
          <a:bodyPr wrap="square" lIns="0" tIns="0" rIns="0" bIns="0" anchor="t" rtlCol="0">
            <a:noAutofit/>
          </a:bodyPr>
          <a:lstStyle/>
          <a:p>
            <a:pPr algn="l">
              <a:buNone/>
            </a:pPr>
            <a:r>
              <a:rPr lang="en-US" sz="1600" dirty="0">
                <a:solidFill>
                  <a:srgbClr val="555555"/>
                </a:solidFill>
                <a:latin typeface="Arial"/>
                <a:cs typeface="Arial"/>
              </a:rPr>
              <a:t>Held-out: 8 unseen apps, 24 seeded faults, 40 runs per approach, pre-registered.   Tuning: 8 development apps, 41 faults, 24 runs per approach (development data).</a:t>
            </a:r>
            <a:endParaRPr lang="en-US" sz="1600" dirty="0"/>
          </a:p>
        </p:txBody>
      </p:sp>
      <p:graphicFrame>
        <p:nvGraphicFramePr>
          <p:cNvPr id="295" name="Table 295"/>
          <p:cNvGraphicFramePr>
            <a:graphicFrameLocks noGrp="1"/>
          </p:cNvGraphicFramePr>
          <p:nvPr/>
        </p:nvGraphicFramePr>
        <p:xfrm>
          <a:off x="1028700" y="3611880"/>
          <a:ext cx="16230600" cy="3657600"/>
        </p:xfrm>
        <a:graphic>
          <a:graphicData uri="http://schemas.openxmlformats.org/drawingml/2006/table">
            <a:tbl>
              <a:tblPr firstRow="1" bandRow="1"/>
              <a:tblGrid>
                <a:gridCol w="3703320"/>
                <a:gridCol w="2514600"/>
                <a:gridCol w="2606040"/>
                <a:gridCol w="2423160"/>
                <a:gridCol w="2514600"/>
                <a:gridCol w="2468880"/>
              </a:tblGrid>
              <a:tr h="731520">
                <a:tc>
                  <a:txBody>
                    <a:bodyPr/>
                    <a:lstStyle/>
                    <a:p>
                      <a:pPr algn="l">
                        <a:buNone/>
                      </a:pPr>
                      <a:r>
                        <a:rPr lang="en-US" sz="1800" b="1" dirty="0">
                          <a:solidFill>
                            <a:srgbClr val="FFFFFF"/>
                          </a:solidFill>
                          <a:latin typeface="Arial Bold"/>
                          <a:cs typeface="Arial Bold"/>
                        </a:rPr>
                        <a:t>Approach</a:t>
                      </a:r>
                      <a:endParaRPr lang="en-US" sz="18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Runs that verified</a:t>
                      </a:r>
                      <a:endParaRPr lang="en-US" sz="1800" dirty="0"/>
                    </a:p>
                    <a:p>
                      <a:pPr algn="ctr">
                        <a:buNone/>
                      </a:pPr>
                      <a:r>
                        <a:rPr lang="en-US" sz="1500" dirty="0">
                          <a:solidFill>
                            <a:srgbClr val="D9E8DC"/>
                          </a:solidFill>
                          <a:latin typeface="Arial"/>
                          <a:cs typeface="Arial"/>
                        </a:rPr>
                        <a:t>a fault (held-out)</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Time to first fault</a:t>
                      </a:r>
                      <a:endParaRPr lang="en-US" sz="1800" dirty="0"/>
                    </a:p>
                    <a:p>
                      <a:pPr algn="ctr">
                        <a:buNone/>
                      </a:pPr>
                      <a:r>
                        <a:rPr lang="en-US" sz="1500" dirty="0">
                          <a:solidFill>
                            <a:srgbClr val="D9E8DC"/>
                          </a:solidFill>
                          <a:latin typeface="Arial"/>
                          <a:cs typeface="Arial"/>
                        </a:rPr>
                        <a:t>RMST, lower is faster</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Distinct faults</a:t>
                      </a:r>
                      <a:endParaRPr lang="en-US" sz="1800" dirty="0"/>
                    </a:p>
                    <a:p>
                      <a:pPr algn="ctr">
                        <a:buNone/>
                      </a:pPr>
                      <a:r>
                        <a:rPr lang="en-US" sz="1500" dirty="0">
                          <a:solidFill>
                            <a:srgbClr val="D9E8DC"/>
                          </a:solidFill>
                          <a:latin typeface="Arial"/>
                          <a:cs typeface="Arial"/>
                        </a:rPr>
                        <a:t>held-out, of 24</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False positives</a:t>
                      </a:r>
                      <a:endParaRPr lang="en-US" sz="1800" dirty="0"/>
                    </a:p>
                    <a:p>
                      <a:pPr algn="ctr">
                        <a:buNone/>
                      </a:pPr>
                      <a:r>
                        <a:rPr lang="en-US" sz="1500" dirty="0">
                          <a:solidFill>
                            <a:srgbClr val="D9E8DC"/>
                          </a:solidFill>
                          <a:latin typeface="Arial"/>
                          <a:cs typeface="Arial"/>
                        </a:rPr>
                        <a:t>clean-build controls</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Errors per run</a:t>
                      </a:r>
                      <a:endParaRPr lang="en-US" sz="1800" dirty="0"/>
                    </a:p>
                    <a:p>
                      <a:pPr algn="ctr">
                        <a:buNone/>
                      </a:pPr>
                      <a:r>
                        <a:rPr lang="en-US" sz="1500" dirty="0">
                          <a:solidFill>
                            <a:srgbClr val="D9E8DC"/>
                          </a:solidFill>
                          <a:latin typeface="Arial"/>
                          <a:cs typeface="Arial"/>
                        </a:rPr>
                        <a:t>tuning</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r>
              <a:tr h="731520">
                <a:tc>
                  <a:txBody>
                    <a:bodyPr/>
                    <a:lstStyle/>
                    <a:p>
                      <a:pPr algn="l">
                        <a:buNone/>
                      </a:pPr>
                      <a:r>
                        <a:rPr lang="en-US" sz="1900" b="1" dirty="0">
                          <a:solidFill>
                            <a:srgbClr val="111111"/>
                          </a:solidFill>
                          <a:latin typeface="Arial Bold"/>
                          <a:cs typeface="Arial Bold"/>
                        </a:rPr>
                        <a:t>Random exploration</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32 / 40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978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13</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0 / 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5.38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r h="731520">
                <a:tc>
                  <a:txBody>
                    <a:bodyPr/>
                    <a:lstStyle/>
                    <a:p>
                      <a:pPr algn="l">
                        <a:buNone/>
                      </a:pPr>
                      <a:r>
                        <a:rPr lang="en-US" sz="1900" b="1" dirty="0">
                          <a:solidFill>
                            <a:srgbClr val="111111"/>
                          </a:solidFill>
                          <a:latin typeface="Arial Bold"/>
                          <a:cs typeface="Arial Bold"/>
                        </a:rPr>
                        <a:t>Structured explorer</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30 / 40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b="1" dirty="0">
                          <a:solidFill>
                            <a:srgbClr val="00461A"/>
                          </a:solidFill>
                          <a:latin typeface="Arial Bold"/>
                          <a:cs typeface="Arial Bold"/>
                        </a:rPr>
                        <a:t>737</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18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0 / 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2.88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r>
              <a:tr h="731520">
                <a:tc>
                  <a:txBody>
                    <a:bodyPr/>
                    <a:lstStyle/>
                    <a:p>
                      <a:pPr algn="l">
                        <a:buNone/>
                      </a:pPr>
                      <a:r>
                        <a:rPr lang="en-US" sz="1900" b="1" dirty="0">
                          <a:solidFill>
                            <a:srgbClr val="111111"/>
                          </a:solidFill>
                          <a:latin typeface="Arial Bold"/>
                          <a:cs typeface="Arial Bold"/>
                        </a:rPr>
                        <a:t>Bandit explorer</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b="1" dirty="0">
                          <a:solidFill>
                            <a:srgbClr val="00461A"/>
                          </a:solidFill>
                          <a:latin typeface="Arial Bold"/>
                          <a:cs typeface="Arial Bold"/>
                        </a:rPr>
                        <a:t>34 / 40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769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b="1" dirty="0">
                          <a:solidFill>
                            <a:srgbClr val="00461A"/>
                          </a:solidFill>
                          <a:latin typeface="Arial Bold"/>
                          <a:cs typeface="Arial Bold"/>
                        </a:rPr>
                        <a:t>19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0 / 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2.83</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r h="731520">
                <a:tc>
                  <a:txBody>
                    <a:bodyPr/>
                    <a:lstStyle/>
                    <a:p>
                      <a:pPr algn="l">
                        <a:buNone/>
                      </a:pPr>
                      <a:r>
                        <a:rPr lang="en-US" sz="1900" b="1" dirty="0">
                          <a:solidFill>
                            <a:srgbClr val="111111"/>
                          </a:solidFill>
                          <a:latin typeface="Arial Bold"/>
                          <a:cs typeface="Arial Bold"/>
                        </a:rPr>
                        <a:t>Curiosity RL explorer</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b="1" dirty="0">
                          <a:solidFill>
                            <a:srgbClr val="00461A"/>
                          </a:solidFill>
                          <a:latin typeface="Arial Bold"/>
                          <a:cs typeface="Arial Bold"/>
                        </a:rPr>
                        <a:t>5.67</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r>
            </a:tbl>
          </a:graphicData>
        </a:graphic>
      </p:graphicFrame>
      <p:sp>
        <p:nvSpPr>
          <p:cNvPr id="296" name="Card 296"/>
          <p:cNvSpPr/>
          <p:nvPr/>
        </p:nvSpPr>
        <p:spPr>
          <a:xfrm>
            <a:off x="1028700" y="7863840"/>
            <a:ext cx="7863840" cy="1737360"/>
          </a:xfrm>
          <a:prstGeom prst="roundRect">
            <a:avLst>
              <a:gd name="adj" fmla="val 6000"/>
            </a:avLst>
          </a:prstGeom>
          <a:solidFill>
            <a:srgbClr val="E9EEEA"/>
          </a:solidFill>
          <a:ln>
            <a:noFill/>
          </a:ln>
        </p:spPr>
        <p:txBody>
          <a:bodyPr wrap="square" lIns="320040" tIns="201168" rIns="320040" bIns="137160" anchor="t" rtlCol="0">
            <a:noAutofit/>
          </a:bodyPr>
          <a:lstStyle/>
          <a:p>
            <a:pPr algn="l">
              <a:spcAft>
                <a:spcPts val="400"/>
              </a:spcAft>
              <a:buNone/>
            </a:pPr>
            <a:r>
              <a:rPr lang="en-US" sz="1400" b="1" dirty="0">
                <a:solidFill>
                  <a:srgbClr val="3F8C50"/>
                </a:solidFill>
                <a:latin typeface="Arial Bold"/>
                <a:cs typeface="Arial Bold"/>
              </a:rPr>
              <a:t>SILENT-BUG FINDER (LLM RULES, NO WRITTEN CHECKS)</a:t>
            </a:r>
            <a:endParaRPr lang="en-US" sz="1800" dirty="0"/>
          </a:p>
          <a:p>
            <a:pPr algn="l">
              <a:lnSpc>
                <a:spcPct val="105000"/>
              </a:lnSpc>
              <a:buNone/>
            </a:pPr>
            <a:r>
              <a:rPr lang="en-US" sz="1900" b="1" dirty="0">
                <a:solidFill>
                  <a:srgbClr val="00461A"/>
                </a:solidFill>
                <a:latin typeface="Arial Bold"/>
                <a:cs typeface="Arial Bold"/>
              </a:rPr>
              <a:t>1 of 9 </a:t>
            </a:r>
            <a:r>
              <a:rPr lang="en-US" sz="1600" dirty="0">
                <a:solidFill>
                  <a:srgbClr val="111111"/>
                </a:solidFill>
                <a:latin typeface="Arial"/>
                <a:cs typeface="Arial"/>
              </a:rPr>
              <a:t>seeded faults rediscovered on 3 apps; </a:t>
            </a:r>
            <a:r>
              <a:rPr lang="en-US" sz="1900" b="1" dirty="0">
                <a:solidFill>
                  <a:srgbClr val="00461A"/>
                </a:solidFill>
                <a:latin typeface="Arial Bold"/>
                <a:cs typeface="Arial Bold"/>
              </a:rPr>
              <a:t>0 </a:t>
            </a:r>
            <a:r>
              <a:rPr lang="en-US" sz="1600" dirty="0">
                <a:solidFill>
                  <a:srgbClr val="111111"/>
                </a:solidFill>
                <a:latin typeface="Arial"/>
                <a:cs typeface="Arial"/>
              </a:rPr>
              <a:t>false findings on their clean builds. Post-hoc, tuned on these apps.</a:t>
            </a:r>
            <a:endParaRPr lang="en-US" sz="1800" dirty="0"/>
          </a:p>
        </p:txBody>
      </p:sp>
      <p:sp>
        <p:nvSpPr>
          <p:cNvPr id="297" name="Text 297"/>
          <p:cNvSpPr txBox="1"/>
          <p:nvPr/>
        </p:nvSpPr>
        <p:spPr>
          <a:xfrm>
            <a:off x="9258300" y="7955280"/>
            <a:ext cx="8001000" cy="1737360"/>
          </a:xfrm>
          <a:prstGeom prst="rect">
            <a:avLst/>
          </a:prstGeom>
          <a:noFill/>
          <a:ln>
            <a:noFill/>
          </a:ln>
        </p:spPr>
        <p:txBody>
          <a:bodyPr wrap="square" lIns="0" tIns="0" rIns="0" bIns="0" anchor="t" rtlCol="0">
            <a:noAutofit/>
          </a:bodyPr>
          <a:lstStyle/>
          <a:p>
            <a:pPr algn="l">
              <a:lnSpc>
                <a:spcPct val="105000"/>
              </a:lnSpc>
              <a:spcAft>
                <a:spcPts val="600"/>
              </a:spcAft>
              <a:buNone/>
            </a:pPr>
            <a:r>
              <a:rPr lang="en-US" sz="1500" dirty="0">
                <a:solidFill>
                  <a:srgbClr val="555555"/>
                </a:solidFill>
                <a:latin typeface="Arial"/>
                <a:cs typeface="Arial"/>
              </a:rPr>
              <a:t>RMST: restricted mean time to the first verified fault, in browser interactions (budget 2,000). Bold: best in the column. –: curiosity RL was added after the held-out evaluation, which was frozen and run once.</a:t>
            </a:r>
            <a:endParaRPr lang="en-US" sz="1500" dirty="0"/>
          </a:p>
          <a:p>
            <a:pPr algn="l">
              <a:lnSpc>
                <a:spcPct val="105000"/>
              </a:lnSpc>
              <a:buNone/>
            </a:pPr>
            <a:r>
              <a:rPr lang="en-US" sz="1500" dirty="0">
                <a:solidFill>
                  <a:srgbClr val="555555"/>
                </a:solidFill>
                <a:latin typeface="Arial"/>
                <a:cs typeface="Arial"/>
              </a:rPr>
              <a:t>All held-out speed differences are inconclusive (log-rank p &gt; 0.15): 8 apps give wide intervals.</a:t>
            </a:r>
            <a:endParaRPr lang="en-US" sz="1500" dirty="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CONCLUSION</a:t>
            </a:r>
          </a:p>
        </p:txBody>
      </p:sp>
      <p:grpSp>
        <p:nvGrpSpPr>
          <p:cNvPr name="Group 15" id="15"/>
          <p:cNvGrpSpPr/>
          <p:nvPr/>
        </p:nvGrpSpPr>
        <p:grpSpPr>
          <a:xfrm rot="0">
            <a:off x="1019175" y="3282315"/>
            <a:ext cx="842010" cy="842010"/>
            <a:chOff x="0" y="0"/>
            <a:chExt cx="1122680" cy="1122680"/>
          </a:xfrm>
        </p:grpSpPr>
        <p:sp>
          <p:nvSpPr>
            <p:cNvPr name="Freeform 16" id="16"/>
            <p:cNvSpPr/>
            <p:nvPr/>
          </p:nvSpPr>
          <p:spPr>
            <a:xfrm flipH="false" flipV="false" rot="0">
              <a:off x="0" y="0"/>
              <a:ext cx="1122680" cy="1122680"/>
            </a:xfrm>
            <a:custGeom>
              <a:avLst/>
              <a:gdLst/>
              <a:ahLst/>
              <a:cxnLst/>
              <a:rect r="r" b="b" t="t" l="l"/>
              <a:pathLst>
                <a:path h="1122680" w="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00461A"/>
            </a:solidFill>
            <a:ln w="19050" cap="sq">
              <a:solidFill>
                <a:srgbClr val="00461A"/>
              </a:solidFill>
              <a:prstDash val="solid"/>
              <a:miter/>
            </a:ln>
          </p:spPr>
        </p:sp>
      </p:grpSp>
      <p:grpSp>
        <p:nvGrpSpPr>
          <p:cNvPr name="Group 17" id="17"/>
          <p:cNvGrpSpPr/>
          <p:nvPr/>
        </p:nvGrpSpPr>
        <p:grpSpPr>
          <a:xfrm rot="0">
            <a:off x="1028700" y="3291840"/>
            <a:ext cx="822960" cy="822960"/>
            <a:chOff x="0" y="0"/>
            <a:chExt cx="1097280" cy="1097280"/>
          </a:xfrm>
        </p:grpSpPr>
        <p:sp>
          <p:nvSpPr>
            <p:cNvPr name="Freeform 18" id="1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19" id="19"/>
            <p:cNvSpPr txBox="true"/>
            <p:nvPr/>
          </p:nvSpPr>
          <p:spPr>
            <a:xfrm>
              <a:off x="0" y="-9525"/>
              <a:ext cx="1097280" cy="1106805"/>
            </a:xfrm>
            <a:prstGeom prst="rect">
              <a:avLst/>
            </a:prstGeom>
          </p:spPr>
          <p:txBody>
            <a:bodyPr anchor="ctr" rtlCol="false" tIns="0" lIns="0" bIns="0" rIns="0"/>
            <a:lstStyle/>
            <a:p>
              <a:pPr algn="ctr">
                <a:lnSpc>
                  <a:spcPts val="2520"/>
                </a:lnSpc>
              </a:pPr>
              <a:r>
                <a:rPr lang="en-US" sz="2100">
                  <a:solidFill>
                    <a:srgbClr val="FFFFFF"/>
                  </a:solidFill>
                  <a:latin typeface="Arial"/>
                  <a:ea typeface="Arial"/>
                  <a:cs typeface="Arial"/>
                  <a:sym typeface="Arial"/>
                </a:rPr>
                <a:t>01</a:t>
              </a:r>
            </a:p>
          </p:txBody>
        </p:sp>
      </p:grpSp>
      <p:sp>
        <p:nvSpPr>
          <p:cNvPr name="TextBox 20" id="20"/>
          <p:cNvSpPr txBox="true"/>
          <p:nvPr/>
        </p:nvSpPr>
        <p:spPr>
          <a:xfrm rot="0">
            <a:off x="2194560" y="3175635"/>
            <a:ext cx="7680960" cy="1556385"/>
          </a:xfrm>
          <a:prstGeom prst="rect">
            <a:avLst/>
          </a:prstGeom>
        </p:spPr>
        <p:txBody>
          <a:bodyPr anchor="t" rtlCol="false" tIns="0" lIns="0" bIns="0" rIns="0">
            <a:spAutoFit/>
          </a:bodyPr>
          <a:lstStyle/>
          <a:p>
            <a:pPr algn="l">
              <a:lnSpc>
                <a:spcPts val="3225"/>
              </a:lnSpc>
            </a:pPr>
            <a:r>
              <a:rPr lang="en-US" sz="2400">
                <a:solidFill>
                  <a:srgbClr val="111111"/>
                </a:solidFill>
                <a:latin typeface="Arial"/>
                <a:ea typeface="Arial"/>
                <a:cs typeface="Arial"/>
                <a:sym typeface="Arial"/>
              </a:rPr>
              <a:t>Developed Katalyze, an autonomous web testing system for exploring application workflows and detecting functional faults.</a:t>
            </a:r>
          </a:p>
        </p:txBody>
      </p:sp>
      <p:grpSp>
        <p:nvGrpSpPr>
          <p:cNvPr name="Group 21" id="21"/>
          <p:cNvGrpSpPr/>
          <p:nvPr/>
        </p:nvGrpSpPr>
        <p:grpSpPr>
          <a:xfrm rot="0">
            <a:off x="1019175" y="5271135"/>
            <a:ext cx="842010" cy="842010"/>
            <a:chOff x="0" y="0"/>
            <a:chExt cx="1122680" cy="1122680"/>
          </a:xfrm>
        </p:grpSpPr>
        <p:sp>
          <p:nvSpPr>
            <p:cNvPr name="Freeform 22" id="22"/>
            <p:cNvSpPr/>
            <p:nvPr/>
          </p:nvSpPr>
          <p:spPr>
            <a:xfrm flipH="false" flipV="false" rot="0">
              <a:off x="0" y="0"/>
              <a:ext cx="1122680" cy="1122680"/>
            </a:xfrm>
            <a:custGeom>
              <a:avLst/>
              <a:gdLst/>
              <a:ahLst/>
              <a:cxnLst/>
              <a:rect r="r" b="b" t="t" l="l"/>
              <a:pathLst>
                <a:path h="1122680" w="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00461A"/>
            </a:solidFill>
            <a:ln w="19050" cap="sq">
              <a:solidFill>
                <a:srgbClr val="00461A"/>
              </a:solidFill>
              <a:prstDash val="solid"/>
              <a:miter/>
            </a:ln>
          </p:spPr>
        </p:sp>
      </p:grpSp>
      <p:grpSp>
        <p:nvGrpSpPr>
          <p:cNvPr name="Group 23" id="23"/>
          <p:cNvGrpSpPr/>
          <p:nvPr/>
        </p:nvGrpSpPr>
        <p:grpSpPr>
          <a:xfrm rot="0">
            <a:off x="1028700" y="528066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25" id="25"/>
            <p:cNvSpPr txBox="true"/>
            <p:nvPr/>
          </p:nvSpPr>
          <p:spPr>
            <a:xfrm>
              <a:off x="0" y="-9525"/>
              <a:ext cx="1097280" cy="1106805"/>
            </a:xfrm>
            <a:prstGeom prst="rect">
              <a:avLst/>
            </a:prstGeom>
          </p:spPr>
          <p:txBody>
            <a:bodyPr anchor="ctr" rtlCol="false" tIns="0" lIns="0" bIns="0" rIns="0"/>
            <a:lstStyle/>
            <a:p>
              <a:pPr algn="ctr">
                <a:lnSpc>
                  <a:spcPts val="2520"/>
                </a:lnSpc>
              </a:pPr>
              <a:r>
                <a:rPr lang="en-US" sz="2100">
                  <a:solidFill>
                    <a:srgbClr val="FFFFFF"/>
                  </a:solidFill>
                  <a:latin typeface="Arial"/>
                  <a:ea typeface="Arial"/>
                  <a:cs typeface="Arial"/>
                  <a:sym typeface="Arial"/>
                </a:rPr>
                <a:t>02</a:t>
              </a:r>
            </a:p>
          </p:txBody>
        </p:sp>
      </p:grpSp>
      <p:sp>
        <p:nvSpPr>
          <p:cNvPr name="TextBox 26" id="26"/>
          <p:cNvSpPr txBox="true"/>
          <p:nvPr/>
        </p:nvSpPr>
        <p:spPr>
          <a:xfrm rot="0">
            <a:off x="2194560" y="5164455"/>
            <a:ext cx="7680960" cy="1556385"/>
          </a:xfrm>
          <a:prstGeom prst="rect">
            <a:avLst/>
          </a:prstGeom>
        </p:spPr>
        <p:txBody>
          <a:bodyPr anchor="t" rtlCol="false" tIns="0" lIns="0" bIns="0" rIns="0">
            <a:spAutoFit/>
          </a:bodyPr>
          <a:lstStyle/>
          <a:p>
            <a:pPr algn="l">
              <a:lnSpc>
                <a:spcPts val="3225"/>
              </a:lnSpc>
            </a:pPr>
            <a:r>
              <a:rPr lang="en-US" sz="2400">
                <a:solidFill>
                  <a:srgbClr val="111111"/>
                </a:solidFill>
                <a:latin typeface="Arial"/>
                <a:ea typeface="Arial"/>
                <a:cs typeface="Arial"/>
                <a:sym typeface="Arial"/>
              </a:rPr>
              <a:t>Integrated structured state exploration, test-design operators, and optional learning-based strategies.</a:t>
            </a:r>
          </a:p>
        </p:txBody>
      </p:sp>
      <p:grpSp>
        <p:nvGrpSpPr>
          <p:cNvPr name="Group 27" id="27"/>
          <p:cNvGrpSpPr/>
          <p:nvPr/>
        </p:nvGrpSpPr>
        <p:grpSpPr>
          <a:xfrm rot="0">
            <a:off x="1019175" y="7259955"/>
            <a:ext cx="842010" cy="842010"/>
            <a:chOff x="0" y="0"/>
            <a:chExt cx="1122680" cy="1122680"/>
          </a:xfrm>
        </p:grpSpPr>
        <p:sp>
          <p:nvSpPr>
            <p:cNvPr name="Freeform 28" id="28"/>
            <p:cNvSpPr/>
            <p:nvPr/>
          </p:nvSpPr>
          <p:spPr>
            <a:xfrm flipH="false" flipV="false" rot="0">
              <a:off x="0" y="0"/>
              <a:ext cx="1122680" cy="1122680"/>
            </a:xfrm>
            <a:custGeom>
              <a:avLst/>
              <a:gdLst/>
              <a:ahLst/>
              <a:cxnLst/>
              <a:rect r="r" b="b" t="t" l="l"/>
              <a:pathLst>
                <a:path h="1122680" w="1122680">
                  <a:moveTo>
                    <a:pt x="0" y="561340"/>
                  </a:moveTo>
                  <a:cubicBezTo>
                    <a:pt x="0" y="251333"/>
                    <a:pt x="251333" y="0"/>
                    <a:pt x="561340" y="0"/>
                  </a:cubicBezTo>
                  <a:cubicBezTo>
                    <a:pt x="871347" y="0"/>
                    <a:pt x="1122680" y="251333"/>
                    <a:pt x="1122680" y="561340"/>
                  </a:cubicBezTo>
                  <a:cubicBezTo>
                    <a:pt x="1122680" y="871347"/>
                    <a:pt x="871347" y="1122680"/>
                    <a:pt x="561340" y="1122680"/>
                  </a:cubicBezTo>
                  <a:cubicBezTo>
                    <a:pt x="251333" y="1122680"/>
                    <a:pt x="0" y="871347"/>
                    <a:pt x="0" y="561340"/>
                  </a:cubicBezTo>
                  <a:close/>
                </a:path>
              </a:pathLst>
            </a:custGeom>
            <a:solidFill>
              <a:srgbClr val="00461A"/>
            </a:solidFill>
            <a:ln w="19050" cap="sq">
              <a:solidFill>
                <a:srgbClr val="00461A"/>
              </a:solidFill>
              <a:prstDash val="solid"/>
              <a:miter/>
            </a:ln>
          </p:spPr>
        </p:sp>
      </p:grpSp>
      <p:grpSp>
        <p:nvGrpSpPr>
          <p:cNvPr name="Group 29" id="29"/>
          <p:cNvGrpSpPr/>
          <p:nvPr/>
        </p:nvGrpSpPr>
        <p:grpSpPr>
          <a:xfrm rot="0">
            <a:off x="1028700" y="7269480"/>
            <a:ext cx="822960" cy="822960"/>
            <a:chOff x="0" y="0"/>
            <a:chExt cx="1097280" cy="1097280"/>
          </a:xfrm>
        </p:grpSpPr>
        <p:sp>
          <p:nvSpPr>
            <p:cNvPr name="Freeform 30" id="3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3">
                <a:alphaModFix amt="0"/>
              </a:blip>
              <a:stretch>
                <a:fillRect l="-78303" t="0" r="-78303" b="0"/>
              </a:stretch>
            </a:blipFill>
          </p:spPr>
        </p:sp>
        <p:sp>
          <p:nvSpPr>
            <p:cNvPr name="TextBox 31" id="31"/>
            <p:cNvSpPr txBox="true"/>
            <p:nvPr/>
          </p:nvSpPr>
          <p:spPr>
            <a:xfrm>
              <a:off x="0" y="-9525"/>
              <a:ext cx="1097280" cy="1106805"/>
            </a:xfrm>
            <a:prstGeom prst="rect">
              <a:avLst/>
            </a:prstGeom>
          </p:spPr>
          <p:txBody>
            <a:bodyPr anchor="ctr" rtlCol="false" tIns="0" lIns="0" bIns="0" rIns="0"/>
            <a:lstStyle/>
            <a:p>
              <a:pPr algn="ctr">
                <a:lnSpc>
                  <a:spcPts val="2520"/>
                </a:lnSpc>
              </a:pPr>
              <a:r>
                <a:rPr lang="en-US" sz="2100">
                  <a:solidFill>
                    <a:srgbClr val="FFFFFF"/>
                  </a:solidFill>
                  <a:latin typeface="Arial"/>
                  <a:ea typeface="Arial"/>
                  <a:cs typeface="Arial"/>
                  <a:sym typeface="Arial"/>
                </a:rPr>
                <a:t>03</a:t>
              </a:r>
            </a:p>
          </p:txBody>
        </p:sp>
      </p:grpSp>
      <p:sp>
        <p:nvSpPr>
          <p:cNvPr name="TextBox 32" id="32"/>
          <p:cNvSpPr txBox="true"/>
          <p:nvPr/>
        </p:nvSpPr>
        <p:spPr>
          <a:xfrm rot="0">
            <a:off x="2194560" y="7153275"/>
            <a:ext cx="7680960" cy="1556385"/>
          </a:xfrm>
          <a:prstGeom prst="rect">
            <a:avLst/>
          </a:prstGeom>
        </p:spPr>
        <p:txBody>
          <a:bodyPr anchor="t" rtlCol="false" tIns="0" lIns="0" bIns="0" rIns="0">
            <a:spAutoFit/>
          </a:bodyPr>
          <a:lstStyle/>
          <a:p>
            <a:pPr algn="l">
              <a:lnSpc>
                <a:spcPts val="3225"/>
              </a:lnSpc>
            </a:pPr>
            <a:r>
              <a:rPr lang="en-US" sz="2400">
                <a:solidFill>
                  <a:srgbClr val="111111"/>
                </a:solidFill>
                <a:latin typeface="Arial"/>
                <a:ea typeface="Arial"/>
                <a:cs typeface="Arial"/>
                <a:sym typeface="Arial"/>
              </a:rPr>
              <a:t>Implemented a verification pipeline to improve the reproducibility and reliability of reported faults.</a:t>
            </a:r>
          </a:p>
        </p:txBody>
      </p:sp>
      <p:grpSp>
        <p:nvGrpSpPr>
          <p:cNvPr name="Group 33" id="33"/>
          <p:cNvGrpSpPr/>
          <p:nvPr/>
        </p:nvGrpSpPr>
        <p:grpSpPr>
          <a:xfrm rot="0">
            <a:off x="10414635" y="1636395"/>
            <a:ext cx="6849618" cy="3653790"/>
            <a:chOff x="0" y="0"/>
            <a:chExt cx="9132824" cy="4871720"/>
          </a:xfrm>
        </p:grpSpPr>
        <p:sp>
          <p:nvSpPr>
            <p:cNvPr name="Freeform 34" id="34"/>
            <p:cNvSpPr/>
            <p:nvPr/>
          </p:nvSpPr>
          <p:spPr>
            <a:xfrm flipH="false" flipV="false" rot="0">
              <a:off x="0" y="0"/>
              <a:ext cx="9132824" cy="4871720"/>
            </a:xfrm>
            <a:custGeom>
              <a:avLst/>
              <a:gdLst/>
              <a:ahLst/>
              <a:cxnLst/>
              <a:rect r="r" b="b" t="t" l="l"/>
              <a:pathLst>
                <a:path h="4871720" w="9132824">
                  <a:moveTo>
                    <a:pt x="0" y="404495"/>
                  </a:moveTo>
                  <a:cubicBezTo>
                    <a:pt x="0" y="181102"/>
                    <a:pt x="181102" y="0"/>
                    <a:pt x="404495" y="0"/>
                  </a:cubicBezTo>
                  <a:lnTo>
                    <a:pt x="8728329" y="0"/>
                  </a:lnTo>
                  <a:cubicBezTo>
                    <a:pt x="8951723" y="0"/>
                    <a:pt x="9132824" y="181102"/>
                    <a:pt x="9132824" y="404495"/>
                  </a:cubicBezTo>
                  <a:lnTo>
                    <a:pt x="9132824" y="4467225"/>
                  </a:lnTo>
                  <a:cubicBezTo>
                    <a:pt x="9132824" y="4690618"/>
                    <a:pt x="8951723" y="4871720"/>
                    <a:pt x="8728329" y="4871720"/>
                  </a:cubicBezTo>
                  <a:lnTo>
                    <a:pt x="404495" y="4871720"/>
                  </a:lnTo>
                  <a:cubicBezTo>
                    <a:pt x="181102" y="4871720"/>
                    <a:pt x="0" y="4690618"/>
                    <a:pt x="0" y="4467225"/>
                  </a:cubicBezTo>
                  <a:close/>
                </a:path>
              </a:pathLst>
            </a:custGeom>
            <a:solidFill>
              <a:srgbClr val="00461A"/>
            </a:solidFill>
            <a:ln w="19050" cap="sq">
              <a:solidFill>
                <a:srgbClr val="00461A"/>
              </a:solidFill>
              <a:prstDash val="solid"/>
              <a:miter/>
            </a:ln>
          </p:spPr>
        </p:sp>
      </p:grpSp>
      <p:grpSp>
        <p:nvGrpSpPr>
          <p:cNvPr name="Group 35" id="35"/>
          <p:cNvGrpSpPr/>
          <p:nvPr/>
        </p:nvGrpSpPr>
        <p:grpSpPr>
          <a:xfrm rot="0">
            <a:off x="10904220" y="1988820"/>
            <a:ext cx="5897880" cy="1508760"/>
            <a:chOff x="0" y="0"/>
            <a:chExt cx="7863840" cy="2011680"/>
          </a:xfrm>
        </p:grpSpPr>
        <p:sp>
          <p:nvSpPr>
            <p:cNvPr name="Freeform 36" id="36"/>
            <p:cNvSpPr/>
            <p:nvPr/>
          </p:nvSpPr>
          <p:spPr>
            <a:xfrm flipH="false" flipV="false" rot="0">
              <a:off x="0" y="0"/>
              <a:ext cx="7863840" cy="2011680"/>
            </a:xfrm>
            <a:custGeom>
              <a:avLst/>
              <a:gdLst/>
              <a:ahLst/>
              <a:cxnLst/>
              <a:rect r="r" b="b" t="t" l="l"/>
              <a:pathLst>
                <a:path h="2011680" w="7863840">
                  <a:moveTo>
                    <a:pt x="0" y="0"/>
                  </a:moveTo>
                  <a:lnTo>
                    <a:pt x="7863840" y="0"/>
                  </a:lnTo>
                  <a:lnTo>
                    <a:pt x="7863840" y="2011680"/>
                  </a:lnTo>
                  <a:lnTo>
                    <a:pt x="0" y="2011680"/>
                  </a:lnTo>
                  <a:close/>
                </a:path>
              </a:pathLst>
            </a:custGeom>
            <a:blipFill>
              <a:blip r:embed="rId3">
                <a:alphaModFix amt="0"/>
              </a:blip>
              <a:stretch>
                <a:fillRect l="0" t="-26168" r="0" b="-26168"/>
              </a:stretch>
            </a:blipFill>
          </p:spPr>
        </p:sp>
        <p:sp>
          <p:nvSpPr>
            <p:cNvPr name="TextBox 37" id="37"/>
            <p:cNvSpPr txBox="true"/>
            <p:nvPr/>
          </p:nvSpPr>
          <p:spPr>
            <a:xfrm>
              <a:off x="0" y="-28575"/>
              <a:ext cx="7863840" cy="2040255"/>
            </a:xfrm>
            <a:prstGeom prst="rect">
              <a:avLst/>
            </a:prstGeom>
          </p:spPr>
          <p:txBody>
            <a:bodyPr anchor="ctr" rtlCol="false" tIns="0" lIns="0" bIns="0" rIns="0"/>
            <a:lstStyle/>
            <a:p>
              <a:pPr algn="l">
                <a:lnSpc>
                  <a:spcPts val="9720"/>
                </a:lnSpc>
              </a:pPr>
              <a:r>
                <a:rPr lang="en-US" sz="8100">
                  <a:solidFill>
                    <a:srgbClr val="FFFFFF"/>
                  </a:solidFill>
                  <a:latin typeface="Arial"/>
                  <a:ea typeface="Arial"/>
                  <a:cs typeface="Arial"/>
                  <a:sym typeface="Arial"/>
                </a:rPr>
                <a:t>18 / 24</a:t>
              </a:r>
            </a:p>
          </p:txBody>
        </p:sp>
      </p:grpSp>
      <p:sp>
        <p:nvSpPr>
          <p:cNvPr name="TextBox 38" id="38"/>
          <p:cNvSpPr txBox="true"/>
          <p:nvPr/>
        </p:nvSpPr>
        <p:spPr>
          <a:xfrm rot="0">
            <a:off x="10904220" y="3574542"/>
            <a:ext cx="5897880" cy="1322070"/>
          </a:xfrm>
          <a:prstGeom prst="rect">
            <a:avLst/>
          </a:prstGeom>
        </p:spPr>
        <p:txBody>
          <a:bodyPr anchor="t" rtlCol="false" tIns="0" lIns="0" bIns="0" rIns="0">
            <a:spAutoFit/>
          </a:bodyPr>
          <a:lstStyle/>
          <a:p>
            <a:pPr algn="l">
              <a:lnSpc>
                <a:spcPts val="2700"/>
              </a:lnSpc>
            </a:pPr>
            <a:r>
              <a:rPr lang="en-US" sz="2250">
                <a:solidFill>
                  <a:srgbClr val="E9EEEA"/>
                </a:solidFill>
                <a:latin typeface="Arial"/>
                <a:ea typeface="Arial"/>
                <a:cs typeface="Arial"/>
                <a:sym typeface="Arial"/>
              </a:rPr>
              <a:t>seeded faults verified using structured exploration, compared with 13 using random exploration</a:t>
            </a:r>
          </a:p>
        </p:txBody>
      </p:sp>
      <p:grpSp>
        <p:nvGrpSpPr>
          <p:cNvPr name="Group 39" id="39"/>
          <p:cNvGrpSpPr/>
          <p:nvPr/>
        </p:nvGrpSpPr>
        <p:grpSpPr>
          <a:xfrm rot="0">
            <a:off x="10414635" y="5682615"/>
            <a:ext cx="6849618" cy="3653790"/>
            <a:chOff x="0" y="0"/>
            <a:chExt cx="9132824" cy="4871720"/>
          </a:xfrm>
        </p:grpSpPr>
        <p:sp>
          <p:nvSpPr>
            <p:cNvPr name="Freeform 40" id="40"/>
            <p:cNvSpPr/>
            <p:nvPr/>
          </p:nvSpPr>
          <p:spPr>
            <a:xfrm flipH="false" flipV="false" rot="0">
              <a:off x="0" y="0"/>
              <a:ext cx="9132824" cy="4871720"/>
            </a:xfrm>
            <a:custGeom>
              <a:avLst/>
              <a:gdLst/>
              <a:ahLst/>
              <a:cxnLst/>
              <a:rect r="r" b="b" t="t" l="l"/>
              <a:pathLst>
                <a:path h="4871720" w="9132824">
                  <a:moveTo>
                    <a:pt x="0" y="404495"/>
                  </a:moveTo>
                  <a:cubicBezTo>
                    <a:pt x="0" y="181102"/>
                    <a:pt x="181102" y="0"/>
                    <a:pt x="404495" y="0"/>
                  </a:cubicBezTo>
                  <a:lnTo>
                    <a:pt x="8728329" y="0"/>
                  </a:lnTo>
                  <a:cubicBezTo>
                    <a:pt x="8951723" y="0"/>
                    <a:pt x="9132824" y="181102"/>
                    <a:pt x="9132824" y="404495"/>
                  </a:cubicBezTo>
                  <a:lnTo>
                    <a:pt x="9132824" y="4467225"/>
                  </a:lnTo>
                  <a:cubicBezTo>
                    <a:pt x="9132824" y="4690618"/>
                    <a:pt x="8951723" y="4871720"/>
                    <a:pt x="8728329" y="4871720"/>
                  </a:cubicBezTo>
                  <a:lnTo>
                    <a:pt x="404495" y="4871720"/>
                  </a:lnTo>
                  <a:cubicBezTo>
                    <a:pt x="181102" y="4871720"/>
                    <a:pt x="0" y="4690618"/>
                    <a:pt x="0" y="4467225"/>
                  </a:cubicBezTo>
                  <a:close/>
                </a:path>
              </a:pathLst>
            </a:custGeom>
            <a:solidFill>
              <a:srgbClr val="3F8C50"/>
            </a:solidFill>
            <a:ln w="19050" cap="sq">
              <a:solidFill>
                <a:srgbClr val="3F8C50"/>
              </a:solidFill>
              <a:prstDash val="solid"/>
              <a:miter/>
            </a:ln>
          </p:spPr>
        </p:sp>
      </p:grpSp>
      <p:grpSp>
        <p:nvGrpSpPr>
          <p:cNvPr name="Group 41" id="41"/>
          <p:cNvGrpSpPr/>
          <p:nvPr/>
        </p:nvGrpSpPr>
        <p:grpSpPr>
          <a:xfrm rot="0">
            <a:off x="10904220" y="6035040"/>
            <a:ext cx="5897880" cy="1508760"/>
            <a:chOff x="0" y="0"/>
            <a:chExt cx="7863840" cy="2011680"/>
          </a:xfrm>
        </p:grpSpPr>
        <p:sp>
          <p:nvSpPr>
            <p:cNvPr name="Freeform 42" id="42"/>
            <p:cNvSpPr/>
            <p:nvPr/>
          </p:nvSpPr>
          <p:spPr>
            <a:xfrm flipH="false" flipV="false" rot="0">
              <a:off x="0" y="0"/>
              <a:ext cx="7863840" cy="2011680"/>
            </a:xfrm>
            <a:custGeom>
              <a:avLst/>
              <a:gdLst/>
              <a:ahLst/>
              <a:cxnLst/>
              <a:rect r="r" b="b" t="t" l="l"/>
              <a:pathLst>
                <a:path h="2011680" w="7863840">
                  <a:moveTo>
                    <a:pt x="0" y="0"/>
                  </a:moveTo>
                  <a:lnTo>
                    <a:pt x="7863840" y="0"/>
                  </a:lnTo>
                  <a:lnTo>
                    <a:pt x="7863840" y="2011680"/>
                  </a:lnTo>
                  <a:lnTo>
                    <a:pt x="0" y="2011680"/>
                  </a:lnTo>
                  <a:close/>
                </a:path>
              </a:pathLst>
            </a:custGeom>
            <a:blipFill>
              <a:blip r:embed="rId3">
                <a:alphaModFix amt="0"/>
              </a:blip>
              <a:stretch>
                <a:fillRect l="0" t="-26168" r="0" b="-26168"/>
              </a:stretch>
            </a:blipFill>
          </p:spPr>
        </p:sp>
        <p:sp>
          <p:nvSpPr>
            <p:cNvPr name="TextBox 43" id="43"/>
            <p:cNvSpPr txBox="true"/>
            <p:nvPr/>
          </p:nvSpPr>
          <p:spPr>
            <a:xfrm>
              <a:off x="0" y="-28575"/>
              <a:ext cx="7863840" cy="2040255"/>
            </a:xfrm>
            <a:prstGeom prst="rect">
              <a:avLst/>
            </a:prstGeom>
          </p:spPr>
          <p:txBody>
            <a:bodyPr anchor="ctr" rtlCol="false" tIns="0" lIns="0" bIns="0" rIns="0"/>
            <a:lstStyle/>
            <a:p>
              <a:pPr algn="l">
                <a:lnSpc>
                  <a:spcPts val="9720"/>
                </a:lnSpc>
              </a:pPr>
              <a:r>
                <a:rPr lang="en-US" sz="8100">
                  <a:solidFill>
                    <a:srgbClr val="FFFFFF"/>
                  </a:solidFill>
                  <a:latin typeface="Arial"/>
                  <a:ea typeface="Arial"/>
                  <a:cs typeface="Arial"/>
                  <a:sym typeface="Arial"/>
                </a:rPr>
                <a:t>0</a:t>
              </a:r>
            </a:p>
          </p:txBody>
        </p:sp>
      </p:grpSp>
      <p:sp>
        <p:nvSpPr>
          <p:cNvPr name="TextBox 44" id="44"/>
          <p:cNvSpPr txBox="true"/>
          <p:nvPr/>
        </p:nvSpPr>
        <p:spPr>
          <a:xfrm rot="0">
            <a:off x="10904220" y="7620762"/>
            <a:ext cx="5897880" cy="1322070"/>
          </a:xfrm>
          <a:prstGeom prst="rect">
            <a:avLst/>
          </a:prstGeom>
        </p:spPr>
        <p:txBody>
          <a:bodyPr anchor="t" rtlCol="false" tIns="0" lIns="0" bIns="0" rIns="0">
            <a:spAutoFit/>
          </a:bodyPr>
          <a:lstStyle/>
          <a:p>
            <a:pPr algn="l">
              <a:lnSpc>
                <a:spcPts val="2700"/>
              </a:lnSpc>
            </a:pPr>
            <a:r>
              <a:rPr lang="en-US" sz="2250">
                <a:solidFill>
                  <a:srgbClr val="FFFFFF"/>
                </a:solidFill>
                <a:latin typeface="Arial"/>
                <a:ea typeface="Arial"/>
                <a:cs typeface="Arial"/>
                <a:sym typeface="Arial"/>
              </a:rPr>
              <a:t>false positives recorded across 32 clean-build control runs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FUTURE WORK</a:t>
            </a:r>
          </a:p>
        </p:txBody>
      </p:sp>
      <p:grpSp>
        <p:nvGrpSpPr>
          <p:cNvPr name="Group 15" id="15"/>
          <p:cNvGrpSpPr/>
          <p:nvPr/>
        </p:nvGrpSpPr>
        <p:grpSpPr>
          <a:xfrm rot="0">
            <a:off x="1028700" y="2743200"/>
            <a:ext cx="16230143" cy="548640"/>
            <a:chOff x="0" y="0"/>
            <a:chExt cx="21640190" cy="731520"/>
          </a:xfrm>
        </p:grpSpPr>
        <p:sp>
          <p:nvSpPr>
            <p:cNvPr name="Freeform 16" id="16"/>
            <p:cNvSpPr/>
            <p:nvPr/>
          </p:nvSpPr>
          <p:spPr>
            <a:xfrm flipH="false" flipV="false" rot="0">
              <a:off x="0" y="0"/>
              <a:ext cx="21640191" cy="731520"/>
            </a:xfrm>
            <a:custGeom>
              <a:avLst/>
              <a:gdLst/>
              <a:ahLst/>
              <a:cxnLst/>
              <a:rect r="r" b="b" t="t" l="l"/>
              <a:pathLst>
                <a:path h="731520" w="21640191">
                  <a:moveTo>
                    <a:pt x="0" y="0"/>
                  </a:moveTo>
                  <a:lnTo>
                    <a:pt x="21640191" y="0"/>
                  </a:lnTo>
                  <a:lnTo>
                    <a:pt x="21640191" y="731520"/>
                  </a:lnTo>
                  <a:lnTo>
                    <a:pt x="0" y="731520"/>
                  </a:lnTo>
                  <a:close/>
                </a:path>
              </a:pathLst>
            </a:custGeom>
            <a:blipFill>
              <a:blip r:embed="rId3">
                <a:alphaModFix amt="0"/>
              </a:blip>
              <a:stretch>
                <a:fillRect l="0" t="-526416" r="0" b="-526416"/>
              </a:stretch>
            </a:blipFill>
          </p:spPr>
        </p:sp>
        <p:sp>
          <p:nvSpPr>
            <p:cNvPr name="TextBox 17" id="17"/>
            <p:cNvSpPr txBox="true"/>
            <p:nvPr/>
          </p:nvSpPr>
          <p:spPr>
            <a:xfrm>
              <a:off x="0" y="-19050"/>
              <a:ext cx="21640190" cy="750570"/>
            </a:xfrm>
            <a:prstGeom prst="rect">
              <a:avLst/>
            </a:prstGeom>
          </p:spPr>
          <p:txBody>
            <a:bodyPr anchor="ctr" rtlCol="false" tIns="0" lIns="0" bIns="0" rIns="0"/>
            <a:lstStyle/>
            <a:p>
              <a:pPr algn="l">
                <a:lnSpc>
                  <a:spcPts val="3419"/>
                </a:lnSpc>
              </a:pPr>
              <a:r>
                <a:rPr lang="en-US" sz="2850" b="true">
                  <a:solidFill>
                    <a:srgbClr val="00461A"/>
                  </a:solidFill>
                  <a:latin typeface="Arial Bold"/>
                  <a:ea typeface="Arial Bold"/>
                  <a:cs typeface="Arial Bold"/>
                  <a:sym typeface="Arial Bold"/>
                </a:rPr>
                <a:t>Primary Direction: </a:t>
              </a:r>
              <a:r>
                <a:rPr lang="en-US" sz="2850" b="true">
                  <a:solidFill>
                    <a:srgbClr val="111111"/>
                  </a:solidFill>
                  <a:latin typeface="Arial Bold"/>
                  <a:ea typeface="Arial Bold"/>
                  <a:cs typeface="Arial Bold"/>
                  <a:sym typeface="Arial Bold"/>
                </a:rPr>
                <a:t>Autonomous Security Bug Detection</a:t>
              </a:r>
            </a:p>
          </p:txBody>
        </p:sp>
      </p:grpSp>
      <p:sp>
        <p:nvSpPr>
          <p:cNvPr name="TextBox 18" id="18"/>
          <p:cNvSpPr txBox="true"/>
          <p:nvPr/>
        </p:nvSpPr>
        <p:spPr>
          <a:xfrm rot="0">
            <a:off x="1028700" y="3341370"/>
            <a:ext cx="16230143" cy="842010"/>
          </a:xfrm>
          <a:prstGeom prst="rect">
            <a:avLst/>
          </a:prstGeom>
        </p:spPr>
        <p:txBody>
          <a:bodyPr anchor="t" rtlCol="false" tIns="0" lIns="0" bIns="0" rIns="0">
            <a:spAutoFit/>
          </a:bodyPr>
          <a:lstStyle/>
          <a:p>
            <a:pPr algn="l">
              <a:lnSpc>
                <a:spcPts val="2700"/>
              </a:lnSpc>
            </a:pPr>
            <a:r>
              <a:rPr lang="en-US" sz="2250">
                <a:solidFill>
                  <a:srgbClr val="111111"/>
                </a:solidFill>
                <a:latin typeface="Arial"/>
                <a:ea typeface="Arial"/>
                <a:cs typeface="Arial"/>
                <a:sym typeface="Arial"/>
              </a:rPr>
              <a:t>Extend Katalyze beyond functional testing to identify security vulnerabilities through autonomous browser exploration and security-specific verification mechanisms.</a:t>
            </a:r>
          </a:p>
        </p:txBody>
      </p:sp>
      <p:grpSp>
        <p:nvGrpSpPr>
          <p:cNvPr name="Group 19" id="19"/>
          <p:cNvGrpSpPr/>
          <p:nvPr/>
        </p:nvGrpSpPr>
        <p:grpSpPr>
          <a:xfrm rot="0">
            <a:off x="1019175" y="4311015"/>
            <a:ext cx="3767976" cy="2967990"/>
            <a:chOff x="0" y="0"/>
            <a:chExt cx="5023968" cy="3957320"/>
          </a:xfrm>
        </p:grpSpPr>
        <p:sp>
          <p:nvSpPr>
            <p:cNvPr name="Freeform 20" id="20"/>
            <p:cNvSpPr/>
            <p:nvPr/>
          </p:nvSpPr>
          <p:spPr>
            <a:xfrm flipH="false" flipV="false" rot="0">
              <a:off x="0" y="0"/>
              <a:ext cx="5023993" cy="3957320"/>
            </a:xfrm>
            <a:custGeom>
              <a:avLst/>
              <a:gdLst/>
              <a:ahLst/>
              <a:cxnLst/>
              <a:rect r="r" b="b" t="t" l="l"/>
              <a:pathLst>
                <a:path h="3957320" w="5023993">
                  <a:moveTo>
                    <a:pt x="0" y="368173"/>
                  </a:moveTo>
                  <a:cubicBezTo>
                    <a:pt x="0" y="164846"/>
                    <a:pt x="164846" y="0"/>
                    <a:pt x="368173" y="0"/>
                  </a:cubicBezTo>
                  <a:lnTo>
                    <a:pt x="4655820" y="0"/>
                  </a:lnTo>
                  <a:cubicBezTo>
                    <a:pt x="4859147" y="0"/>
                    <a:pt x="5023993" y="164846"/>
                    <a:pt x="5023993" y="368173"/>
                  </a:cubicBezTo>
                  <a:lnTo>
                    <a:pt x="5023993" y="3589147"/>
                  </a:lnTo>
                  <a:cubicBezTo>
                    <a:pt x="5023993" y="3792474"/>
                    <a:pt x="4859147" y="3957320"/>
                    <a:pt x="4655820" y="3957320"/>
                  </a:cubicBezTo>
                  <a:lnTo>
                    <a:pt x="368173" y="3957320"/>
                  </a:lnTo>
                  <a:cubicBezTo>
                    <a:pt x="164846" y="3957320"/>
                    <a:pt x="0" y="3792474"/>
                    <a:pt x="0" y="3589147"/>
                  </a:cubicBezTo>
                  <a:close/>
                </a:path>
              </a:pathLst>
            </a:custGeom>
            <a:solidFill>
              <a:srgbClr val="00461A"/>
            </a:solidFill>
            <a:ln w="19050" cap="sq">
              <a:solidFill>
                <a:srgbClr val="00461A"/>
              </a:solidFill>
              <a:prstDash val="solid"/>
              <a:miter/>
            </a:ln>
          </p:spPr>
        </p:sp>
      </p:grpSp>
      <p:grpSp>
        <p:nvGrpSpPr>
          <p:cNvPr name="Group 21" id="21"/>
          <p:cNvGrpSpPr/>
          <p:nvPr/>
        </p:nvGrpSpPr>
        <p:grpSpPr>
          <a:xfrm rot="0">
            <a:off x="1412748" y="4622292"/>
            <a:ext cx="466344" cy="466344"/>
            <a:chOff x="0" y="0"/>
            <a:chExt cx="621792" cy="621792"/>
          </a:xfrm>
        </p:grpSpPr>
        <p:sp>
          <p:nvSpPr>
            <p:cNvPr name="Freeform 22" id="22" descr="Security-aware exploration icon"/>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4"/>
              <a:stretch>
                <a:fillRect l="0" t="0" r="0" b="0"/>
              </a:stretch>
            </a:blipFill>
          </p:spPr>
        </p:sp>
      </p:grpSp>
      <p:sp>
        <p:nvSpPr>
          <p:cNvPr name="TextBox 23" id="23"/>
          <p:cNvSpPr txBox="true"/>
          <p:nvPr/>
        </p:nvSpPr>
        <p:spPr>
          <a:xfrm rot="0">
            <a:off x="1412748" y="5202555"/>
            <a:ext cx="3131706" cy="763905"/>
          </a:xfrm>
          <a:prstGeom prst="rect">
            <a:avLst/>
          </a:prstGeom>
        </p:spPr>
        <p:txBody>
          <a:bodyPr anchor="t" rtlCol="false" tIns="0" lIns="0" bIns="0" rIns="0">
            <a:spAutoFit/>
          </a:bodyPr>
          <a:lstStyle/>
          <a:p>
            <a:pPr algn="l">
              <a:lnSpc>
                <a:spcPts val="2520"/>
              </a:lnSpc>
            </a:pPr>
            <a:r>
              <a:rPr lang="en-US" sz="2100" b="true">
                <a:solidFill>
                  <a:srgbClr val="FFFFFF"/>
                </a:solidFill>
                <a:latin typeface="Arial Bold"/>
                <a:ea typeface="Arial Bold"/>
                <a:cs typeface="Arial Bold"/>
                <a:sym typeface="Arial Bold"/>
              </a:rPr>
              <a:t>Security-aware exploration</a:t>
            </a:r>
          </a:p>
        </p:txBody>
      </p:sp>
      <p:sp>
        <p:nvSpPr>
          <p:cNvPr name="TextBox 24" id="24"/>
          <p:cNvSpPr txBox="true"/>
          <p:nvPr/>
        </p:nvSpPr>
        <p:spPr>
          <a:xfrm rot="0">
            <a:off x="1412748" y="5947410"/>
            <a:ext cx="3131706" cy="1226058"/>
          </a:xfrm>
          <a:prstGeom prst="rect">
            <a:avLst/>
          </a:prstGeom>
        </p:spPr>
        <p:txBody>
          <a:bodyPr anchor="t" rtlCol="false" tIns="0" lIns="0" bIns="0" rIns="0">
            <a:spAutoFit/>
          </a:bodyPr>
          <a:lstStyle/>
          <a:p>
            <a:pPr algn="l">
              <a:lnSpc>
                <a:spcPts val="2160"/>
              </a:lnSpc>
            </a:pPr>
            <a:r>
              <a:rPr lang="en-US" sz="1800">
                <a:solidFill>
                  <a:srgbClr val="E9EEEA"/>
                </a:solidFill>
                <a:latin typeface="Arial"/>
                <a:ea typeface="Arial"/>
                <a:cs typeface="Arial"/>
                <a:sym typeface="Arial"/>
              </a:rPr>
              <a:t>Explore authentication, authorization, session management, and access-control workflows.</a:t>
            </a:r>
          </a:p>
        </p:txBody>
      </p:sp>
      <p:grpSp>
        <p:nvGrpSpPr>
          <p:cNvPr name="Group 25" id="25"/>
          <p:cNvGrpSpPr/>
          <p:nvPr/>
        </p:nvGrpSpPr>
        <p:grpSpPr>
          <a:xfrm rot="0">
            <a:off x="5179581" y="4311015"/>
            <a:ext cx="3767976" cy="2967990"/>
            <a:chOff x="0" y="0"/>
            <a:chExt cx="5023968" cy="3957320"/>
          </a:xfrm>
        </p:grpSpPr>
        <p:sp>
          <p:nvSpPr>
            <p:cNvPr name="Freeform 26" id="26"/>
            <p:cNvSpPr/>
            <p:nvPr/>
          </p:nvSpPr>
          <p:spPr>
            <a:xfrm flipH="false" flipV="false" rot="0">
              <a:off x="0" y="0"/>
              <a:ext cx="5023993" cy="3957320"/>
            </a:xfrm>
            <a:custGeom>
              <a:avLst/>
              <a:gdLst/>
              <a:ahLst/>
              <a:cxnLst/>
              <a:rect r="r" b="b" t="t" l="l"/>
              <a:pathLst>
                <a:path h="3957320" w="5023993">
                  <a:moveTo>
                    <a:pt x="0" y="368173"/>
                  </a:moveTo>
                  <a:cubicBezTo>
                    <a:pt x="0" y="164846"/>
                    <a:pt x="164846" y="0"/>
                    <a:pt x="368173" y="0"/>
                  </a:cubicBezTo>
                  <a:lnTo>
                    <a:pt x="4655820" y="0"/>
                  </a:lnTo>
                  <a:cubicBezTo>
                    <a:pt x="4859147" y="0"/>
                    <a:pt x="5023993" y="164846"/>
                    <a:pt x="5023993" y="368173"/>
                  </a:cubicBezTo>
                  <a:lnTo>
                    <a:pt x="5023993" y="3589147"/>
                  </a:lnTo>
                  <a:cubicBezTo>
                    <a:pt x="5023993" y="3792474"/>
                    <a:pt x="4859147" y="3957320"/>
                    <a:pt x="4655820" y="3957320"/>
                  </a:cubicBezTo>
                  <a:lnTo>
                    <a:pt x="368173" y="3957320"/>
                  </a:lnTo>
                  <a:cubicBezTo>
                    <a:pt x="164846" y="3957320"/>
                    <a:pt x="0" y="3792474"/>
                    <a:pt x="0" y="3589147"/>
                  </a:cubicBezTo>
                  <a:close/>
                </a:path>
              </a:pathLst>
            </a:custGeom>
            <a:solidFill>
              <a:srgbClr val="00461A"/>
            </a:solidFill>
            <a:ln w="19050" cap="sq">
              <a:solidFill>
                <a:srgbClr val="00461A"/>
              </a:solidFill>
              <a:prstDash val="solid"/>
              <a:miter/>
            </a:ln>
          </p:spPr>
        </p:sp>
      </p:grpSp>
      <p:grpSp>
        <p:nvGrpSpPr>
          <p:cNvPr name="Group 27" id="27"/>
          <p:cNvGrpSpPr/>
          <p:nvPr/>
        </p:nvGrpSpPr>
        <p:grpSpPr>
          <a:xfrm rot="0">
            <a:off x="5573154" y="4622292"/>
            <a:ext cx="466344" cy="466344"/>
            <a:chOff x="0" y="0"/>
            <a:chExt cx="621792" cy="621792"/>
          </a:xfrm>
        </p:grpSpPr>
        <p:sp>
          <p:nvSpPr>
            <p:cNvPr name="Freeform 28" id="28" descr="Vulnerability detection icon"/>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5"/>
              <a:stretch>
                <a:fillRect l="0" t="0" r="0" b="0"/>
              </a:stretch>
            </a:blipFill>
          </p:spPr>
        </p:sp>
      </p:grpSp>
      <p:sp>
        <p:nvSpPr>
          <p:cNvPr name="TextBox 29" id="29"/>
          <p:cNvSpPr txBox="true"/>
          <p:nvPr/>
        </p:nvSpPr>
        <p:spPr>
          <a:xfrm rot="0">
            <a:off x="5573154" y="5202555"/>
            <a:ext cx="3131706" cy="763905"/>
          </a:xfrm>
          <a:prstGeom prst="rect">
            <a:avLst/>
          </a:prstGeom>
        </p:spPr>
        <p:txBody>
          <a:bodyPr anchor="t" rtlCol="false" tIns="0" lIns="0" bIns="0" rIns="0">
            <a:spAutoFit/>
          </a:bodyPr>
          <a:lstStyle/>
          <a:p>
            <a:pPr algn="l">
              <a:lnSpc>
                <a:spcPts val="2520"/>
              </a:lnSpc>
            </a:pPr>
            <a:r>
              <a:rPr lang="en-US" sz="2100" b="true">
                <a:solidFill>
                  <a:srgbClr val="FFFFFF"/>
                </a:solidFill>
                <a:latin typeface="Arial Bold"/>
                <a:ea typeface="Arial Bold"/>
                <a:cs typeface="Arial Bold"/>
                <a:sym typeface="Arial Bold"/>
              </a:rPr>
              <a:t>Vulnerability detection</a:t>
            </a:r>
          </a:p>
        </p:txBody>
      </p:sp>
      <p:sp>
        <p:nvSpPr>
          <p:cNvPr name="TextBox 30" id="30"/>
          <p:cNvSpPr txBox="true"/>
          <p:nvPr/>
        </p:nvSpPr>
        <p:spPr>
          <a:xfrm rot="0">
            <a:off x="5573154" y="5947410"/>
            <a:ext cx="3131706" cy="1226058"/>
          </a:xfrm>
          <a:prstGeom prst="rect">
            <a:avLst/>
          </a:prstGeom>
        </p:spPr>
        <p:txBody>
          <a:bodyPr anchor="t" rtlCol="false" tIns="0" lIns="0" bIns="0" rIns="0">
            <a:spAutoFit/>
          </a:bodyPr>
          <a:lstStyle/>
          <a:p>
            <a:pPr algn="l">
              <a:lnSpc>
                <a:spcPts val="2160"/>
              </a:lnSpc>
            </a:pPr>
            <a:r>
              <a:rPr lang="en-US" sz="1800">
                <a:solidFill>
                  <a:srgbClr val="E9EEEA"/>
                </a:solidFill>
                <a:latin typeface="Arial"/>
                <a:ea typeface="Arial"/>
                <a:cs typeface="Arial"/>
                <a:sym typeface="Arial"/>
              </a:rPr>
              <a:t>Detect issues such as broken access control, authentication weaknesses, and injection vulnerabilities.</a:t>
            </a:r>
          </a:p>
        </p:txBody>
      </p:sp>
      <p:grpSp>
        <p:nvGrpSpPr>
          <p:cNvPr name="Group 31" id="31"/>
          <p:cNvGrpSpPr/>
          <p:nvPr/>
        </p:nvGrpSpPr>
        <p:grpSpPr>
          <a:xfrm rot="0">
            <a:off x="9339986" y="4311015"/>
            <a:ext cx="3767976" cy="2967990"/>
            <a:chOff x="0" y="0"/>
            <a:chExt cx="5023968" cy="3957320"/>
          </a:xfrm>
        </p:grpSpPr>
        <p:sp>
          <p:nvSpPr>
            <p:cNvPr name="Freeform 32" id="32"/>
            <p:cNvSpPr/>
            <p:nvPr/>
          </p:nvSpPr>
          <p:spPr>
            <a:xfrm flipH="false" flipV="false" rot="0">
              <a:off x="0" y="0"/>
              <a:ext cx="5023993" cy="3957320"/>
            </a:xfrm>
            <a:custGeom>
              <a:avLst/>
              <a:gdLst/>
              <a:ahLst/>
              <a:cxnLst/>
              <a:rect r="r" b="b" t="t" l="l"/>
              <a:pathLst>
                <a:path h="3957320" w="5023993">
                  <a:moveTo>
                    <a:pt x="0" y="368173"/>
                  </a:moveTo>
                  <a:cubicBezTo>
                    <a:pt x="0" y="164846"/>
                    <a:pt x="164846" y="0"/>
                    <a:pt x="368173" y="0"/>
                  </a:cubicBezTo>
                  <a:lnTo>
                    <a:pt x="4655820" y="0"/>
                  </a:lnTo>
                  <a:cubicBezTo>
                    <a:pt x="4859147" y="0"/>
                    <a:pt x="5023993" y="164846"/>
                    <a:pt x="5023993" y="368173"/>
                  </a:cubicBezTo>
                  <a:lnTo>
                    <a:pt x="5023993" y="3589147"/>
                  </a:lnTo>
                  <a:cubicBezTo>
                    <a:pt x="5023993" y="3792474"/>
                    <a:pt x="4859147" y="3957320"/>
                    <a:pt x="4655820" y="3957320"/>
                  </a:cubicBezTo>
                  <a:lnTo>
                    <a:pt x="368173" y="3957320"/>
                  </a:lnTo>
                  <a:cubicBezTo>
                    <a:pt x="164846" y="3957320"/>
                    <a:pt x="0" y="3792474"/>
                    <a:pt x="0" y="3589147"/>
                  </a:cubicBezTo>
                  <a:close/>
                </a:path>
              </a:pathLst>
            </a:custGeom>
            <a:solidFill>
              <a:srgbClr val="00461A"/>
            </a:solidFill>
            <a:ln w="19050" cap="sq">
              <a:solidFill>
                <a:srgbClr val="00461A"/>
              </a:solidFill>
              <a:prstDash val="solid"/>
              <a:miter/>
            </a:ln>
          </p:spPr>
        </p:sp>
      </p:grpSp>
      <p:grpSp>
        <p:nvGrpSpPr>
          <p:cNvPr name="Group 33" id="33"/>
          <p:cNvGrpSpPr/>
          <p:nvPr/>
        </p:nvGrpSpPr>
        <p:grpSpPr>
          <a:xfrm rot="0">
            <a:off x="9733559" y="4622292"/>
            <a:ext cx="466344" cy="466344"/>
            <a:chOff x="0" y="0"/>
            <a:chExt cx="621792" cy="621792"/>
          </a:xfrm>
        </p:grpSpPr>
        <p:sp>
          <p:nvSpPr>
            <p:cNvPr name="Freeform 34" id="34" descr="Security verification icon"/>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6"/>
              <a:stretch>
                <a:fillRect l="0" t="0" r="0" b="0"/>
              </a:stretch>
            </a:blipFill>
          </p:spPr>
        </p:sp>
      </p:grpSp>
      <p:sp>
        <p:nvSpPr>
          <p:cNvPr name="TextBox 35" id="35"/>
          <p:cNvSpPr txBox="true"/>
          <p:nvPr/>
        </p:nvSpPr>
        <p:spPr>
          <a:xfrm rot="0">
            <a:off x="9733559" y="5202555"/>
            <a:ext cx="3131706" cy="763905"/>
          </a:xfrm>
          <a:prstGeom prst="rect">
            <a:avLst/>
          </a:prstGeom>
        </p:spPr>
        <p:txBody>
          <a:bodyPr anchor="t" rtlCol="false" tIns="0" lIns="0" bIns="0" rIns="0">
            <a:spAutoFit/>
          </a:bodyPr>
          <a:lstStyle/>
          <a:p>
            <a:pPr algn="l">
              <a:lnSpc>
                <a:spcPts val="2520"/>
              </a:lnSpc>
            </a:pPr>
            <a:r>
              <a:rPr lang="en-US" sz="2100" b="true">
                <a:solidFill>
                  <a:srgbClr val="FFFFFF"/>
                </a:solidFill>
                <a:latin typeface="Arial Bold"/>
                <a:ea typeface="Arial Bold"/>
                <a:cs typeface="Arial Bold"/>
                <a:sym typeface="Arial Bold"/>
              </a:rPr>
              <a:t>Security verification</a:t>
            </a:r>
          </a:p>
        </p:txBody>
      </p:sp>
      <p:sp>
        <p:nvSpPr>
          <p:cNvPr name="TextBox 36" id="36"/>
          <p:cNvSpPr txBox="true"/>
          <p:nvPr/>
        </p:nvSpPr>
        <p:spPr>
          <a:xfrm rot="0">
            <a:off x="9733559" y="5947410"/>
            <a:ext cx="3131706" cy="1226058"/>
          </a:xfrm>
          <a:prstGeom prst="rect">
            <a:avLst/>
          </a:prstGeom>
        </p:spPr>
        <p:txBody>
          <a:bodyPr anchor="t" rtlCol="false" tIns="0" lIns="0" bIns="0" rIns="0">
            <a:spAutoFit/>
          </a:bodyPr>
          <a:lstStyle/>
          <a:p>
            <a:pPr algn="l">
              <a:lnSpc>
                <a:spcPts val="2160"/>
              </a:lnSpc>
            </a:pPr>
            <a:r>
              <a:rPr lang="en-US" sz="1800">
                <a:solidFill>
                  <a:srgbClr val="E9EEEA"/>
                </a:solidFill>
                <a:latin typeface="Arial"/>
                <a:ea typeface="Arial"/>
                <a:cs typeface="Arial"/>
                <a:sym typeface="Arial"/>
              </a:rPr>
              <a:t>Validate suspected vulnerabilities through safe, controlled reproduction and evidence-based reporting.</a:t>
            </a:r>
          </a:p>
        </p:txBody>
      </p:sp>
      <p:grpSp>
        <p:nvGrpSpPr>
          <p:cNvPr name="Group 37" id="37"/>
          <p:cNvGrpSpPr/>
          <p:nvPr/>
        </p:nvGrpSpPr>
        <p:grpSpPr>
          <a:xfrm rot="0">
            <a:off x="13500392" y="4311015"/>
            <a:ext cx="3767976" cy="2967990"/>
            <a:chOff x="0" y="0"/>
            <a:chExt cx="5023968" cy="3957320"/>
          </a:xfrm>
        </p:grpSpPr>
        <p:sp>
          <p:nvSpPr>
            <p:cNvPr name="Freeform 38" id="38"/>
            <p:cNvSpPr/>
            <p:nvPr/>
          </p:nvSpPr>
          <p:spPr>
            <a:xfrm flipH="false" flipV="false" rot="0">
              <a:off x="0" y="0"/>
              <a:ext cx="5023993" cy="3957320"/>
            </a:xfrm>
            <a:custGeom>
              <a:avLst/>
              <a:gdLst/>
              <a:ahLst/>
              <a:cxnLst/>
              <a:rect r="r" b="b" t="t" l="l"/>
              <a:pathLst>
                <a:path h="3957320" w="5023993">
                  <a:moveTo>
                    <a:pt x="0" y="368173"/>
                  </a:moveTo>
                  <a:cubicBezTo>
                    <a:pt x="0" y="164846"/>
                    <a:pt x="164846" y="0"/>
                    <a:pt x="368173" y="0"/>
                  </a:cubicBezTo>
                  <a:lnTo>
                    <a:pt x="4655820" y="0"/>
                  </a:lnTo>
                  <a:cubicBezTo>
                    <a:pt x="4859147" y="0"/>
                    <a:pt x="5023993" y="164846"/>
                    <a:pt x="5023993" y="368173"/>
                  </a:cubicBezTo>
                  <a:lnTo>
                    <a:pt x="5023993" y="3589147"/>
                  </a:lnTo>
                  <a:cubicBezTo>
                    <a:pt x="5023993" y="3792474"/>
                    <a:pt x="4859147" y="3957320"/>
                    <a:pt x="4655820" y="3957320"/>
                  </a:cubicBezTo>
                  <a:lnTo>
                    <a:pt x="368173" y="3957320"/>
                  </a:lnTo>
                  <a:cubicBezTo>
                    <a:pt x="164846" y="3957320"/>
                    <a:pt x="0" y="3792474"/>
                    <a:pt x="0" y="3589147"/>
                  </a:cubicBezTo>
                  <a:close/>
                </a:path>
              </a:pathLst>
            </a:custGeom>
            <a:solidFill>
              <a:srgbClr val="00461A"/>
            </a:solidFill>
            <a:ln w="19050" cap="sq">
              <a:solidFill>
                <a:srgbClr val="00461A"/>
              </a:solidFill>
              <a:prstDash val="solid"/>
              <a:miter/>
            </a:ln>
          </p:spPr>
        </p:sp>
      </p:grpSp>
      <p:grpSp>
        <p:nvGrpSpPr>
          <p:cNvPr name="Group 39" id="39"/>
          <p:cNvGrpSpPr/>
          <p:nvPr/>
        </p:nvGrpSpPr>
        <p:grpSpPr>
          <a:xfrm rot="0">
            <a:off x="13893965" y="4622292"/>
            <a:ext cx="466344" cy="466344"/>
            <a:chOff x="0" y="0"/>
            <a:chExt cx="621792" cy="621792"/>
          </a:xfrm>
        </p:grpSpPr>
        <p:sp>
          <p:nvSpPr>
            <p:cNvPr name="Freeform 40" id="40" descr="Unified testing framework icon"/>
            <p:cNvSpPr/>
            <p:nvPr/>
          </p:nvSpPr>
          <p:spPr>
            <a:xfrm flipH="false" flipV="false" rot="0">
              <a:off x="0" y="0"/>
              <a:ext cx="621792" cy="621792"/>
            </a:xfrm>
            <a:custGeom>
              <a:avLst/>
              <a:gdLst/>
              <a:ahLst/>
              <a:cxnLst/>
              <a:rect r="r" b="b" t="t" l="l"/>
              <a:pathLst>
                <a:path h="621792" w="621792">
                  <a:moveTo>
                    <a:pt x="0" y="0"/>
                  </a:moveTo>
                  <a:lnTo>
                    <a:pt x="621792" y="0"/>
                  </a:lnTo>
                  <a:lnTo>
                    <a:pt x="621792" y="621792"/>
                  </a:lnTo>
                  <a:lnTo>
                    <a:pt x="0" y="621792"/>
                  </a:lnTo>
                  <a:lnTo>
                    <a:pt x="0" y="0"/>
                  </a:lnTo>
                  <a:close/>
                </a:path>
              </a:pathLst>
            </a:custGeom>
            <a:blipFill>
              <a:blip r:embed="rId7"/>
              <a:stretch>
                <a:fillRect l="0" t="0" r="0" b="0"/>
              </a:stretch>
            </a:blipFill>
          </p:spPr>
        </p:sp>
      </p:grpSp>
      <p:sp>
        <p:nvSpPr>
          <p:cNvPr name="TextBox 41" id="41"/>
          <p:cNvSpPr txBox="true"/>
          <p:nvPr/>
        </p:nvSpPr>
        <p:spPr>
          <a:xfrm rot="0">
            <a:off x="13893965" y="5202555"/>
            <a:ext cx="3131706" cy="763905"/>
          </a:xfrm>
          <a:prstGeom prst="rect">
            <a:avLst/>
          </a:prstGeom>
        </p:spPr>
        <p:txBody>
          <a:bodyPr anchor="t" rtlCol="false" tIns="0" lIns="0" bIns="0" rIns="0">
            <a:spAutoFit/>
          </a:bodyPr>
          <a:lstStyle/>
          <a:p>
            <a:pPr algn="l">
              <a:lnSpc>
                <a:spcPts val="2520"/>
              </a:lnSpc>
            </a:pPr>
            <a:r>
              <a:rPr lang="en-US" sz="2100" b="true">
                <a:solidFill>
                  <a:srgbClr val="FFFFFF"/>
                </a:solidFill>
                <a:latin typeface="Arial Bold"/>
                <a:ea typeface="Arial Bold"/>
                <a:cs typeface="Arial Bold"/>
                <a:sym typeface="Arial Bold"/>
              </a:rPr>
              <a:t>Unified testing framework</a:t>
            </a:r>
          </a:p>
        </p:txBody>
      </p:sp>
      <p:sp>
        <p:nvSpPr>
          <p:cNvPr name="TextBox 42" id="42"/>
          <p:cNvSpPr txBox="true"/>
          <p:nvPr/>
        </p:nvSpPr>
        <p:spPr>
          <a:xfrm rot="0">
            <a:off x="13893965" y="5947410"/>
            <a:ext cx="3131706" cy="1226058"/>
          </a:xfrm>
          <a:prstGeom prst="rect">
            <a:avLst/>
          </a:prstGeom>
        </p:spPr>
        <p:txBody>
          <a:bodyPr anchor="t" rtlCol="false" tIns="0" lIns="0" bIns="0" rIns="0">
            <a:spAutoFit/>
          </a:bodyPr>
          <a:lstStyle/>
          <a:p>
            <a:pPr algn="l">
              <a:lnSpc>
                <a:spcPts val="2160"/>
              </a:lnSpc>
            </a:pPr>
            <a:r>
              <a:rPr lang="en-US" sz="1800">
                <a:solidFill>
                  <a:srgbClr val="E9EEEA"/>
                </a:solidFill>
                <a:latin typeface="Arial"/>
                <a:ea typeface="Arial"/>
                <a:cs typeface="Arial"/>
                <a:sym typeface="Arial"/>
              </a:rPr>
              <a:t>Combine functional fault detection and security testing within a single autonomous platform.</a:t>
            </a:r>
          </a:p>
        </p:txBody>
      </p:sp>
      <p:grpSp>
        <p:nvGrpSpPr>
          <p:cNvPr name="Group 43" id="43"/>
          <p:cNvGrpSpPr/>
          <p:nvPr/>
        </p:nvGrpSpPr>
        <p:grpSpPr>
          <a:xfrm rot="0">
            <a:off x="1028700" y="7612380"/>
            <a:ext cx="7680960" cy="480060"/>
            <a:chOff x="0" y="0"/>
            <a:chExt cx="10241280" cy="640080"/>
          </a:xfrm>
        </p:grpSpPr>
        <p:sp>
          <p:nvSpPr>
            <p:cNvPr name="Freeform 44" id="44"/>
            <p:cNvSpPr/>
            <p:nvPr/>
          </p:nvSpPr>
          <p:spPr>
            <a:xfrm flipH="false" flipV="false" rot="0">
              <a:off x="0" y="0"/>
              <a:ext cx="10241280" cy="640080"/>
            </a:xfrm>
            <a:custGeom>
              <a:avLst/>
              <a:gdLst/>
              <a:ahLst/>
              <a:cxnLst/>
              <a:rect r="r" b="b" t="t" l="l"/>
              <a:pathLst>
                <a:path h="640080" w="10241280">
                  <a:moveTo>
                    <a:pt x="0" y="0"/>
                  </a:moveTo>
                  <a:lnTo>
                    <a:pt x="10241280" y="0"/>
                  </a:lnTo>
                  <a:lnTo>
                    <a:pt x="10241280" y="640080"/>
                  </a:lnTo>
                  <a:lnTo>
                    <a:pt x="0" y="640080"/>
                  </a:lnTo>
                  <a:close/>
                </a:path>
              </a:pathLst>
            </a:custGeom>
            <a:blipFill>
              <a:blip r:embed="rId3">
                <a:alphaModFix amt="0"/>
              </a:blip>
              <a:stretch>
                <a:fillRect l="0" t="-261760" r="0" b="-261760"/>
              </a:stretch>
            </a:blipFill>
          </p:spPr>
        </p:sp>
        <p:sp>
          <p:nvSpPr>
            <p:cNvPr name="TextBox 45" id="45"/>
            <p:cNvSpPr txBox="true"/>
            <p:nvPr/>
          </p:nvSpPr>
          <p:spPr>
            <a:xfrm>
              <a:off x="0" y="-9525"/>
              <a:ext cx="10241280" cy="649605"/>
            </a:xfrm>
            <a:prstGeom prst="rect">
              <a:avLst/>
            </a:prstGeom>
          </p:spPr>
          <p:txBody>
            <a:bodyPr anchor="ctr" rtlCol="false" tIns="0" lIns="0" bIns="0" rIns="0"/>
            <a:lstStyle/>
            <a:p>
              <a:pPr algn="l">
                <a:lnSpc>
                  <a:spcPts val="2879"/>
                </a:lnSpc>
              </a:pPr>
              <a:r>
                <a:rPr lang="en-US" sz="2400" b="true">
                  <a:solidFill>
                    <a:srgbClr val="111111"/>
                  </a:solidFill>
                  <a:latin typeface="Arial Bold"/>
                  <a:ea typeface="Arial Bold"/>
                  <a:cs typeface="Arial Bold"/>
                  <a:sym typeface="Arial Bold"/>
                </a:rPr>
                <a:t>Additional Directions</a:t>
              </a:r>
            </a:p>
          </p:txBody>
        </p:sp>
      </p:grpSp>
      <p:sp>
        <p:nvSpPr>
          <p:cNvPr name="TextBox 46" id="46"/>
          <p:cNvSpPr txBox="true"/>
          <p:nvPr/>
        </p:nvSpPr>
        <p:spPr>
          <a:xfrm rot="0">
            <a:off x="1028700" y="8141970"/>
            <a:ext cx="7955280" cy="1390650"/>
          </a:xfrm>
          <a:prstGeom prst="rect">
            <a:avLst/>
          </a:prstGeom>
        </p:spPr>
        <p:txBody>
          <a:bodyPr anchor="t" rtlCol="false" tIns="0" lIns="0" bIns="0" rIns="0">
            <a:spAutoFit/>
          </a:bodyPr>
          <a:lstStyle/>
          <a:p>
            <a:pPr algn="l" marL="352901" indent="-176451" lvl="1">
              <a:lnSpc>
                <a:spcPts val="2340"/>
              </a:lnSpc>
              <a:buFont typeface="Arial"/>
              <a:buChar char="•"/>
            </a:pPr>
            <a:r>
              <a:rPr lang="en-US" sz="1950">
                <a:solidFill>
                  <a:srgbClr val="111111"/>
                </a:solidFill>
                <a:latin typeface="Arial"/>
                <a:ea typeface="Arial"/>
                <a:cs typeface="Arial"/>
                <a:sym typeface="Arial"/>
              </a:rPr>
              <a:t>Improve silent functional-bug detection and exploration coverage.</a:t>
            </a:r>
          </a:p>
          <a:p>
            <a:pPr algn="l" marL="352901" indent="-176451" lvl="1">
              <a:lnSpc>
                <a:spcPts val="2340"/>
              </a:lnSpc>
              <a:buFont typeface="Arial"/>
              <a:buChar char="•"/>
            </a:pPr>
            <a:r>
              <a:rPr lang="en-US" sz="1950">
                <a:solidFill>
                  <a:srgbClr val="111111"/>
                </a:solidFill>
                <a:latin typeface="Arial"/>
                <a:ea typeface="Arial"/>
                <a:cs typeface="Arial"/>
                <a:sym typeface="Arial"/>
              </a:rPr>
              <a:t>Evaluate the system on larger, independently developed applications.</a:t>
            </a:r>
          </a:p>
          <a:p>
            <a:pPr algn="l" marL="352901" indent="-176451" lvl="1">
              <a:lnSpc>
                <a:spcPts val="2340"/>
              </a:lnSpc>
              <a:buFont typeface="Arial"/>
              <a:buChar char="•"/>
            </a:pPr>
            <a:r>
              <a:rPr lang="en-US" sz="1950">
                <a:solidFill>
                  <a:srgbClr val="111111"/>
                </a:solidFill>
                <a:latin typeface="Arial"/>
                <a:ea typeface="Arial"/>
                <a:cs typeface="Arial"/>
                <a:sym typeface="Arial"/>
              </a:rPr>
              <a:t>Strengthen sandbox isolation and testing reliability.</a:t>
            </a:r>
          </a:p>
        </p:txBody>
      </p:sp>
      <p:grpSp>
        <p:nvGrpSpPr>
          <p:cNvPr name="Group 47" id="47"/>
          <p:cNvGrpSpPr/>
          <p:nvPr/>
        </p:nvGrpSpPr>
        <p:grpSpPr>
          <a:xfrm rot="0">
            <a:off x="9385935" y="7602855"/>
            <a:ext cx="7882433" cy="1939290"/>
            <a:chOff x="0" y="0"/>
            <a:chExt cx="10509910" cy="2585720"/>
          </a:xfrm>
        </p:grpSpPr>
        <p:sp>
          <p:nvSpPr>
            <p:cNvPr name="Freeform 48" id="48"/>
            <p:cNvSpPr/>
            <p:nvPr/>
          </p:nvSpPr>
          <p:spPr>
            <a:xfrm flipH="false" flipV="false" rot="0">
              <a:off x="0" y="0"/>
              <a:ext cx="10509886" cy="2585720"/>
            </a:xfrm>
            <a:custGeom>
              <a:avLst/>
              <a:gdLst/>
              <a:ahLst/>
              <a:cxnLst/>
              <a:rect r="r" b="b" t="t" l="l"/>
              <a:pathLst>
                <a:path h="2585720" w="10509886">
                  <a:moveTo>
                    <a:pt x="0" y="295529"/>
                  </a:moveTo>
                  <a:cubicBezTo>
                    <a:pt x="0" y="132334"/>
                    <a:pt x="132334" y="0"/>
                    <a:pt x="295529" y="0"/>
                  </a:cubicBezTo>
                  <a:lnTo>
                    <a:pt x="10214356" y="0"/>
                  </a:lnTo>
                  <a:cubicBezTo>
                    <a:pt x="10377551" y="0"/>
                    <a:pt x="10509886" y="132334"/>
                    <a:pt x="10509886" y="295529"/>
                  </a:cubicBezTo>
                  <a:lnTo>
                    <a:pt x="10509886" y="2290191"/>
                  </a:lnTo>
                  <a:cubicBezTo>
                    <a:pt x="10509886" y="2453386"/>
                    <a:pt x="10377551" y="2585720"/>
                    <a:pt x="10214356" y="2585720"/>
                  </a:cubicBezTo>
                  <a:lnTo>
                    <a:pt x="295529" y="2585720"/>
                  </a:lnTo>
                  <a:cubicBezTo>
                    <a:pt x="132334" y="2585720"/>
                    <a:pt x="0" y="2453386"/>
                    <a:pt x="0" y="2290191"/>
                  </a:cubicBezTo>
                  <a:close/>
                </a:path>
              </a:pathLst>
            </a:custGeom>
            <a:solidFill>
              <a:srgbClr val="DDE5DF"/>
            </a:solidFill>
            <a:ln w="19050" cap="sq">
              <a:solidFill>
                <a:srgbClr val="DDE5DF"/>
              </a:solidFill>
              <a:prstDash val="solid"/>
              <a:miter/>
            </a:ln>
          </p:spPr>
        </p:sp>
      </p:grpSp>
      <p:grpSp>
        <p:nvGrpSpPr>
          <p:cNvPr name="Group 49" id="49"/>
          <p:cNvGrpSpPr/>
          <p:nvPr/>
        </p:nvGrpSpPr>
        <p:grpSpPr>
          <a:xfrm rot="0">
            <a:off x="9806940" y="7612380"/>
            <a:ext cx="7040423" cy="1920240"/>
            <a:chOff x="0" y="0"/>
            <a:chExt cx="9387230" cy="2560320"/>
          </a:xfrm>
        </p:grpSpPr>
        <p:sp>
          <p:nvSpPr>
            <p:cNvPr name="Freeform 50" id="50"/>
            <p:cNvSpPr/>
            <p:nvPr/>
          </p:nvSpPr>
          <p:spPr>
            <a:xfrm flipH="false" flipV="false" rot="0">
              <a:off x="0" y="0"/>
              <a:ext cx="9387230" cy="2560320"/>
            </a:xfrm>
            <a:custGeom>
              <a:avLst/>
              <a:gdLst/>
              <a:ahLst/>
              <a:cxnLst/>
              <a:rect r="r" b="b" t="t" l="l"/>
              <a:pathLst>
                <a:path h="2560320" w="9387230">
                  <a:moveTo>
                    <a:pt x="0" y="0"/>
                  </a:moveTo>
                  <a:lnTo>
                    <a:pt x="9387230" y="0"/>
                  </a:lnTo>
                  <a:lnTo>
                    <a:pt x="9387230" y="2560320"/>
                  </a:lnTo>
                  <a:lnTo>
                    <a:pt x="0" y="2560320"/>
                  </a:lnTo>
                  <a:close/>
                </a:path>
              </a:pathLst>
            </a:custGeom>
            <a:blipFill>
              <a:blip r:embed="rId3">
                <a:alphaModFix amt="0"/>
              </a:blip>
              <a:stretch>
                <a:fillRect l="0" t="-21440" r="0" b="-21440"/>
              </a:stretch>
            </a:blipFill>
          </p:spPr>
        </p:sp>
        <p:sp>
          <p:nvSpPr>
            <p:cNvPr name="TextBox 51" id="51"/>
            <p:cNvSpPr txBox="true"/>
            <p:nvPr/>
          </p:nvSpPr>
          <p:spPr>
            <a:xfrm>
              <a:off x="0" y="-38100"/>
              <a:ext cx="9387230" cy="2598420"/>
            </a:xfrm>
            <a:prstGeom prst="rect">
              <a:avLst/>
            </a:prstGeom>
          </p:spPr>
          <p:txBody>
            <a:bodyPr anchor="ctr" rtlCol="false" tIns="0" lIns="0" bIns="0" rIns="0"/>
            <a:lstStyle/>
            <a:p>
              <a:pPr algn="l">
                <a:lnSpc>
                  <a:spcPts val="2574"/>
                </a:lnSpc>
              </a:pPr>
              <a:r>
                <a:rPr lang="en-US" sz="1950" b="true">
                  <a:solidFill>
                    <a:srgbClr val="00461A"/>
                  </a:solidFill>
                  <a:latin typeface="Arial Bold"/>
                  <a:ea typeface="Arial Bold"/>
                  <a:cs typeface="Arial Bold"/>
                  <a:sym typeface="Arial Bold"/>
                </a:rPr>
                <a:t>Long-term Vision: </a:t>
              </a:r>
              <a:r>
                <a:rPr lang="en-US" sz="1950">
                  <a:solidFill>
                    <a:srgbClr val="111111"/>
                  </a:solidFill>
                  <a:latin typeface="Arial"/>
                  <a:ea typeface="Arial"/>
                  <a:cs typeface="Arial"/>
                  <a:sym typeface="Arial"/>
                </a:rPr>
                <a:t>Evolve Katalyze from an autonomous functional testing agent into a comprehensive web application testing system capable of detecting and verifying both functional bugs and security vulnerabilities.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grpSp>
        <p:nvGrpSpPr>
          <p:cNvPr name="Group 14" id="14"/>
          <p:cNvGrpSpPr/>
          <p:nvPr/>
        </p:nvGrpSpPr>
        <p:grpSpPr>
          <a:xfrm rot="0">
            <a:off x="960120" y="3017520"/>
            <a:ext cx="13716000" cy="5486400"/>
            <a:chOff x="0" y="0"/>
            <a:chExt cx="18288000" cy="7315200"/>
          </a:xfrm>
        </p:grpSpPr>
        <p:sp>
          <p:nvSpPr>
            <p:cNvPr name="Freeform 15" id="15"/>
            <p:cNvSpPr/>
            <p:nvPr/>
          </p:nvSpPr>
          <p:spPr>
            <a:xfrm flipH="false" flipV="false" rot="0">
              <a:off x="0" y="0"/>
              <a:ext cx="18288000" cy="7315200"/>
            </a:xfrm>
            <a:custGeom>
              <a:avLst/>
              <a:gdLst/>
              <a:ahLst/>
              <a:cxnLst/>
              <a:rect r="r" b="b" t="t" l="l"/>
              <a:pathLst>
                <a:path h="7315200" w="18288000">
                  <a:moveTo>
                    <a:pt x="0" y="0"/>
                  </a:moveTo>
                  <a:lnTo>
                    <a:pt x="18288000" y="0"/>
                  </a:lnTo>
                  <a:lnTo>
                    <a:pt x="18288000" y="7315200"/>
                  </a:lnTo>
                  <a:lnTo>
                    <a:pt x="0" y="7315200"/>
                  </a:lnTo>
                  <a:close/>
                </a:path>
              </a:pathLst>
            </a:custGeom>
            <a:blipFill>
              <a:blip r:embed="rId3">
                <a:alphaModFix amt="0"/>
              </a:blip>
              <a:stretch>
                <a:fillRect l="-1321" t="0" r="-1321" b="0"/>
              </a:stretch>
            </a:blipFill>
          </p:spPr>
        </p:sp>
        <p:sp>
          <p:nvSpPr>
            <p:cNvPr name="TextBox 16" id="16"/>
            <p:cNvSpPr txBox="true"/>
            <p:nvPr/>
          </p:nvSpPr>
          <p:spPr>
            <a:xfrm>
              <a:off x="0" y="257175"/>
              <a:ext cx="18288000" cy="7058025"/>
            </a:xfrm>
            <a:prstGeom prst="rect">
              <a:avLst/>
            </a:prstGeom>
          </p:spPr>
          <p:txBody>
            <a:bodyPr anchor="b" rtlCol="false" tIns="0" lIns="0" bIns="0" rIns="0"/>
            <a:lstStyle/>
            <a:p>
              <a:pPr algn="l">
                <a:lnSpc>
                  <a:spcPts val="19584"/>
                </a:lnSpc>
              </a:pPr>
              <a:r>
                <a:rPr lang="en-US" sz="19200">
                  <a:solidFill>
                    <a:srgbClr val="111111"/>
                  </a:solidFill>
                  <a:latin typeface="Arial"/>
                  <a:ea typeface="Arial"/>
                  <a:cs typeface="Arial"/>
                  <a:sym typeface="Arial"/>
                </a:rPr>
                <a:t>THANK</a:t>
              </a:r>
            </a:p>
            <a:p>
              <a:pPr algn="l">
                <a:lnSpc>
                  <a:spcPts val="19584"/>
                </a:lnSpc>
              </a:pPr>
              <a:r>
                <a:rPr lang="en-US" sz="19200">
                  <a:solidFill>
                    <a:srgbClr val="111111"/>
                  </a:solidFill>
                  <a:latin typeface="Arial"/>
                  <a:ea typeface="Arial"/>
                  <a:cs typeface="Arial"/>
                  <a:sym typeface="Arial"/>
                </a:rPr>
                <a:t>YOU</a:t>
              </a:r>
            </a:p>
          </p:txBody>
        </p:sp>
      </p:grpSp>
      <p:sp>
        <p:nvSpPr>
          <p:cNvPr name="AutoShape 17" id="17"/>
          <p:cNvSpPr/>
          <p:nvPr/>
        </p:nvSpPr>
        <p:spPr>
          <a:xfrm rot="2700000">
            <a:off x="14297054" y="7555611"/>
            <a:ext cx="3405311" cy="0"/>
          </a:xfrm>
          <a:prstGeom prst="line">
            <a:avLst/>
          </a:prstGeom>
          <a:ln cap="rnd" w="209550">
            <a:solidFill>
              <a:srgbClr val="111111"/>
            </a:solidFill>
            <a:prstDash val="solid"/>
            <a:headEnd type="none" len="sm" w="sm"/>
            <a:tailEnd type="none" len="sm" w="sm"/>
          </a:ln>
        </p:spPr>
      </p:sp>
      <p:grpSp>
        <p:nvGrpSpPr>
          <p:cNvPr name="Group 18" id="18"/>
          <p:cNvGrpSpPr/>
          <p:nvPr/>
        </p:nvGrpSpPr>
        <p:grpSpPr>
          <a:xfrm rot="0">
            <a:off x="15352395" y="8576691"/>
            <a:ext cx="1911858" cy="348234"/>
            <a:chOff x="0" y="0"/>
            <a:chExt cx="2549144" cy="464312"/>
          </a:xfrm>
        </p:grpSpPr>
        <p:sp>
          <p:nvSpPr>
            <p:cNvPr name="Freeform 19" id="19"/>
            <p:cNvSpPr/>
            <p:nvPr/>
          </p:nvSpPr>
          <p:spPr>
            <a:xfrm flipH="false" flipV="false" rot="0">
              <a:off x="0" y="0"/>
              <a:ext cx="2549144" cy="464312"/>
            </a:xfrm>
            <a:custGeom>
              <a:avLst/>
              <a:gdLst/>
              <a:ahLst/>
              <a:cxnLst/>
              <a:rect r="r" b="b" t="t" l="l"/>
              <a:pathLst>
                <a:path h="464312" w="2549144">
                  <a:moveTo>
                    <a:pt x="0" y="0"/>
                  </a:moveTo>
                  <a:lnTo>
                    <a:pt x="2549144" y="0"/>
                  </a:lnTo>
                  <a:lnTo>
                    <a:pt x="2549144" y="464312"/>
                  </a:lnTo>
                  <a:lnTo>
                    <a:pt x="0" y="464312"/>
                  </a:lnTo>
                  <a:close/>
                </a:path>
              </a:pathLst>
            </a:custGeom>
            <a:solidFill>
              <a:srgbClr val="111111"/>
            </a:solidFill>
            <a:ln w="19050" cap="sq">
              <a:solidFill>
                <a:srgbClr val="111111"/>
              </a:solidFill>
              <a:prstDash val="solid"/>
              <a:miter/>
            </a:ln>
          </p:spPr>
        </p:sp>
      </p:grpSp>
      <p:grpSp>
        <p:nvGrpSpPr>
          <p:cNvPr name="Group 20" id="20"/>
          <p:cNvGrpSpPr/>
          <p:nvPr/>
        </p:nvGrpSpPr>
        <p:grpSpPr>
          <a:xfrm rot="0">
            <a:off x="16916019" y="6491859"/>
            <a:ext cx="348234" cy="2433066"/>
            <a:chOff x="0" y="0"/>
            <a:chExt cx="464312" cy="3244088"/>
          </a:xfrm>
        </p:grpSpPr>
        <p:sp>
          <p:nvSpPr>
            <p:cNvPr name="Freeform 21" id="21"/>
            <p:cNvSpPr/>
            <p:nvPr/>
          </p:nvSpPr>
          <p:spPr>
            <a:xfrm flipH="false" flipV="false" rot="0">
              <a:off x="0" y="0"/>
              <a:ext cx="464312" cy="3244088"/>
            </a:xfrm>
            <a:custGeom>
              <a:avLst/>
              <a:gdLst/>
              <a:ahLst/>
              <a:cxnLst/>
              <a:rect r="r" b="b" t="t" l="l"/>
              <a:pathLst>
                <a:path h="3244088" w="464312">
                  <a:moveTo>
                    <a:pt x="0" y="0"/>
                  </a:moveTo>
                  <a:lnTo>
                    <a:pt x="464312" y="0"/>
                  </a:lnTo>
                  <a:lnTo>
                    <a:pt x="464312" y="3244088"/>
                  </a:lnTo>
                  <a:lnTo>
                    <a:pt x="0" y="3244088"/>
                  </a:lnTo>
                  <a:close/>
                </a:path>
              </a:pathLst>
            </a:custGeom>
            <a:solidFill>
              <a:srgbClr val="111111"/>
            </a:solidFill>
            <a:ln w="19050" cap="sq">
              <a:solidFill>
                <a:srgbClr val="111111"/>
              </a:solidFill>
              <a:prstDash val="solid"/>
              <a:miter/>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RANDOM EXPLORATION</a:t>
            </a:r>
          </a:p>
        </p:txBody>
      </p:sp>
      <p:sp>
        <p:nvSpPr>
          <p:cNvPr id="201" name="Text 201"/>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Approach 1 of 5  ·  the baseline every tester has to beat</a:t>
            </a:r>
            <a:endParaRPr lang="en-US" sz="1800" dirty="0"/>
          </a:p>
        </p:txBody>
      </p:sp>
      <p:sp>
        <p:nvSpPr>
          <p:cNvPr id="202" name="Card 202"/>
          <p:cNvSpPr/>
          <p:nvPr/>
        </p:nvSpPr>
        <p:spPr>
          <a:xfrm>
            <a:off x="1028700" y="3246120"/>
            <a:ext cx="7635240" cy="3291840"/>
          </a:xfrm>
          <a:prstGeom prst="roundRect">
            <a:avLst>
              <a:gd name="adj" fmla="val 6000"/>
            </a:avLst>
          </a:prstGeom>
          <a:solidFill>
            <a:srgbClr val="00461A"/>
          </a:solidFill>
          <a:ln>
            <a:noFill/>
          </a:ln>
        </p:spPr>
        <p:txBody>
          <a:bodyPr wrap="square" lIns="365760" tIns="292608" rIns="365760" bIns="228600" anchor="t" rtlCol="0">
            <a:noAutofit/>
          </a:bodyPr>
          <a:lstStyle/>
          <a:p>
            <a:pPr algn="l">
              <a:spcAft>
                <a:spcPts val="400"/>
              </a:spcAft>
              <a:buNone/>
            </a:pPr>
            <a:r>
              <a:rPr lang="en-US" sz="1600" b="1" dirty="0">
                <a:solidFill>
                  <a:srgbClr val="A8D5B2"/>
                </a:solidFill>
                <a:latin typeface="Arial Bold"/>
                <a:cs typeface="Arial Bold"/>
              </a:rPr>
              <a:t>WHAT IT IS</a:t>
            </a:r>
            <a:endParaRPr lang="en-US" sz="1800" dirty="0"/>
          </a:p>
          <a:p>
            <a:pPr algn="l">
              <a:lnSpc>
                <a:spcPct val="105000"/>
              </a:lnSpc>
              <a:spcAft>
                <a:spcPts val="1000"/>
              </a:spcAft>
              <a:buNone/>
            </a:pPr>
            <a:r>
              <a:rPr lang="en-US" sz="1800" dirty="0">
                <a:solidFill>
                  <a:srgbClr val="FFFFFF"/>
                </a:solidFill>
                <a:latin typeface="Arial"/>
                <a:cs typeface="Arial"/>
              </a:rPr>
              <a:t>At every step, pick one of the actions available on the current page uniformly at random. No memory, no structure, no learning.</a:t>
            </a:r>
            <a:endParaRPr lang="en-US" sz="1800" dirty="0"/>
          </a:p>
          <a:p>
            <a:pPr algn="l">
              <a:spcAft>
                <a:spcPts val="400"/>
              </a:spcAft>
              <a:buNone/>
            </a:pPr>
            <a:r>
              <a:rPr lang="en-US" sz="1600" b="1" dirty="0">
                <a:solidFill>
                  <a:srgbClr val="A8D5B2"/>
                </a:solidFill>
                <a:latin typeface="Arial Bold"/>
                <a:cs typeface="Arial Bold"/>
              </a:rPr>
              <a:t>WHY WE INCLUDE IT</a:t>
            </a:r>
            <a:endParaRPr lang="en-US" sz="1800" dirty="0"/>
          </a:p>
          <a:p>
            <a:pPr algn="l">
              <a:lnSpc>
                <a:spcPct val="105000"/>
              </a:lnSpc>
              <a:buNone/>
            </a:pPr>
            <a:r>
              <a:rPr lang="en-US" sz="1800" dirty="0">
                <a:solidFill>
                  <a:srgbClr val="FFFFFF"/>
                </a:solidFill>
                <a:latin typeface="Arial"/>
                <a:cs typeface="Arial"/>
              </a:rPr>
              <a:t>It is the honest yardstick: on applications with shallow faults, chance alone finds a lot, so every other approach must be compared with it.</a:t>
            </a:r>
            <a:endParaRPr lang="en-US" sz="1800" dirty="0"/>
          </a:p>
        </p:txBody>
      </p:sp>
      <p:sp>
        <p:nvSpPr>
          <p:cNvPr id="203" name="Card 203"/>
          <p:cNvSpPr/>
          <p:nvPr/>
        </p:nvSpPr>
        <p:spPr>
          <a:xfrm>
            <a:off x="1028700" y="6812280"/>
            <a:ext cx="7635240" cy="2880360"/>
          </a:xfrm>
          <a:prstGeom prst="roundRect">
            <a:avLst>
              <a:gd name="adj" fmla="val 6000"/>
            </a:avLst>
          </a:prstGeom>
          <a:solidFill>
            <a:srgbClr val="E9EEEA"/>
          </a:solidFill>
          <a:ln>
            <a:noFill/>
          </a:ln>
        </p:spPr>
        <p:txBody>
          <a:bodyPr wrap="square" lIns="365760" tIns="256032" rIns="365760" bIns="182880" anchor="t" rtlCol="0">
            <a:noAutofit/>
          </a:bodyPr>
          <a:lstStyle/>
          <a:p>
            <a:pPr algn="l">
              <a:spcAft>
                <a:spcPts val="400"/>
              </a:spcAft>
              <a:buNone/>
            </a:pPr>
            <a:r>
              <a:rPr lang="en-US" sz="1600" b="1" dirty="0">
                <a:solidFill>
                  <a:srgbClr val="3F8C50"/>
                </a:solidFill>
                <a:latin typeface="Arial Bold"/>
                <a:cs typeface="Arial Bold"/>
              </a:rPr>
              <a:t>HOW IT WORKS</a:t>
            </a:r>
            <a:endParaRPr lang="en-US" sz="180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List the valid actions on the page: links, buttons, fields, dropdowns</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Pick one uniformly at random and execute it in the browser</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Repeat until the interaction budget is spent</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Every finding passes the same verification as the other approaches</a:t>
            </a:r>
            <a:endParaRPr lang="en-US" sz="1750" dirty="0"/>
          </a:p>
        </p:txBody>
      </p:sp>
      <p:sp>
        <p:nvSpPr>
          <p:cNvPr id="204" name="Card 204"/>
          <p:cNvSpPr/>
          <p:nvPr/>
        </p:nvSpPr>
        <p:spPr>
          <a:xfrm>
            <a:off x="9029700" y="3246120"/>
            <a:ext cx="8229600" cy="6446520"/>
          </a:xfrm>
          <a:prstGeom prst="roundRect">
            <a:avLst>
              <a:gd name="adj" fmla="val 6000"/>
            </a:avLst>
          </a:prstGeom>
          <a:solidFill>
            <a:srgbClr val="FFFFFF"/>
          </a:solidFill>
          <a:ln w="15875">
            <a:solidFill>
              <a:srgbClr val="E2E6E3"/>
            </a:solidFill>
          </a:ln>
        </p:spPr>
        <p:txBody>
          <a:bodyPr wrap="square" lIns="411480" tIns="274320" rIns="411480" bIns="182880" anchor="t" rtlCol="0">
            <a:noAutofit/>
          </a:bodyPr>
          <a:lstStyle/>
          <a:p>
            <a:pPr algn="l">
              <a:spcAft>
                <a:spcPts val="400"/>
              </a:spcAft>
              <a:buNone/>
            </a:pPr>
            <a:r>
              <a:rPr lang="en-US" sz="1600" b="1" dirty="0">
                <a:solidFill>
                  <a:srgbClr val="3F8C50"/>
                </a:solidFill>
                <a:latin typeface="Arial Bold"/>
                <a:cs typeface="Arial Bold"/>
              </a:rPr>
              <a:t>THE MATHS</a:t>
            </a:r>
            <a:endParaRPr lang="en-US" sz="1800" dirty="0"/>
          </a:p>
        </p:txBody>
      </p:sp>
      <p:pic>
        <p:nvPicPr>
          <p:cNvPr id="205" name="Formula 205" descr="pi(a|s) = 1/|A(s)|"/>
          <p:cNvPicPr>
            <a:picLocks noChangeAspect="1"/>
          </p:cNvPicPr>
          <p:nvPr/>
        </p:nvPicPr>
        <p:blipFill>
          <a:blip r:embed="rIdF1"/>
          <a:stretch>
            <a:fillRect/>
          </a:stretch>
        </p:blipFill>
        <p:spPr>
          <a:xfrm>
            <a:off x="9441180" y="4023360"/>
            <a:ext cx="2674620" cy="937260"/>
          </a:xfrm>
          <a:prstGeom prst="rect">
            <a:avLst/>
          </a:prstGeom>
        </p:spPr>
      </p:pic>
      <p:sp>
        <p:nvSpPr>
          <p:cNvPr id="206" name="Text 206"/>
          <p:cNvSpPr txBox="1"/>
          <p:nvPr/>
        </p:nvSpPr>
        <p:spPr>
          <a:xfrm>
            <a:off x="9441180" y="5052060"/>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A(s): the actions available on page s. Each one is equally likely, whatever happened before.</a:t>
            </a:r>
            <a:endParaRPr lang="en-US" sz="1750" dirty="0"/>
          </a:p>
        </p:txBody>
      </p:sp>
      <p:pic>
        <p:nvPicPr>
          <p:cNvPr id="207" name="Formula 207" descr="P(path) = product over i of 1/|A(s_i)|"/>
          <p:cNvPicPr>
            <a:picLocks noChangeAspect="1"/>
          </p:cNvPicPr>
          <p:nvPr/>
        </p:nvPicPr>
        <p:blipFill>
          <a:blip r:embed="rIdF2"/>
          <a:stretch>
            <a:fillRect/>
          </a:stretch>
        </p:blipFill>
        <p:spPr>
          <a:xfrm>
            <a:off x="9441180" y="6085332"/>
            <a:ext cx="3479292" cy="1101852"/>
          </a:xfrm>
          <a:prstGeom prst="rect">
            <a:avLst/>
          </a:prstGeom>
        </p:spPr>
      </p:pic>
      <p:sp>
        <p:nvSpPr>
          <p:cNvPr id="208" name="Text 208"/>
          <p:cNvSpPr txBox="1"/>
          <p:nvPr/>
        </p:nvSpPr>
        <p:spPr>
          <a:xfrm>
            <a:off x="9441180" y="7278624"/>
            <a:ext cx="7406640" cy="1024128"/>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The chance of following one specific k-step path. With 10 actions per page, a fault 4 steps deep is reached with probability 1 in 10,000: why deep faults are rare for random exploration.</a:t>
            </a:r>
            <a:endParaRPr lang="en-US" sz="1750" dirty="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STRUCTURED EXPLORER</a:t>
            </a:r>
          </a:p>
        </p:txBody>
      </p:sp>
      <p:sp>
        <p:nvSpPr>
          <p:cNvPr id="209" name="Text 209"/>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Approach 2 of 5  ·  remember states, return to them exactly, test deliberately; no learning</a:t>
            </a:r>
            <a:endParaRPr lang="en-US" sz="1800" dirty="0"/>
          </a:p>
        </p:txBody>
      </p:sp>
      <p:sp>
        <p:nvSpPr>
          <p:cNvPr id="210" name="Card 210"/>
          <p:cNvSpPr/>
          <p:nvPr/>
        </p:nvSpPr>
        <p:spPr>
          <a:xfrm>
            <a:off x="1028700" y="3246120"/>
            <a:ext cx="7635240" cy="3108960"/>
          </a:xfrm>
          <a:prstGeom prst="roundRect">
            <a:avLst>
              <a:gd name="adj" fmla="val 6000"/>
            </a:avLst>
          </a:prstGeom>
          <a:solidFill>
            <a:srgbClr val="00461A"/>
          </a:solidFill>
          <a:ln>
            <a:noFill/>
          </a:ln>
        </p:spPr>
        <p:txBody>
          <a:bodyPr wrap="square" lIns="365760" tIns="292608" rIns="365760" bIns="228600" anchor="t" rtlCol="0">
            <a:noAutofit/>
          </a:bodyPr>
          <a:lstStyle/>
          <a:p>
            <a:pPr algn="l">
              <a:spcAft>
                <a:spcPts val="400"/>
              </a:spcAft>
              <a:buNone/>
            </a:pPr>
            <a:r>
              <a:rPr lang="en-US" sz="1600" b="1" dirty="0">
                <a:solidFill>
                  <a:srgbClr val="A8D5B2"/>
                </a:solidFill>
                <a:latin typeface="Arial Bold"/>
                <a:cs typeface="Arial Bold"/>
              </a:rPr>
              <a:t>WHAT IT IS</a:t>
            </a:r>
            <a:endParaRPr lang="en-US" sz="1800" dirty="0"/>
          </a:p>
          <a:p>
            <a:pPr algn="l">
              <a:lnSpc>
                <a:spcPct val="105000"/>
              </a:lnSpc>
              <a:spcAft>
                <a:spcPts val="1000"/>
              </a:spcAft>
              <a:buNone/>
            </a:pPr>
            <a:r>
              <a:rPr lang="en-US" sz="1800" dirty="0">
                <a:solidFill>
                  <a:srgbClr val="FFFFFF"/>
                </a:solidFill>
                <a:latin typeface="Arial"/>
                <a:cs typeface="Arial"/>
              </a:rPr>
              <a:t>Each page becomes an abstract state, a cell. The explorer keeps an archive of cells, picks one by its weight, replays the shortest path back to it, and applies a test operator there.</a:t>
            </a:r>
            <a:endParaRPr lang="en-US" sz="1800" dirty="0"/>
          </a:p>
          <a:p>
            <a:pPr algn="l">
              <a:spcAft>
                <a:spcPts val="400"/>
              </a:spcAft>
              <a:buNone/>
            </a:pPr>
            <a:r>
              <a:rPr lang="en-US" sz="1600" b="1" dirty="0">
                <a:solidFill>
                  <a:srgbClr val="A8D5B2"/>
                </a:solidFill>
                <a:latin typeface="Arial Bold"/>
                <a:cs typeface="Arial Bold"/>
              </a:rPr>
              <a:t>WHY WE INCLUDE IT</a:t>
            </a:r>
            <a:endParaRPr lang="en-US" sz="1800" dirty="0"/>
          </a:p>
          <a:p>
            <a:pPr algn="l">
              <a:lnSpc>
                <a:spcPct val="105000"/>
              </a:lnSpc>
              <a:buNone/>
            </a:pPr>
            <a:r>
              <a:rPr lang="en-US" sz="1800" dirty="0">
                <a:solidFill>
                  <a:srgbClr val="FFFFFF"/>
                </a:solidFill>
                <a:latin typeface="Arial"/>
                <a:cs typeface="Arial"/>
              </a:rPr>
              <a:t>Functional faults sit several steps into a workflow and need a deliberate deviation. This approach isolates what structure alone achieves.</a:t>
            </a:r>
            <a:endParaRPr lang="en-US" sz="1800" dirty="0"/>
          </a:p>
        </p:txBody>
      </p:sp>
      <p:sp>
        <p:nvSpPr>
          <p:cNvPr id="211" name="Card 211"/>
          <p:cNvSpPr/>
          <p:nvPr/>
        </p:nvSpPr>
        <p:spPr>
          <a:xfrm>
            <a:off x="1028700" y="6629400"/>
            <a:ext cx="7635240" cy="3063240"/>
          </a:xfrm>
          <a:prstGeom prst="roundRect">
            <a:avLst>
              <a:gd name="adj" fmla="val 6000"/>
            </a:avLst>
          </a:prstGeom>
          <a:solidFill>
            <a:srgbClr val="E9EEEA"/>
          </a:solidFill>
          <a:ln>
            <a:noFill/>
          </a:ln>
        </p:spPr>
        <p:txBody>
          <a:bodyPr wrap="square" lIns="365760" tIns="256032" rIns="365760" bIns="182880" anchor="t" rtlCol="0">
            <a:noAutofit/>
          </a:bodyPr>
          <a:lstStyle/>
          <a:p>
            <a:pPr algn="l">
              <a:spcAft>
                <a:spcPts val="400"/>
              </a:spcAft>
              <a:buNone/>
            </a:pPr>
            <a:r>
              <a:rPr lang="en-US" sz="1600" b="1" dirty="0">
                <a:solidFill>
                  <a:srgbClr val="3F8C50"/>
                </a:solidFill>
                <a:latin typeface="Arial Bold"/>
                <a:cs typeface="Arial Bold"/>
              </a:rPr>
              <a:t>HOW IT WORKS</a:t>
            </a:r>
            <a:endParaRPr lang="en-US" sz="180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Abstract the page into a cell: page kind, path, heading, form state</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Choose a cell with probability proportional to its weight w(c)</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Return to it exactly by replaying its shortest path</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Apply an untried test: complete a step, invalid input, edit after review, back or reload and resume, double submit</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Add every newly reached cell to the archive</a:t>
            </a:r>
            <a:endParaRPr lang="en-US" sz="1750" dirty="0"/>
          </a:p>
        </p:txBody>
      </p:sp>
      <p:sp>
        <p:nvSpPr>
          <p:cNvPr id="212" name="Card 212"/>
          <p:cNvSpPr/>
          <p:nvPr/>
        </p:nvSpPr>
        <p:spPr>
          <a:xfrm>
            <a:off x="9029700" y="3246120"/>
            <a:ext cx="8229600" cy="6446520"/>
          </a:xfrm>
          <a:prstGeom prst="roundRect">
            <a:avLst>
              <a:gd name="adj" fmla="val 6000"/>
            </a:avLst>
          </a:prstGeom>
          <a:solidFill>
            <a:srgbClr val="FFFFFF"/>
          </a:solidFill>
          <a:ln w="15875">
            <a:solidFill>
              <a:srgbClr val="E2E6E3"/>
            </a:solidFill>
          </a:ln>
        </p:spPr>
        <p:txBody>
          <a:bodyPr wrap="square" lIns="411480" tIns="274320" rIns="411480" bIns="182880" anchor="t" rtlCol="0">
            <a:noAutofit/>
          </a:bodyPr>
          <a:lstStyle/>
          <a:p>
            <a:pPr algn="l">
              <a:spcAft>
                <a:spcPts val="400"/>
              </a:spcAft>
              <a:buNone/>
            </a:pPr>
            <a:r>
              <a:rPr lang="en-US" sz="1600" b="1" dirty="0">
                <a:solidFill>
                  <a:srgbClr val="3F8C50"/>
                </a:solidFill>
                <a:latin typeface="Arial Bold"/>
                <a:cs typeface="Arial Bold"/>
              </a:rPr>
              <a:t>THE MATHS</a:t>
            </a:r>
            <a:endParaRPr lang="en-US" sz="1800" dirty="0"/>
          </a:p>
        </p:txBody>
      </p:sp>
      <p:pic>
        <p:nvPicPr>
          <p:cNvPr id="213" name="Formula 213" descr="P(return to c) = w(c) / sum of w"/>
          <p:cNvPicPr>
            <a:picLocks noChangeAspect="1"/>
          </p:cNvPicPr>
          <p:nvPr/>
        </p:nvPicPr>
        <p:blipFill>
          <a:blip r:embed="rIdF1"/>
          <a:stretch>
            <a:fillRect/>
          </a:stretch>
        </p:blipFill>
        <p:spPr>
          <a:xfrm>
            <a:off x="9441180" y="4023360"/>
            <a:ext cx="4265676" cy="1431036"/>
          </a:xfrm>
          <a:prstGeom prst="rect">
            <a:avLst/>
          </a:prstGeom>
        </p:spPr>
      </p:pic>
      <p:sp>
        <p:nvSpPr>
          <p:cNvPr id="214" name="Text 214"/>
          <p:cNvSpPr txBox="1"/>
          <p:nvPr/>
        </p:nvSpPr>
        <p:spPr>
          <a:xfrm>
            <a:off x="9441180" y="5545836"/>
            <a:ext cx="7406640" cy="402336"/>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Cells are chosen in proportion to their weight.</a:t>
            </a:r>
            <a:endParaRPr lang="en-US" sz="1750" dirty="0"/>
          </a:p>
        </p:txBody>
      </p:sp>
      <p:pic>
        <p:nvPicPr>
          <p:cNvPr id="215" name="Formula 215" descr="w(c) = 1/sqrt(1+n) * (1+min(u,10)/5) * 1/(1+2f) * rho * (1+2min(d,30)/30)"/>
          <p:cNvPicPr>
            <a:picLocks noChangeAspect="1"/>
          </p:cNvPicPr>
          <p:nvPr/>
        </p:nvPicPr>
        <p:blipFill>
          <a:blip r:embed="rIdF2"/>
          <a:stretch>
            <a:fillRect/>
          </a:stretch>
        </p:blipFill>
        <p:spPr>
          <a:xfrm>
            <a:off x="9441180" y="6268212"/>
            <a:ext cx="7406640" cy="704800"/>
          </a:xfrm>
          <a:prstGeom prst="rect">
            <a:avLst/>
          </a:prstGeom>
        </p:spPr>
      </p:pic>
      <p:sp>
        <p:nvSpPr>
          <p:cNvPr id="216" name="Text 216"/>
          <p:cNvSpPr txBox="1"/>
          <p:nvPr/>
        </p:nvSpPr>
        <p:spPr>
          <a:xfrm>
            <a:off x="9441180" y="7064452"/>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n: visits · u: untried tests · f: failed returns · ρ: room left in the episode · d: depth. Rarely visited, untested, reachable and deep cells are preferred.</a:t>
            </a:r>
            <a:endParaRPr lang="en-US" sz="1750" dirty="0"/>
          </a:p>
        </p:txBody>
      </p:sp>
      <p:pic>
        <p:nvPicPr>
          <p:cNvPr id="217" name="Formula 217" descr="operator and target chosen uniformly among untried pairs"/>
          <p:cNvPicPr>
            <a:picLocks noChangeAspect="1"/>
          </p:cNvPicPr>
          <p:nvPr/>
        </p:nvPicPr>
        <p:blipFill>
          <a:blip r:embed="rIdF3"/>
          <a:stretch>
            <a:fillRect/>
          </a:stretch>
        </p:blipFill>
        <p:spPr>
          <a:xfrm>
            <a:off x="9441180" y="8097724"/>
            <a:ext cx="7406640" cy="420002"/>
          </a:xfrm>
          <a:prstGeom prst="rect">
            <a:avLst/>
          </a:prstGeom>
        </p:spPr>
      </p:pic>
      <p:sp>
        <p:nvSpPr>
          <p:cNvPr id="218" name="Text 218"/>
          <p:cNvSpPr txBox="1"/>
          <p:nvPr/>
        </p:nvSpPr>
        <p:spPr>
          <a:xfrm>
            <a:off x="9441180" y="8609166"/>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Untried pairs first, in random order; once all are tried, any pair is allowed again.</a:t>
            </a:r>
            <a:endParaRPr lang="en-US" sz="1750" dirty="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BANDIT EXPLORER</a:t>
            </a:r>
          </a:p>
        </p:txBody>
      </p:sp>
      <p:sp>
        <p:nvSpPr>
          <p:cNvPr id="219" name="Text 219"/>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Approach 3 of 5  ·  the structured explorer, with Thompson sampling choosing the test</a:t>
            </a:r>
            <a:endParaRPr lang="en-US" sz="1800" dirty="0"/>
          </a:p>
        </p:txBody>
      </p:sp>
      <p:sp>
        <p:nvSpPr>
          <p:cNvPr id="220" name="Card 220"/>
          <p:cNvSpPr/>
          <p:nvPr/>
        </p:nvSpPr>
        <p:spPr>
          <a:xfrm>
            <a:off x="1028700" y="3246120"/>
            <a:ext cx="7635240" cy="3108960"/>
          </a:xfrm>
          <a:prstGeom prst="roundRect">
            <a:avLst>
              <a:gd name="adj" fmla="val 6000"/>
            </a:avLst>
          </a:prstGeom>
          <a:solidFill>
            <a:srgbClr val="00461A"/>
          </a:solidFill>
          <a:ln>
            <a:noFill/>
          </a:ln>
        </p:spPr>
        <p:txBody>
          <a:bodyPr wrap="square" lIns="365760" tIns="292608" rIns="365760" bIns="228600" anchor="t" rtlCol="0">
            <a:noAutofit/>
          </a:bodyPr>
          <a:lstStyle/>
          <a:p>
            <a:pPr algn="l">
              <a:spcAft>
                <a:spcPts val="400"/>
              </a:spcAft>
              <a:buNone/>
            </a:pPr>
            <a:r>
              <a:rPr lang="en-US" sz="1600" b="1" dirty="0">
                <a:solidFill>
                  <a:srgbClr val="A8D5B2"/>
                </a:solidFill>
                <a:latin typeface="Arial Bold"/>
                <a:cs typeface="Arial Bold"/>
              </a:rPr>
              <a:t>WHAT IT IS</a:t>
            </a:r>
            <a:endParaRPr lang="en-US" sz="1800" dirty="0"/>
          </a:p>
          <a:p>
            <a:pPr algn="l">
              <a:lnSpc>
                <a:spcPct val="105000"/>
              </a:lnSpc>
              <a:spcAft>
                <a:spcPts val="1000"/>
              </a:spcAft>
              <a:buNone/>
            </a:pPr>
            <a:r>
              <a:rPr lang="en-US" sz="1800" dirty="0">
                <a:solidFill>
                  <a:srgbClr val="FFFFFF"/>
                </a:solidFill>
                <a:latin typeface="Arial"/>
                <a:cs typeface="Arial"/>
              </a:rPr>
              <a:t>The structured explorer, with a Bayesian bandit choosing which test operator to apply. It learns online, inside the application being tested.</a:t>
            </a:r>
            <a:endParaRPr lang="en-US" sz="1800" dirty="0"/>
          </a:p>
          <a:p>
            <a:pPr algn="l">
              <a:spcAft>
                <a:spcPts val="400"/>
              </a:spcAft>
              <a:buNone/>
            </a:pPr>
            <a:r>
              <a:rPr lang="en-US" sz="1600" b="1" dirty="0">
                <a:solidFill>
                  <a:srgbClr val="A8D5B2"/>
                </a:solidFill>
                <a:latin typeface="Arial Bold"/>
                <a:cs typeface="Arial Bold"/>
              </a:rPr>
              <a:t>WHY WE INCLUDE IT</a:t>
            </a:r>
            <a:endParaRPr lang="en-US" sz="1800" dirty="0"/>
          </a:p>
          <a:p>
            <a:pPr algn="l">
              <a:lnSpc>
                <a:spcPct val="105000"/>
              </a:lnSpc>
              <a:buNone/>
            </a:pPr>
            <a:r>
              <a:rPr lang="en-US" sz="1800" dirty="0">
                <a:solidFill>
                  <a:srgbClr val="FFFFFF"/>
                </a:solidFill>
                <a:latin typeface="Arial"/>
                <a:cs typeface="Arial"/>
              </a:rPr>
              <a:t>A run makes only about 50–135 operator decisions: too few for a neural network, enough for a bandit over a few dozen meaningful keys.</a:t>
            </a:r>
            <a:endParaRPr lang="en-US" sz="1800" dirty="0"/>
          </a:p>
        </p:txBody>
      </p:sp>
      <p:sp>
        <p:nvSpPr>
          <p:cNvPr id="221" name="Card 221"/>
          <p:cNvSpPr/>
          <p:nvPr/>
        </p:nvSpPr>
        <p:spPr>
          <a:xfrm>
            <a:off x="1028700" y="6629400"/>
            <a:ext cx="7635240" cy="3063240"/>
          </a:xfrm>
          <a:prstGeom prst="roundRect">
            <a:avLst>
              <a:gd name="adj" fmla="val 6000"/>
            </a:avLst>
          </a:prstGeom>
          <a:solidFill>
            <a:srgbClr val="E9EEEA"/>
          </a:solidFill>
          <a:ln>
            <a:noFill/>
          </a:ln>
        </p:spPr>
        <p:txBody>
          <a:bodyPr wrap="square" lIns="365760" tIns="256032" rIns="365760" bIns="182880" anchor="t" rtlCol="0">
            <a:noAutofit/>
          </a:bodyPr>
          <a:lstStyle/>
          <a:p>
            <a:pPr algn="l">
              <a:spcAft>
                <a:spcPts val="400"/>
              </a:spcAft>
              <a:buNone/>
            </a:pPr>
            <a:r>
              <a:rPr lang="en-US" sz="1600" b="1" dirty="0">
                <a:solidFill>
                  <a:srgbClr val="3F8C50"/>
                </a:solidFill>
                <a:latin typeface="Arial Bold"/>
                <a:cs typeface="Arial Bold"/>
              </a:rPr>
              <a:t>HOW IT WORKS</a:t>
            </a:r>
            <a:endParaRPr lang="en-US" sz="180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Key k = (page kind, operator, target type), backing off to (operator, target) and (operator)</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Sample every candidate's posterior and take the highest draw</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Reward r = 1 when the test shows something new (an alert, a new state): the tester's own observation, never the oracle</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Update the key's counts after every test</a:t>
            </a:r>
            <a:endParaRPr lang="en-US" sz="1750" dirty="0"/>
          </a:p>
        </p:txBody>
      </p:sp>
      <p:sp>
        <p:nvSpPr>
          <p:cNvPr id="222" name="Card 222"/>
          <p:cNvSpPr/>
          <p:nvPr/>
        </p:nvSpPr>
        <p:spPr>
          <a:xfrm>
            <a:off x="9029700" y="3246120"/>
            <a:ext cx="8229600" cy="6446520"/>
          </a:xfrm>
          <a:prstGeom prst="roundRect">
            <a:avLst>
              <a:gd name="adj" fmla="val 6000"/>
            </a:avLst>
          </a:prstGeom>
          <a:solidFill>
            <a:srgbClr val="FFFFFF"/>
          </a:solidFill>
          <a:ln w="15875">
            <a:solidFill>
              <a:srgbClr val="E2E6E3"/>
            </a:solidFill>
          </a:ln>
        </p:spPr>
        <p:txBody>
          <a:bodyPr wrap="square" lIns="411480" tIns="274320" rIns="411480" bIns="182880" anchor="t" rtlCol="0">
            <a:noAutofit/>
          </a:bodyPr>
          <a:lstStyle/>
          <a:p>
            <a:pPr algn="l">
              <a:spcAft>
                <a:spcPts val="400"/>
              </a:spcAft>
              <a:buNone/>
            </a:pPr>
            <a:r>
              <a:rPr lang="en-US" sz="1600" b="1" dirty="0">
                <a:solidFill>
                  <a:srgbClr val="3F8C50"/>
                </a:solidFill>
                <a:latin typeface="Arial Bold"/>
                <a:cs typeface="Arial Bold"/>
              </a:rPr>
              <a:t>THE MATHS</a:t>
            </a:r>
            <a:endParaRPr lang="en-US" sz="1800" dirty="0"/>
          </a:p>
        </p:txBody>
      </p:sp>
      <p:pic>
        <p:nvPicPr>
          <p:cNvPr id="223" name="Formula 223" descr="theta_k ~ Beta(alpha_k, beta_k)"/>
          <p:cNvPicPr>
            <a:picLocks noChangeAspect="1"/>
          </p:cNvPicPr>
          <p:nvPr/>
        </p:nvPicPr>
        <p:blipFill>
          <a:blip r:embed="rIdF1"/>
          <a:stretch>
            <a:fillRect/>
          </a:stretch>
        </p:blipFill>
        <p:spPr>
          <a:xfrm>
            <a:off x="9441180" y="4023360"/>
            <a:ext cx="3008376" cy="438912"/>
          </a:xfrm>
          <a:prstGeom prst="rect">
            <a:avLst/>
          </a:prstGeom>
        </p:spPr>
      </p:pic>
      <p:sp>
        <p:nvSpPr>
          <p:cNvPr id="224" name="Text 224"/>
          <p:cNvSpPr txBox="1"/>
          <p:nvPr/>
        </p:nvSpPr>
        <p:spPr>
          <a:xfrm>
            <a:off x="9441180" y="4553712"/>
            <a:ext cx="7406640" cy="402336"/>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θ_k: how likely test k is to pay off, kept as a Beta distribution.</a:t>
            </a:r>
            <a:endParaRPr lang="en-US" sz="1750" dirty="0"/>
          </a:p>
        </p:txBody>
      </p:sp>
      <p:pic>
        <p:nvPicPr>
          <p:cNvPr id="225" name="Formula 225" descr="alpha += r, beta += 1 - r"/>
          <p:cNvPicPr>
            <a:picLocks noChangeAspect="1"/>
          </p:cNvPicPr>
          <p:nvPr/>
        </p:nvPicPr>
        <p:blipFill>
          <a:blip r:embed="rIdF2"/>
          <a:stretch>
            <a:fillRect/>
          </a:stretch>
        </p:blipFill>
        <p:spPr>
          <a:xfrm>
            <a:off x="9441180" y="5276088"/>
            <a:ext cx="5801868" cy="438912"/>
          </a:xfrm>
          <a:prstGeom prst="rect">
            <a:avLst/>
          </a:prstGeom>
        </p:spPr>
      </p:pic>
      <p:sp>
        <p:nvSpPr>
          <p:cNvPr id="226" name="Text 226"/>
          <p:cNvSpPr txBox="1"/>
          <p:nvPr/>
        </p:nvSpPr>
        <p:spPr>
          <a:xfrm>
            <a:off x="9441180" y="5806440"/>
            <a:ext cx="7406640" cy="402336"/>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After each test, a success adds to α and a failure to β.</a:t>
            </a:r>
            <a:endParaRPr lang="en-US" sz="1750" dirty="0"/>
          </a:p>
        </p:txBody>
      </p:sp>
      <p:pic>
        <p:nvPicPr>
          <p:cNvPr id="227" name="Formula 227" descr="alpha_0 = 1 + 0.3 S_gen, beta_0 = 1 + 0.3 F_gen"/>
          <p:cNvPicPr>
            <a:picLocks noChangeAspect="1"/>
          </p:cNvPicPr>
          <p:nvPr/>
        </p:nvPicPr>
        <p:blipFill>
          <a:blip r:embed="rIdF3"/>
          <a:stretch>
            <a:fillRect/>
          </a:stretch>
        </p:blipFill>
        <p:spPr>
          <a:xfrm>
            <a:off x="9441180" y="6528816"/>
            <a:ext cx="6364224" cy="457200"/>
          </a:xfrm>
          <a:prstGeom prst="rect">
            <a:avLst/>
          </a:prstGeom>
        </p:spPr>
      </p:pic>
      <p:sp>
        <p:nvSpPr>
          <p:cNvPr id="228" name="Text 228"/>
          <p:cNvSpPr txBox="1"/>
          <p:nvPr/>
        </p:nvSpPr>
        <p:spPr>
          <a:xfrm>
            <a:off x="9441180" y="7077456"/>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A new key borrows 30% of the evidence of its more general keys (S, F: their successes and failures).</a:t>
            </a:r>
            <a:endParaRPr lang="en-US" sz="1750" dirty="0"/>
          </a:p>
        </p:txBody>
      </p:sp>
      <p:pic>
        <p:nvPicPr>
          <p:cNvPr id="229" name="Formula 229" descr="k* = argmax theta_k"/>
          <p:cNvPicPr>
            <a:picLocks noChangeAspect="1"/>
          </p:cNvPicPr>
          <p:nvPr/>
        </p:nvPicPr>
        <p:blipFill>
          <a:blip r:embed="rIdF4"/>
          <a:stretch>
            <a:fillRect/>
          </a:stretch>
        </p:blipFill>
        <p:spPr>
          <a:xfrm>
            <a:off x="9441180" y="8110728"/>
            <a:ext cx="2866644" cy="434340"/>
          </a:xfrm>
          <a:prstGeom prst="rect">
            <a:avLst/>
          </a:prstGeom>
        </p:spPr>
      </p:pic>
      <p:sp>
        <p:nvSpPr>
          <p:cNvPr id="230" name="Text 230"/>
          <p:cNvSpPr txBox="1"/>
          <p:nvPr/>
        </p:nvSpPr>
        <p:spPr>
          <a:xfrm>
            <a:off x="9441180" y="8636508"/>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Thompson sampling: the highest sampled θ wins, so uncertain tests still get tried.</a:t>
            </a:r>
            <a:endParaRPr lang="en-US" sz="1750" dirty="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CURIOSITY RL EXPLORER</a:t>
            </a:r>
          </a:p>
        </p:txBody>
      </p:sp>
      <p:sp>
        <p:nvSpPr>
          <p:cNvPr id="231" name="Text 231"/>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Approach 4 of 5  ·  count-based curiosity Q-learning, the design of WebExplor and WebRLED</a:t>
            </a:r>
            <a:endParaRPr lang="en-US" sz="1800" dirty="0"/>
          </a:p>
        </p:txBody>
      </p:sp>
      <p:sp>
        <p:nvSpPr>
          <p:cNvPr id="232" name="Card 232"/>
          <p:cNvSpPr/>
          <p:nvPr/>
        </p:nvSpPr>
        <p:spPr>
          <a:xfrm>
            <a:off x="1028700" y="3246120"/>
            <a:ext cx="7635240" cy="3291840"/>
          </a:xfrm>
          <a:prstGeom prst="roundRect">
            <a:avLst>
              <a:gd name="adj" fmla="val 6000"/>
            </a:avLst>
          </a:prstGeom>
          <a:solidFill>
            <a:srgbClr val="00461A"/>
          </a:solidFill>
          <a:ln>
            <a:noFill/>
          </a:ln>
        </p:spPr>
        <p:txBody>
          <a:bodyPr wrap="square" lIns="365760" tIns="292608" rIns="365760" bIns="228600" anchor="t" rtlCol="0">
            <a:noAutofit/>
          </a:bodyPr>
          <a:lstStyle/>
          <a:p>
            <a:pPr algn="l">
              <a:spcAft>
                <a:spcPts val="400"/>
              </a:spcAft>
              <a:buNone/>
            </a:pPr>
            <a:r>
              <a:rPr lang="en-US" sz="1600" b="1" dirty="0">
                <a:solidFill>
                  <a:srgbClr val="A8D5B2"/>
                </a:solidFill>
                <a:latin typeface="Arial Bold"/>
                <a:cs typeface="Arial Bold"/>
              </a:rPr>
              <a:t>WHAT IT IS</a:t>
            </a:r>
            <a:endParaRPr lang="en-US" sz="1800" dirty="0"/>
          </a:p>
          <a:p>
            <a:pPr algn="l">
              <a:lnSpc>
                <a:spcPct val="105000"/>
              </a:lnSpc>
              <a:spcAft>
                <a:spcPts val="1000"/>
              </a:spcAft>
              <a:buNone/>
            </a:pPr>
            <a:r>
              <a:rPr lang="en-US" sz="1800" dirty="0">
                <a:solidFill>
                  <a:srgbClr val="FFFFFF"/>
                </a:solidFill>
                <a:latin typeface="Arial"/>
                <a:cs typeface="Arial"/>
              </a:rPr>
              <a:t>The structured explorer, with a tabular Q-learner choosing the free exploration steps between test operators, rewarded for novelty.</a:t>
            </a:r>
            <a:endParaRPr lang="en-US" sz="1800" dirty="0"/>
          </a:p>
          <a:p>
            <a:pPr algn="l">
              <a:spcAft>
                <a:spcPts val="400"/>
              </a:spcAft>
              <a:buNone/>
            </a:pPr>
            <a:r>
              <a:rPr lang="en-US" sz="1600" b="1" dirty="0">
                <a:solidFill>
                  <a:srgbClr val="A8D5B2"/>
                </a:solidFill>
                <a:latin typeface="Arial Bold"/>
                <a:cs typeface="Arial Bold"/>
              </a:rPr>
              <a:t>WHY WE INCLUDE IT</a:t>
            </a:r>
            <a:endParaRPr lang="en-US" sz="1800" dirty="0"/>
          </a:p>
          <a:p>
            <a:pPr algn="l">
              <a:lnSpc>
                <a:spcPct val="105000"/>
              </a:lnSpc>
              <a:buNone/>
            </a:pPr>
            <a:r>
              <a:rPr lang="en-US" sz="1800" dirty="0">
                <a:solidFill>
                  <a:srgbClr val="FFFFFF"/>
                </a:solidFill>
                <a:latin typeface="Arial"/>
                <a:cs typeface="Arial"/>
              </a:rPr>
              <a:t>It is the reinforcement-learning design of the published testers, so it gives a like-for-like RL comparison on their own benchmark.</a:t>
            </a:r>
            <a:endParaRPr lang="en-US" sz="1800" dirty="0"/>
          </a:p>
        </p:txBody>
      </p:sp>
      <p:sp>
        <p:nvSpPr>
          <p:cNvPr id="233" name="Card 233"/>
          <p:cNvSpPr/>
          <p:nvPr/>
        </p:nvSpPr>
        <p:spPr>
          <a:xfrm>
            <a:off x="1028700" y="6812280"/>
            <a:ext cx="7635240" cy="2880360"/>
          </a:xfrm>
          <a:prstGeom prst="roundRect">
            <a:avLst>
              <a:gd name="adj" fmla="val 6000"/>
            </a:avLst>
          </a:prstGeom>
          <a:solidFill>
            <a:srgbClr val="E9EEEA"/>
          </a:solidFill>
          <a:ln>
            <a:noFill/>
          </a:ln>
        </p:spPr>
        <p:txBody>
          <a:bodyPr wrap="square" lIns="365760" tIns="256032" rIns="365760" bIns="182880" anchor="t" rtlCol="0">
            <a:noAutofit/>
          </a:bodyPr>
          <a:lstStyle/>
          <a:p>
            <a:pPr algn="l">
              <a:spcAft>
                <a:spcPts val="400"/>
              </a:spcAft>
              <a:buNone/>
            </a:pPr>
            <a:r>
              <a:rPr lang="en-US" sz="1600" b="1" dirty="0">
                <a:solidFill>
                  <a:srgbClr val="3F8C50"/>
                </a:solidFill>
                <a:latin typeface="Arial Bold"/>
                <a:cs typeface="Arial Bold"/>
              </a:rPr>
              <a:t>HOW IT WORKS</a:t>
            </a:r>
            <a:endParaRPr lang="en-US" sz="180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States are cells; actions are the page's controls</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Reward every step for rarely seen transitions and new cells</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Choose ε-greedily from Q; untried actions start optimistic</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Learn from every transition: about 2,000 updates per run</a:t>
            </a:r>
            <a:endParaRPr lang="en-US" sz="1750" dirty="0"/>
          </a:p>
        </p:txBody>
      </p:sp>
      <p:sp>
        <p:nvSpPr>
          <p:cNvPr id="234" name="Card 234"/>
          <p:cNvSpPr/>
          <p:nvPr/>
        </p:nvSpPr>
        <p:spPr>
          <a:xfrm>
            <a:off x="9029700" y="3246120"/>
            <a:ext cx="8229600" cy="6446520"/>
          </a:xfrm>
          <a:prstGeom prst="roundRect">
            <a:avLst>
              <a:gd name="adj" fmla="val 6000"/>
            </a:avLst>
          </a:prstGeom>
          <a:solidFill>
            <a:srgbClr val="FFFFFF"/>
          </a:solidFill>
          <a:ln w="15875">
            <a:solidFill>
              <a:srgbClr val="E2E6E3"/>
            </a:solidFill>
          </a:ln>
        </p:spPr>
        <p:txBody>
          <a:bodyPr wrap="square" lIns="411480" tIns="274320" rIns="411480" bIns="182880" anchor="t" rtlCol="0">
            <a:noAutofit/>
          </a:bodyPr>
          <a:lstStyle/>
          <a:p>
            <a:pPr algn="l">
              <a:spcAft>
                <a:spcPts val="400"/>
              </a:spcAft>
              <a:buNone/>
            </a:pPr>
            <a:r>
              <a:rPr lang="en-US" sz="1600" b="1" dirty="0">
                <a:solidFill>
                  <a:srgbClr val="3F8C50"/>
                </a:solidFill>
                <a:latin typeface="Arial Bold"/>
                <a:cs typeface="Arial Bold"/>
              </a:rPr>
              <a:t>THE MATHS</a:t>
            </a:r>
            <a:endParaRPr lang="en-US" sz="1800" dirty="0"/>
          </a:p>
        </p:txBody>
      </p:sp>
      <p:pic>
        <p:nvPicPr>
          <p:cNvPr id="235" name="Formula 235" descr="r = 1/sqrt(N(c,a,c')) + 0.5 * [c' new]"/>
          <p:cNvPicPr>
            <a:picLocks noChangeAspect="1"/>
          </p:cNvPicPr>
          <p:nvPr/>
        </p:nvPicPr>
        <p:blipFill>
          <a:blip r:embed="rIdF1"/>
          <a:stretch>
            <a:fillRect/>
          </a:stretch>
        </p:blipFill>
        <p:spPr>
          <a:xfrm>
            <a:off x="9441180" y="4023360"/>
            <a:ext cx="5806440" cy="1101852"/>
          </a:xfrm>
          <a:prstGeom prst="rect">
            <a:avLst/>
          </a:prstGeom>
        </p:spPr>
      </p:pic>
      <p:sp>
        <p:nvSpPr>
          <p:cNvPr id="236" name="Text 236"/>
          <p:cNvSpPr txBox="1"/>
          <p:nvPr/>
        </p:nvSpPr>
        <p:spPr>
          <a:xfrm>
            <a:off x="9441180" y="5216652"/>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N(c, a, c′): how often this transition has been seen. Rare transitions and new cells pay most.</a:t>
            </a:r>
            <a:endParaRPr lang="en-US" sz="1750" dirty="0"/>
          </a:p>
        </p:txBody>
      </p:sp>
      <p:pic>
        <p:nvPicPr>
          <p:cNvPr id="237" name="Formula 237" descr="Q update"/>
          <p:cNvPicPr>
            <a:picLocks noChangeAspect="1"/>
          </p:cNvPicPr>
          <p:nvPr/>
        </p:nvPicPr>
        <p:blipFill>
          <a:blip r:embed="rIdF2"/>
          <a:stretch>
            <a:fillRect/>
          </a:stretch>
        </p:blipFill>
        <p:spPr>
          <a:xfrm>
            <a:off x="9441180" y="6249924"/>
            <a:ext cx="7406640" cy="578644"/>
          </a:xfrm>
          <a:prstGeom prst="rect">
            <a:avLst/>
          </a:prstGeom>
        </p:spPr>
      </p:pic>
      <p:sp>
        <p:nvSpPr>
          <p:cNvPr id="238" name="Text 238"/>
          <p:cNvSpPr txBox="1"/>
          <p:nvPr/>
        </p:nvSpPr>
        <p:spPr>
          <a:xfrm>
            <a:off x="9441180" y="6920008"/>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Q-learning: move Q(c, a) towards the reward plus the discounted value of the best next action.</a:t>
            </a:r>
            <a:endParaRPr lang="en-US" sz="1750" dirty="0"/>
          </a:p>
        </p:txBody>
      </p:sp>
      <p:pic>
        <p:nvPicPr>
          <p:cNvPr id="239" name="Formula 239" descr="alpha 0.5, gamma 0.9, epsilon 0.1"/>
          <p:cNvPicPr>
            <a:picLocks noChangeAspect="1"/>
          </p:cNvPicPr>
          <p:nvPr/>
        </p:nvPicPr>
        <p:blipFill>
          <a:blip r:embed="rIdF3"/>
          <a:stretch>
            <a:fillRect/>
          </a:stretch>
        </p:blipFill>
        <p:spPr>
          <a:xfrm>
            <a:off x="9441180" y="7953280"/>
            <a:ext cx="5367528" cy="434340"/>
          </a:xfrm>
          <a:prstGeom prst="rect">
            <a:avLst/>
          </a:prstGeom>
        </p:spPr>
      </p:pic>
      <p:sp>
        <p:nvSpPr>
          <p:cNvPr id="240" name="Text 240"/>
          <p:cNvSpPr txBox="1"/>
          <p:nvPr/>
        </p:nvSpPr>
        <p:spPr>
          <a:xfrm>
            <a:off x="9441180" y="8479060"/>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α: learning rate · γ: discount · ε: chance of a random action. Untried actions start at R_max / (1 − γ).</a:t>
            </a:r>
            <a:endParaRPr lang="en-US" sz="1750" dirty="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KATALYZE, TUNED</a:t>
            </a:r>
          </a:p>
        </p:txBody>
      </p:sp>
      <p:sp>
        <p:nvSpPr>
          <p:cNvPr id="241" name="Text 241"/>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Approach 5 of 5  ·  the structured explorer with the options that won tuning; frozen before the benchmark</a:t>
            </a:r>
            <a:endParaRPr lang="en-US" sz="1800" dirty="0"/>
          </a:p>
        </p:txBody>
      </p:sp>
      <p:sp>
        <p:nvSpPr>
          <p:cNvPr id="242" name="Card 242"/>
          <p:cNvSpPr/>
          <p:nvPr/>
        </p:nvSpPr>
        <p:spPr>
          <a:xfrm>
            <a:off x="1028700" y="3246120"/>
            <a:ext cx="7635240" cy="3291840"/>
          </a:xfrm>
          <a:prstGeom prst="roundRect">
            <a:avLst>
              <a:gd name="adj" fmla="val 6000"/>
            </a:avLst>
          </a:prstGeom>
          <a:solidFill>
            <a:srgbClr val="00461A"/>
          </a:solidFill>
          <a:ln>
            <a:noFill/>
          </a:ln>
        </p:spPr>
        <p:txBody>
          <a:bodyPr wrap="square" lIns="365760" tIns="292608" rIns="365760" bIns="228600" anchor="t" rtlCol="0">
            <a:noAutofit/>
          </a:bodyPr>
          <a:lstStyle/>
          <a:p>
            <a:pPr algn="l">
              <a:spcAft>
                <a:spcPts val="400"/>
              </a:spcAft>
              <a:buNone/>
            </a:pPr>
            <a:r>
              <a:rPr lang="en-US" sz="1600" b="1" dirty="0">
                <a:solidFill>
                  <a:srgbClr val="A8D5B2"/>
                </a:solidFill>
                <a:latin typeface="Arial Bold"/>
                <a:cs typeface="Arial Bold"/>
              </a:rPr>
              <a:t>WHAT IT IS</a:t>
            </a:r>
            <a:endParaRPr lang="en-US" sz="1800" dirty="0"/>
          </a:p>
          <a:p>
            <a:pPr algn="l">
              <a:lnSpc>
                <a:spcPct val="105000"/>
              </a:lnSpc>
              <a:spcAft>
                <a:spcPts val="1000"/>
              </a:spcAft>
              <a:buNone/>
            </a:pPr>
            <a:r>
              <a:rPr lang="en-US" sz="1800" dirty="0">
                <a:solidFill>
                  <a:srgbClr val="FFFFFF"/>
                </a:solidFill>
                <a:latin typeface="Arial"/>
                <a:cs typeface="Arial"/>
              </a:rPr>
              <a:t>The structured explorer plus a list-browsing operator, failure feedback and listener-based clickable detection. It is the default agent in the Katalyze app.</a:t>
            </a:r>
            <a:endParaRPr lang="en-US" sz="1800" dirty="0"/>
          </a:p>
          <a:p>
            <a:pPr algn="l">
              <a:spcAft>
                <a:spcPts val="400"/>
              </a:spcAft>
              <a:buNone/>
            </a:pPr>
            <a:r>
              <a:rPr lang="en-US" sz="1600" b="1" dirty="0">
                <a:solidFill>
                  <a:srgbClr val="A8D5B2"/>
                </a:solidFill>
                <a:latin typeface="Arial Bold"/>
                <a:cs typeface="Arial Bold"/>
              </a:rPr>
              <a:t>WHY WE INCLUDE IT</a:t>
            </a:r>
            <a:endParaRPr lang="en-US" sz="1800" dirty="0"/>
          </a:p>
          <a:p>
            <a:pPr algn="l">
              <a:lnSpc>
                <a:spcPct val="105000"/>
              </a:lnSpc>
              <a:buNone/>
            </a:pPr>
            <a:r>
              <a:rPr lang="en-US" sz="1800" dirty="0">
                <a:solidFill>
                  <a:srgbClr val="FFFFFF"/>
                </a:solidFill>
                <a:latin typeface="Arial"/>
                <a:cs typeface="Arial"/>
              </a:rPr>
              <a:t>Tuning on eight full-stack applications kept only what helped. It was frozen and tagged before anyone looked at the benchmark applications.</a:t>
            </a:r>
            <a:endParaRPr lang="en-US" sz="1800" dirty="0"/>
          </a:p>
        </p:txBody>
      </p:sp>
      <p:sp>
        <p:nvSpPr>
          <p:cNvPr id="243" name="Card 243"/>
          <p:cNvSpPr/>
          <p:nvPr/>
        </p:nvSpPr>
        <p:spPr>
          <a:xfrm>
            <a:off x="1028700" y="6812280"/>
            <a:ext cx="7635240" cy="2880360"/>
          </a:xfrm>
          <a:prstGeom prst="roundRect">
            <a:avLst>
              <a:gd name="adj" fmla="val 6000"/>
            </a:avLst>
          </a:prstGeom>
          <a:solidFill>
            <a:srgbClr val="E9EEEA"/>
          </a:solidFill>
          <a:ln>
            <a:noFill/>
          </a:ln>
        </p:spPr>
        <p:txBody>
          <a:bodyPr wrap="square" lIns="365760" tIns="256032" rIns="365760" bIns="182880" anchor="t" rtlCol="0">
            <a:noAutofit/>
          </a:bodyPr>
          <a:lstStyle/>
          <a:p>
            <a:pPr algn="l">
              <a:spcAft>
                <a:spcPts val="400"/>
              </a:spcAft>
              <a:buNone/>
            </a:pPr>
            <a:r>
              <a:rPr lang="en-US" sz="1600" b="1" dirty="0">
                <a:solidFill>
                  <a:srgbClr val="3F8C50"/>
                </a:solidFill>
                <a:latin typeface="Arial Bold"/>
                <a:cs typeface="Arial Bold"/>
              </a:rPr>
              <a:t>HOW IT WORKS</a:t>
            </a:r>
            <a:endParaRPr lang="en-US" sz="180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Browse list: sort or filter a list, page forward, open an item on a later page</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Failure feedback: more attention to states where errors followed an action</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Listener-based clickables: elements that register click handlers (React, Vue, jQuery, Angular)</a:t>
            </a:r>
            <a:endParaRPr lang="en-US" sz="1750" dirty="0"/>
          </a:p>
          <a:p>
            <a:pPr algn="l" marL="420000" indent="-420000">
              <a:spcAft>
                <a:spcPts val="500"/>
              </a:spcAft>
              <a:buClr>
                <a:srgbClr val="3F8C50"/>
              </a:buClr>
              <a:buFont typeface="Arial"/>
              <a:buAutoNum type="arabicPeriod"/>
            </a:pPr>
            <a:r>
              <a:rPr lang="en-US" sz="1750" dirty="0">
                <a:solidFill>
                  <a:srgbClr val="111111"/>
                </a:solidFill>
                <a:latin typeface="Arial"/>
                <a:cs typeface="Arial"/>
              </a:rPr>
              <a:t>Rejected in tuning: the bandit (slower on 7 of 8 apps) and heuristic clickables</a:t>
            </a:r>
            <a:endParaRPr lang="en-US" sz="1750" dirty="0"/>
          </a:p>
        </p:txBody>
      </p:sp>
      <p:sp>
        <p:nvSpPr>
          <p:cNvPr id="244" name="Card 244"/>
          <p:cNvSpPr/>
          <p:nvPr/>
        </p:nvSpPr>
        <p:spPr>
          <a:xfrm>
            <a:off x="9029700" y="3246120"/>
            <a:ext cx="8229600" cy="6446520"/>
          </a:xfrm>
          <a:prstGeom prst="roundRect">
            <a:avLst>
              <a:gd name="adj" fmla="val 6000"/>
            </a:avLst>
          </a:prstGeom>
          <a:solidFill>
            <a:srgbClr val="FFFFFF"/>
          </a:solidFill>
          <a:ln w="15875">
            <a:solidFill>
              <a:srgbClr val="E2E6E3"/>
            </a:solidFill>
          </a:ln>
        </p:spPr>
        <p:txBody>
          <a:bodyPr wrap="square" lIns="411480" tIns="274320" rIns="411480" bIns="182880" anchor="t" rtlCol="0">
            <a:noAutofit/>
          </a:bodyPr>
          <a:lstStyle/>
          <a:p>
            <a:pPr algn="l">
              <a:spcAft>
                <a:spcPts val="400"/>
              </a:spcAft>
              <a:buNone/>
            </a:pPr>
            <a:r>
              <a:rPr lang="en-US" sz="1600" b="1" dirty="0">
                <a:solidFill>
                  <a:srgbClr val="3F8C50"/>
                </a:solidFill>
                <a:latin typeface="Arial Bold"/>
                <a:cs typeface="Arial Bold"/>
              </a:rPr>
              <a:t>THE MATHS</a:t>
            </a:r>
            <a:endParaRPr lang="en-US" sz="1800" dirty="0"/>
          </a:p>
        </p:txBody>
      </p:sp>
      <p:pic>
        <p:nvPicPr>
          <p:cNvPr id="245" name="Formula 245" descr="w_K(c) = w(c) * (1 + 2 min(e_c,3)/3)"/>
          <p:cNvPicPr>
            <a:picLocks noChangeAspect="1"/>
          </p:cNvPicPr>
          <p:nvPr/>
        </p:nvPicPr>
        <p:blipFill>
          <a:blip r:embed="rIdF1"/>
          <a:stretch>
            <a:fillRect/>
          </a:stretch>
        </p:blipFill>
        <p:spPr>
          <a:xfrm>
            <a:off x="9441180" y="4023360"/>
            <a:ext cx="5669280" cy="886968"/>
          </a:xfrm>
          <a:prstGeom prst="rect">
            <a:avLst/>
          </a:prstGeom>
        </p:spPr>
      </p:pic>
      <p:sp>
        <p:nvSpPr>
          <p:cNvPr id="246" name="Text 246"/>
          <p:cNvSpPr txBox="1"/>
          <p:nvPr/>
        </p:nvSpPr>
        <p:spPr>
          <a:xfrm>
            <a:off x="9441180" y="5001768"/>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e_c: actions at c that were followed by a browser error. A cell's weight grows up to three times.</a:t>
            </a:r>
            <a:endParaRPr lang="en-US" sz="1750" dirty="0"/>
          </a:p>
        </p:txBody>
      </p:sp>
      <p:pic>
        <p:nvPicPr>
          <p:cNvPr id="247" name="Formula 247" descr="clickable(x) iff standard control or click listener"/>
          <p:cNvPicPr>
            <a:picLocks noChangeAspect="1"/>
          </p:cNvPicPr>
          <p:nvPr/>
        </p:nvPicPr>
        <p:blipFill>
          <a:blip r:embed="rIdF2"/>
          <a:stretch>
            <a:fillRect/>
          </a:stretch>
        </p:blipFill>
        <p:spPr>
          <a:xfrm>
            <a:off x="9441180" y="6035040"/>
            <a:ext cx="7406640" cy="289157"/>
          </a:xfrm>
          <a:prstGeom prst="rect">
            <a:avLst/>
          </a:prstGeom>
        </p:spPr>
      </p:pic>
      <p:sp>
        <p:nvSpPr>
          <p:cNvPr id="248" name="Text 248"/>
          <p:cNvSpPr txBox="1"/>
          <p:nvPr/>
        </p:nvSpPr>
        <p:spPr>
          <a:xfrm>
            <a:off x="9441180" y="6415637"/>
            <a:ext cx="7406640" cy="713232"/>
          </a:xfrm>
          <a:prstGeom prst="rect">
            <a:avLst/>
          </a:prstGeom>
          <a:noFill/>
          <a:ln>
            <a:noFill/>
          </a:ln>
        </p:spPr>
        <p:txBody>
          <a:bodyPr wrap="square" lIns="0" tIns="0" rIns="0" bIns="0" anchor="t" rtlCol="0">
            <a:noAutofit/>
          </a:bodyPr>
          <a:lstStyle/>
          <a:p>
            <a:pPr algn="l">
              <a:lnSpc>
                <a:spcPct val="105000"/>
              </a:lnSpc>
              <a:buNone/>
            </a:pPr>
            <a:r>
              <a:rPr lang="en-US" sz="1750" dirty="0">
                <a:solidFill>
                  <a:srgbClr val="555555"/>
                </a:solidFill>
                <a:latin typeface="Arial"/>
                <a:cs typeface="Arial"/>
              </a:rPr>
              <a:t>Listeners are recorded by a script injected before the page's own code, so custom buttons built from plain elements become actions.</a:t>
            </a:r>
            <a:endParaRPr lang="en-US" sz="1750" dirty="0"/>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WORKFLOW</a:t>
            </a:r>
          </a:p>
        </p:txBody>
      </p:sp>
      <p:sp>
        <p:nvSpPr>
          <p:cNvPr id="249" name="Text 249"/>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How Katalyze tests an application, end to end</a:t>
            </a:r>
            <a:endParaRPr lang="en-US" sz="1800" dirty="0"/>
          </a:p>
        </p:txBody>
      </p:sp>
      <p:sp>
        <p:nvSpPr>
          <p:cNvPr id="250" name="Card 250"/>
          <p:cNvSpPr/>
          <p:nvPr/>
        </p:nvSpPr>
        <p:spPr>
          <a:xfrm>
            <a:off x="1028700" y="3200400"/>
            <a:ext cx="306324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1  </a:t>
            </a:r>
            <a:r>
              <a:rPr lang="en-US" sz="1800" b="1" dirty="0">
                <a:solidFill>
                  <a:srgbClr val="111111"/>
                </a:solidFill>
                <a:latin typeface="Arial Bold"/>
                <a:cs typeface="Arial Bold"/>
              </a:rPr>
              <a:t>Target</a:t>
            </a:r>
            <a:endParaRPr lang="en-US" sz="1800" dirty="0"/>
          </a:p>
          <a:p>
            <a:pPr algn="l">
              <a:lnSpc>
                <a:spcPct val="100000"/>
              </a:lnSpc>
              <a:buNone/>
            </a:pPr>
            <a:r>
              <a:rPr lang="en-US" sz="1450" dirty="0">
                <a:solidFill>
                  <a:srgbClr val="555555"/>
                </a:solidFill>
                <a:latin typeface="Arial"/>
                <a:cs typeface="Arial"/>
              </a:rPr>
              <a:t>URL, static site, repository with a Dockerfile, or a demo app</a:t>
            </a:r>
            <a:endParaRPr lang="en-US" sz="1450" dirty="0"/>
          </a:p>
        </p:txBody>
      </p:sp>
      <p:sp>
        <p:nvSpPr>
          <p:cNvPr id="251" name="Card 251"/>
          <p:cNvSpPr/>
          <p:nvPr/>
        </p:nvSpPr>
        <p:spPr>
          <a:xfrm>
            <a:off x="4640580" y="3200400"/>
            <a:ext cx="306324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2  </a:t>
            </a:r>
            <a:r>
              <a:rPr lang="en-US" sz="1800" b="1" dirty="0">
                <a:solidFill>
                  <a:srgbClr val="111111"/>
                </a:solidFill>
                <a:latin typeface="Arial Bold"/>
                <a:cs typeface="Arial Bold"/>
              </a:rPr>
              <a:t>Intake + sandbox</a:t>
            </a:r>
            <a:endParaRPr lang="en-US" sz="1800" dirty="0"/>
          </a:p>
          <a:p>
            <a:pPr algn="l">
              <a:lnSpc>
                <a:spcPct val="100000"/>
              </a:lnSpc>
              <a:buNone/>
            </a:pPr>
            <a:r>
              <a:rPr lang="en-US" sz="1450" dirty="0">
                <a:solidFill>
                  <a:srgbClr val="555555"/>
                </a:solidFill>
                <a:latin typeface="Arial"/>
                <a:cs typeface="Arial"/>
              </a:rPr>
              <a:t>build and run it in a restricted container</a:t>
            </a:r>
            <a:endParaRPr lang="en-US" sz="1450" dirty="0"/>
          </a:p>
        </p:txBody>
      </p:sp>
      <p:sp>
        <p:nvSpPr>
          <p:cNvPr id="252" name="Card 252"/>
          <p:cNvSpPr/>
          <p:nvPr/>
        </p:nvSpPr>
        <p:spPr>
          <a:xfrm>
            <a:off x="8252460" y="3200400"/>
            <a:ext cx="306324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3  </a:t>
            </a:r>
            <a:r>
              <a:rPr lang="en-US" sz="1800" b="1" dirty="0">
                <a:solidFill>
                  <a:srgbClr val="111111"/>
                </a:solidFill>
                <a:latin typeface="Arial Bold"/>
                <a:cs typeface="Arial Bold"/>
              </a:rPr>
              <a:t>Browser</a:t>
            </a:r>
            <a:endParaRPr lang="en-US" sz="1800" dirty="0"/>
          </a:p>
          <a:p>
            <a:pPr algn="l">
              <a:lnSpc>
                <a:spcPct val="100000"/>
              </a:lnSpc>
              <a:buNone/>
            </a:pPr>
            <a:r>
              <a:rPr lang="en-US" sz="1450" dirty="0">
                <a:solidFill>
                  <a:srgbClr val="555555"/>
                </a:solidFill>
                <a:latin typeface="Arial"/>
                <a:cs typeface="Arial"/>
              </a:rPr>
              <a:t>Playwright + Chromium; find forms, links and clickables</a:t>
            </a:r>
            <a:endParaRPr lang="en-US" sz="1450" dirty="0"/>
          </a:p>
        </p:txBody>
      </p:sp>
      <p:cxnSp>
        <p:nvCxnSpPr>
          <p:cNvPr id="253" name="Arrow 253"/>
          <p:cNvCxnSpPr/>
          <p:nvPr/>
        </p:nvCxnSpPr>
        <p:spPr>
          <a:xfrm>
            <a:off x="4091940" y="3863340"/>
            <a:ext cx="548640" cy="0"/>
          </a:xfrm>
          <a:prstGeom prst="straightConnector1">
            <a:avLst/>
          </a:prstGeom>
          <a:ln w="38100">
            <a:solidFill>
              <a:srgbClr val="00461A"/>
            </a:solidFill>
            <a:tailEnd type="triangle" w="med" len="med"/>
          </a:ln>
        </p:spPr>
      </p:cxnSp>
      <p:cxnSp>
        <p:nvCxnSpPr>
          <p:cNvPr id="254" name="Arrow 254"/>
          <p:cNvCxnSpPr/>
          <p:nvPr/>
        </p:nvCxnSpPr>
        <p:spPr>
          <a:xfrm>
            <a:off x="7703820" y="3863340"/>
            <a:ext cx="548640" cy="0"/>
          </a:xfrm>
          <a:prstGeom prst="straightConnector1">
            <a:avLst/>
          </a:prstGeom>
          <a:ln w="38100">
            <a:solidFill>
              <a:srgbClr val="00461A"/>
            </a:solidFill>
            <a:tailEnd type="triangle" w="med" len="med"/>
          </a:ln>
        </p:spPr>
      </p:cxnSp>
      <p:sp>
        <p:nvSpPr>
          <p:cNvPr id="255" name="Card 255"/>
          <p:cNvSpPr/>
          <p:nvPr/>
        </p:nvSpPr>
        <p:spPr>
          <a:xfrm>
            <a:off x="1028700" y="4983480"/>
            <a:ext cx="10287000" cy="4709160"/>
          </a:xfrm>
          <a:prstGeom prst="roundRect">
            <a:avLst>
              <a:gd name="adj" fmla="val 6000"/>
            </a:avLst>
          </a:prstGeom>
          <a:solidFill>
            <a:srgbClr val="DDE5DF"/>
          </a:solidFill>
          <a:ln>
            <a:noFill/>
          </a:ln>
        </p:spPr>
        <p:txBody>
          <a:bodyPr wrap="square" lIns="274320" tIns="201168" rIns="274320" bIns="182880" anchor="t" rtlCol="0">
            <a:noAutofit/>
          </a:bodyPr>
          <a:lstStyle/>
          <a:p>
            <a:pPr algn="l">
              <a:buNone/>
            </a:pPr>
            <a:r>
              <a:rPr lang="en-US" sz="1800" b="1" dirty="0">
                <a:solidFill>
                  <a:srgbClr val="3F8C50"/>
                </a:solidFill>
                <a:latin typeface="Arial Bold"/>
                <a:cs typeface="Arial Bold"/>
              </a:rPr>
              <a:t>4  </a:t>
            </a:r>
            <a:r>
              <a:rPr lang="en-US" sz="1800" b="1" dirty="0">
                <a:solidFill>
                  <a:srgbClr val="111111"/>
                </a:solidFill>
                <a:latin typeface="Arial Bold"/>
                <a:cs typeface="Arial Bold"/>
              </a:rPr>
              <a:t>EXPLORATION LOOP</a:t>
            </a:r>
            <a:r>
              <a:rPr lang="en-US" sz="1500" dirty="0">
                <a:solidFill>
                  <a:srgbClr val="555555"/>
                </a:solidFill>
                <a:latin typeface="Arial"/>
                <a:cs typeface="Arial"/>
              </a:rPr>
              <a:t>   repeats until the interaction budget is spent</a:t>
            </a:r>
            <a:endParaRPr lang="en-US" sz="1800" dirty="0"/>
          </a:p>
        </p:txBody>
      </p:sp>
      <p:cxnSp>
        <p:nvCxnSpPr>
          <p:cNvPr id="256" name="Arrow 256"/>
          <p:cNvCxnSpPr/>
          <p:nvPr/>
        </p:nvCxnSpPr>
        <p:spPr>
          <a:xfrm>
            <a:off x="9784080" y="4526280"/>
            <a:ext cx="0" cy="457200"/>
          </a:xfrm>
          <a:prstGeom prst="straightConnector1">
            <a:avLst/>
          </a:prstGeom>
          <a:ln w="38100">
            <a:solidFill>
              <a:srgbClr val="00461A"/>
            </a:solidFill>
            <a:tailEnd type="triangle" w="med" len="med"/>
          </a:ln>
        </p:spPr>
      </p:cxnSp>
      <p:sp>
        <p:nvSpPr>
          <p:cNvPr id="257" name="Card 257"/>
          <p:cNvSpPr/>
          <p:nvPr/>
        </p:nvSpPr>
        <p:spPr>
          <a:xfrm>
            <a:off x="1531620" y="5852160"/>
            <a:ext cx="416052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
            </a:r>
            <a:r>
              <a:rPr lang="en-US" sz="1800" b="1" dirty="0">
                <a:solidFill>
                  <a:srgbClr val="111111"/>
                </a:solidFill>
                <a:latin typeface="Arial Bold"/>
                <a:cs typeface="Arial Bold"/>
              </a:rPr>
              <a:t>Choose a state</a:t>
            </a:r>
            <a:endParaRPr lang="en-US" sz="1800" dirty="0"/>
          </a:p>
          <a:p>
            <a:pPr algn="l">
              <a:lnSpc>
                <a:spcPct val="100000"/>
              </a:lnSpc>
              <a:buNone/>
            </a:pPr>
            <a:r>
              <a:rPr lang="en-US" sz="1450" dirty="0">
                <a:solidFill>
                  <a:srgbClr val="555555"/>
                </a:solidFill>
                <a:latin typeface="Arial"/>
                <a:cs typeface="Arial"/>
              </a:rPr>
              <a:t>from the archive, in proportion to its weight w(c)</a:t>
            </a:r>
            <a:endParaRPr lang="en-US" sz="1450" dirty="0"/>
          </a:p>
        </p:txBody>
      </p:sp>
      <p:sp>
        <p:nvSpPr>
          <p:cNvPr id="258" name="Card 258"/>
          <p:cNvSpPr/>
          <p:nvPr/>
        </p:nvSpPr>
        <p:spPr>
          <a:xfrm>
            <a:off x="6652260" y="5852160"/>
            <a:ext cx="416052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
            </a:r>
            <a:r>
              <a:rPr lang="en-US" sz="1800" b="1" dirty="0">
                <a:solidFill>
                  <a:srgbClr val="111111"/>
                </a:solidFill>
                <a:latin typeface="Arial Bold"/>
                <a:cs typeface="Arial Bold"/>
              </a:rPr>
              <a:t>Return exactly</a:t>
            </a:r>
            <a:endParaRPr lang="en-US" sz="1800" dirty="0"/>
          </a:p>
          <a:p>
            <a:pPr algn="l">
              <a:lnSpc>
                <a:spcPct val="100000"/>
              </a:lnSpc>
              <a:buNone/>
            </a:pPr>
            <a:r>
              <a:rPr lang="en-US" sz="1450" dirty="0">
                <a:solidFill>
                  <a:srgbClr val="555555"/>
                </a:solidFill>
                <a:latin typeface="Arial"/>
                <a:cs typeface="Arial"/>
              </a:rPr>
              <a:t>replay the shortest path to that state</a:t>
            </a:r>
            <a:endParaRPr lang="en-US" sz="1450" dirty="0"/>
          </a:p>
        </p:txBody>
      </p:sp>
      <p:sp>
        <p:nvSpPr>
          <p:cNvPr id="259" name="Card 259"/>
          <p:cNvSpPr/>
          <p:nvPr/>
        </p:nvSpPr>
        <p:spPr>
          <a:xfrm>
            <a:off x="6652260" y="7863840"/>
            <a:ext cx="416052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
            </a:r>
            <a:r>
              <a:rPr lang="en-US" sz="1800" b="1" dirty="0">
                <a:solidFill>
                  <a:srgbClr val="111111"/>
                </a:solidFill>
                <a:latin typeface="Arial Bold"/>
                <a:cs typeface="Arial Bold"/>
              </a:rPr>
              <a:t>Apply a test</a:t>
            </a:r>
            <a:endParaRPr lang="en-US" sz="1800" dirty="0"/>
          </a:p>
          <a:p>
            <a:pPr algn="l">
              <a:lnSpc>
                <a:spcPct val="100000"/>
              </a:lnSpc>
              <a:buNone/>
            </a:pPr>
            <a:r>
              <a:rPr lang="en-US" sz="1450" dirty="0">
                <a:solidFill>
                  <a:srgbClr val="555555"/>
                </a:solidFill>
                <a:latin typeface="Arial"/>
                <a:cs typeface="Arial"/>
              </a:rPr>
              <a:t>the operator is chosen by the approach (slides on each arm)</a:t>
            </a:r>
            <a:endParaRPr lang="en-US" sz="1450" dirty="0"/>
          </a:p>
        </p:txBody>
      </p:sp>
      <p:sp>
        <p:nvSpPr>
          <p:cNvPr id="260" name="Card 260"/>
          <p:cNvSpPr/>
          <p:nvPr/>
        </p:nvSpPr>
        <p:spPr>
          <a:xfrm>
            <a:off x="1531620" y="7863840"/>
            <a:ext cx="4160520" cy="132588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
            </a:r>
            <a:r>
              <a:rPr lang="en-US" sz="1800" b="1" dirty="0">
                <a:solidFill>
                  <a:srgbClr val="111111"/>
                </a:solidFill>
                <a:latin typeface="Arial Bold"/>
                <a:cs typeface="Arial Bold"/>
              </a:rPr>
              <a:t>Observe the page</a:t>
            </a:r>
            <a:endParaRPr lang="en-US" sz="1800" dirty="0"/>
          </a:p>
          <a:p>
            <a:pPr algn="l">
              <a:lnSpc>
                <a:spcPct val="100000"/>
              </a:lnSpc>
              <a:buNone/>
            </a:pPr>
            <a:r>
              <a:rPr lang="en-US" sz="1450" dirty="0">
                <a:solidFill>
                  <a:srgbClr val="555555"/>
                </a:solidFill>
                <a:latin typeface="Arial"/>
                <a:cs typeface="Arial"/>
              </a:rPr>
              <a:t>new states join the archive; the learner is updated</a:t>
            </a:r>
            <a:endParaRPr lang="en-US" sz="1450" dirty="0"/>
          </a:p>
        </p:txBody>
      </p:sp>
      <p:cxnSp>
        <p:nvCxnSpPr>
          <p:cNvPr id="261" name="Arrow 261"/>
          <p:cNvCxnSpPr/>
          <p:nvPr/>
        </p:nvCxnSpPr>
        <p:spPr>
          <a:xfrm>
            <a:off x="5692140" y="6515100"/>
            <a:ext cx="960120" cy="0"/>
          </a:xfrm>
          <a:prstGeom prst="straightConnector1">
            <a:avLst/>
          </a:prstGeom>
          <a:ln w="38100">
            <a:solidFill>
              <a:srgbClr val="00461A"/>
            </a:solidFill>
            <a:tailEnd type="triangle" w="med" len="med"/>
          </a:ln>
        </p:spPr>
      </p:cxnSp>
      <p:cxnSp>
        <p:nvCxnSpPr>
          <p:cNvPr id="262" name="Arrow 262"/>
          <p:cNvCxnSpPr/>
          <p:nvPr/>
        </p:nvCxnSpPr>
        <p:spPr>
          <a:xfrm>
            <a:off x="8732520" y="7178040"/>
            <a:ext cx="0" cy="685800"/>
          </a:xfrm>
          <a:prstGeom prst="straightConnector1">
            <a:avLst/>
          </a:prstGeom>
          <a:ln w="38100">
            <a:solidFill>
              <a:srgbClr val="00461A"/>
            </a:solidFill>
            <a:tailEnd type="triangle" w="med" len="med"/>
          </a:ln>
        </p:spPr>
      </p:cxnSp>
      <p:cxnSp>
        <p:nvCxnSpPr>
          <p:cNvPr id="263" name="Arrow 263"/>
          <p:cNvCxnSpPr/>
          <p:nvPr/>
        </p:nvCxnSpPr>
        <p:spPr>
          <a:xfrm flipH="1">
            <a:off x="5692140" y="8526780"/>
            <a:ext cx="960120" cy="0"/>
          </a:xfrm>
          <a:prstGeom prst="straightConnector1">
            <a:avLst/>
          </a:prstGeom>
          <a:ln w="38100">
            <a:solidFill>
              <a:srgbClr val="00461A"/>
            </a:solidFill>
            <a:tailEnd type="triangle" w="med" len="med"/>
          </a:ln>
        </p:spPr>
      </p:cxnSp>
      <p:cxnSp>
        <p:nvCxnSpPr>
          <p:cNvPr id="264" name="Arrow 264"/>
          <p:cNvCxnSpPr/>
          <p:nvPr/>
        </p:nvCxnSpPr>
        <p:spPr>
          <a:xfrm flipV="1">
            <a:off x="3611880" y="7178040"/>
            <a:ext cx="0" cy="685800"/>
          </a:xfrm>
          <a:prstGeom prst="straightConnector1">
            <a:avLst/>
          </a:prstGeom>
          <a:ln w="38100">
            <a:solidFill>
              <a:srgbClr val="00461A"/>
            </a:solidFill>
            <a:tailEnd type="triangle" w="med" len="med"/>
          </a:ln>
        </p:spPr>
      </p:cxnSp>
      <p:sp>
        <p:nvSpPr>
          <p:cNvPr id="265" name="Card 265"/>
          <p:cNvSpPr/>
          <p:nvPr/>
        </p:nvSpPr>
        <p:spPr>
          <a:xfrm>
            <a:off x="12001500" y="3200400"/>
            <a:ext cx="5257800" cy="1325880"/>
          </a:xfrm>
          <a:prstGeom prst="roundRect">
            <a:avLst>
              <a:gd name="adj" fmla="val 6000"/>
            </a:avLst>
          </a:prstGeom>
          <a:solidFill>
            <a:srgbClr val="3F8C50"/>
          </a:solidFill>
          <a:ln>
            <a:noFill/>
          </a:ln>
        </p:spPr>
        <p:txBody>
          <a:bodyPr wrap="square" lIns="274320" tIns="137160" rIns="274320" bIns="137160" anchor="ctr" rtlCol="0">
            <a:noAutofit/>
          </a:bodyPr>
          <a:lstStyle/>
          <a:p>
            <a:pPr algn="l">
              <a:lnSpc>
                <a:spcPct val="105000"/>
              </a:lnSpc>
              <a:buNone/>
            </a:pPr>
            <a:r>
              <a:rPr lang="en-US" sz="1800" b="1" dirty="0">
                <a:solidFill>
                  <a:srgbClr val="FFFFFF"/>
                </a:solidFill>
                <a:latin typeface="Arial Bold"/>
                <a:cs typeface="Arial Bold"/>
              </a:rPr>
              <a:t>Nothing is reported unless it passes verification.</a:t>
            </a:r>
            <a:endParaRPr lang="en-US" sz="1800" dirty="0"/>
          </a:p>
        </p:txBody>
      </p:sp>
      <p:sp>
        <p:nvSpPr>
          <p:cNvPr id="266" name="Card 266"/>
          <p:cNvSpPr/>
          <p:nvPr/>
        </p:nvSpPr>
        <p:spPr>
          <a:xfrm>
            <a:off x="12001500" y="4983480"/>
            <a:ext cx="5257800" cy="141732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5  </a:t>
            </a:r>
            <a:r>
              <a:rPr lang="en-US" sz="1800" b="1" dirty="0">
                <a:solidFill>
                  <a:srgbClr val="111111"/>
                </a:solidFill>
                <a:latin typeface="Arial Bold"/>
                <a:cs typeface="Arial Bold"/>
              </a:rPr>
              <a:t>Detect a candidate</a:t>
            </a:r>
            <a:endParaRPr lang="en-US" sz="1800" dirty="0"/>
          </a:p>
          <a:p>
            <a:pPr algn="l">
              <a:lnSpc>
                <a:spcPct val="100000"/>
              </a:lnSpc>
              <a:buNone/>
            </a:pPr>
            <a:r>
              <a:rPr lang="en-US" sz="1450" dirty="0">
                <a:solidFill>
                  <a:srgbClr val="555555"/>
                </a:solidFill>
                <a:latin typeface="Arial"/>
                <a:cs typeface="Arial"/>
              </a:rPr>
              <a:t>seeded assertion · generic trigger (script error, failed request, dead link) · LLM-inferred rule</a:t>
            </a:r>
            <a:endParaRPr lang="en-US" sz="1450" dirty="0"/>
          </a:p>
        </p:txBody>
      </p:sp>
      <p:sp>
        <p:nvSpPr>
          <p:cNvPr id="267" name="Card 267"/>
          <p:cNvSpPr/>
          <p:nvPr/>
        </p:nvSpPr>
        <p:spPr>
          <a:xfrm>
            <a:off x="12001500" y="6812280"/>
            <a:ext cx="5257800" cy="1508760"/>
          </a:xfrm>
          <a:prstGeom prst="roundRect">
            <a:avLst>
              <a:gd name="adj" fmla="val 6000"/>
            </a:avLst>
          </a:prstGeom>
          <a:solidFill>
            <a:srgbClr val="00461A"/>
          </a:solidFill>
          <a:ln>
            <a:noFill/>
          </a:ln>
        </p:spPr>
        <p:txBody>
          <a:bodyPr wrap="square" lIns="201168" tIns="137160" rIns="201168" bIns="109728" anchor="ctr" rtlCol="0">
            <a:noAutofit/>
          </a:bodyPr>
          <a:lstStyle/>
          <a:p>
            <a:pPr algn="l">
              <a:spcAft>
                <a:spcPts val="300"/>
              </a:spcAft>
              <a:buNone/>
            </a:pPr>
            <a:r>
              <a:rPr lang="en-US" sz="1800" b="1" dirty="0">
                <a:solidFill>
                  <a:srgbClr val="A8D5B2"/>
                </a:solidFill>
                <a:latin typeface="Arial Bold"/>
                <a:cs typeface="Arial Bold"/>
              </a:rPr>
              <a:t>6  </a:t>
            </a:r>
            <a:r>
              <a:rPr lang="en-US" sz="1800" b="1" dirty="0">
                <a:solidFill>
                  <a:srgbClr val="FFFFFF"/>
                </a:solidFill>
                <a:latin typeface="Arial Bold"/>
                <a:cs typeface="Arial Bold"/>
              </a:rPr>
              <a:t>Verify</a:t>
            </a:r>
            <a:endParaRPr lang="en-US" sz="1800" dirty="0"/>
          </a:p>
          <a:p>
            <a:pPr algn="l">
              <a:lnSpc>
                <a:spcPct val="100000"/>
              </a:lnSpc>
              <a:buNone/>
            </a:pPr>
            <a:r>
              <a:rPr lang="en-US" sz="1450" dirty="0">
                <a:solidFill>
                  <a:srgbClr val="D9E8DC"/>
                </a:solidFill>
                <a:latin typeface="Arial"/>
                <a:cs typeface="Arial"/>
              </a:rPr>
              <a:t>replay twice in fresh sessions · control build without the fault · minimise (delta debugging) · LLM judge for rule findings</a:t>
            </a:r>
            <a:endParaRPr lang="en-US" sz="1450" dirty="0"/>
          </a:p>
        </p:txBody>
      </p:sp>
      <p:sp>
        <p:nvSpPr>
          <p:cNvPr id="268" name="Card 268"/>
          <p:cNvSpPr/>
          <p:nvPr/>
        </p:nvSpPr>
        <p:spPr>
          <a:xfrm>
            <a:off x="12001500" y="8686800"/>
            <a:ext cx="5257800" cy="1005840"/>
          </a:xfrm>
          <a:prstGeom prst="roundRect">
            <a:avLst>
              <a:gd name="adj" fmla="val 6000"/>
            </a:avLst>
          </a:prstGeom>
          <a:solidFill>
            <a:srgbClr val="FFFFFF"/>
          </a:solidFill>
          <a:ln w="15875">
            <a:solidFill>
              <a:srgbClr val="E2E6E3"/>
            </a:solidFill>
          </a:ln>
        </p:spPr>
        <p:txBody>
          <a:bodyPr wrap="square" lIns="201168" tIns="137160" rIns="201168" bIns="109728" anchor="ctr" rtlCol="0">
            <a:noAutofit/>
          </a:bodyPr>
          <a:lstStyle/>
          <a:p>
            <a:pPr algn="l">
              <a:spcAft>
                <a:spcPts val="300"/>
              </a:spcAft>
              <a:buNone/>
            </a:pPr>
            <a:r>
              <a:rPr lang="en-US" sz="1800" b="1" dirty="0">
                <a:solidFill>
                  <a:srgbClr val="3F8C50"/>
                </a:solidFill>
                <a:latin typeface="Arial Bold"/>
                <a:cs typeface="Arial Bold"/>
              </a:rPr>
              <a:t>7  </a:t>
            </a:r>
            <a:r>
              <a:rPr lang="en-US" sz="1800" b="1" dirty="0">
                <a:solidFill>
                  <a:srgbClr val="111111"/>
                </a:solidFill>
                <a:latin typeface="Arial Bold"/>
                <a:cs typeface="Arial Bold"/>
              </a:rPr>
              <a:t>Report</a:t>
            </a:r>
            <a:endParaRPr lang="en-US" sz="1800" dirty="0"/>
          </a:p>
          <a:p>
            <a:pPr algn="l">
              <a:lnSpc>
                <a:spcPct val="100000"/>
              </a:lnSpc>
              <a:buNone/>
            </a:pPr>
            <a:r>
              <a:rPr lang="en-US" sz="1450" dirty="0">
                <a:solidFill>
                  <a:srgbClr val="555555"/>
                </a:solidFill>
                <a:latin typeface="Arial"/>
                <a:cs typeface="Arial"/>
              </a:rPr>
              <a:t>steps, screenshots; HTML, Markdown, JSON</a:t>
            </a:r>
            <a:endParaRPr lang="en-US" sz="1450" dirty="0"/>
          </a:p>
        </p:txBody>
      </p:sp>
      <p:cxnSp>
        <p:nvCxnSpPr>
          <p:cNvPr id="269" name="Arrow 269"/>
          <p:cNvCxnSpPr/>
          <p:nvPr/>
        </p:nvCxnSpPr>
        <p:spPr>
          <a:xfrm>
            <a:off x="11315700" y="5687568"/>
            <a:ext cx="685800" cy="0"/>
          </a:xfrm>
          <a:prstGeom prst="straightConnector1">
            <a:avLst/>
          </a:prstGeom>
          <a:ln w="38100">
            <a:solidFill>
              <a:srgbClr val="00461A"/>
            </a:solidFill>
            <a:tailEnd type="triangle" w="med" len="med"/>
          </a:ln>
        </p:spPr>
      </p:cxnSp>
      <p:cxnSp>
        <p:nvCxnSpPr>
          <p:cNvPr id="270" name="Arrow 270"/>
          <p:cNvCxnSpPr/>
          <p:nvPr/>
        </p:nvCxnSpPr>
        <p:spPr>
          <a:xfrm>
            <a:off x="14630400" y="6400800"/>
            <a:ext cx="0" cy="411480"/>
          </a:xfrm>
          <a:prstGeom prst="straightConnector1">
            <a:avLst/>
          </a:prstGeom>
          <a:ln w="38100">
            <a:solidFill>
              <a:srgbClr val="00461A"/>
            </a:solidFill>
            <a:tailEnd type="triangle" w="med" len="med"/>
          </a:ln>
        </p:spPr>
      </p:cxnSp>
      <p:cxnSp>
        <p:nvCxnSpPr>
          <p:cNvPr id="271" name="Arrow 271"/>
          <p:cNvCxnSpPr/>
          <p:nvPr/>
        </p:nvCxnSpPr>
        <p:spPr>
          <a:xfrm>
            <a:off x="14630400" y="8321040"/>
            <a:ext cx="0" cy="365760"/>
          </a:xfrm>
          <a:prstGeom prst="straightConnector1">
            <a:avLst/>
          </a:prstGeom>
          <a:ln w="38100">
            <a:solidFill>
              <a:srgbClr val="00461A"/>
            </a:solidFill>
            <a:tailEnd type="triangle" w="med" len="med"/>
          </a:ln>
        </p:spPr>
      </p:cxn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RESULTS: BENCHMARK</a:t>
            </a:r>
          </a:p>
        </p:txBody>
      </p:sp>
      <p:sp>
        <p:nvSpPr>
          <p:cNvPr id="272" name="Text 272"/>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WebExplor's six open-source applications: branch coverage (%), one-hour runs</a:t>
            </a:r>
            <a:endParaRPr lang="en-US" sz="1800" dirty="0"/>
          </a:p>
        </p:txBody>
      </p:sp>
      <p:sp>
        <p:nvSpPr>
          <p:cNvPr id="273" name="Text 273"/>
          <p:cNvSpPr txBox="1"/>
          <p:nvPr/>
        </p:nvSpPr>
        <p:spPr>
          <a:xfrm>
            <a:off x="1028700" y="3017520"/>
            <a:ext cx="16230600" cy="411480"/>
          </a:xfrm>
          <a:prstGeom prst="rect">
            <a:avLst/>
          </a:prstGeom>
          <a:noFill/>
          <a:ln>
            <a:noFill/>
          </a:ln>
        </p:spPr>
        <p:txBody>
          <a:bodyPr wrap="square" lIns="0" tIns="0" rIns="0" bIns="0" anchor="t" rtlCol="0">
            <a:noAutofit/>
          </a:bodyPr>
          <a:lstStyle/>
          <a:p>
            <a:pPr algn="l">
              <a:buNone/>
            </a:pPr>
            <a:r>
              <a:rPr lang="en-US" sz="1600" dirty="0">
                <a:solidFill>
                  <a:srgbClr val="555555"/>
                </a:solidFill>
                <a:latin typeface="Arial"/>
                <a:cs typeface="Arial"/>
              </a:rPr>
              <a:t>Our approaches: 5 runs per app, same hardware for every run (round 2, listener-based clickables). WebExplor and WebRLED: published averages.</a:t>
            </a:r>
            <a:endParaRPr lang="en-US" sz="1600" dirty="0"/>
          </a:p>
        </p:txBody>
      </p:sp>
      <p:graphicFrame>
        <p:nvGraphicFramePr>
          <p:cNvPr id="274" name="Table 274"/>
          <p:cNvGraphicFramePr>
            <a:graphicFrameLocks noGrp="1"/>
          </p:cNvGraphicFramePr>
          <p:nvPr/>
        </p:nvGraphicFramePr>
        <p:xfrm>
          <a:off x="1028700" y="3611880"/>
          <a:ext cx="16230600" cy="5257800"/>
        </p:xfrm>
        <a:graphic>
          <a:graphicData uri="http://schemas.openxmlformats.org/drawingml/2006/table">
            <a:tbl>
              <a:tblPr firstRow="1" bandRow="1"/>
              <a:tblGrid>
                <a:gridCol w="4526280"/>
                <a:gridCol w="2926080"/>
                <a:gridCol w="3291840"/>
                <a:gridCol w="2743200"/>
                <a:gridCol w="2743200"/>
              </a:tblGrid>
              <a:tr h="525780">
                <a:tc>
                  <a:txBody>
                    <a:bodyPr/>
                    <a:lstStyle/>
                    <a:p>
                      <a:pPr algn="l">
                        <a:buNone/>
                      </a:pPr>
                      <a:r>
                        <a:rPr lang="en-US" sz="1800" b="1" dirty="0">
                          <a:solidFill>
                            <a:srgbClr val="FFFFFF"/>
                          </a:solidFill>
                          <a:latin typeface="Arial Bold"/>
                          <a:cs typeface="Arial Bold"/>
                        </a:rPr>
                        <a:t>Application</a:t>
                      </a:r>
                      <a:endParaRPr lang="en-US" sz="18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Bandit explorer *</a:t>
                      </a:r>
                      <a:endParaRPr lang="en-US" sz="18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Curiosity RL explorer</a:t>
                      </a:r>
                      <a:endParaRPr lang="en-US" sz="18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WebExplor</a:t>
                      </a:r>
                      <a:endParaRPr lang="en-US" sz="1800" dirty="0"/>
                    </a:p>
                    <a:p>
                      <a:pPr algn="ctr">
                        <a:buNone/>
                      </a:pPr>
                      <a:r>
                        <a:rPr lang="en-US" sz="1500" dirty="0">
                          <a:solidFill>
                            <a:srgbClr val="D9E8DC"/>
                          </a:solidFill>
                          <a:latin typeface="Arial"/>
                          <a:cs typeface="Arial"/>
                        </a:rPr>
                        <a:t>(published)</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c>
                  <a:txBody>
                    <a:bodyPr/>
                    <a:lstStyle/>
                    <a:p>
                      <a:pPr algn="ctr">
                        <a:buNone/>
                      </a:pPr>
                      <a:r>
                        <a:rPr lang="en-US" sz="1800" b="1" dirty="0">
                          <a:solidFill>
                            <a:srgbClr val="FFFFFF"/>
                          </a:solidFill>
                          <a:latin typeface="Arial Bold"/>
                          <a:cs typeface="Arial Bold"/>
                        </a:rPr>
                        <a:t>WebRLED</a:t>
                      </a:r>
                      <a:endParaRPr lang="en-US" sz="1800" dirty="0"/>
                    </a:p>
                    <a:p>
                      <a:pPr algn="ctr">
                        <a:buNone/>
                      </a:pPr>
                      <a:r>
                        <a:rPr lang="en-US" sz="1500" dirty="0">
                          <a:solidFill>
                            <a:srgbClr val="D9E8DC"/>
                          </a:solidFill>
                          <a:latin typeface="Arial"/>
                          <a:cs typeface="Arial"/>
                        </a:rPr>
                        <a:t>(published)</a:t>
                      </a:r>
                      <a:endParaRPr lang="en-US" sz="15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00461A"/>
                    </a:solidFill>
                  </a:tcPr>
                </a:tc>
              </a:tr>
              <a:tr h="525780">
                <a:tc>
                  <a:txBody>
                    <a:bodyPr/>
                    <a:lstStyle/>
                    <a:p>
                      <a:pPr algn="l">
                        <a:buNone/>
                      </a:pPr>
                      <a:r>
                        <a:rPr lang="en-US" sz="1900" b="1" dirty="0">
                          <a:solidFill>
                            <a:srgbClr val="111111"/>
                          </a:solidFill>
                          <a:latin typeface="Arial Bold"/>
                          <a:cs typeface="Arial Bold"/>
                        </a:rPr>
                        <a:t>Dimeshift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b="1" dirty="0">
                          <a:solidFill>
                            <a:srgbClr val="00461A"/>
                          </a:solidFill>
                          <a:latin typeface="Arial Bold"/>
                          <a:cs typeface="Arial Bold"/>
                        </a:rPr>
                        <a:t>51.3</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48.9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54.2</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55.4</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r h="525780">
                <a:tc>
                  <a:txBody>
                    <a:bodyPr/>
                    <a:lstStyle/>
                    <a:p>
                      <a:pPr algn="l">
                        <a:buNone/>
                      </a:pPr>
                      <a:r>
                        <a:rPr lang="en-US" sz="1900" b="1" dirty="0">
                          <a:solidFill>
                            <a:srgbClr val="111111"/>
                          </a:solidFill>
                          <a:latin typeface="Arial Bold"/>
                          <a:cs typeface="Arial Bold"/>
                        </a:rPr>
                        <a:t>Pagekit</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34.8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b="1" dirty="0">
                          <a:solidFill>
                            <a:srgbClr val="00461A"/>
                          </a:solidFill>
                          <a:latin typeface="Arial Bold"/>
                          <a:cs typeface="Arial Bold"/>
                        </a:rPr>
                        <a:t>41.0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25.8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39.8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r>
              <a:tr h="525780">
                <a:tc>
                  <a:txBody>
                    <a:bodyPr/>
                    <a:lstStyle/>
                    <a:p>
                      <a:pPr algn="l">
                        <a:buNone/>
                      </a:pPr>
                      <a:r>
                        <a:rPr lang="en-US" sz="1900" b="1" dirty="0">
                          <a:solidFill>
                            <a:srgbClr val="111111"/>
                          </a:solidFill>
                          <a:latin typeface="Arial Bold"/>
                          <a:cs typeface="Arial Bold"/>
                        </a:rPr>
                        <a:t>Splittypie</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34.8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b="1" dirty="0">
                          <a:solidFill>
                            <a:srgbClr val="00461A"/>
                          </a:solidFill>
                          <a:latin typeface="Arial Bold"/>
                          <a:cs typeface="Arial Bold"/>
                        </a:rPr>
                        <a:t>47.0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36.2</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44.6</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r h="525780">
                <a:tc>
                  <a:txBody>
                    <a:bodyPr/>
                    <a:lstStyle/>
                    <a:p>
                      <a:pPr algn="l">
                        <a:buNone/>
                      </a:pPr>
                      <a:r>
                        <a:rPr lang="en-US" sz="1900" b="1" dirty="0">
                          <a:solidFill>
                            <a:srgbClr val="111111"/>
                          </a:solidFill>
                          <a:latin typeface="Arial Bold"/>
                          <a:cs typeface="Arial Bold"/>
                        </a:rPr>
                        <a:t>Phoenix</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82.9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b="1" dirty="0">
                          <a:solidFill>
                            <a:srgbClr val="00461A"/>
                          </a:solidFill>
                          <a:latin typeface="Arial Bold"/>
                          <a:cs typeface="Arial Bold"/>
                        </a:rPr>
                        <a:t>84.7</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71.8</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82.9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r>
              <a:tr h="525780">
                <a:tc>
                  <a:txBody>
                    <a:bodyPr/>
                    <a:lstStyle/>
                    <a:p>
                      <a:pPr algn="l">
                        <a:buNone/>
                      </a:pPr>
                      <a:r>
                        <a:rPr lang="en-US" sz="1900" b="1" dirty="0">
                          <a:solidFill>
                            <a:srgbClr val="111111"/>
                          </a:solidFill>
                          <a:latin typeface="Arial Bold"/>
                          <a:cs typeface="Arial Bold"/>
                        </a:rPr>
                        <a:t>Retroboard</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53.9</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b="1" dirty="0">
                          <a:solidFill>
                            <a:srgbClr val="00461A"/>
                          </a:solidFill>
                          <a:latin typeface="Arial Bold"/>
                          <a:cs typeface="Arial Bold"/>
                        </a:rPr>
                        <a:t>54.0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60.2</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77.4</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r h="525780">
                <a:tc>
                  <a:txBody>
                    <a:bodyPr/>
                    <a:lstStyle/>
                    <a:p>
                      <a:pPr algn="l">
                        <a:buNone/>
                      </a:pPr>
                      <a:r>
                        <a:rPr lang="en-US" sz="1900" b="1" dirty="0">
                          <a:solidFill>
                            <a:srgbClr val="111111"/>
                          </a:solidFill>
                          <a:latin typeface="Arial Bold"/>
                          <a:cs typeface="Arial Bold"/>
                        </a:rPr>
                        <a:t>Petclinic</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111111"/>
                          </a:solidFill>
                          <a:latin typeface="Arial"/>
                          <a:cs typeface="Arial"/>
                        </a:rPr>
                        <a:t>42.0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b="1" dirty="0">
                          <a:solidFill>
                            <a:srgbClr val="00461A"/>
                          </a:solidFill>
                          <a:latin typeface="Arial Bold"/>
                          <a:cs typeface="Arial Bold"/>
                        </a:rPr>
                        <a:t>46.0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85.0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c>
                  <a:txBody>
                    <a:bodyPr/>
                    <a:lstStyle/>
                    <a:p>
                      <a:pPr algn="ctr">
                        <a:buNone/>
                      </a:pPr>
                      <a:r>
                        <a:rPr lang="en-US" sz="1900" dirty="0">
                          <a:solidFill>
                            <a:srgbClr val="555555"/>
                          </a:solidFill>
                          <a:latin typeface="Arial"/>
                          <a:cs typeface="Arial"/>
                        </a:rPr>
                        <a:t>85.0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E9EEEA"/>
                    </a:solidFill>
                  </a:tcPr>
                </a:tc>
              </a:tr>
              <a:tr h="525780">
                <a:tc>
                  <a:txBody>
                    <a:bodyPr/>
                    <a:lstStyle/>
                    <a:p>
                      <a:pPr algn="l">
                        <a:buNone/>
                      </a:pPr>
                      <a:r>
                        <a:rPr lang="en-US" sz="1900" b="1" dirty="0">
                          <a:solidFill>
                            <a:srgbClr val="111111"/>
                          </a:solidFill>
                          <a:latin typeface="Arial Bold"/>
                          <a:cs typeface="Arial Bold"/>
                        </a:rPr>
                        <a:t>Average, 6 apps</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b="1" dirty="0">
                          <a:solidFill>
                            <a:srgbClr val="111111"/>
                          </a:solidFill>
                          <a:latin typeface="Arial Bold"/>
                          <a:cs typeface="Arial Bold"/>
                        </a:rPr>
                        <a:t>50.0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b="1" dirty="0">
                          <a:solidFill>
                            <a:srgbClr val="00461A"/>
                          </a:solidFill>
                          <a:latin typeface="Arial Bold"/>
                          <a:cs typeface="Arial Bold"/>
                        </a:rPr>
                        <a:t>53.6</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dirty="0">
                          <a:solidFill>
                            <a:srgbClr val="555555"/>
                          </a:solidFill>
                          <a:latin typeface="Arial"/>
                          <a:cs typeface="Arial"/>
                        </a:rPr>
                        <a:t>55.5</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dirty="0">
                          <a:solidFill>
                            <a:srgbClr val="555555"/>
                          </a:solidFill>
                          <a:latin typeface="Arial"/>
                          <a:cs typeface="Arial"/>
                        </a:rPr>
                        <a:t>64.2</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r>
              <a:tr h="525780">
                <a:tc>
                  <a:txBody>
                    <a:bodyPr/>
                    <a:lstStyle/>
                    <a:p>
                      <a:pPr algn="l">
                        <a:buNone/>
                      </a:pPr>
                      <a:r>
                        <a:rPr lang="en-US" sz="1900" b="1" dirty="0">
                          <a:solidFill>
                            <a:srgbClr val="111111"/>
                          </a:solidFill>
                          <a:latin typeface="Arial Bold"/>
                          <a:cs typeface="Arial Bold"/>
                        </a:rPr>
                        <a:t>Average without Petclinic</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b="1" dirty="0">
                          <a:solidFill>
                            <a:srgbClr val="111111"/>
                          </a:solidFill>
                          <a:latin typeface="Arial Bold"/>
                          <a:cs typeface="Arial Bold"/>
                        </a:rPr>
                        <a:t>51.5</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b="1" dirty="0">
                          <a:solidFill>
                            <a:srgbClr val="00461A"/>
                          </a:solidFill>
                          <a:latin typeface="Arial Bold"/>
                          <a:cs typeface="Arial Bold"/>
                        </a:rPr>
                        <a:t>55.1</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dirty="0">
                          <a:solidFill>
                            <a:srgbClr val="555555"/>
                          </a:solidFill>
                          <a:latin typeface="Arial"/>
                          <a:cs typeface="Arial"/>
                        </a:rPr>
                        <a:t>49.6</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c>
                  <a:txBody>
                    <a:bodyPr/>
                    <a:lstStyle/>
                    <a:p>
                      <a:pPr algn="ctr">
                        <a:buNone/>
                      </a:pPr>
                      <a:r>
                        <a:rPr lang="en-US" sz="1900" dirty="0">
                          <a:solidFill>
                            <a:srgbClr val="555555"/>
                          </a:solidFill>
                          <a:latin typeface="Arial"/>
                          <a:cs typeface="Arial"/>
                        </a:rPr>
                        <a:t>60.0</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DDE5DF"/>
                    </a:solidFill>
                  </a:tcPr>
                </a:tc>
              </a:tr>
              <a:tr h="525780">
                <a:tc>
                  <a:txBody>
                    <a:bodyPr/>
                    <a:lstStyle/>
                    <a:p>
                      <a:pPr algn="l">
                        <a:buNone/>
                      </a:pPr>
                      <a:r>
                        <a:rPr lang="en-US" sz="1900" b="1" dirty="0">
                          <a:solidFill>
                            <a:srgbClr val="111111"/>
                          </a:solidFill>
                          <a:latin typeface="Arial Bold"/>
                          <a:cs typeface="Arial Bold"/>
                        </a:rPr>
                        <a:t>Console failures per run</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2.1</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111111"/>
                          </a:solidFill>
                          <a:latin typeface="Arial"/>
                          <a:cs typeface="Arial"/>
                        </a:rPr>
                        <a:t>2.3</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3.1</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c>
                  <a:txBody>
                    <a:bodyPr/>
                    <a:lstStyle/>
                    <a:p>
                      <a:pPr algn="ctr">
                        <a:buNone/>
                      </a:pPr>
                      <a:r>
                        <a:rPr lang="en-US" sz="1900" dirty="0">
                          <a:solidFill>
                            <a:srgbClr val="555555"/>
                          </a:solidFill>
                          <a:latin typeface="Arial"/>
                          <a:cs typeface="Arial"/>
                        </a:rPr>
                        <a:t>4.1</a:t>
                      </a:r>
                      <a:endParaRPr lang="en-US" sz="1900" dirty="0"/>
                    </a:p>
                  </a:txBody>
                  <a:tcPr marL="137160" marR="137160" marT="45720" marB="45720" anchor="ctr">
                    <a:lnL w="12700">
                      <a:solidFill>
                        <a:srgbClr val="D5DCD7"/>
                      </a:solidFill>
                    </a:lnL>
                    <a:lnR w="12700">
                      <a:solidFill>
                        <a:srgbClr val="D5DCD7"/>
                      </a:solidFill>
                    </a:lnR>
                    <a:lnT w="12700">
                      <a:solidFill>
                        <a:srgbClr val="D5DCD7"/>
                      </a:solidFill>
                    </a:lnT>
                    <a:lnB w="12700">
                      <a:solidFill>
                        <a:srgbClr val="D5DCD7"/>
                      </a:solidFill>
                    </a:lnB>
                    <a:solidFill>
                      <a:srgbClr val="FFFFFF"/>
                    </a:solidFill>
                  </a:tcPr>
                </a:tc>
              </a:tr>
            </a:tbl>
          </a:graphicData>
        </a:graphic>
      </p:graphicFrame>
      <p:sp>
        <p:nvSpPr>
          <p:cNvPr id="275" name="Text 275"/>
          <p:cNvSpPr txBox="1"/>
          <p:nvPr/>
        </p:nvSpPr>
        <p:spPr>
          <a:xfrm>
            <a:off x="1028700" y="9052560"/>
            <a:ext cx="16230600" cy="685800"/>
          </a:xfrm>
          <a:prstGeom prst="rect">
            <a:avLst/>
          </a:prstGeom>
          <a:noFill/>
          <a:ln>
            <a:noFill/>
          </a:ln>
        </p:spPr>
        <p:txBody>
          <a:bodyPr wrap="square" lIns="0" tIns="0" rIns="0" bIns="0" anchor="t" rtlCol="0">
            <a:noAutofit/>
          </a:bodyPr>
          <a:lstStyle/>
          <a:p>
            <a:pPr algn="l">
              <a:lnSpc>
                <a:spcPct val="105000"/>
              </a:lnSpc>
              <a:buNone/>
            </a:pPr>
            <a:r>
              <a:rPr lang="en-US" sz="1500" dirty="0">
                <a:solidFill>
                  <a:srgbClr val="555555"/>
                </a:solidFill>
                <a:latin typeface="Arial"/>
                <a:cs typeface="Arial"/>
              </a:rPr>
              <a:t>Bold: the better of our two approaches on that row.  * Bandit: post-hoc and untuned, run after round 2.  Random exploration (round 1, three runs): 40.3% average.  Published numbers come from the papers; WebExplor's code is not public, so the comparison is with published averages on different machines.</a:t>
            </a:r>
            <a:endParaRPr lang="en-US" sz="1500" dirty="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RESULTS: WHAT THEY MEAN</a:t>
            </a:r>
          </a:p>
        </p:txBody>
      </p:sp>
      <p:sp>
        <p:nvSpPr>
          <p:cNvPr id="276" name="Text 276"/>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Structure and the action space did the measurable work; learning did not add verified faults</a:t>
            </a:r>
            <a:endParaRPr lang="en-US" sz="1800" dirty="0"/>
          </a:p>
        </p:txBody>
      </p:sp>
      <p:sp>
        <p:nvSpPr>
          <p:cNvPr id="277" name="Card 277"/>
          <p:cNvSpPr/>
          <p:nvPr/>
        </p:nvSpPr>
        <p:spPr>
          <a:xfrm>
            <a:off x="1028700" y="3200400"/>
            <a:ext cx="5196840" cy="2697480"/>
          </a:xfrm>
          <a:prstGeom prst="roundRect">
            <a:avLst>
              <a:gd name="adj" fmla="val 6000"/>
            </a:avLst>
          </a:prstGeom>
          <a:solidFill>
            <a:srgbClr val="00461A"/>
          </a:solidFill>
          <a:ln>
            <a:noFill/>
          </a:ln>
        </p:spPr>
        <p:txBody>
          <a:bodyPr wrap="square" lIns="292608" tIns="256032" rIns="292608" bIns="182880" anchor="t" rtlCol="0">
            <a:noAutofit/>
          </a:bodyPr>
          <a:lstStyle/>
          <a:p>
            <a:pPr algn="l">
              <a:spcAft>
                <a:spcPts val="800"/>
              </a:spcAft>
              <a:buNone/>
            </a:pPr>
            <a:r>
              <a:rPr lang="en-US" sz="1700" b="1" dirty="0">
                <a:solidFill>
                  <a:srgbClr val="A8D5B2"/>
                </a:solidFill>
                <a:latin typeface="Arial Bold"/>
                <a:cs typeface="Arial Bold"/>
              </a:rPr>
              <a:t>01  </a:t>
            </a:r>
            <a:r>
              <a:rPr lang="en-US" sz="1900" b="1" dirty="0">
                <a:solidFill>
                  <a:srgbClr val="FFFFFF"/>
                </a:solidFill>
                <a:latin typeface="Arial Bold"/>
                <a:cs typeface="Arial Bold"/>
              </a:rPr>
              <a:t>Structure finds deep faults</a:t>
            </a:r>
            <a:endParaRPr lang="en-US" sz="1800" dirty="0"/>
          </a:p>
          <a:p>
            <a:pPr algn="l">
              <a:lnSpc>
                <a:spcPct val="108000"/>
              </a:lnSpc>
              <a:buNone/>
            </a:pPr>
            <a:r>
              <a:rPr lang="en-US" sz="1750" dirty="0">
                <a:solidFill>
                  <a:srgbClr val="E6EFE8"/>
                </a:solidFill>
                <a:latin typeface="Arial"/>
                <a:cs typeface="Arial"/>
              </a:rPr>
              <a:t>The structured explorers verified 18–19 of 24 held-out faults against 13 for random, including 9 that no random run found. Exact return reaches deep states without luck, and operators make the deliberate deviation a fault needs.</a:t>
            </a:r>
            <a:endParaRPr lang="en-US" sz="1750" dirty="0"/>
          </a:p>
        </p:txBody>
      </p:sp>
      <p:sp>
        <p:nvSpPr>
          <p:cNvPr id="278" name="Card 278"/>
          <p:cNvSpPr/>
          <p:nvPr/>
        </p:nvSpPr>
        <p:spPr>
          <a:xfrm>
            <a:off x="6545580" y="3200400"/>
            <a:ext cx="5196840" cy="2697480"/>
          </a:xfrm>
          <a:prstGeom prst="roundRect">
            <a:avLst>
              <a:gd name="adj" fmla="val 6000"/>
            </a:avLst>
          </a:prstGeom>
          <a:solidFill>
            <a:srgbClr val="FFFFFF"/>
          </a:solidFill>
          <a:ln w="15875">
            <a:solidFill>
              <a:srgbClr val="E2E6E3"/>
            </a:solidFill>
          </a:ln>
        </p:spPr>
        <p:txBody>
          <a:bodyPr wrap="square" lIns="292608" tIns="256032" rIns="292608" bIns="182880" anchor="t" rtlCol="0">
            <a:noAutofit/>
          </a:bodyPr>
          <a:lstStyle/>
          <a:p>
            <a:pPr algn="l">
              <a:spcAft>
                <a:spcPts val="800"/>
              </a:spcAft>
              <a:buNone/>
            </a:pPr>
            <a:r>
              <a:rPr lang="en-US" sz="1700" b="1" dirty="0">
                <a:solidFill>
                  <a:srgbClr val="3F8C50"/>
                </a:solidFill>
                <a:latin typeface="Arial Bold"/>
                <a:cs typeface="Arial Bold"/>
              </a:rPr>
              <a:t>02  </a:t>
            </a:r>
            <a:r>
              <a:rPr lang="en-US" sz="1900" b="1" dirty="0">
                <a:solidFill>
                  <a:srgbClr val="111111"/>
                </a:solidFill>
                <a:latin typeface="Arial Bold"/>
                <a:cs typeface="Arial Bold"/>
              </a:rPr>
              <a:t>Learning did not add faults</a:t>
            </a:r>
            <a:endParaRPr lang="en-US" sz="1800" dirty="0"/>
          </a:p>
          <a:p>
            <a:pPr algn="l">
              <a:lnSpc>
                <a:spcPct val="108000"/>
              </a:lnSpc>
              <a:buNone/>
            </a:pPr>
            <a:r>
              <a:rPr lang="en-US" sz="1750" dirty="0">
                <a:solidFill>
                  <a:srgbClr val="111111"/>
                </a:solidFill>
                <a:latin typeface="Arial"/>
                <a:cs typeface="Arial"/>
              </a:rPr>
              <a:t>The bandit was level with no learner: 19 vs 18 held-out faults, and no faster to the first fault (769 vs 737). A run makes only ~50–135 test decisions; trying every untried test already covers most of them.</a:t>
            </a:r>
            <a:endParaRPr lang="en-US" sz="1750" dirty="0"/>
          </a:p>
        </p:txBody>
      </p:sp>
      <p:sp>
        <p:nvSpPr>
          <p:cNvPr id="279" name="Card 279"/>
          <p:cNvSpPr/>
          <p:nvPr/>
        </p:nvSpPr>
        <p:spPr>
          <a:xfrm>
            <a:off x="12062460" y="3200400"/>
            <a:ext cx="5196840" cy="2697480"/>
          </a:xfrm>
          <a:prstGeom prst="roundRect">
            <a:avLst>
              <a:gd name="adj" fmla="val 6000"/>
            </a:avLst>
          </a:prstGeom>
          <a:solidFill>
            <a:srgbClr val="FFFFFF"/>
          </a:solidFill>
          <a:ln w="15875">
            <a:solidFill>
              <a:srgbClr val="E2E6E3"/>
            </a:solidFill>
          </a:ln>
        </p:spPr>
        <p:txBody>
          <a:bodyPr wrap="square" lIns="292608" tIns="256032" rIns="292608" bIns="182880" anchor="t" rtlCol="0">
            <a:noAutofit/>
          </a:bodyPr>
          <a:lstStyle/>
          <a:p>
            <a:pPr algn="l">
              <a:spcAft>
                <a:spcPts val="800"/>
              </a:spcAft>
              <a:buNone/>
            </a:pPr>
            <a:r>
              <a:rPr lang="en-US" sz="1700" b="1" dirty="0">
                <a:solidFill>
                  <a:srgbClr val="3F8C50"/>
                </a:solidFill>
                <a:latin typeface="Arial Bold"/>
                <a:cs typeface="Arial Bold"/>
              </a:rPr>
              <a:t>03  </a:t>
            </a:r>
            <a:r>
              <a:rPr lang="en-US" sz="1900" b="1" dirty="0">
                <a:solidFill>
                  <a:srgbClr val="111111"/>
                </a:solidFill>
                <a:latin typeface="Arial Bold"/>
                <a:cs typeface="Arial Bold"/>
              </a:rPr>
              <a:t>Curiosity buys coverage</a:t>
            </a:r>
            <a:endParaRPr lang="en-US" sz="1800" dirty="0"/>
          </a:p>
          <a:p>
            <a:pPr algn="l">
              <a:lnSpc>
                <a:spcPct val="108000"/>
              </a:lnSpc>
              <a:buNone/>
            </a:pPr>
            <a:r>
              <a:rPr lang="en-US" sz="1750" dirty="0">
                <a:solidFill>
                  <a:srgbClr val="111111"/>
                </a:solidFill>
                <a:latin typeface="Arial"/>
                <a:cs typeface="Arial"/>
              </a:rPr>
              <a:t>Curiosity RL had our best benchmark coverage (53.6%) and the most errors per run (5.67). Its reward pays for reaching new pages, which is what coverage measures.</a:t>
            </a:r>
            <a:endParaRPr lang="en-US" sz="1750" dirty="0"/>
          </a:p>
        </p:txBody>
      </p:sp>
      <p:sp>
        <p:nvSpPr>
          <p:cNvPr id="280" name="Card 280"/>
          <p:cNvSpPr/>
          <p:nvPr/>
        </p:nvSpPr>
        <p:spPr>
          <a:xfrm>
            <a:off x="1028700" y="6172200"/>
            <a:ext cx="5196840" cy="2697480"/>
          </a:xfrm>
          <a:prstGeom prst="roundRect">
            <a:avLst>
              <a:gd name="adj" fmla="val 6000"/>
            </a:avLst>
          </a:prstGeom>
          <a:solidFill>
            <a:srgbClr val="FFFFFF"/>
          </a:solidFill>
          <a:ln w="15875">
            <a:solidFill>
              <a:srgbClr val="E2E6E3"/>
            </a:solidFill>
          </a:ln>
        </p:spPr>
        <p:txBody>
          <a:bodyPr wrap="square" lIns="292608" tIns="256032" rIns="292608" bIns="182880" anchor="t" rtlCol="0">
            <a:noAutofit/>
          </a:bodyPr>
          <a:lstStyle/>
          <a:p>
            <a:pPr algn="l">
              <a:spcAft>
                <a:spcPts val="800"/>
              </a:spcAft>
              <a:buNone/>
            </a:pPr>
            <a:r>
              <a:rPr lang="en-US" sz="1700" b="1" dirty="0">
                <a:solidFill>
                  <a:srgbClr val="3F8C50"/>
                </a:solidFill>
                <a:latin typeface="Arial Bold"/>
                <a:cs typeface="Arial Bold"/>
              </a:rPr>
              <a:t>04  </a:t>
            </a:r>
            <a:r>
              <a:rPr lang="en-US" sz="1900" b="1" dirty="0">
                <a:solidFill>
                  <a:srgbClr val="111111"/>
                </a:solidFill>
                <a:latin typeface="Arial Bold"/>
                <a:cs typeface="Arial Bold"/>
              </a:rPr>
              <a:t>Curiosity against the papers</a:t>
            </a:r>
            <a:endParaRPr lang="en-US" sz="1800" dirty="0"/>
          </a:p>
          <a:p>
            <a:pPr algn="l">
              <a:lnSpc>
                <a:spcPct val="108000"/>
              </a:lnSpc>
              <a:buNone/>
            </a:pPr>
            <a:r>
              <a:rPr lang="en-US" sz="1750" dirty="0">
                <a:solidFill>
                  <a:srgbClr val="111111"/>
                </a:solidFill>
                <a:latin typeface="Arial"/>
                <a:cs typeface="Arial"/>
              </a:rPr>
              <a:t>Curiosity RL beat both published testers on Pagekit, Splittypie and Phoenix, and WebExplor without Petclinic (55.1% vs 49.6%). WebRLED stays ahead on average (64.2%).</a:t>
            </a:r>
            <a:endParaRPr lang="en-US" sz="1750" dirty="0"/>
          </a:p>
        </p:txBody>
      </p:sp>
      <p:sp>
        <p:nvSpPr>
          <p:cNvPr id="281" name="Card 281"/>
          <p:cNvSpPr/>
          <p:nvPr/>
        </p:nvSpPr>
        <p:spPr>
          <a:xfrm>
            <a:off x="6545580" y="6172200"/>
            <a:ext cx="5196840" cy="2697480"/>
          </a:xfrm>
          <a:prstGeom prst="roundRect">
            <a:avLst>
              <a:gd name="adj" fmla="val 6000"/>
            </a:avLst>
          </a:prstGeom>
          <a:solidFill>
            <a:srgbClr val="FFFFFF"/>
          </a:solidFill>
          <a:ln w="15875">
            <a:solidFill>
              <a:srgbClr val="E2E6E3"/>
            </a:solidFill>
          </a:ln>
        </p:spPr>
        <p:txBody>
          <a:bodyPr wrap="square" lIns="292608" tIns="256032" rIns="292608" bIns="182880" anchor="t" rtlCol="0">
            <a:noAutofit/>
          </a:bodyPr>
          <a:lstStyle/>
          <a:p>
            <a:pPr algn="l">
              <a:spcAft>
                <a:spcPts val="800"/>
              </a:spcAft>
              <a:buNone/>
            </a:pPr>
            <a:r>
              <a:rPr lang="en-US" sz="1700" b="1" dirty="0">
                <a:solidFill>
                  <a:srgbClr val="3F8C50"/>
                </a:solidFill>
                <a:latin typeface="Arial Bold"/>
                <a:cs typeface="Arial Bold"/>
              </a:rPr>
              <a:t>05  </a:t>
            </a:r>
            <a:r>
              <a:rPr lang="en-US" sz="1900" b="1" dirty="0">
                <a:solidFill>
                  <a:srgbClr val="111111"/>
                </a:solidFill>
                <a:latin typeface="Arial Bold"/>
                <a:cs typeface="Arial Bold"/>
              </a:rPr>
              <a:t>Every reported fault is real</a:t>
            </a:r>
            <a:endParaRPr lang="en-US" sz="1800" dirty="0"/>
          </a:p>
          <a:p>
            <a:pPr algn="l">
              <a:lnSpc>
                <a:spcPct val="108000"/>
              </a:lnSpc>
              <a:buNone/>
            </a:pPr>
            <a:r>
              <a:rPr lang="en-US" sz="1750" dirty="0">
                <a:solidFill>
                  <a:srgbClr val="111111"/>
                </a:solidFill>
                <a:latin typeface="Arial"/>
                <a:cs typeface="Arial"/>
              </a:rPr>
              <a:t>0 false positives in 32 clean-build controls. The per-fault control build caught 18 candidates that replay alone would have reported as the wrong fault.</a:t>
            </a:r>
            <a:endParaRPr lang="en-US" sz="1750" dirty="0"/>
          </a:p>
        </p:txBody>
      </p:sp>
      <p:sp>
        <p:nvSpPr>
          <p:cNvPr id="282" name="Card 282"/>
          <p:cNvSpPr/>
          <p:nvPr/>
        </p:nvSpPr>
        <p:spPr>
          <a:xfrm>
            <a:off x="12062460" y="6172200"/>
            <a:ext cx="5196840" cy="2697480"/>
          </a:xfrm>
          <a:prstGeom prst="roundRect">
            <a:avLst>
              <a:gd name="adj" fmla="val 6000"/>
            </a:avLst>
          </a:prstGeom>
          <a:solidFill>
            <a:srgbClr val="FFFFFF"/>
          </a:solidFill>
          <a:ln w="15875">
            <a:solidFill>
              <a:srgbClr val="E2E6E3"/>
            </a:solidFill>
          </a:ln>
        </p:spPr>
        <p:txBody>
          <a:bodyPr wrap="square" lIns="292608" tIns="256032" rIns="292608" bIns="182880" anchor="t" rtlCol="0">
            <a:noAutofit/>
          </a:bodyPr>
          <a:lstStyle/>
          <a:p>
            <a:pPr algn="l">
              <a:spcAft>
                <a:spcPts val="800"/>
              </a:spcAft>
              <a:buNone/>
            </a:pPr>
            <a:r>
              <a:rPr lang="en-US" sz="1700" b="1" dirty="0">
                <a:solidFill>
                  <a:srgbClr val="3F8C50"/>
                </a:solidFill>
                <a:latin typeface="Arial Bold"/>
                <a:cs typeface="Arial Bold"/>
              </a:rPr>
              <a:t>06  </a:t>
            </a:r>
            <a:r>
              <a:rPr lang="en-US" sz="1900" b="1" dirty="0">
                <a:solidFill>
                  <a:srgbClr val="111111"/>
                </a:solidFill>
                <a:latin typeface="Arial Bold"/>
                <a:cs typeface="Arial Bold"/>
              </a:rPr>
              <a:t>Where we fall short</a:t>
            </a:r>
            <a:endParaRPr lang="en-US" sz="1800" dirty="0"/>
          </a:p>
          <a:p>
            <a:pPr algn="l">
              <a:lnSpc>
                <a:spcPct val="108000"/>
              </a:lnSpc>
              <a:buNone/>
            </a:pPr>
            <a:r>
              <a:rPr lang="en-US" sz="1750" dirty="0">
                <a:solidFill>
                  <a:srgbClr val="111111"/>
                </a:solidFill>
                <a:latin typeface="Arial"/>
                <a:cs typeface="Arial"/>
              </a:rPr>
              <a:t>Below WebRLED on average coverage, and below both papers on Dimeshift, Retroboard and Petclinic. The silent-bug finder is early: 1 of 9 seeded faults on its first evaluation.</a:t>
            </a:r>
            <a:endParaRPr lang="en-US" sz="1750" dirty="0"/>
          </a:p>
        </p:txBody>
      </p:sp>
      <p:sp>
        <p:nvSpPr>
          <p:cNvPr id="283" name="Box 283"/>
          <p:cNvSpPr/>
          <p:nvPr/>
        </p:nvSpPr>
        <p:spPr>
          <a:xfrm>
            <a:off x="1028700" y="9098280"/>
            <a:ext cx="16230600" cy="594360"/>
          </a:xfrm>
          <a:prstGeom prst="roundRect">
            <a:avLst>
              <a:gd name="adj" fmla="val 10000"/>
            </a:avLst>
          </a:prstGeom>
          <a:solidFill>
            <a:srgbClr val="DDE5DF"/>
          </a:solidFill>
          <a:ln>
            <a:noFill/>
          </a:ln>
        </p:spPr>
        <p:txBody>
          <a:bodyPr wrap="square" lIns="320040" tIns="91440" rIns="320040" bIns="91440" anchor="ctr" rtlCol="0">
            <a:noAutofit/>
          </a:bodyPr>
          <a:lstStyle/>
          <a:p>
            <a:pPr algn="l">
              <a:buNone/>
            </a:pPr>
            <a:r>
              <a:rPr lang="en-US" sz="1600" i="1" dirty="0">
                <a:solidFill>
                  <a:srgbClr val="111111"/>
                </a:solidFill>
                <a:latin typeface="Arial Italics"/>
                <a:cs typeface="Arial Italics"/>
              </a:rPr>
              <a:t>With these learners and at this scale, structure and the action space mattered more than learning. That is not a claim that RL cannot help.</a:t>
            </a:r>
            <a:endParaRPr lang="en-US" sz="1800" dirty="0"/>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028700" y="617220"/>
            <a:ext cx="685800" cy="685800"/>
            <a:chOff x="0" y="0"/>
            <a:chExt cx="914400" cy="914400"/>
          </a:xfrm>
        </p:grpSpPr>
        <p:sp>
          <p:nvSpPr>
            <p:cNvPr name="Freeform 3" id="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00461A"/>
            </a:solidFill>
          </p:spPr>
        </p:sp>
        <p:sp>
          <p:nvSpPr>
            <p:cNvPr name="TextBox 4" id="4"/>
            <p:cNvSpPr txBox="true"/>
            <p:nvPr/>
          </p:nvSpPr>
          <p:spPr>
            <a:xfrm>
              <a:off x="0" y="-9525"/>
              <a:ext cx="914400" cy="923925"/>
            </a:xfrm>
            <a:prstGeom prst="rect">
              <a:avLst/>
            </a:prstGeom>
          </p:spPr>
          <p:txBody>
            <a:bodyPr anchor="ctr" rtlCol="false" tIns="50800" lIns="50800" bIns="50800" rIns="50800"/>
            <a:lstStyle/>
            <a:p>
              <a:pPr algn="ctr">
                <a:lnSpc>
                  <a:spcPts val="2879"/>
                </a:lnSpc>
              </a:pPr>
              <a:r>
                <a:rPr lang="en-US" sz="2400">
                  <a:solidFill>
                    <a:srgbClr val="FFFFFF"/>
                  </a:solidFill>
                  <a:latin typeface="Arial"/>
                  <a:ea typeface="Arial"/>
                  <a:cs typeface="Arial"/>
                  <a:sym typeface="Arial"/>
                </a:rPr>
                <a:t>K</a:t>
              </a:r>
            </a:p>
          </p:txBody>
        </p:sp>
      </p:grpSp>
      <p:grpSp>
        <p:nvGrpSpPr>
          <p:cNvPr name="Group 5" id="5"/>
          <p:cNvGrpSpPr/>
          <p:nvPr/>
        </p:nvGrpSpPr>
        <p:grpSpPr>
          <a:xfrm rot="0">
            <a:off x="1892808" y="603504"/>
            <a:ext cx="4114800" cy="301752"/>
            <a:chOff x="0" y="0"/>
            <a:chExt cx="5486400" cy="402336"/>
          </a:xfrm>
        </p:grpSpPr>
        <p:sp>
          <p:nvSpPr>
            <p:cNvPr name="Freeform 6" id="6"/>
            <p:cNvSpPr/>
            <p:nvPr/>
          </p:nvSpPr>
          <p:spPr>
            <a:xfrm flipH="false" flipV="false" rot="0">
              <a:off x="0" y="0"/>
              <a:ext cx="5486400" cy="402336"/>
            </a:xfrm>
            <a:custGeom>
              <a:avLst/>
              <a:gdLst/>
              <a:ahLst/>
              <a:cxnLst/>
              <a:rect r="r" b="b" t="t" l="l"/>
              <a:pathLst>
                <a:path h="402336" w="5486400">
                  <a:moveTo>
                    <a:pt x="0" y="0"/>
                  </a:moveTo>
                  <a:lnTo>
                    <a:pt x="5486400" y="0"/>
                  </a:lnTo>
                  <a:lnTo>
                    <a:pt x="5486400" y="402336"/>
                  </a:lnTo>
                  <a:lnTo>
                    <a:pt x="0" y="402336"/>
                  </a:lnTo>
                  <a:close/>
                </a:path>
              </a:pathLst>
            </a:custGeom>
            <a:blipFill>
              <a:blip r:embed="rId3">
                <a:alphaModFix amt="0"/>
              </a:blip>
              <a:stretch>
                <a:fillRect l="0" t="-215705" r="0" b="-215705"/>
              </a:stretch>
            </a:blipFill>
          </p:spPr>
        </p:sp>
        <p:sp>
          <p:nvSpPr>
            <p:cNvPr name="TextBox 7" id="7"/>
            <p:cNvSpPr txBox="true"/>
            <p:nvPr/>
          </p:nvSpPr>
          <p:spPr>
            <a:xfrm>
              <a:off x="0" y="-19050"/>
              <a:ext cx="5486400" cy="421386"/>
            </a:xfrm>
            <a:prstGeom prst="rect">
              <a:avLst/>
            </a:prstGeom>
          </p:spPr>
          <p:txBody>
            <a:bodyPr anchor="ctr" rtlCol="false" tIns="0" lIns="0" bIns="0" rIns="0"/>
            <a:lstStyle/>
            <a:p>
              <a:pPr algn="l">
                <a:lnSpc>
                  <a:spcPts val="1620"/>
                </a:lnSpc>
              </a:pPr>
              <a:r>
                <a:rPr lang="en-US" sz="1350" spc="149">
                  <a:solidFill>
                    <a:srgbClr val="111111"/>
                  </a:solidFill>
                  <a:latin typeface="Arial"/>
                  <a:ea typeface="Arial"/>
                  <a:cs typeface="Arial"/>
                  <a:sym typeface="Arial"/>
                </a:rPr>
                <a:t>PROJECT</a:t>
              </a:r>
            </a:p>
          </p:txBody>
        </p:sp>
      </p:grpSp>
      <p:grpSp>
        <p:nvGrpSpPr>
          <p:cNvPr name="Group 8" id="8"/>
          <p:cNvGrpSpPr/>
          <p:nvPr/>
        </p:nvGrpSpPr>
        <p:grpSpPr>
          <a:xfrm rot="0">
            <a:off x="1892808" y="864108"/>
            <a:ext cx="4114800" cy="438912"/>
            <a:chOff x="0" y="0"/>
            <a:chExt cx="5486400" cy="585216"/>
          </a:xfrm>
        </p:grpSpPr>
        <p:sp>
          <p:nvSpPr>
            <p:cNvPr name="Freeform 9" id="9"/>
            <p:cNvSpPr/>
            <p:nvPr/>
          </p:nvSpPr>
          <p:spPr>
            <a:xfrm flipH="false" flipV="false" rot="0">
              <a:off x="0" y="0"/>
              <a:ext cx="5486400" cy="585216"/>
            </a:xfrm>
            <a:custGeom>
              <a:avLst/>
              <a:gdLst/>
              <a:ahLst/>
              <a:cxnLst/>
              <a:rect r="r" b="b" t="t" l="l"/>
              <a:pathLst>
                <a:path h="585216" w="5486400">
                  <a:moveTo>
                    <a:pt x="0" y="0"/>
                  </a:moveTo>
                  <a:lnTo>
                    <a:pt x="5486400" y="0"/>
                  </a:lnTo>
                  <a:lnTo>
                    <a:pt x="5486400" y="585216"/>
                  </a:lnTo>
                  <a:lnTo>
                    <a:pt x="0" y="585216"/>
                  </a:lnTo>
                  <a:close/>
                </a:path>
              </a:pathLst>
            </a:custGeom>
            <a:blipFill>
              <a:blip r:embed="rId3">
                <a:alphaModFix amt="0"/>
              </a:blip>
              <a:stretch>
                <a:fillRect l="0" t="-132672" r="0" b="-132672"/>
              </a:stretch>
            </a:blipFill>
          </p:spPr>
        </p:sp>
        <p:sp>
          <p:nvSpPr>
            <p:cNvPr name="TextBox 10" id="10"/>
            <p:cNvSpPr txBox="true"/>
            <p:nvPr/>
          </p:nvSpPr>
          <p:spPr>
            <a:xfrm>
              <a:off x="0" y="-19050"/>
              <a:ext cx="5486400" cy="604266"/>
            </a:xfrm>
            <a:prstGeom prst="rect">
              <a:avLst/>
            </a:prstGeom>
          </p:spPr>
          <p:txBody>
            <a:bodyPr anchor="ctr" rtlCol="false" tIns="0" lIns="0" bIns="0" rIns="0"/>
            <a:lstStyle/>
            <a:p>
              <a:pPr algn="l">
                <a:lnSpc>
                  <a:spcPts val="2700"/>
                </a:lnSpc>
              </a:pPr>
              <a:r>
                <a:rPr lang="en-US" sz="2250" b="true">
                  <a:solidFill>
                    <a:srgbClr val="111111"/>
                  </a:solidFill>
                  <a:latin typeface="Arial Bold"/>
                  <a:ea typeface="Arial Bold"/>
                  <a:cs typeface="Arial Bold"/>
                  <a:sym typeface="Arial Bold"/>
                </a:rPr>
                <a:t>Katalyze</a:t>
              </a:r>
            </a:p>
          </p:txBody>
        </p:sp>
      </p:grpSp>
      <p:grpSp>
        <p:nvGrpSpPr>
          <p:cNvPr name="Group 11" id="11"/>
          <p:cNvGrpSpPr/>
          <p:nvPr/>
        </p:nvGrpSpPr>
        <p:grpSpPr>
          <a:xfrm rot="0">
            <a:off x="11772443" y="685800"/>
            <a:ext cx="5486400" cy="548640"/>
            <a:chOff x="0" y="0"/>
            <a:chExt cx="7315200" cy="731520"/>
          </a:xfrm>
        </p:grpSpPr>
        <p:sp>
          <p:nvSpPr>
            <p:cNvPr name="Freeform 12" id="12"/>
            <p:cNvSpPr/>
            <p:nvPr/>
          </p:nvSpPr>
          <p:spPr>
            <a:xfrm flipH="false" flipV="false" rot="0">
              <a:off x="0" y="0"/>
              <a:ext cx="7315200" cy="731520"/>
            </a:xfrm>
            <a:custGeom>
              <a:avLst/>
              <a:gdLst/>
              <a:ahLst/>
              <a:cxnLst/>
              <a:rect r="r" b="b" t="t" l="l"/>
              <a:pathLst>
                <a:path h="731520" w="7315200">
                  <a:moveTo>
                    <a:pt x="0" y="0"/>
                  </a:moveTo>
                  <a:lnTo>
                    <a:pt x="7315200" y="0"/>
                  </a:lnTo>
                  <a:lnTo>
                    <a:pt x="7315200" y="731520"/>
                  </a:lnTo>
                  <a:lnTo>
                    <a:pt x="0" y="731520"/>
                  </a:lnTo>
                  <a:close/>
                </a:path>
              </a:pathLst>
            </a:custGeom>
            <a:blipFill>
              <a:blip r:embed="rId3">
                <a:alphaModFix amt="0"/>
              </a:blip>
              <a:stretch>
                <a:fillRect l="0" t="-144850" r="0" b="-144850"/>
              </a:stretch>
            </a:blipFill>
          </p:spPr>
        </p:sp>
        <p:sp>
          <p:nvSpPr>
            <p:cNvPr name="TextBox 13" id="13"/>
            <p:cNvSpPr txBox="true"/>
            <p:nvPr/>
          </p:nvSpPr>
          <p:spPr>
            <a:xfrm>
              <a:off x="0" y="-19050"/>
              <a:ext cx="7315200" cy="750570"/>
            </a:xfrm>
            <a:prstGeom prst="rect">
              <a:avLst/>
            </a:prstGeom>
          </p:spPr>
          <p:txBody>
            <a:bodyPr anchor="ctr" rtlCol="false" tIns="0" lIns="0" bIns="0" rIns="0"/>
            <a:lstStyle/>
            <a:p>
              <a:pPr algn="r">
                <a:lnSpc>
                  <a:spcPts val="2700"/>
                </a:lnSpc>
              </a:pPr>
              <a:r>
                <a:rPr lang="en-US" sz="2250" b="true">
                  <a:solidFill>
                    <a:srgbClr val="111111"/>
                  </a:solidFill>
                  <a:latin typeface="Arial Bold"/>
                  <a:ea typeface="Arial Bold"/>
                  <a:cs typeface="Arial Bold"/>
                  <a:sym typeface="Arial Bold"/>
                </a:rPr>
                <a:t>Final Review 2026</a:t>
              </a:r>
            </a:p>
          </p:txBody>
        </p:sp>
      </p:grpSp>
      <p:sp>
        <p:nvSpPr>
          <p:cNvPr name="TextBox 14" id="14"/>
          <p:cNvSpPr txBox="true"/>
          <p:nvPr/>
        </p:nvSpPr>
        <p:spPr>
          <a:xfrm rot="0">
            <a:off x="1028700" y="1703070"/>
            <a:ext cx="16230143" cy="1931670"/>
          </a:xfrm>
          <a:prstGeom prst="rect">
            <a:avLst/>
          </a:prstGeom>
        </p:spPr>
        <p:txBody>
          <a:bodyPr anchor="t" rtlCol="false" tIns="0" lIns="0" bIns="0" rIns="0">
            <a:spAutoFit/>
          </a:bodyPr>
          <a:lstStyle/>
          <a:p>
            <a:pPr algn="l">
              <a:lnSpc>
                <a:spcPts val="6336"/>
              </a:lnSpc>
            </a:pPr>
            <a:r>
              <a:rPr lang="en-US" sz="6000">
                <a:solidFill>
                  <a:srgbClr val="111111"/>
                </a:solidFill>
                <a:latin typeface="Arial"/>
                <a:ea typeface="Arial"/>
                <a:cs typeface="Arial"/>
                <a:sym typeface="Arial"/>
              </a:rPr>
              <a:t>TEAM CONTRIBUTIONS</a:t>
            </a:r>
          </a:p>
        </p:txBody>
      </p:sp>
      <p:sp>
        <p:nvSpPr>
          <p:cNvPr id="284" name="Text 284"/>
          <p:cNvSpPr txBox="1"/>
          <p:nvPr/>
        </p:nvSpPr>
        <p:spPr>
          <a:xfrm>
            <a:off x="1028700" y="2542032"/>
            <a:ext cx="16230600" cy="457200"/>
          </a:xfrm>
          <a:prstGeom prst="rect">
            <a:avLst/>
          </a:prstGeom>
          <a:noFill/>
          <a:ln>
            <a:noFill/>
          </a:ln>
        </p:spPr>
        <p:txBody>
          <a:bodyPr wrap="square" lIns="0" tIns="0" rIns="0" bIns="0" anchor="t" rtlCol="0">
            <a:noAutofit/>
          </a:bodyPr>
          <a:lstStyle/>
          <a:p>
            <a:pPr algn="l">
              <a:buNone/>
            </a:pPr>
            <a:r>
              <a:rPr lang="en-US" sz="2400" b="1" dirty="0">
                <a:solidFill>
                  <a:srgbClr val="3F8C50"/>
                </a:solidFill>
                <a:latin typeface="Arial Bold"/>
                <a:cs typeface="Arial Bold"/>
              </a:rPr>
              <a:t>The work divided four ways; design decisions and reviews were shared</a:t>
            </a:r>
            <a:endParaRPr lang="en-US" sz="1800" dirty="0"/>
          </a:p>
        </p:txBody>
      </p:sp>
      <p:sp>
        <p:nvSpPr>
          <p:cNvPr id="285" name="Card 285"/>
          <p:cNvSpPr/>
          <p:nvPr/>
        </p:nvSpPr>
        <p:spPr>
          <a:xfrm>
            <a:off x="1028700" y="3200400"/>
            <a:ext cx="3817620" cy="1600200"/>
          </a:xfrm>
          <a:prstGeom prst="roundRect">
            <a:avLst>
              <a:gd name="adj" fmla="val 6000"/>
            </a:avLst>
          </a:prstGeom>
          <a:solidFill>
            <a:srgbClr val="00461A"/>
          </a:solidFill>
          <a:ln>
            <a:noFill/>
          </a:ln>
        </p:spPr>
        <p:txBody>
          <a:bodyPr wrap="square" lIns="274320" tIns="228600" rIns="274320" bIns="137160" anchor="ctr" rtlCol="0">
            <a:noAutofit/>
          </a:bodyPr>
          <a:lstStyle/>
          <a:p>
            <a:pPr algn="l">
              <a:spcAft>
                <a:spcPts val="200"/>
              </a:spcAft>
              <a:buNone/>
            </a:pPr>
            <a:r>
              <a:rPr lang="en-US" sz="2200" b="1" dirty="0">
                <a:solidFill>
                  <a:srgbClr val="FFFFFF"/>
                </a:solidFill>
                <a:latin typeface="Arial Bold"/>
                <a:cs typeface="Arial Bold"/>
              </a:rPr>
              <a:t>Arunoday A K</a:t>
            </a:r>
            <a:endParaRPr lang="en-US" sz="2200" dirty="0"/>
          </a:p>
          <a:p>
            <a:pPr algn="l">
              <a:spcAft>
                <a:spcPts val="600"/>
              </a:spcAft>
              <a:buNone/>
            </a:pPr>
            <a:r>
              <a:rPr lang="en-US" sz="1400" dirty="0">
                <a:solidFill>
                  <a:srgbClr val="A8D5B2"/>
                </a:solidFill>
                <a:latin typeface="Arial"/>
                <a:cs typeface="Arial"/>
              </a:rPr>
              <a:t>CB.SC.U4AIE23106</a:t>
            </a:r>
            <a:endParaRPr lang="en-US" sz="1400" dirty="0"/>
          </a:p>
          <a:p>
            <a:pPr algn="l">
              <a:buNone/>
            </a:pPr>
            <a:r>
              <a:rPr lang="en-US" sz="1500" b="1" dirty="0">
                <a:solidFill>
                  <a:srgbClr val="FFFFFF"/>
                </a:solidFill>
                <a:latin typeface="Arial Bold"/>
                <a:cs typeface="Arial Bold"/>
              </a:rPr>
              <a:t>EXPLORATION ENGINE</a:t>
            </a:r>
            <a:endParaRPr lang="en-US" sz="1500" dirty="0"/>
          </a:p>
        </p:txBody>
      </p:sp>
      <p:sp>
        <p:nvSpPr>
          <p:cNvPr id="286" name="Card 286"/>
          <p:cNvSpPr/>
          <p:nvPr/>
        </p:nvSpPr>
        <p:spPr>
          <a:xfrm>
            <a:off x="1028700" y="4983480"/>
            <a:ext cx="3817620" cy="4709160"/>
          </a:xfrm>
          <a:prstGeom prst="roundRect">
            <a:avLst>
              <a:gd name="adj" fmla="val 6000"/>
            </a:avLst>
          </a:prstGeom>
          <a:solidFill>
            <a:srgbClr val="FFFFFF"/>
          </a:solidFill>
          <a:ln w="15875">
            <a:solidFill>
              <a:srgbClr val="E2E6E3"/>
            </a:solidFill>
          </a:ln>
        </p:spPr>
        <p:txBody>
          <a:bodyPr wrap="square" lIns="274320" tIns="274320" rIns="274320" bIns="182880" anchor="t" rtlCol="0">
            <a:noAutofit/>
          </a:bodyPr>
          <a:lstStyle/>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Page abstraction into cells</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Go-Explore archive with exact return</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Test-design operators</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The five approaches: random, structured, bandit, curiosity RL, Katalyze tuned</a:t>
            </a:r>
            <a:endParaRPr lang="en-US" sz="1900" dirty="0"/>
          </a:p>
        </p:txBody>
      </p:sp>
      <p:sp>
        <p:nvSpPr>
          <p:cNvPr id="287" name="Card 287"/>
          <p:cNvSpPr/>
          <p:nvPr/>
        </p:nvSpPr>
        <p:spPr>
          <a:xfrm>
            <a:off x="5166360" y="3200400"/>
            <a:ext cx="3817620" cy="1600200"/>
          </a:xfrm>
          <a:prstGeom prst="roundRect">
            <a:avLst>
              <a:gd name="adj" fmla="val 6000"/>
            </a:avLst>
          </a:prstGeom>
          <a:solidFill>
            <a:srgbClr val="00461A"/>
          </a:solidFill>
          <a:ln>
            <a:noFill/>
          </a:ln>
        </p:spPr>
        <p:txBody>
          <a:bodyPr wrap="square" lIns="274320" tIns="228600" rIns="274320" bIns="137160" anchor="ctr" rtlCol="0">
            <a:noAutofit/>
          </a:bodyPr>
          <a:lstStyle/>
          <a:p>
            <a:pPr algn="l">
              <a:spcAft>
                <a:spcPts val="200"/>
              </a:spcAft>
              <a:buNone/>
            </a:pPr>
            <a:r>
              <a:rPr lang="en-US" sz="2200" b="1" dirty="0">
                <a:solidFill>
                  <a:srgbClr val="FFFFFF"/>
                </a:solidFill>
                <a:latin typeface="Arial Bold"/>
                <a:cs typeface="Arial Bold"/>
              </a:rPr>
              <a:t>Achutharaj R</a:t>
            </a:r>
            <a:endParaRPr lang="en-US" sz="2200" dirty="0"/>
          </a:p>
          <a:p>
            <a:pPr algn="l">
              <a:spcAft>
                <a:spcPts val="600"/>
              </a:spcAft>
              <a:buNone/>
            </a:pPr>
            <a:r>
              <a:rPr lang="en-US" sz="1400" dirty="0">
                <a:solidFill>
                  <a:srgbClr val="A8D5B2"/>
                </a:solidFill>
                <a:latin typeface="Arial"/>
                <a:cs typeface="Arial"/>
              </a:rPr>
              <a:t>CB.SC.U4AIE23108</a:t>
            </a:r>
            <a:endParaRPr lang="en-US" sz="1400" dirty="0"/>
          </a:p>
          <a:p>
            <a:pPr algn="l">
              <a:buNone/>
            </a:pPr>
            <a:r>
              <a:rPr lang="en-US" sz="1500" b="1" dirty="0">
                <a:solidFill>
                  <a:srgbClr val="FFFFFF"/>
                </a:solidFill>
                <a:latin typeface="Arial Bold"/>
                <a:cs typeface="Arial Bold"/>
              </a:rPr>
              <a:t>BUG DETECTION AND VERIFICATION</a:t>
            </a:r>
            <a:endParaRPr lang="en-US" sz="1500" dirty="0"/>
          </a:p>
        </p:txBody>
      </p:sp>
      <p:sp>
        <p:nvSpPr>
          <p:cNvPr id="288" name="Card 288"/>
          <p:cNvSpPr/>
          <p:nvPr/>
        </p:nvSpPr>
        <p:spPr>
          <a:xfrm>
            <a:off x="5166360" y="4983480"/>
            <a:ext cx="3817620" cy="4709160"/>
          </a:xfrm>
          <a:prstGeom prst="roundRect">
            <a:avLst>
              <a:gd name="adj" fmla="val 6000"/>
            </a:avLst>
          </a:prstGeom>
          <a:solidFill>
            <a:srgbClr val="FFFFFF"/>
          </a:solidFill>
          <a:ln w="15875">
            <a:solidFill>
              <a:srgbClr val="E2E6E3"/>
            </a:solidFill>
          </a:ln>
        </p:spPr>
        <p:txBody>
          <a:bodyPr wrap="square" lIns="274320" tIns="274320" rIns="274320" bIns="182880" anchor="t" rtlCol="0">
            <a:noAutofit/>
          </a:bodyPr>
          <a:lstStyle/>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Seeded-fault oracle: replay twice, per-fault control builds</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Delta-debugging minimisation</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Generic triggers for crashes and dead controls</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LLM silent-bug finder and its judge</a:t>
            </a:r>
            <a:endParaRPr lang="en-US" sz="1900" dirty="0"/>
          </a:p>
        </p:txBody>
      </p:sp>
      <p:sp>
        <p:nvSpPr>
          <p:cNvPr id="289" name="Card 289"/>
          <p:cNvSpPr/>
          <p:nvPr/>
        </p:nvSpPr>
        <p:spPr>
          <a:xfrm>
            <a:off x="9304020" y="3200400"/>
            <a:ext cx="3817620" cy="1600200"/>
          </a:xfrm>
          <a:prstGeom prst="roundRect">
            <a:avLst>
              <a:gd name="adj" fmla="val 6000"/>
            </a:avLst>
          </a:prstGeom>
          <a:solidFill>
            <a:srgbClr val="00461A"/>
          </a:solidFill>
          <a:ln>
            <a:noFill/>
          </a:ln>
        </p:spPr>
        <p:txBody>
          <a:bodyPr wrap="square" lIns="274320" tIns="228600" rIns="274320" bIns="137160" anchor="ctr" rtlCol="0">
            <a:noAutofit/>
          </a:bodyPr>
          <a:lstStyle/>
          <a:p>
            <a:pPr algn="l">
              <a:spcAft>
                <a:spcPts val="200"/>
              </a:spcAft>
              <a:buNone/>
            </a:pPr>
            <a:r>
              <a:rPr lang="en-US" sz="2200" b="1" dirty="0">
                <a:solidFill>
                  <a:srgbClr val="FFFFFF"/>
                </a:solidFill>
                <a:latin typeface="Arial Bold"/>
                <a:cs typeface="Arial Bold"/>
              </a:rPr>
              <a:t>Lokesh D</a:t>
            </a:r>
            <a:endParaRPr lang="en-US" sz="2200" dirty="0"/>
          </a:p>
          <a:p>
            <a:pPr algn="l">
              <a:spcAft>
                <a:spcPts val="600"/>
              </a:spcAft>
              <a:buNone/>
            </a:pPr>
            <a:r>
              <a:rPr lang="en-US" sz="1400" dirty="0">
                <a:solidFill>
                  <a:srgbClr val="A8D5B2"/>
                </a:solidFill>
                <a:latin typeface="Arial"/>
                <a:cs typeface="Arial"/>
              </a:rPr>
              <a:t>CB.SC.U4AIE23123</a:t>
            </a:r>
            <a:endParaRPr lang="en-US" sz="1400" dirty="0"/>
          </a:p>
          <a:p>
            <a:pPr algn="l">
              <a:buNone/>
            </a:pPr>
            <a:r>
              <a:rPr lang="en-US" sz="1500" b="1" dirty="0">
                <a:solidFill>
                  <a:srgbClr val="FFFFFF"/>
                </a:solidFill>
                <a:latin typeface="Arial Bold"/>
                <a:cs typeface="Arial Bold"/>
              </a:rPr>
              <a:t>TEST APPLICATIONS AND EVALUATION</a:t>
            </a:r>
            <a:endParaRPr lang="en-US" sz="1500" dirty="0"/>
          </a:p>
        </p:txBody>
      </p:sp>
      <p:sp>
        <p:nvSpPr>
          <p:cNvPr id="290" name="Card 290"/>
          <p:cNvSpPr/>
          <p:nvPr/>
        </p:nvSpPr>
        <p:spPr>
          <a:xfrm>
            <a:off x="9304020" y="4983480"/>
            <a:ext cx="3817620" cy="4709160"/>
          </a:xfrm>
          <a:prstGeom prst="roundRect">
            <a:avLst>
              <a:gd name="adj" fmla="val 6000"/>
            </a:avLst>
          </a:prstGeom>
          <a:solidFill>
            <a:srgbClr val="FFFFFF"/>
          </a:solidFill>
          <a:ln w="15875">
            <a:solidFill>
              <a:srgbClr val="E2E6E3"/>
            </a:solidFill>
          </a:ln>
        </p:spPr>
        <p:txBody>
          <a:bodyPr wrap="square" lIns="274320" tIns="274320" rIns="274320" bIns="182880" anchor="t" rtlCol="0">
            <a:noAutofit/>
          </a:bodyPr>
          <a:lstStyle/>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16 seeded full-stack applications with control builds</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Pre-registered held-out evaluation</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Tuning rounds on the development suite</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Statistics: RMST, bootstrap intervals, log-rank tests</a:t>
            </a:r>
            <a:endParaRPr lang="en-US" sz="1900" dirty="0"/>
          </a:p>
        </p:txBody>
      </p:sp>
      <p:sp>
        <p:nvSpPr>
          <p:cNvPr id="291" name="Card 291"/>
          <p:cNvSpPr/>
          <p:nvPr/>
        </p:nvSpPr>
        <p:spPr>
          <a:xfrm>
            <a:off x="13441680" y="3200400"/>
            <a:ext cx="3817620" cy="1600200"/>
          </a:xfrm>
          <a:prstGeom prst="roundRect">
            <a:avLst>
              <a:gd name="adj" fmla="val 6000"/>
            </a:avLst>
          </a:prstGeom>
          <a:solidFill>
            <a:srgbClr val="00461A"/>
          </a:solidFill>
          <a:ln>
            <a:noFill/>
          </a:ln>
        </p:spPr>
        <p:txBody>
          <a:bodyPr wrap="square" lIns="274320" tIns="228600" rIns="274320" bIns="137160" anchor="ctr" rtlCol="0">
            <a:noAutofit/>
          </a:bodyPr>
          <a:lstStyle/>
          <a:p>
            <a:pPr algn="l">
              <a:spcAft>
                <a:spcPts val="200"/>
              </a:spcAft>
              <a:buNone/>
            </a:pPr>
            <a:r>
              <a:rPr lang="en-US" sz="2200" b="1" dirty="0">
                <a:solidFill>
                  <a:srgbClr val="FFFFFF"/>
                </a:solidFill>
                <a:latin typeface="Arial Bold"/>
                <a:cs typeface="Arial Bold"/>
              </a:rPr>
              <a:t>Abhay Rohit M</a:t>
            </a:r>
            <a:endParaRPr lang="en-US" sz="2200" dirty="0"/>
          </a:p>
          <a:p>
            <a:pPr algn="l">
              <a:spcAft>
                <a:spcPts val="600"/>
              </a:spcAft>
              <a:buNone/>
            </a:pPr>
            <a:r>
              <a:rPr lang="en-US" sz="1400" dirty="0">
                <a:solidFill>
                  <a:srgbClr val="A8D5B2"/>
                </a:solidFill>
                <a:latin typeface="Arial"/>
                <a:cs typeface="Arial"/>
              </a:rPr>
              <a:t>CB.SC.U4AIE23173</a:t>
            </a:r>
            <a:endParaRPr lang="en-US" sz="1400" dirty="0"/>
          </a:p>
          <a:p>
            <a:pPr algn="l">
              <a:buNone/>
            </a:pPr>
            <a:r>
              <a:rPr lang="en-US" sz="1500" b="1" dirty="0">
                <a:solidFill>
                  <a:srgbClr val="FFFFFF"/>
                </a:solidFill>
                <a:latin typeface="Arial Bold"/>
                <a:cs typeface="Arial Bold"/>
              </a:rPr>
              <a:t>BENCHMARK AND PRODUCT</a:t>
            </a:r>
            <a:endParaRPr lang="en-US" sz="1500" dirty="0"/>
          </a:p>
        </p:txBody>
      </p:sp>
      <p:sp>
        <p:nvSpPr>
          <p:cNvPr id="292" name="Card 292"/>
          <p:cNvSpPr/>
          <p:nvPr/>
        </p:nvSpPr>
        <p:spPr>
          <a:xfrm>
            <a:off x="13441680" y="4983480"/>
            <a:ext cx="3817620" cy="4709160"/>
          </a:xfrm>
          <a:prstGeom prst="roundRect">
            <a:avLst>
              <a:gd name="adj" fmla="val 6000"/>
            </a:avLst>
          </a:prstGeom>
          <a:solidFill>
            <a:srgbClr val="FFFFFF"/>
          </a:solidFill>
          <a:ln w="15875">
            <a:solidFill>
              <a:srgbClr val="E2E6E3"/>
            </a:solidFill>
          </a:ln>
        </p:spPr>
        <p:txBody>
          <a:bodyPr wrap="square" lIns="274320" tIns="274320" rIns="274320" bIns="182880" anchor="t" rtlCol="0">
            <a:noAutofit/>
          </a:bodyPr>
          <a:lstStyle/>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WebExplor / WebRLED benchmark with Istanbul coverage</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Katalyze web app: intake, sandbox, live run log</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Reports: HTML, Markdown, JSON with evidence</a:t>
            </a:r>
            <a:endParaRPr lang="en-US" sz="1900" dirty="0"/>
          </a:p>
          <a:p>
            <a:pPr algn="l" marL="420000" indent="-420000">
              <a:lnSpc>
                <a:spcPct val="105000"/>
              </a:lnSpc>
              <a:spcAft>
                <a:spcPts val="1200"/>
              </a:spcAft>
              <a:buClr>
                <a:srgbClr val="3F8C50"/>
              </a:buClr>
              <a:buFont typeface="Arial"/>
              <a:buChar char="•"/>
            </a:pPr>
            <a:r>
              <a:rPr lang="en-US" sz="1900" dirty="0">
                <a:solidFill>
                  <a:srgbClr val="111111"/>
                </a:solidFill>
                <a:latin typeface="Arial"/>
                <a:cs typeface="Arial"/>
              </a:rPr>
              <a:t>Deployment and documentation</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DAHZJAKxeu4</dc:identifier>
  <dcterms:modified xsi:type="dcterms:W3CDTF">2011-08-01T06:04:30Z</dcterms:modified>
  <cp:revision>1</cp:revision>
  <dc:title>Katalyze_Final_Review.pptx</dc:title>
</cp:coreProperties>
</file>