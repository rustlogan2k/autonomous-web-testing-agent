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5723e7aa-1acf-e24f-48c1-22c954b7c7e1}">
          <p14:sldIdLst>
            <p14:sldId id="256"/>
          </p14:sldIdLst>
        </p14:section>
        <p14:section name="01 · The problem" id="{570c6c96-44fe-a72e-359d-f624842129d5}">
          <p14:sldIdLst>
            <p14:sldId id="257"/>
            <p14:sldId id="258"/>
            <p14:sldId id="259"/>
            <p14:sldId id="260"/>
            <p14:sldId id="261"/>
          </p14:sldIdLst>
        </p14:section>
        <p14:section name="02 · Our approach" id="{130835e5-c9ac-bfa3-e26a-c5355d502fe3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03 · What we found" id="{6f7af700-0457-2b83-3c00-9998301f14ee}">
          <p14:sldIdLst>
            <p14:sldId id="269"/>
            <p14:sldId id="270"/>
            <p14:sldId id="271"/>
            <p14:sldId id="272"/>
            <p14:sldId id="273"/>
          </p14:sldIdLst>
        </p14:section>
        <p14:section name="04 · The product" id="{cfdc0ec5-58f6-174b-3ec4-77fff030fb14}">
          <p14:sldIdLst>
            <p14:sldId id="274"/>
          </p14:sldIdLst>
        </p14:section>
        <p14:section name="05 · Wrapping up" id="{405facca-e0e7-2f28-3e35-bc3ab2f13386}">
          <p14:sldIdLst>
            <p14:sldId id="275"/>
            <p14:sldId id="276"/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20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2033"/>
                </a:solidFill>
                <a:latin typeface="+mn-lt"/>
              </a:rPr>
              <a:t>Distinct faults verified (of 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Distinct faults (of 24)</c:v>
                </c:pt>
              </c:strCache>
            </c:strRef>
          </c:tx>
          <c:spPr>
            <a:solidFill>
              <a:srgbClr val="9AA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20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A3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F8B8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6B4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random</c:v>
                  </c:pt>
                  <c:pt idx="1">
                    <c:v>v1_dqn_pretrained</c:v>
                  </c:pt>
                  <c:pt idx="2">
                    <c:v>hybrid_nolearn</c:v>
                  </c:pt>
                  <c:pt idx="3">
                    <c:v>hybrid_bandit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</c:v>
                </c:pt>
                <c:pt idx="1">
                  <c:v>17</c:v>
                </c:pt>
                <c:pt idx="2">
                  <c:v>18</c:v>
                </c:pt>
                <c:pt idx="3">
                  <c:v>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720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20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2033"/>
                </a:solidFill>
                <a:latin typeface="+mn-lt"/>
              </a:rPr>
              <a:t>Distinct faults verified, by declared depth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random</c:v>
                </c:pt>
              </c:strCache>
            </c:strRef>
          </c:tx>
          <c:spPr>
            <a:solidFill>
              <a:srgbClr val="9AA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20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Shallow (≤4 steps)</c:v>
                  </c:pt>
                  <c:pt idx="1">
                    <c:v>Moderate (5–6)</c:v>
                  </c:pt>
                  <c:pt idx="2">
                    <c:v>Deep (≥7)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v1_dqn_pretrained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20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Shallow (≤4 steps)</c:v>
                  </c:pt>
                  <c:pt idx="1">
                    <c:v>Moderate (5–6)</c:v>
                  </c:pt>
                  <c:pt idx="2">
                    <c:v>Deep (≥7)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</c:v>
                </c:pt>
                <c:pt idx="1">
                  <c:v>7</c:v>
                </c:pt>
                <c:pt idx="2">
                  <c:v>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hybrid_nolearn</c:v>
                </c:pt>
              </c:strCache>
            </c:strRef>
          </c:tx>
          <c:spPr>
            <a:solidFill>
              <a:srgbClr val="0F8B8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20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Shallow (≤4 steps)</c:v>
                  </c:pt>
                  <c:pt idx="1">
                    <c:v>Moderate (5–6)</c:v>
                  </c:pt>
                  <c:pt idx="2">
                    <c:v>Deep (≥7)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</c:v>
                </c:pt>
                <c:pt idx="1">
                  <c:v>9</c:v>
                </c:pt>
                <c:pt idx="2">
                  <c:v>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hybrid_bandit</c:v>
                </c:pt>
              </c:strCache>
            </c:strRef>
          </c:tx>
          <c:spPr>
            <a:solidFill>
              <a:srgbClr val="F26B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20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Shallow (≤4 steps)</c:v>
                  </c:pt>
                  <c:pt idx="1">
                    <c:v>Moderate (5–6)</c:v>
                  </c:pt>
                  <c:pt idx="2">
                    <c:v>Deep (≥7)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8</c:v>
                </c:pt>
                <c:pt idx="1">
                  <c:v>7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720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9525" cap="flat">
              <a:solidFill>
                <a:srgbClr val="E2E8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A556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20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2033"/>
                </a:solidFill>
                <a:latin typeface="+mn-lt"/>
              </a:rPr>
              <a:t>Average branch coverage, 6 apps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Branch coverage %</c:v>
                </c:pt>
              </c:strCache>
            </c:strRef>
          </c:tx>
          <c:spPr>
            <a:solidFill>
              <a:srgbClr val="0F8B8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20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F8B8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6B4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3A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7203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hybrid_final</c:v>
                  </c:pt>
                  <c:pt idx="1">
                    <c:v>hybrid_curiosity</c:v>
                  </c:pt>
                  <c:pt idx="2">
                    <c:v>random</c:v>
                  </c:pt>
                  <c:pt idx="3">
                    <c:v>WebExplor</c:v>
                  </c:pt>
                  <c:pt idx="4">
                    <c:v>WebRLED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44.3</c:v>
                </c:pt>
                <c:pt idx="1">
                  <c:v>44.7</c:v>
                </c:pt>
                <c:pt idx="2">
                  <c:v>40.3</c:v>
                </c:pt>
                <c:pt idx="3">
                  <c:v>55.5</c:v>
                </c:pt>
                <c:pt idx="4">
                  <c:v>64.2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720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9525" cap="flat">
              <a:solidFill>
                <a:srgbClr val="E2E8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20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2033"/>
                </a:solidFill>
                <a:latin typeface="+mn-lt"/>
              </a:rPr>
              <a:t>Branch coverage per application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hybrid_final_v5</c:v>
                </c:pt>
              </c:strCache>
            </c:strRef>
          </c:tx>
          <c:spPr>
            <a:solidFill>
              <a:srgbClr val="0F8B8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20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Dimeshift</c:v>
                  </c:pt>
                  <c:pt idx="1">
                    <c:v>Pagekit</c:v>
                  </c:pt>
                  <c:pt idx="2">
                    <c:v>Splittypie</c:v>
                  </c:pt>
                  <c:pt idx="3">
                    <c:v>Phoenix</c:v>
                  </c:pt>
                  <c:pt idx="4">
                    <c:v>Retroboard</c:v>
                  </c:pt>
                  <c:pt idx="5">
                    <c:v>Petclinic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48.6</c:v>
                </c:pt>
                <c:pt idx="1">
                  <c:v>35</c:v>
                </c:pt>
                <c:pt idx="2">
                  <c:v>37.7</c:v>
                </c:pt>
                <c:pt idx="3">
                  <c:v>82.4</c:v>
                </c:pt>
                <c:pt idx="4">
                  <c:v>54</c:v>
                </c:pt>
                <c:pt idx="5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hybrid_curiosity_v5</c:v>
                </c:pt>
              </c:strCache>
            </c:strRef>
          </c:tx>
          <c:spPr>
            <a:solidFill>
              <a:srgbClr val="F26B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20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Dimeshift</c:v>
                  </c:pt>
                  <c:pt idx="1">
                    <c:v>Pagekit</c:v>
                  </c:pt>
                  <c:pt idx="2">
                    <c:v>Splittypie</c:v>
                  </c:pt>
                  <c:pt idx="3">
                    <c:v>Phoenix</c:v>
                  </c:pt>
                  <c:pt idx="4">
                    <c:v>Retroboard</c:v>
                  </c:pt>
                  <c:pt idx="5">
                    <c:v>Petclinic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48.9</c:v>
                </c:pt>
                <c:pt idx="1">
                  <c:v>41</c:v>
                </c:pt>
                <c:pt idx="2">
                  <c:v>47</c:v>
                </c:pt>
                <c:pt idx="3">
                  <c:v>84.7</c:v>
                </c:pt>
                <c:pt idx="4">
                  <c:v>54</c:v>
                </c:pt>
                <c:pt idx="5">
                  <c:v>46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hybrid_bandit_v5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20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Dimeshift</c:v>
                  </c:pt>
                  <c:pt idx="1">
                    <c:v>Pagekit</c:v>
                  </c:pt>
                  <c:pt idx="2">
                    <c:v>Splittypie</c:v>
                  </c:pt>
                  <c:pt idx="3">
                    <c:v>Phoenix</c:v>
                  </c:pt>
                  <c:pt idx="4">
                    <c:v>Retroboard</c:v>
                  </c:pt>
                  <c:pt idx="5">
                    <c:v>Petclinic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51.3</c:v>
                </c:pt>
                <c:pt idx="1">
                  <c:v>34.8</c:v>
                </c:pt>
                <c:pt idx="2">
                  <c:v>34.8</c:v>
                </c:pt>
                <c:pt idx="3">
                  <c:v>82.9</c:v>
                </c:pt>
                <c:pt idx="4">
                  <c:v>53.9</c:v>
                </c:pt>
                <c:pt idx="5">
                  <c:v>42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WebExplor</c:v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20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Dimeshift</c:v>
                  </c:pt>
                  <c:pt idx="1">
                    <c:v>Pagekit</c:v>
                  </c:pt>
                  <c:pt idx="2">
                    <c:v>Splittypie</c:v>
                  </c:pt>
                  <c:pt idx="3">
                    <c:v>Phoenix</c:v>
                  </c:pt>
                  <c:pt idx="4">
                    <c:v>Retroboard</c:v>
                  </c:pt>
                  <c:pt idx="5">
                    <c:v>Petclinic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54.22</c:v>
                </c:pt>
                <c:pt idx="1">
                  <c:v>25.79</c:v>
                </c:pt>
                <c:pt idx="2">
                  <c:v>36.16</c:v>
                </c:pt>
                <c:pt idx="3">
                  <c:v>71.84</c:v>
                </c:pt>
                <c:pt idx="4">
                  <c:v>60.23</c:v>
                </c:pt>
                <c:pt idx="5">
                  <c:v>85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WebRLED</c:v>
                </c:pt>
              </c:strCache>
            </c:strRef>
          </c:tx>
          <c:spPr>
            <a:solidFill>
              <a:srgbClr val="1720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20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Dimeshift</c:v>
                  </c:pt>
                  <c:pt idx="1">
                    <c:v>Pagekit</c:v>
                  </c:pt>
                  <c:pt idx="2">
                    <c:v>Splittypie</c:v>
                  </c:pt>
                  <c:pt idx="3">
                    <c:v>Phoenix</c:v>
                  </c:pt>
                  <c:pt idx="4">
                    <c:v>Retroboard</c:v>
                  </c:pt>
                  <c:pt idx="5">
                    <c:v>Petclinic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55.37</c:v>
                </c:pt>
                <c:pt idx="1">
                  <c:v>39.76</c:v>
                </c:pt>
                <c:pt idx="2">
                  <c:v>44.61</c:v>
                </c:pt>
                <c:pt idx="3">
                  <c:v>82.89</c:v>
                </c:pt>
                <c:pt idx="4">
                  <c:v>77.43</c:v>
                </c:pt>
                <c:pt idx="5">
                  <c:v>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720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2E8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A556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project. Katalyze is an autonomous tester for functional bugs in web apps: it explores, detects and, unusually, verifies every bug it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one concrete example. The key point: these bugs do not throw errors, so a tester has to know what correct looks like, and it has to dig several steps deep to reach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project started as 'can deep RL find functional bugs?'. After v1 failed in instructive ways, the question became what each ingredient contributes.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of the six classes are silent: nothing errors. That is why we verify against a specification of each seeded fault, and why console-error counting sees only part of the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WebExplor and WebRLED are the two we benchmark against. Both are RL testers; both count console errors.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Contributions are the system, the evaluation method and the empirical findings, including negative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pipeline left to right. The part that differs from the literature is the right-hand group: nothing is reported until it is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per-fault control: a replay-only oracle would have reported 18 candidates as TALLY-3 that were caused by something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v1 is a standard deep RL web tester with one twist: it scores (state, action) pairs so it can deal with a different set of actions on every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Careful wording: no measurable benefit from pretraining, but the interval cannot rule a benefit in or out. The DQN did learn useful action priors, just not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replayed step counts against the budget, so returning is not a hidden advantage.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'is your tester RL?': the recommended configuration is not; the RL configuration (curiosity) is better on coverage and is the like-for-like comparison with WebExplor and WebRLED.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held-out apps were planned by an independent agent from the design contract and used exactly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unseen apps, 160 runs. The hybrid arms verified 18 and 19 of 24 faults against 13 for random; 9 faults no random run found. v1 was fastest on average, but eight apps give wide intervals.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Post-hoc analysis of the frozen held-out results. Difficulty comes from each fault's manifest, written before any agent 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Development data: these results choose the configuration, they are not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Pre-registered, 3 runs per app, one hour each, Istanbul branch coverage. Console failures 1.8 vs 3.1 and 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Curiosity beat both papers on Pagekit, Splittypie and Phoenix (84.7 vs 82.9). Below both on Dimeshift, Retroboard (stuck at 54% for every arm) and Petclinic (20 branches, noisy).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Helpline, about 7 minutes, 3 seeded faults found and verified. Keep a finished report open as a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Narrow claim: with these learners, at this scale, learning was not what made the difference. That is not 'RL does not help'.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three columns as three levels of certainty. The middle column is our main message, stated with the right confidence.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seeded faults: they are what make verification possible, and what limits generalisation.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each member's part before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Katalyze · Final Review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reach\AppData\Local\Temp\claude\c--Users-reach-OneDrive-Code-files-SEM7-RL-web-tester\7c3024aa-1118-49fd-b386-f99dd0651f57\scratchpad\deck\uni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83464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984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tx2"/>
                </a:solidFill>
              </a:rPr>
              <a:t>SCHOOL OF ARTIFICIAL INTELLIGENCE · COIMBATORE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FINAL REVIEW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Katalyze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546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An Autonomous Testing Agent for Functional Bugs in Web Applications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20624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Arunoday A K 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CB.SC.U4AIE23106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Achutharaj R 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CB.SC.U4AIE23108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Lokesh D 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CB.SC.U4AIE23123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Abhay Rohit M 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CB.SC.U4AIE23173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150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Supervisor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Dr. Palmani Duraisamy, Assistant Professor (Sr. Gd.), CEN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001000" y="0"/>
            <a:ext cx="4190695" cy="68580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123444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46304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555480" y="12527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Explore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9555480" y="1645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drives a real browser through the app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503920" y="2834640"/>
            <a:ext cx="868680" cy="8686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306324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555480" y="28529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Detect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9555480" y="32461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notices behaviour that breaks a requirement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8503920" y="443484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4663440"/>
            <a:ext cx="411480" cy="4114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555480" y="44531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Verify</a:t>
            </a:r>
            <a:endParaRPr lang="en-US" sz="2200" dirty="0"/>
          </a:p>
        </p:txBody>
      </p:sp>
      <p:sp>
        <p:nvSpPr>
          <p:cNvPr id="21" name="Text 15"/>
          <p:cNvSpPr txBox="1"/>
          <p:nvPr/>
        </p:nvSpPr>
        <p:spPr>
          <a:xfrm>
            <a:off x="9555480" y="4846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replays it, checks a control build, minimises it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01 · The problem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Introduction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Functional bugs rarely crash a web app. They compute, accept or keep the wrong thing</a:t>
            </a:r>
            <a:endParaRPr lang="en-US" sz="1700" dirty="0"/>
          </a:p>
        </p:txBody>
      </p:sp>
      <p:sp>
        <p:nvSpPr>
          <p:cNvPr id="5" name="example0"/>
          <p:cNvSpPr/>
          <p:nvPr/>
        </p:nvSpPr>
        <p:spPr>
          <a:xfrm>
            <a:off x="548640" y="2011680"/>
            <a:ext cx="347472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86000"/>
            <a:ext cx="731520" cy="7315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688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1546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Wrong total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5661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basket total ignores a changed quantity. The page renders; the number is wrong.</a:t>
            </a:r>
            <a:endParaRPr lang="en-US" sz="1400" dirty="0"/>
          </a:p>
        </p:txBody>
      </p:sp>
      <p:sp>
        <p:nvSpPr>
          <p:cNvPr id="10" name="example1"/>
          <p:cNvSpPr/>
          <p:nvPr/>
        </p:nvSpPr>
        <p:spPr>
          <a:xfrm>
            <a:off x="4297680" y="2011680"/>
            <a:ext cx="347472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0" y="2286000"/>
            <a:ext cx="731520" cy="7315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4688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72000" y="31546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Validation bypass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5661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 order is placed with an empty delivery address, through a path nobody tested.</a:t>
            </a:r>
            <a:endParaRPr lang="en-US" sz="1400" dirty="0"/>
          </a:p>
        </p:txBody>
      </p:sp>
      <p:sp>
        <p:nvSpPr>
          <p:cNvPr id="15" name="example2"/>
          <p:cNvSpPr/>
          <p:nvPr/>
        </p:nvSpPr>
        <p:spPr>
          <a:xfrm>
            <a:off x="8046720" y="2011680"/>
            <a:ext cx="347472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21040" y="2286000"/>
            <a:ext cx="731520" cy="7315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4688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21040" y="31546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Lost data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8321040" y="35661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 edited record quietly reverts after a reload. No error, no warning.</a:t>
            </a:r>
            <a:endParaRPr lang="en-US" sz="1400" dirty="0"/>
          </a:p>
        </p:txBody>
      </p:sp>
      <p:sp>
        <p:nvSpPr>
          <p:cNvPr id="20" name="why-hard"/>
          <p:cNvSpPr/>
          <p:nvPr/>
        </p:nvSpPr>
        <p:spPr>
          <a:xfrm>
            <a:off x="548640" y="4846320"/>
            <a:ext cx="11064240" cy="1280160"/>
          </a:xfrm>
          <a:prstGeom prst="roundRect">
            <a:avLst>
              <a:gd name="adj" fmla="val 857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16636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91640" y="50292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Two hard parts. 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 tester must reach the faulty state through many steps (sign in, fill a form, review, go back, change an answer), and then prove that what it saw is a real bug, not noise.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01 · The problem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Problem Statement and Objectives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How much do exploration structure, online learning and verification each contribute?</a:t>
            </a:r>
            <a:endParaRPr lang="en-US" sz="1700" dirty="0"/>
          </a:p>
        </p:txBody>
      </p:sp>
      <p:sp>
        <p:nvSpPr>
          <p:cNvPr id="5" name="statement"/>
          <p:cNvSpPr/>
          <p:nvPr/>
        </p:nvSpPr>
        <p:spPr>
          <a:xfrm>
            <a:off x="548640" y="2011680"/>
            <a:ext cx="4206240" cy="4114800"/>
          </a:xfrm>
          <a:prstGeom prst="roundRect">
            <a:avLst>
              <a:gd name="adj" fmla="val 2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PROBLEM STATEMENT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65176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Published RL web testers learn where to click and count browser errors as bugs. We ask whether learning actually helps a tester find verified functional bugs, and what else matters.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98348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We claim no new RL algorithm: the contribution is the system, the evaluation method and the findings.</a:t>
            </a:r>
            <a:endParaRPr lang="en-US" sz="1300" dirty="0"/>
          </a:p>
        </p:txBody>
      </p:sp>
      <p:sp>
        <p:nvSpPr>
          <p:cNvPr id="9" name="rq0"/>
          <p:cNvSpPr/>
          <p:nvPr/>
        </p:nvSpPr>
        <p:spPr>
          <a:xfrm>
            <a:off x="5074920" y="2011680"/>
            <a:ext cx="653796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57800" y="2194560"/>
            <a:ext cx="868680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57800" y="2194560"/>
            <a:ext cx="868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RQ1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121408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Does a deep RL tester learn state-dependent behaviour, and does pretraining on other apps transfer?</a:t>
            </a:r>
            <a:endParaRPr lang="en-US" sz="1500" dirty="0"/>
          </a:p>
        </p:txBody>
      </p:sp>
      <p:sp>
        <p:nvSpPr>
          <p:cNvPr id="13" name="rq1"/>
          <p:cNvSpPr/>
          <p:nvPr/>
        </p:nvSpPr>
        <p:spPr>
          <a:xfrm>
            <a:off x="5074920" y="3063240"/>
            <a:ext cx="653796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57800" y="3246120"/>
            <a:ext cx="868680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57800" y="3246120"/>
            <a:ext cx="868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RQ2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172968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Is a small local LLM useful as a reward or a page labeller?</a:t>
            </a:r>
            <a:endParaRPr lang="en-US" sz="1500" dirty="0"/>
          </a:p>
        </p:txBody>
      </p:sp>
      <p:sp>
        <p:nvSpPr>
          <p:cNvPr id="17" name="rq2"/>
          <p:cNvSpPr/>
          <p:nvPr/>
        </p:nvSpPr>
        <p:spPr>
          <a:xfrm>
            <a:off x="5074920" y="4114800"/>
            <a:ext cx="653796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57800" y="4297680"/>
            <a:ext cx="868680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57800" y="4297680"/>
            <a:ext cx="868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RQ3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224528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Does a structured tester verify more faults than random, and does learning add to it?</a:t>
            </a:r>
            <a:endParaRPr lang="en-US" sz="1500" dirty="0"/>
          </a:p>
        </p:txBody>
      </p:sp>
      <p:sp>
        <p:nvSpPr>
          <p:cNvPr id="21" name="rq3"/>
          <p:cNvSpPr/>
          <p:nvPr/>
        </p:nvSpPr>
        <p:spPr>
          <a:xfrm>
            <a:off x="5074920" y="5166360"/>
            <a:ext cx="653796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57800" y="5349240"/>
            <a:ext cx="868680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7800" y="5349240"/>
            <a:ext cx="868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RQ4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5276088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How does it compare with published RL testers, on their apps and measures?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01 · The problem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Counts as a Functional Bug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A defined, observable failure against a requirement, in one of six classes</a:t>
            </a:r>
            <a:endParaRPr lang="en-US" sz="1700" dirty="0"/>
          </a:p>
        </p:txBody>
      </p:sp>
      <p:sp>
        <p:nvSpPr>
          <p:cNvPr id="5" name="definition"/>
          <p:cNvSpPr/>
          <p:nvPr/>
        </p:nvSpPr>
        <p:spPr>
          <a:xfrm>
            <a:off x="548640" y="2011680"/>
            <a:ext cx="3931920" cy="411480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40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DEFINITION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060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Triggered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by a finite sequence of user interactions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Observable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 what the user sees or the app keeps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Wrong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against a stated requirement (ISO/IEC 25010 functional correctness)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12064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Not in scope: security, performance, layout, usability.</a:t>
            </a:r>
            <a:endParaRPr lang="en-US" sz="1300" dirty="0"/>
          </a:p>
        </p:txBody>
      </p:sp>
      <p:sp>
        <p:nvSpPr>
          <p:cNvPr id="9" name="class0"/>
          <p:cNvSpPr/>
          <p:nvPr/>
        </p:nvSpPr>
        <p:spPr>
          <a:xfrm>
            <a:off x="4800600" y="2011680"/>
            <a:ext cx="3154680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2011680"/>
            <a:ext cx="3154680" cy="1115568"/>
          </a:xfrm>
          <a:prstGeom prst="roundRect">
            <a:avLst>
              <a:gd name="adj" fmla="val 9836"/>
            </a:avLst>
          </a:prstGeom>
          <a:ln w="15875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Calculation error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2560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shown number is computed wrong</a:t>
            </a:r>
            <a:endParaRPr lang="en-US" sz="1400" dirty="0"/>
          </a:p>
        </p:txBody>
      </p:sp>
      <p:sp>
        <p:nvSpPr>
          <p:cNvPr id="13" name="class1"/>
          <p:cNvSpPr/>
          <p:nvPr/>
        </p:nvSpPr>
        <p:spPr>
          <a:xfrm>
            <a:off x="8229600" y="2011680"/>
            <a:ext cx="3154680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0" y="2011680"/>
            <a:ext cx="3154680" cy="1115568"/>
          </a:xfrm>
          <a:prstGeom prst="roundRect">
            <a:avLst>
              <a:gd name="adj" fmla="val 9836"/>
            </a:avLst>
          </a:prstGeom>
          <a:ln w="15875">
            <a:solidFill>
              <a:schemeClr val="accent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5820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Constraint bypass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560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invalid input is accepted</a:t>
            </a:r>
            <a:endParaRPr lang="en-US" sz="1400" dirty="0"/>
          </a:p>
        </p:txBody>
      </p:sp>
      <p:sp>
        <p:nvSpPr>
          <p:cNvPr id="17" name="class2"/>
          <p:cNvSpPr/>
          <p:nvPr/>
        </p:nvSpPr>
        <p:spPr>
          <a:xfrm>
            <a:off x="4800600" y="3273552"/>
            <a:ext cx="3154680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0600" y="3273552"/>
            <a:ext cx="3154680" cy="1115568"/>
          </a:xfrm>
          <a:prstGeom prst="roundRect">
            <a:avLst>
              <a:gd name="adj" fmla="val 9836"/>
            </a:avLst>
          </a:prstGeom>
          <a:ln w="15875">
            <a:solidFill>
              <a:schemeClr val="accent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29200" y="34107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State corruption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38221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later pages show the wrong data</a:t>
            </a:r>
            <a:endParaRPr lang="en-US" sz="1400" dirty="0"/>
          </a:p>
        </p:txBody>
      </p:sp>
      <p:sp>
        <p:nvSpPr>
          <p:cNvPr id="21" name="class3"/>
          <p:cNvSpPr/>
          <p:nvPr/>
        </p:nvSpPr>
        <p:spPr>
          <a:xfrm>
            <a:off x="8229600" y="3273552"/>
            <a:ext cx="3154680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0" y="3273552"/>
            <a:ext cx="3154680" cy="1115568"/>
          </a:xfrm>
          <a:prstGeom prst="roundRect">
            <a:avLst>
              <a:gd name="adj" fmla="val 9836"/>
            </a:avLst>
          </a:prstGeom>
          <a:ln w="1587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58200" y="34107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Persistence failure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8221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saved data is lost or reverts</a:t>
            </a:r>
            <a:endParaRPr lang="en-US" sz="1400" dirty="0"/>
          </a:p>
        </p:txBody>
      </p:sp>
      <p:sp>
        <p:nvSpPr>
          <p:cNvPr id="25" name="class4"/>
          <p:cNvSpPr/>
          <p:nvPr/>
        </p:nvSpPr>
        <p:spPr>
          <a:xfrm>
            <a:off x="4800600" y="4535424"/>
            <a:ext cx="3154680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4535424"/>
            <a:ext cx="3154680" cy="1115568"/>
          </a:xfrm>
          <a:prstGeom prst="roundRect">
            <a:avLst>
              <a:gd name="adj" fmla="val 9836"/>
            </a:avLst>
          </a:prstGeom>
          <a:ln w="15875">
            <a:solidFill>
              <a:schemeClr val="accent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0" y="46725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Broken transition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0" y="508406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 action leads to the wrong page</a:t>
            </a:r>
            <a:endParaRPr lang="en-US" sz="1400" dirty="0"/>
          </a:p>
        </p:txBody>
      </p:sp>
      <p:sp>
        <p:nvSpPr>
          <p:cNvPr id="29" name="class5"/>
          <p:cNvSpPr/>
          <p:nvPr/>
        </p:nvSpPr>
        <p:spPr>
          <a:xfrm>
            <a:off x="8229600" y="4535424"/>
            <a:ext cx="3154680" cy="1115568"/>
          </a:xfrm>
          <a:prstGeom prst="roundRect">
            <a:avLst>
              <a:gd name="adj" fmla="val 983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458200" y="46725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Crash-type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8458200" y="508406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app's own code throws an error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5779008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Only the last class shows up as a console error, the oracle published RL testers use.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01 · The problem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Consolidated Literature Review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RL testers explore well, but they measure coverage and treat any console error as a bug</a:t>
            </a:r>
            <a:endParaRPr lang="en-US" sz="1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2651760"/>
                <a:gridCol w="2468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Work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Approach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Oracle / measure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leaves open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2033"/>
                          </a:solidFill>
                        </a:rPr>
                        <a:t>WebExplor (ICSE 2021) [1]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Tabular Q-learning, curiosity reward, automaton guidance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Console errors; coverage 55.5%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Cannot see silent wrong results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2033"/>
                          </a:solidFill>
                        </a:rPr>
                        <a:t>WebRLED (2025) [2]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DQN, grid action values, learned action discriminator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Console errors; coverage 64.2% (state of the art)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Same implicit oracle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2033"/>
                          </a:solidFill>
                        </a:rPr>
                        <a:t>DinoDroid (Android) [3]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DQN pretrained on 32 apps, tested on new ones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Coverage, crashes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Transfer needs many training apps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2033"/>
                          </a:solidFill>
                        </a:rPr>
                        <a:t>Humanoid [4]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Learns from human interaction traces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Coverage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"Learned model was not the main reason"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2033"/>
                          </a:solidFill>
                        </a:rPr>
                        <a:t>Liu et al. 2026 [5]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Model, RL and LLM testers under 6 state abstractions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Coverage vs failures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Coverage weakly linked to failures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WebExplor and WebRLED are our external benchmark: we compare on their six applications and their measures.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01 · The problem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Research Gap and Contributions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Three open questions, and what this project adds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GAPS</a:t>
            </a:r>
            <a:endParaRPr lang="en-US" sz="1200" dirty="0"/>
          </a:p>
        </p:txBody>
      </p:sp>
      <p:sp>
        <p:nvSpPr>
          <p:cNvPr id="6" name="gap0"/>
          <p:cNvSpPr/>
          <p:nvPr/>
        </p:nvSpPr>
        <p:spPr>
          <a:xfrm>
            <a:off x="548640" y="2331720"/>
            <a:ext cx="4754880" cy="1115568"/>
          </a:xfrm>
          <a:prstGeom prst="roundRect">
            <a:avLst>
              <a:gd name="adj" fmla="val 9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450592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oracle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807208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Console errors miss silent functional bugs, and reported failures are not verified.</a:t>
            </a:r>
            <a:endParaRPr lang="en-US" sz="1300" dirty="0"/>
          </a:p>
        </p:txBody>
      </p:sp>
      <p:sp>
        <p:nvSpPr>
          <p:cNvPr id="9" name="gap1"/>
          <p:cNvSpPr/>
          <p:nvPr/>
        </p:nvSpPr>
        <p:spPr>
          <a:xfrm>
            <a:off x="548640" y="3611880"/>
            <a:ext cx="4754880" cy="1115568"/>
          </a:xfrm>
          <a:prstGeom prst="roundRect">
            <a:avLst>
              <a:gd name="adj" fmla="val 9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730752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learning claim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087368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Whether the learner itself causes the gains is rarely tested, and never under pre-registration.</a:t>
            </a:r>
            <a:endParaRPr lang="en-US" sz="1300" dirty="0"/>
          </a:p>
        </p:txBody>
      </p:sp>
      <p:sp>
        <p:nvSpPr>
          <p:cNvPr id="12" name="gap2"/>
          <p:cNvSpPr/>
          <p:nvPr/>
        </p:nvSpPr>
        <p:spPr>
          <a:xfrm>
            <a:off x="548640" y="4892040"/>
            <a:ext cx="4754880" cy="1115568"/>
          </a:xfrm>
          <a:prstGeom prst="roundRect">
            <a:avLst>
              <a:gd name="adj" fmla="val 9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5010912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Policy or action space?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367528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It is unclear whether coverage is limited by how a tester chooses or by what it can click.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CONTRIBUTIONS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0" y="240487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0" y="2404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chemeClr val="bg1"/>
                </a:solidFill>
              </a:rPr>
              <a:t>1</a:t>
            </a:r>
            <a:endParaRPr lang="en-US" sz="143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233172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verified-fault oracle: replay twice, per-fault control build, minimisation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0" y="317296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0" y="3172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chemeClr val="bg1"/>
                </a:solidFill>
              </a:rPr>
              <a:t>2</a:t>
            </a:r>
            <a:endParaRPr lang="en-US" sz="143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309981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Pre-registered evaluations: transfer, context, held-out apps, external comparison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0" y="394106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0" y="39410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chemeClr val="bg1"/>
                </a:solidFill>
              </a:rPr>
              <a:t>3</a:t>
            </a:r>
            <a:endParaRPr lang="en-US" sz="143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3867912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hybrid tester: page abstraction, Go-Explore archive, test-design operators, light learner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669280" y="4709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4709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chemeClr val="bg1"/>
                </a:solidFill>
              </a:rPr>
              <a:t>4</a:t>
            </a:r>
            <a:endParaRPr lang="en-US" sz="143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463600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Sixteen test applications with real backends and 65 seeded, mechanically admitted faults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669280" y="547725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54772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chemeClr val="bg1"/>
                </a:solidFill>
              </a:rPr>
              <a:t>5</a:t>
            </a:r>
            <a:endParaRPr lang="en-US" sz="143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540410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product: web interface and CLI that test a URL, a site, a repository or a demo app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02 · Our approach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Proposed Methodology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Drive a real browser, flag candidates, and report only what survives verification</a:t>
            </a:r>
            <a:endParaRPr lang="en-US" sz="1700" dirty="0"/>
          </a:p>
        </p:txBody>
      </p:sp>
      <p:sp>
        <p:nvSpPr>
          <p:cNvPr id="5" name="group0"/>
          <p:cNvSpPr/>
          <p:nvPr/>
        </p:nvSpPr>
        <p:spPr>
          <a:xfrm>
            <a:off x="548640" y="1965960"/>
            <a:ext cx="3106347" cy="26974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103120"/>
            <a:ext cx="2740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Set up</a:t>
            </a:r>
            <a:endParaRPr lang="en-US" sz="1300" dirty="0"/>
          </a:p>
        </p:txBody>
      </p:sp>
      <p:sp>
        <p:nvSpPr>
          <p:cNvPr id="7" name="group1"/>
          <p:cNvSpPr/>
          <p:nvPr/>
        </p:nvSpPr>
        <p:spPr>
          <a:xfrm>
            <a:off x="3764715" y="1965960"/>
            <a:ext cx="3051483" cy="26974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947595" y="2103120"/>
            <a:ext cx="268572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Explore and detect</a:t>
            </a:r>
            <a:endParaRPr lang="en-US" sz="1300" dirty="0"/>
          </a:p>
        </p:txBody>
      </p:sp>
      <p:sp>
        <p:nvSpPr>
          <p:cNvPr id="9" name="group2"/>
          <p:cNvSpPr/>
          <p:nvPr/>
        </p:nvSpPr>
        <p:spPr>
          <a:xfrm>
            <a:off x="6925927" y="1965960"/>
            <a:ext cx="4686953" cy="2697480"/>
          </a:xfrm>
          <a:prstGeom prst="roundRect">
            <a:avLst>
              <a:gd name="adj" fmla="val 4068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8807" y="2103120"/>
            <a:ext cx="43211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Prove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96043" y="256032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6043" y="25603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chemeClr val="bg1"/>
                </a:solidFill>
              </a:rPr>
              <a:t>1</a:t>
            </a:r>
            <a:endParaRPr lang="en-US" sz="1950" dirty="0"/>
          </a:p>
        </p:txBody>
      </p:sp>
      <p:sp>
        <p:nvSpPr>
          <p:cNvPr id="13" name="Text 11"/>
          <p:cNvSpPr txBox="1"/>
          <p:nvPr/>
        </p:nvSpPr>
        <p:spPr>
          <a:xfrm>
            <a:off x="607423" y="33832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Target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07423" y="370332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URL, site, repository or demo app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76649" y="256032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76649" y="25603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chemeClr val="bg1"/>
                </a:solidFill>
              </a:rPr>
              <a:t>2</a:t>
            </a:r>
            <a:endParaRPr lang="en-US" sz="1950" dirty="0"/>
          </a:p>
        </p:txBody>
      </p:sp>
      <p:sp>
        <p:nvSpPr>
          <p:cNvPr id="17" name="Text 15"/>
          <p:cNvSpPr txBox="1"/>
          <p:nvPr/>
        </p:nvSpPr>
        <p:spPr>
          <a:xfrm>
            <a:off x="2188029" y="33832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Sandbox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88029" y="370332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restricted container, no host access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57254" y="25603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157254" y="25603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chemeClr val="bg1"/>
                </a:solidFill>
              </a:rPr>
              <a:t>3</a:t>
            </a:r>
            <a:endParaRPr lang="en-US" sz="1950" dirty="0"/>
          </a:p>
        </p:txBody>
      </p:sp>
      <p:sp>
        <p:nvSpPr>
          <p:cNvPr id="21" name="Text 19"/>
          <p:cNvSpPr txBox="1"/>
          <p:nvPr/>
        </p:nvSpPr>
        <p:spPr>
          <a:xfrm>
            <a:off x="3768634" y="33832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Browser env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768634" y="370332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Playwright, action registry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737860" y="25603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737860" y="25603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chemeClr val="bg1"/>
                </a:solidFill>
              </a:rPr>
              <a:t>4</a:t>
            </a:r>
            <a:endParaRPr lang="en-US" sz="1950" dirty="0"/>
          </a:p>
        </p:txBody>
      </p:sp>
      <p:sp>
        <p:nvSpPr>
          <p:cNvPr id="25" name="Text 23"/>
          <p:cNvSpPr txBox="1"/>
          <p:nvPr/>
        </p:nvSpPr>
        <p:spPr>
          <a:xfrm>
            <a:off x="5349240" y="33832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Tester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49240" y="370332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v1 DQN or v2 hybrid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318466" y="25603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8466" y="25603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chemeClr val="bg1"/>
                </a:solidFill>
              </a:rPr>
              <a:t>5</a:t>
            </a:r>
            <a:endParaRPr lang="en-US" sz="1950" dirty="0"/>
          </a:p>
        </p:txBody>
      </p:sp>
      <p:sp>
        <p:nvSpPr>
          <p:cNvPr id="29" name="Text 27"/>
          <p:cNvSpPr txBox="1"/>
          <p:nvPr/>
        </p:nvSpPr>
        <p:spPr>
          <a:xfrm>
            <a:off x="6929846" y="33832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Candidate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929846" y="370332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an assertion or trigger fires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899071" y="256032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899071" y="25603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chemeClr val="bg1"/>
                </a:solidFill>
              </a:rPr>
              <a:t>6</a:t>
            </a:r>
            <a:endParaRPr lang="en-US" sz="1950" dirty="0"/>
          </a:p>
        </p:txBody>
      </p:sp>
      <p:sp>
        <p:nvSpPr>
          <p:cNvPr id="33" name="Text 31"/>
          <p:cNvSpPr txBox="1"/>
          <p:nvPr/>
        </p:nvSpPr>
        <p:spPr>
          <a:xfrm>
            <a:off x="8510451" y="33832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Verify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510451" y="370332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replay ×2, control build, ddmin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479677" y="256032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479677" y="25603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chemeClr val="bg1"/>
                </a:solidFill>
              </a:rPr>
              <a:t>7</a:t>
            </a:r>
            <a:endParaRPr lang="en-US" sz="1950" dirty="0"/>
          </a:p>
        </p:txBody>
      </p:sp>
      <p:sp>
        <p:nvSpPr>
          <p:cNvPr id="37" name="Text 35"/>
          <p:cNvSpPr txBox="1"/>
          <p:nvPr/>
        </p:nvSpPr>
        <p:spPr>
          <a:xfrm>
            <a:off x="10091057" y="33832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0091057" y="370332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minimal reproduction + evidence</a:t>
            </a:r>
            <a:endParaRPr lang="en-US" sz="1200" dirty="0"/>
          </a:p>
        </p:txBody>
      </p:sp>
      <p:sp>
        <p:nvSpPr>
          <p:cNvPr id="39" name="fair"/>
          <p:cNvSpPr/>
          <p:nvPr/>
        </p:nvSpPr>
        <p:spPr>
          <a:xfrm>
            <a:off x="548640" y="493776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8680" y="5074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Evaluated honestly 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Pre-registered before every evaluation run · held-out apps used once · clean-build controls for false positives · results per app, not only overall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02 · Our approach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Verified-Fault Oracle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A candidate becomes a finding only after three checks</a:t>
            </a:r>
            <a:endParaRPr lang="en-US" sz="1700" dirty="0"/>
          </a:p>
        </p:txBody>
      </p:sp>
      <p:sp>
        <p:nvSpPr>
          <p:cNvPr id="5" name="check0"/>
          <p:cNvSpPr/>
          <p:nvPr/>
        </p:nvSpPr>
        <p:spPr>
          <a:xfrm>
            <a:off x="548640" y="2011680"/>
            <a:ext cx="2240280" cy="329184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40280"/>
            <a:ext cx="731520" cy="7315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42316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Replay twice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828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trajectory is replayed in two fresh browser sessions. The violation must recur both times.</a:t>
            </a:r>
            <a:endParaRPr lang="en-US" sz="1300" dirty="0"/>
          </a:p>
        </p:txBody>
      </p:sp>
      <p:sp>
        <p:nvSpPr>
          <p:cNvPr id="10" name="check1"/>
          <p:cNvSpPr/>
          <p:nvPr/>
        </p:nvSpPr>
        <p:spPr>
          <a:xfrm>
            <a:off x="3017520" y="2011680"/>
            <a:ext cx="2240280" cy="329184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46120" y="2240280"/>
            <a:ext cx="731520" cy="7315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242316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246120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Per-fault control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246120" y="3520440"/>
            <a:ext cx="1828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Replayed on a build without this one fault. If it still fails, the fault did not cause it.</a:t>
            </a:r>
            <a:endParaRPr lang="en-US" sz="1300" dirty="0"/>
          </a:p>
        </p:txBody>
      </p:sp>
      <p:sp>
        <p:nvSpPr>
          <p:cNvPr id="15" name="check2"/>
          <p:cNvSpPr/>
          <p:nvPr/>
        </p:nvSpPr>
        <p:spPr>
          <a:xfrm>
            <a:off x="5486400" y="2011680"/>
            <a:ext cx="2240280" cy="329184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715000" y="2240280"/>
            <a:ext cx="731520" cy="7315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242316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715000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Minimise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5715000" y="3520440"/>
            <a:ext cx="1828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Delta debugging removes steps while it still reproduces, giving a short reproduction.</a:t>
            </a:r>
            <a:endParaRPr lang="en-US" sz="1300" dirty="0"/>
          </a:p>
        </p:txBody>
      </p:sp>
      <p:sp>
        <p:nvSpPr>
          <p:cNvPr id="20" name="stat0"/>
          <p:cNvSpPr/>
          <p:nvPr/>
        </p:nvSpPr>
        <p:spPr>
          <a:xfrm>
            <a:off x="8183880" y="2011680"/>
            <a:ext cx="3429000" cy="987552"/>
          </a:xfrm>
          <a:prstGeom prst="roundRect">
            <a:avLst>
              <a:gd name="adj" fmla="val 111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66760" y="210312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0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0" y="2103120"/>
            <a:ext cx="1874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false positives in 32 clean-build controls (held-out)</a:t>
            </a:r>
            <a:endParaRPr lang="en-US" sz="1200" dirty="0"/>
          </a:p>
        </p:txBody>
      </p:sp>
      <p:sp>
        <p:nvSpPr>
          <p:cNvPr id="23" name="stat1"/>
          <p:cNvSpPr/>
          <p:nvPr/>
        </p:nvSpPr>
        <p:spPr>
          <a:xfrm>
            <a:off x="8183880" y="3127248"/>
            <a:ext cx="3429000" cy="987552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366760" y="3218688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18</a:t>
            </a:r>
            <a:endParaRPr lang="en-US" sz="3200" dirty="0"/>
          </a:p>
        </p:txBody>
      </p:sp>
      <p:sp>
        <p:nvSpPr>
          <p:cNvPr id="25" name="Text 20"/>
          <p:cNvSpPr txBox="1"/>
          <p:nvPr/>
        </p:nvSpPr>
        <p:spPr>
          <a:xfrm>
            <a:off x="9601200" y="3218688"/>
            <a:ext cx="1874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misattributed candidates caught by the per-fault control</a:t>
            </a:r>
            <a:endParaRPr lang="en-US" sz="1200" dirty="0"/>
          </a:p>
        </p:txBody>
      </p:sp>
      <p:sp>
        <p:nvSpPr>
          <p:cNvPr id="26" name="stat2"/>
          <p:cNvSpPr/>
          <p:nvPr/>
        </p:nvSpPr>
        <p:spPr>
          <a:xfrm>
            <a:off x="8183880" y="4242816"/>
            <a:ext cx="3429000" cy="987552"/>
          </a:xfrm>
          <a:prstGeom prst="roundRect">
            <a:avLst>
              <a:gd name="adj" fmla="val 111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366760" y="4334256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≤ 9%</a:t>
            </a:r>
            <a:endParaRPr lang="en-US" sz="3200" dirty="0"/>
          </a:p>
        </p:txBody>
      </p:sp>
      <p:sp>
        <p:nvSpPr>
          <p:cNvPr id="28" name="Text 23"/>
          <p:cNvSpPr txBox="1"/>
          <p:nvPr/>
        </p:nvSpPr>
        <p:spPr>
          <a:xfrm>
            <a:off x="9601200" y="4334256"/>
            <a:ext cx="1874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per-run false-positive rate, 95% upper bound (0 is not a zero rate)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The oracle makes findings credible; it does not solve the oracle problem. Seeded faults come with hand-written checks.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02 · Our approach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v1: A Deep RL Tester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An action-conditioned dueling double DQN that scores every clickable element</a:t>
            </a:r>
            <a:endParaRPr lang="en-US" sz="1700" dirty="0"/>
          </a:p>
        </p:txBody>
      </p:sp>
      <p:sp>
        <p:nvSpPr>
          <p:cNvPr id="5" name="State s  (25 numbers)"/>
          <p:cNvSpPr/>
          <p:nvPr/>
        </p:nvSpPr>
        <p:spPr>
          <a:xfrm>
            <a:off x="548640" y="2148840"/>
            <a:ext cx="219456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488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State s  (25 numbers)</a:t>
            </a:r>
            <a:endParaRPr lang="en-US" sz="1400" dirty="0"/>
          </a:p>
        </p:txBody>
      </p:sp>
      <p:sp>
        <p:nvSpPr>
          <p:cNvPr id="7" name="Action φ(a)  (95 numbers)"/>
          <p:cNvSpPr/>
          <p:nvPr/>
        </p:nvSpPr>
        <p:spPr>
          <a:xfrm>
            <a:off x="548640" y="3429000"/>
            <a:ext cx="219456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429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Action φ(a)  (95 numbers)</a:t>
            </a:r>
            <a:endParaRPr lang="en-US" sz="1400" dirty="0"/>
          </a:p>
        </p:txBody>
      </p:sp>
      <p:sp>
        <p:nvSpPr>
          <p:cNvPr id="9" name="Encoder 64"/>
          <p:cNvSpPr/>
          <p:nvPr/>
        </p:nvSpPr>
        <p:spPr>
          <a:xfrm>
            <a:off x="3154680" y="2148840"/>
            <a:ext cx="1737360" cy="731520"/>
          </a:xfrm>
          <a:prstGeom prst="roundRect">
            <a:avLst>
              <a:gd name="adj" fmla="val 15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21488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Encoder 64</a:t>
            </a:r>
            <a:endParaRPr lang="en-US" sz="1400" dirty="0"/>
          </a:p>
        </p:txBody>
      </p:sp>
      <p:sp>
        <p:nvSpPr>
          <p:cNvPr id="11" name="Encoder 96"/>
          <p:cNvSpPr/>
          <p:nvPr/>
        </p:nvSpPr>
        <p:spPr>
          <a:xfrm>
            <a:off x="3154680" y="3429000"/>
            <a:ext cx="1737360" cy="731520"/>
          </a:xfrm>
          <a:prstGeom prst="roundRect">
            <a:avLst>
              <a:gd name="adj" fmla="val 15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154680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Encoder 96</a:t>
            </a:r>
            <a:endParaRPr lang="en-US" sz="1400" dirty="0"/>
          </a:p>
        </p:txBody>
      </p:sp>
      <p:sp>
        <p:nvSpPr>
          <p:cNvPr id="13" name="Scorer 128"/>
          <p:cNvSpPr/>
          <p:nvPr/>
        </p:nvSpPr>
        <p:spPr>
          <a:xfrm>
            <a:off x="5303520" y="2788920"/>
            <a:ext cx="1737360" cy="73152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03520" y="27889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Scorer 128</a:t>
            </a:r>
            <a:endParaRPr lang="en-US" sz="1400" dirty="0"/>
          </a:p>
        </p:txBody>
      </p:sp>
      <p:sp>
        <p:nvSpPr>
          <p:cNvPr id="15" name="Q(s, a)"/>
          <p:cNvSpPr/>
          <p:nvPr/>
        </p:nvSpPr>
        <p:spPr>
          <a:xfrm>
            <a:off x="7452360" y="2788920"/>
            <a:ext cx="1463040" cy="73152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52360" y="2788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Q(s, a)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0" y="2514600"/>
            <a:ext cx="41148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743200" y="3794760"/>
            <a:ext cx="41148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892040" y="2514600"/>
            <a:ext cx="411480" cy="50292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4892040" y="3794760"/>
            <a:ext cx="411480" cy="-50292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040880" y="3154680"/>
            <a:ext cx="41148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48640" y="4434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One shared scorer, so it handles any number of actions on any page.</a:t>
            </a:r>
            <a:endParaRPr lang="en-US" sz="1400" dirty="0"/>
          </a:p>
        </p:txBody>
      </p:sp>
      <p:sp>
        <p:nvSpPr>
          <p:cNvPr id="23" name="eq"/>
          <p:cNvSpPr/>
          <p:nvPr/>
        </p:nvSpPr>
        <p:spPr>
          <a:xfrm>
            <a:off x="548640" y="4937760"/>
            <a:ext cx="836676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07492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Q(s,a) = V(s) + A(s,φ(a)) − mean 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y = Σ γᵏ r + γ³ Q_target(s′, argmax Q_online(s′, a)),  γ = 0.95, 3-step returns, prioritised replay</a:t>
            </a:r>
            <a:endParaRPr lang="en-US" sz="1400" dirty="0"/>
          </a:p>
        </p:txBody>
      </p:sp>
      <p:sp>
        <p:nvSpPr>
          <p:cNvPr id="25" name="reward"/>
          <p:cNvSpPr/>
          <p:nvPr/>
        </p:nvSpPr>
        <p:spPr>
          <a:xfrm>
            <a:off x="9235440" y="2011680"/>
            <a:ext cx="2377440" cy="4114800"/>
          </a:xfrm>
          <a:prstGeom prst="roundRect">
            <a:avLst>
              <a:gd name="adj" fmla="val 461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464040" y="2240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REWARD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464040" y="2606040"/>
            <a:ext cx="1965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Novelty, revealed controls, error triggers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+ an LLM progress score (qwen2.5 7B), paid only for a new maximum per episode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Pretrained on 5 apps, then adapted online on the 6th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02 · Our approach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v1 Taught Us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Two pre-registered experiments and two LLM checks, all negative, and each one shaped v2</a:t>
            </a:r>
            <a:endParaRPr lang="en-US" sz="1700" dirty="0"/>
          </a:p>
        </p:txBody>
      </p:sp>
      <p:sp>
        <p:nvSpPr>
          <p:cNvPr id="5" name="v1stat0"/>
          <p:cNvSpPr/>
          <p:nvPr/>
        </p:nvSpPr>
        <p:spPr>
          <a:xfrm>
            <a:off x="548640" y="2011680"/>
            <a:ext cx="347472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  interactions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7180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Median benefit of pretraining on a new app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661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interval [−749, +290]: no measurable transfer</a:t>
            </a:r>
            <a:endParaRPr lang="en-US" sz="1300" dirty="0"/>
          </a:p>
        </p:txBody>
      </p:sp>
      <p:sp>
        <p:nvSpPr>
          <p:cNvPr id="9" name="v1stat1"/>
          <p:cNvSpPr/>
          <p:nvPr/>
        </p:nvSpPr>
        <p:spPr>
          <a:xfrm>
            <a:off x="4297680" y="2011680"/>
            <a:ext cx="347472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1488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0.51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  AUROC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97180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Does the network rank actions by state?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5661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pre-registered bar 0.70: not supported</a:t>
            </a:r>
            <a:endParaRPr lang="en-US" sz="1300" dirty="0"/>
          </a:p>
        </p:txBody>
      </p:sp>
      <p:sp>
        <p:nvSpPr>
          <p:cNvPr id="13" name="v1stat2"/>
          <p:cNvSpPr/>
          <p:nvPr/>
        </p:nvSpPr>
        <p:spPr>
          <a:xfrm>
            <a:off x="8046720" y="2011680"/>
            <a:ext cx="347472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1488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 of 2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  gates failed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97180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LLM as progress reward and as page labeller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5661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neither generalised past its tuning data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SO v2 DOES THIS INSTEAD</a:t>
            </a:r>
            <a:endParaRPr lang="en-US" sz="1200" dirty="0"/>
          </a:p>
        </p:txBody>
      </p:sp>
      <p:sp>
        <p:nvSpPr>
          <p:cNvPr id="18" name="lesson0"/>
          <p:cNvSpPr/>
          <p:nvPr/>
        </p:nvSpPr>
        <p:spPr>
          <a:xfrm>
            <a:off x="548640" y="4892040"/>
            <a:ext cx="2615184" cy="1188720"/>
          </a:xfrm>
          <a:prstGeom prst="roundRect">
            <a:avLst>
              <a:gd name="adj" fmla="val 923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937760"/>
            <a:ext cx="22494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Make the page state explicit</a:t>
            </a:r>
            <a:endParaRPr lang="en-US" sz="1500" dirty="0"/>
          </a:p>
        </p:txBody>
      </p:sp>
      <p:sp>
        <p:nvSpPr>
          <p:cNvPr id="20" name="lesson1"/>
          <p:cNvSpPr/>
          <p:nvPr/>
        </p:nvSpPr>
        <p:spPr>
          <a:xfrm>
            <a:off x="3346704" y="4892040"/>
            <a:ext cx="2615184" cy="1188720"/>
          </a:xfrm>
          <a:prstGeom prst="roundRect">
            <a:avLst>
              <a:gd name="adj" fmla="val 923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9584" y="4937760"/>
            <a:ext cx="22494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Remember states and return exactly</a:t>
            </a:r>
            <a:endParaRPr lang="en-US" sz="1500" dirty="0"/>
          </a:p>
        </p:txBody>
      </p:sp>
      <p:sp>
        <p:nvSpPr>
          <p:cNvPr id="22" name="lesson2"/>
          <p:cNvSpPr/>
          <p:nvPr/>
        </p:nvSpPr>
        <p:spPr>
          <a:xfrm>
            <a:off x="6144768" y="4892040"/>
            <a:ext cx="2615184" cy="1188720"/>
          </a:xfrm>
          <a:prstGeom prst="roundRect">
            <a:avLst>
              <a:gd name="adj" fmla="val 923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27648" y="4937760"/>
            <a:ext cx="22494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Deviate deliberately with test-design operators</a:t>
            </a:r>
            <a:endParaRPr lang="en-US" sz="1500" dirty="0"/>
          </a:p>
        </p:txBody>
      </p:sp>
      <p:sp>
        <p:nvSpPr>
          <p:cNvPr id="24" name="lesson3"/>
          <p:cNvSpPr/>
          <p:nvPr/>
        </p:nvSpPr>
        <p:spPr>
          <a:xfrm>
            <a:off x="8942832" y="4892040"/>
            <a:ext cx="2615184" cy="1188720"/>
          </a:xfrm>
          <a:prstGeom prst="roundRect">
            <a:avLst>
              <a:gd name="adj" fmla="val 923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25712" y="4937760"/>
            <a:ext cx="22494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Keep learning light and online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02 · Our approach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v2: The Hybrid Tester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Structure does the exploring; an optional light learner picks which test to run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075688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756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1</a:t>
            </a:r>
            <a:endParaRPr lang="en-US" sz="182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9842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Page abstraction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3500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each page becomes a small symbolic cell: page kind, path, form state, error shown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099816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9981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2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083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Archive, exact return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7413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remembers every cell and its shortest path; returns by replay (Go-Explore)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123944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1239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3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3250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Test operators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39826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complete step · invalid input · edit after review · double submit · reload · browse list …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148072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148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4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5056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Decision layer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542239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none, a Thompson-sampling bandit, or curiosity Q-learning</a:t>
            </a:r>
            <a:endParaRPr lang="en-US" sz="1300" dirty="0"/>
          </a:p>
        </p:txBody>
      </p:sp>
      <p:sp>
        <p:nvSpPr>
          <p:cNvPr id="21" name="weight"/>
          <p:cNvSpPr/>
          <p:nvPr/>
        </p:nvSpPr>
        <p:spPr>
          <a:xfrm>
            <a:off x="6858000" y="1965960"/>
            <a:ext cx="4754880" cy="2331720"/>
          </a:xfrm>
          <a:prstGeom prst="roundRect">
            <a:avLst>
              <a:gd name="adj" fmla="val 470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32320" y="21488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WHICH CELL TO RETURN TO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25603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w(c) = 1/√(1+n) · (1 + min(u,10)/5) · 1/(1+2f) · ρ · (1 + 2·min(d,30)/30)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33375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n visits · u untried operators · f failed returns · ρ time left in episode · d depth (deeper preferred)</a:t>
            </a:r>
            <a:endParaRPr lang="en-US" sz="1200" dirty="0"/>
          </a:p>
        </p:txBody>
      </p:sp>
      <p:sp>
        <p:nvSpPr>
          <p:cNvPr id="25" name="why"/>
          <p:cNvSpPr/>
          <p:nvPr/>
        </p:nvSpPr>
        <p:spPr>
          <a:xfrm>
            <a:off x="6858000" y="4526280"/>
            <a:ext cx="475488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86600" y="4663440"/>
            <a:ext cx="4343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Why: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faults sit many steps into a workflow and need a deliberate deviation. Returning by replay reaches depth without luck; operators make the deviation.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02 · Our approach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Arms and the Maths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Only curiosity Q-learning and the v1 DQN are reinforcement learning in the full sense</a:t>
            </a:r>
            <a:endParaRPr lang="en-US" sz="1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325880"/>
                <a:gridCol w="1463040"/>
                <a:gridCol w="5943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Arm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Structure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Learning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Rule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20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random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uniform over valid actions: π(a|s) = 1/|A(s)|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20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v1_dqn_pretrained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deep RL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Q(s,φ(a)), Double DQN, 3-step, PER; pretrained on 5 apps, adapts online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20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hybrid_nolearn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yes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none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cells by w(c); untried (operator, target) pairs first, random order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20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hybrid_bandit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yes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bandit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θ ~ Beta(α, β) per (page kind, operator, target); back-off 0.3; take max draw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20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hybrid_curiosity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yes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RL (tabular)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Q ← Q + α[r + γ max Q′ − Q], r = 1/√N(c,a,c′) + 0.5·new; α .5, γ .9, ε .1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20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hybrid_final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yes, tuned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none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hybrid_nolearn + browse_list + failure feedback (up to 3× weight)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v5 arms (external round 2) are the same arms with clickables detected from the click listeners a page registers.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02 · Our approach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Test Applications and Evaluation Design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Five sets of applications, each with a fixed job, and every evaluation pre-registered</a:t>
            </a:r>
            <a:endParaRPr lang="en-US" sz="1700" dirty="0"/>
          </a:p>
        </p:txBody>
      </p:sp>
      <p:sp>
        <p:nvSpPr>
          <p:cNvPr id="5" name="set0"/>
          <p:cNvSpPr/>
          <p:nvPr/>
        </p:nvSpPr>
        <p:spPr>
          <a:xfrm>
            <a:off x="548640" y="1965960"/>
            <a:ext cx="60350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6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011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v1 benchmark apps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3317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seeded faults; transfer experiment</a:t>
            </a:r>
            <a:endParaRPr lang="en-US" sz="1200" dirty="0"/>
          </a:p>
        </p:txBody>
      </p:sp>
      <p:sp>
        <p:nvSpPr>
          <p:cNvPr id="9" name="set1"/>
          <p:cNvSpPr/>
          <p:nvPr/>
        </p:nvSpPr>
        <p:spPr>
          <a:xfrm>
            <a:off x="548640" y="2807208"/>
            <a:ext cx="60350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8072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12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8529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generated variants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1729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 workflow; does v1 learn context?</a:t>
            </a:r>
            <a:endParaRPr lang="en-US" sz="1200" dirty="0"/>
          </a:p>
        </p:txBody>
      </p:sp>
      <p:sp>
        <p:nvSpPr>
          <p:cNvPr id="13" name="set2"/>
          <p:cNvSpPr/>
          <p:nvPr/>
        </p:nvSpPr>
        <p:spPr>
          <a:xfrm>
            <a:off x="548640" y="3648456"/>
            <a:ext cx="60350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64845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8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69417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development apps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01421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full-stack, PostgreSQL / MongoDB, sign-in; 41 faults; tuning only</a:t>
            </a:r>
            <a:endParaRPr lang="en-US" sz="1200" dirty="0"/>
          </a:p>
        </p:txBody>
      </p:sp>
      <p:sp>
        <p:nvSpPr>
          <p:cNvPr id="17" name="set3"/>
          <p:cNvSpPr/>
          <p:nvPr/>
        </p:nvSpPr>
        <p:spPr>
          <a:xfrm>
            <a:off x="548640" y="4489704"/>
            <a:ext cx="6035040" cy="73152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48970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8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53542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held-out apps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485546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planned independently; 24 faults; used once</a:t>
            </a:r>
            <a:endParaRPr lang="en-US" sz="1200" dirty="0"/>
          </a:p>
        </p:txBody>
      </p:sp>
      <p:sp>
        <p:nvSpPr>
          <p:cNvPr id="21" name="set4"/>
          <p:cNvSpPr/>
          <p:nvPr/>
        </p:nvSpPr>
        <p:spPr>
          <a:xfrm>
            <a:off x="548640" y="5330952"/>
            <a:ext cx="60350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3309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6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537667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external apps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569671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WebExplor's subjects, Istanbul branch coverage</a:t>
            </a:r>
            <a:endParaRPr lang="en-US" sz="1200" dirty="0"/>
          </a:p>
        </p:txBody>
      </p:sp>
      <p:sp>
        <p:nvSpPr>
          <p:cNvPr id="25" name="protocol"/>
          <p:cNvSpPr/>
          <p:nvPr/>
        </p:nvSpPr>
        <p:spPr>
          <a:xfrm>
            <a:off x="6949440" y="1965960"/>
            <a:ext cx="4663440" cy="41148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2148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PROTOCOL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2514600"/>
            <a:ext cx="4160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Every fault admitted by mechanical checks: witness trace, control build, diff audit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Budget B = 2,000 interactions; T = interactions to the first verified fault, censored at B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Restricted mean T; median per-app difference with a bootstrap interval; log-rank secondary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Hypotheses, arms and analysis code committed and tagged before any run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03 · What we found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Held-out Evaluation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Structure verified the most faults, with no false positives; no speed comparison reached a verdict</a:t>
            </a:r>
            <a:endParaRPr lang="en-US" sz="1700" dirty="0"/>
          </a:p>
        </p:txBody>
      </p:sp>
      <p:pic>
        <p:nvPicPr>
          <p:cNvPr id="5" name="Image 0" descr="C:\Users\reach\AppData\Local\Temp\claude\c--Users-reach-OneDrive-Code-files-SEM7-RL-web-tester\7c3024aa-1118-49fd-b386-f99dd0651f57\scratchpad\deck\k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309360" cy="34655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44068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Share of runs with no verified fault yet, by interactions (40 runs per arm). Lower is better.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132320" y="1874520"/>
          <a:ext cx="44805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fp"/>
          <p:cNvSpPr/>
          <p:nvPr/>
        </p:nvSpPr>
        <p:spPr>
          <a:xfrm>
            <a:off x="7132320" y="4709160"/>
            <a:ext cx="2148840" cy="13716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0" y="48006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0</a:t>
            </a:r>
            <a:endParaRPr lang="en-US" sz="3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false positives in 32 clean controls</a:t>
            </a:r>
            <a:endParaRPr lang="en-US" sz="3000" dirty="0"/>
          </a:p>
        </p:txBody>
      </p:sp>
      <p:sp>
        <p:nvSpPr>
          <p:cNvPr id="10" name="inc"/>
          <p:cNvSpPr/>
          <p:nvPr/>
        </p:nvSpPr>
        <p:spPr>
          <a:xfrm>
            <a:off x="9464040" y="4709160"/>
            <a:ext cx="21488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646920" y="48006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4 of 4</a:t>
            </a:r>
            <a:endParaRPr lang="en-US" sz="2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speed comparisons inconclusive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03 · What we found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Where Structure Helps: Fault Depth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Judged by each fault's designed path length, not by our results, the gap opens at moderate depth</a:t>
            </a:r>
            <a:endParaRPr lang="en-US" sz="17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74520"/>
          <a:ext cx="69494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df0"/>
          <p:cNvSpPr/>
          <p:nvPr/>
        </p:nvSpPr>
        <p:spPr>
          <a:xfrm>
            <a:off x="7863840" y="1965960"/>
            <a:ext cx="374904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92440" y="20574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 · 10 · 6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26243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faults per group (shallow · moderate · deep)</a:t>
            </a:r>
            <a:endParaRPr lang="en-US" sz="1300" dirty="0"/>
          </a:p>
        </p:txBody>
      </p:sp>
      <p:sp>
        <p:nvSpPr>
          <p:cNvPr id="9" name="df1"/>
          <p:cNvSpPr/>
          <p:nvPr/>
        </p:nvSpPr>
        <p:spPr>
          <a:xfrm>
            <a:off x="7863840" y="3337560"/>
            <a:ext cx="3749040" cy="1188720"/>
          </a:xfrm>
          <a:prstGeom prst="roundRect">
            <a:avLst>
              <a:gd name="adj" fmla="val 923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92440" y="34290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9 vs 5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39959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moderate faults: hybrid_nolearn vs random</a:t>
            </a:r>
            <a:endParaRPr lang="en-US" sz="1300" dirty="0"/>
          </a:p>
        </p:txBody>
      </p:sp>
      <p:sp>
        <p:nvSpPr>
          <p:cNvPr id="12" name="df2"/>
          <p:cNvSpPr/>
          <p:nvPr/>
        </p:nvSpPr>
        <p:spPr>
          <a:xfrm>
            <a:off x="7863840" y="4709160"/>
            <a:ext cx="374904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92440" y="48006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≤ 4 of 6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092440" y="53675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deep faults found by any arm; random found 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03 · What we found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Tuning and the Frozen Tester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On eight rebuilt full-stack apps: two options helped, the learners did not</a:t>
            </a:r>
            <a:endParaRPr lang="en-US" sz="1700" dirty="0"/>
          </a:p>
        </p:txBody>
      </p:sp>
      <p:sp>
        <p:nvSpPr>
          <p:cNvPr id="5" name="tune0"/>
          <p:cNvSpPr/>
          <p:nvPr/>
        </p:nvSpPr>
        <p:spPr>
          <a:xfrm>
            <a:off x="548640" y="1965960"/>
            <a:ext cx="731520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185416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1965960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browse_list operator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886200" y="1965960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faster on 6 of 7 apps, lost no fault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196596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adopted</a:t>
            </a:r>
            <a:endParaRPr lang="en-US" sz="1200" dirty="0"/>
          </a:p>
        </p:txBody>
      </p:sp>
      <p:sp>
        <p:nvSpPr>
          <p:cNvPr id="10" name="tune1"/>
          <p:cNvSpPr/>
          <p:nvPr/>
        </p:nvSpPr>
        <p:spPr>
          <a:xfrm>
            <a:off x="548640" y="2752344"/>
            <a:ext cx="731520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97180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2752344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Failure feedback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886200" y="2752344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best restricted mean time (450)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75234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adopted</a:t>
            </a:r>
            <a:endParaRPr lang="en-US" sz="1200" dirty="0"/>
          </a:p>
        </p:txBody>
      </p:sp>
      <p:sp>
        <p:nvSpPr>
          <p:cNvPr id="15" name="tune2"/>
          <p:cNvSpPr/>
          <p:nvPr/>
        </p:nvSpPr>
        <p:spPr>
          <a:xfrm>
            <a:off x="548640" y="3538728"/>
            <a:ext cx="731520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758184"/>
            <a:ext cx="237744" cy="23774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538728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Custom clickables (heuristic)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886200" y="3538728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never faster, fewer faults on our apps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53872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not adopted</a:t>
            </a:r>
            <a:endParaRPr lang="en-US" sz="1200" dirty="0"/>
          </a:p>
        </p:txBody>
      </p:sp>
      <p:sp>
        <p:nvSpPr>
          <p:cNvPr id="20" name="tune3"/>
          <p:cNvSpPr/>
          <p:nvPr/>
        </p:nvSpPr>
        <p:spPr>
          <a:xfrm>
            <a:off x="548640" y="4325112"/>
            <a:ext cx="731520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4544568"/>
            <a:ext cx="237744" cy="23774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43000" y="4325112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Thompson bandit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886200" y="4325112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slower than no learner on 7 of 8 apps, interval excludes 0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4325112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not adopted</a:t>
            </a:r>
            <a:endParaRPr lang="en-US" sz="1200" dirty="0"/>
          </a:p>
        </p:txBody>
      </p:sp>
      <p:sp>
        <p:nvSpPr>
          <p:cNvPr id="25" name="tune4"/>
          <p:cNvSpPr/>
          <p:nvPr/>
        </p:nvSpPr>
        <p:spPr>
          <a:xfrm>
            <a:off x="548640" y="5111496"/>
            <a:ext cx="731520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" y="5330952"/>
            <a:ext cx="237744" cy="23774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43000" y="5111496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Curiosity Q-learning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886200" y="5111496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most browser errors (5.67 per run), fewer verified faults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0" y="511149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kept as RL arm</a:t>
            </a:r>
            <a:endParaRPr lang="en-US" sz="1200" dirty="0"/>
          </a:p>
        </p:txBody>
      </p:sp>
      <p:sp>
        <p:nvSpPr>
          <p:cNvPr id="30" name="final"/>
          <p:cNvSpPr/>
          <p:nvPr/>
        </p:nvSpPr>
        <p:spPr>
          <a:xfrm>
            <a:off x="8229600" y="1965960"/>
            <a:ext cx="3383280" cy="3840480"/>
          </a:xfrm>
          <a:prstGeom prst="roundRect">
            <a:avLst>
              <a:gd name="adj" fmla="val 324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503920" y="2194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FROZEN: hybrid_final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503920" y="2606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22</a:t>
            </a:r>
            <a:endParaRPr lang="en-US" sz="6000" dirty="0"/>
          </a:p>
        </p:txBody>
      </p:sp>
      <p:sp>
        <p:nvSpPr>
          <p:cNvPr id="33" name="Text 31"/>
          <p:cNvSpPr txBox="1"/>
          <p:nvPr/>
        </p:nvSpPr>
        <p:spPr>
          <a:xfrm>
            <a:off x="8503920" y="356616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of 41 faults verified, the most of any configuration, 4 of 8 crash-type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503920" y="470916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Tagged v3-freeze before anyone looked at the external apps.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03 · What we found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External Comparison, Round 1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On WebExplor's apps the frozen tester fell short, and every arm stopped at the same wall</a:t>
            </a:r>
            <a:endParaRPr lang="en-US" sz="17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74520"/>
          <a:ext cx="63093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phoenix"/>
          <p:cNvSpPr/>
          <p:nvPr/>
        </p:nvSpPr>
        <p:spPr>
          <a:xfrm>
            <a:off x="7178040" y="1965960"/>
            <a:ext cx="4434840" cy="2103120"/>
          </a:xfrm>
          <a:prstGeom prst="roundRect">
            <a:avLst>
              <a:gd name="adj" fmla="val 521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52360" y="2148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PHOENIX: EVERY ARM, RANDOM INCLUDED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452360" y="25146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6"/>
                </a:solidFill>
              </a:rPr>
              <a:t>49%</a:t>
            </a:r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  →  </a:t>
            </a:r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83%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33832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once React's clickable divs were in the action space (post-hoc)</a:t>
            </a:r>
            <a:endParaRPr lang="en-US" sz="1300" dirty="0"/>
          </a:p>
        </p:txBody>
      </p:sp>
      <p:sp>
        <p:nvSpPr>
          <p:cNvPr id="10" name="lesson"/>
          <p:cNvSpPr/>
          <p:nvPr/>
        </p:nvSpPr>
        <p:spPr>
          <a:xfrm>
            <a:off x="7178040" y="4297680"/>
            <a:ext cx="44348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06640" y="4434840"/>
            <a:ext cx="4023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Diagnosis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When three different strategies stop at the same branch, the limit is what they can click, not how they choose. WebRLED's learned action discriminator does this job.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03 · What we found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External Comparison, Round 2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With listener-based clickables and five runs, close to WebExplor, ahead of both on three apps</a:t>
            </a:r>
            <a:endParaRPr lang="en-US" sz="17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74520"/>
          <a:ext cx="70408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1965960"/>
          <a:ext cx="37490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2296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Average coverage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6 apps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w/o Petclinic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2033"/>
                          </a:solidFill>
                        </a:rPr>
                        <a:t>hybrid_final_v5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51.4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51.5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2033"/>
                          </a:solidFill>
                        </a:rPr>
                        <a:t>hybrid_curiosity_v5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B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2033"/>
                          </a:solidFill>
                        </a:rPr>
                        <a:t>53.6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B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2033"/>
                          </a:solidFill>
                        </a:rPr>
                        <a:t>55.1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B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2033"/>
                          </a:solidFill>
                        </a:rPr>
                        <a:t>hybrid_bandit_v5 *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50.0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51.5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2033"/>
                          </a:solidFill>
                        </a:rPr>
                        <a:t>WebExplor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55.5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49.6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2033"/>
                          </a:solidFill>
                        </a:rPr>
                        <a:t>WebRLED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64.2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033"/>
                          </a:solidFill>
                        </a:rPr>
                        <a:t>60.0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4498848"/>
            <a:ext cx="374904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Console failures still lower: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1.9–2.3 per run vs 3.1 and 4.1.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* Bandit (post-hoc, untuned): level with the same tester without a learner.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04 · The product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Katalyze as a Product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Point it at an app, watch it test, and get a report where every bug comes with a reproduction</a:t>
            </a:r>
            <a:endParaRPr lang="en-US" sz="1700" dirty="0"/>
          </a:p>
        </p:txBody>
      </p:sp>
      <p:pic>
        <p:nvPicPr>
          <p:cNvPr id="5" name="Image 0" descr="C:\Users\reach\AppData\Local\Temp\claude\c--Users-reach-OneDrive-Code-files-SEM7-RL-web-tester\7c3024aa-1118-49fd-b386-f99dd0651f57\scratchpad\deck\ui_new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5486400" cy="3429000"/>
          </a:xfrm>
          <a:prstGeom prst="rect">
            <a:avLst/>
          </a:prstGeom>
        </p:spPr>
      </p:pic>
      <p:pic>
        <p:nvPicPr>
          <p:cNvPr id="6" name="Image 1" descr="C:\Users\reach\AppData\Local\Temp\claude\c--Users-reach-OneDrive-Code-files-SEM7-RL-web-tester\7c3024aa-1118-49fd-b386-f99dd0651f57\scratchpad\deck\ui_re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349240" cy="334670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Start a test: demo app, live URL, or an uploaded site or repository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263640" y="544068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report: each finding minimised (2 steps from 15) with the page captured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Acceptance: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target kind ran end to end (Docker apps, benchmark app, static site, zip upload, Dockerfile repo, public URL); three defects found and fixed.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05 · Wrapping up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Structure vs Learning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The best arm depends on the measure, and the RL arms win the literature's measures</a:t>
            </a:r>
            <a:endParaRPr lang="en-US" sz="1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69494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914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Measure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Best arm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RL?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72033"/>
                          </a:solidFill>
                        </a:rPr>
                        <a:t>Distinct verified faults, tuning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033"/>
                          </a:solidFill>
                        </a:rPr>
                        <a:t>hybrid_final (22 of 41)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72033"/>
                          </a:solidFill>
                        </a:rPr>
                        <a:t>no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72033"/>
                          </a:solidFill>
                        </a:rPr>
                        <a:t>Distinct verified faults, held-out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033"/>
                          </a:solidFill>
                        </a:rPr>
                        <a:t>hybrid_bandit (19 of 24)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26B4F"/>
                          </a:solidFill>
                        </a:rPr>
                        <a:t>bandit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72033"/>
                          </a:solidFill>
                        </a:rPr>
                        <a:t>Mean time to first fault, held-out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033"/>
                          </a:solidFill>
                        </a:rPr>
                        <a:t>v1_dqn_pretrained (595)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26B4F"/>
                          </a:solidFill>
                        </a:rPr>
                        <a:t>yes, deep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72033"/>
                          </a:solidFill>
                        </a:rPr>
                        <a:t>Branch coverage, external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033"/>
                          </a:solidFill>
                        </a:rPr>
                        <a:t>hybrid_curiosity (44.7%; 53.6% in round 2)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26B4F"/>
                          </a:solidFill>
                        </a:rPr>
                        <a:t>yes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72033"/>
                          </a:solidFill>
                        </a:rPr>
                        <a:t>Browser errors triggered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033"/>
                          </a:solidFill>
                        </a:rPr>
                        <a:t>hybrid_curiosity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26B4F"/>
                          </a:solidFill>
                        </a:rPr>
                        <a:t>yes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</a:tr>
            </a:tbl>
          </a:graphicData>
        </a:graphic>
      </p:graphicFrame>
      <p:sp>
        <p:nvSpPr>
          <p:cNvPr id="6" name="insight"/>
          <p:cNvSpPr/>
          <p:nvPr/>
        </p:nvSpPr>
        <p:spPr>
          <a:xfrm>
            <a:off x="7863840" y="1965960"/>
            <a:ext cx="3749040" cy="4114800"/>
          </a:xfrm>
          <a:prstGeom prst="roundRect">
            <a:avLst>
              <a:gd name="adj" fmla="val 292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38160" y="2194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WHAT IT MEANS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606040"/>
            <a:ext cx="3246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Novelty rewards breadth, not deliberate test actions.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So learners that explore win coverage and errors; structure wins verified functional faults. No learning layer measurably improved the structure.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05 · Wrapping up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Conclusion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What we showed, what the evidence suggests, and what it does not establish</a:t>
            </a:r>
            <a:endParaRPr lang="en-US" sz="1700" dirty="0"/>
          </a:p>
        </p:txBody>
      </p:sp>
      <p:sp>
        <p:nvSpPr>
          <p:cNvPr id="5" name="concl0"/>
          <p:cNvSpPr/>
          <p:nvPr/>
        </p:nvSpPr>
        <p:spPr>
          <a:xfrm>
            <a:off x="548640" y="1965960"/>
            <a:ext cx="3474720" cy="41605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48840"/>
            <a:ext cx="30175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148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Established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83464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verifier reported no false positive, and its controls caught 18 misattributions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v1 DQN did not reach the bar for state-dependent values (AUROC 0.51)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local LLM failed both of its gates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Round 1 was below WebExplor and WebRLED on their apps</a:t>
            </a:r>
            <a:endParaRPr lang="en-US" sz="1400" dirty="0"/>
          </a:p>
        </p:txBody>
      </p:sp>
      <p:sp>
        <p:nvSpPr>
          <p:cNvPr id="9" name="concl1"/>
          <p:cNvSpPr/>
          <p:nvPr/>
        </p:nvSpPr>
        <p:spPr>
          <a:xfrm>
            <a:off x="4297680" y="1965960"/>
            <a:ext cx="3474720" cy="41605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148840"/>
            <a:ext cx="3017520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2148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Suggested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83464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Structure verifies more faults than random (18–19 vs 13), most at moderate depth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learning layer measurably improved the structure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action space bounds coverage (Phoenix 49% → 83%)</a:t>
            </a:r>
            <a:endParaRPr lang="en-US" sz="1400" dirty="0"/>
          </a:p>
        </p:txBody>
      </p:sp>
      <p:sp>
        <p:nvSpPr>
          <p:cNvPr id="13" name="concl2"/>
          <p:cNvSpPr/>
          <p:nvPr/>
        </p:nvSpPr>
        <p:spPr>
          <a:xfrm>
            <a:off x="8046720" y="1965960"/>
            <a:ext cx="3474720" cy="41605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148840"/>
            <a:ext cx="3017520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2148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Not established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83464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That any arm is faster to a first fault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Whether pretraining helps or has no effect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That Katalyze finds unknown bugs in arbitrary apps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That the false-positive rate is zero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05 · Wrapping up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Limitations and Future Work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What limits the claims, and the next steps that follow from the findings</a:t>
            </a:r>
            <a:endParaRPr lang="en-US" sz="1700" dirty="0"/>
          </a:p>
        </p:txBody>
      </p:sp>
      <p:sp>
        <p:nvSpPr>
          <p:cNvPr id="5" name="limits"/>
          <p:cNvSpPr/>
          <p:nvPr/>
        </p:nvSpPr>
        <p:spPr>
          <a:xfrm>
            <a:off x="548640" y="1965960"/>
            <a:ext cx="5349240" cy="4160520"/>
          </a:xfrm>
          <a:prstGeom prst="roundRect">
            <a:avLst>
              <a:gd name="adj" fmla="val 26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LIMITATIONS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4892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Seeded faults with hand-written checks; elsewhere, findings are reproduced observations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Six to eight apps per evaluation: most tests inconclusive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Round 2 and the bandit run were informed by round 1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Published numbers from other machines; WebExplor's code is not public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Sandbox restricted, not tested against malicious code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2103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6364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1</a:t>
            </a:r>
            <a:endParaRPr lang="en-US" sz="156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198424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Action space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23500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measure clickable-detection recall; learn which elements are actionable, as WebRLED does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3154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2</a:t>
            </a:r>
            <a:endParaRPr lang="en-US" sz="156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303580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Two deviations per walk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340156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operators that combine deviations for the faults no single one reaches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4206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636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3</a:t>
            </a:r>
            <a:endParaRPr lang="en-US" sz="156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408736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Learning at scale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95160" y="445312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tens of training apps, with page meaning in the state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52578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63640" y="5257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4</a:t>
            </a:r>
            <a:endParaRPr lang="en-US" sz="1560" dirty="0"/>
          </a:p>
        </p:txBody>
      </p:sp>
      <p:sp>
        <p:nvSpPr>
          <p:cNvPr id="22" name="Text 20"/>
          <p:cNvSpPr txBox="1"/>
          <p:nvPr/>
        </p:nvSpPr>
        <p:spPr>
          <a:xfrm>
            <a:off x="6995160" y="513892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Better oracles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995160" y="550468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invariants that tell saved state from unsaved state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05 · Wrapping up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Team Contributions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Each member's part of the work</a:t>
            </a:r>
            <a:endParaRPr lang="en-US" sz="1700" dirty="0"/>
          </a:p>
        </p:txBody>
      </p:sp>
      <p:sp>
        <p:nvSpPr>
          <p:cNvPr id="5" name="member0"/>
          <p:cNvSpPr/>
          <p:nvPr/>
        </p:nvSpPr>
        <p:spPr>
          <a:xfrm>
            <a:off x="548640" y="1965960"/>
            <a:ext cx="539496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Arunoday A K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185416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CB.SC.U4AIE23106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9" name="member1"/>
          <p:cNvSpPr/>
          <p:nvPr/>
        </p:nvSpPr>
        <p:spPr>
          <a:xfrm>
            <a:off x="6217920" y="1965960"/>
            <a:ext cx="539496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21488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Achutharaj 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509760" y="2185416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CB.SC.U4AIE23108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6974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13" name="member2"/>
          <p:cNvSpPr/>
          <p:nvPr/>
        </p:nvSpPr>
        <p:spPr>
          <a:xfrm>
            <a:off x="548640" y="4069080"/>
            <a:ext cx="539496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2519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Lokesh D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4288536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CB.SC.U4AIE23123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006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17" name="member3"/>
          <p:cNvSpPr/>
          <p:nvPr/>
        </p:nvSpPr>
        <p:spPr>
          <a:xfrm>
            <a:off x="6217920" y="4069080"/>
            <a:ext cx="539496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42519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Abhay Rohit M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0" y="4288536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CB.SC.U4AIE23173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48006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05 · Wrapping up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35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Main sources; the full list is in the thesis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[1] Y. Zheng et al., "Automatic web testing using curiosity-driven reinforcement learning," ICSE, 2021.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[2] C. Gu et al., "Deep reinforcement learning for automated web GUI testing (WebRLED)," arXiv:2504.19237, 2025.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[3] P. Zhao et al., "DinoDroid: Testing Android apps using deep Q-networks," ACM TOSEM, 2024.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[4] Y. Li et al., "Humanoid: A deep learning-based approach to automated black-box Android app testing," ASE, 2019.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[5] Liu et al., "An empirical study of web GUI testing strategies," 2026.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[6] A. Ecoffet et al., "First return, then explore," Nature, 2021.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[7] H. van Hasselt et al., "Deep reinforcement learning with double Q-learning," AAAI, 2016.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[8] D. Russo et al., "A tutorial on Thompson sampling," Foundations and Trends in ML, 2018.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[9] E. T. Barr et al., "The oracle problem in software testing: A survey," IEEE TSE, 2015.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[10] A. Zeller and R. Hildebrandt, "Simplifying and isolating failure-inducing input," IEEE TSE, 2002.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[11] G. Klees et al., "Evaluating fuzz testing," ACM CCS, 2018.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[12] M. Biagiola et al., "Diversity-based web test generation," ESEC/FSE, 2019.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0312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Questions, and a live demo of Katalyze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584448" y="4343400"/>
            <a:ext cx="1463040" cy="502920"/>
          </a:xfrm>
          <a:prstGeom prst="roundRect">
            <a:avLst>
              <a:gd name="adj" fmla="val 4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584448" y="43434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Explore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367528" y="4343400"/>
            <a:ext cx="1463040" cy="502920"/>
          </a:xfrm>
          <a:prstGeom prst="roundRect">
            <a:avLst>
              <a:gd name="adj" fmla="val 49091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67528" y="43434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Detect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150608" y="4343400"/>
            <a:ext cx="146304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50608" y="43434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Verify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talyze">
  <a:themeElements>
    <a:clrScheme name="Katalyze">
      <a:dk1>
        <a:srgbClr val="172033"/>
      </a:dk1>
      <a:lt1>
        <a:srgbClr val="FFFFFF"/>
      </a:lt1>
      <a:dk2>
        <a:srgbClr val="4A5568"/>
      </a:dk2>
      <a:lt2>
        <a:srgbClr val="EEF4F4"/>
      </a:lt2>
      <a:accent1>
        <a:srgbClr val="0F8B8D"/>
      </a:accent1>
      <a:accent2>
        <a:srgbClr val="F26B4F"/>
      </a:accent2>
      <a:accent3>
        <a:srgbClr val="E8A33D"/>
      </a:accent3>
      <a:accent4>
        <a:srgbClr val="9AA3AE"/>
      </a:accent4>
      <a:accent5>
        <a:srgbClr val="2D4A6B"/>
      </a:accent5>
      <a:accent6>
        <a:srgbClr val="D3EBEA"/>
      </a:accent6>
      <a:hlink>
        <a:srgbClr val="0F8B8D"/>
      </a:hlink>
      <a:folHlink>
        <a:srgbClr val="2D4A6B"/>
      </a:folHlink>
    </a:clrScheme>
    <a:fontScheme name="Katalyz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Katalyze: Final Review</dc:title>
  <dc:subject>PptxGenJS Presentation</dc:subject>
  <dc:creator>Arunoday A K, Achutharaj R, Lokesh D, Abhay Rohit M</dc:creator>
  <cp:lastModifiedBy>Arunoday A K, Achutharaj R, Lokesh D, Abhay Rohit M</cp:lastModifiedBy>
  <cp:revision>1</cp:revision>
  <dcterms:created xsi:type="dcterms:W3CDTF">2026-10-26T12:53:17Z</dcterms:created>
  <dcterms:modified xsi:type="dcterms:W3CDTF">2026-10-26T12:53:17Z</dcterms:modified>
</cp:coreProperties>
</file>