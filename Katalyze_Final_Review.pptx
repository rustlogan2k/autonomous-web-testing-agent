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f5dac564-4fa1-2f53-d9d5-54eb19125904}">
          <p14:sldIdLst>
            <p14:sldId id="256"/>
          </p14:sldIdLst>
        </p14:section>
        <p14:section name="01 · Introduction" id="{1fcd0f95-1c4c-6ab6-c3a2-b59e2b5941ca}">
          <p14:sldIdLst>
            <p14:sldId id="257"/>
          </p14:sldIdLst>
        </p14:section>
        <p14:section name="02 · Problem statement" id="{1fec60b9-e2cf-d097-7bce-3ac9fc101e81}">
          <p14:sldIdLst>
            <p14:sldId id="258"/>
          </p14:sldIdLst>
        </p14:section>
        <p14:section name="03 · Literature review" id="{c734ef90-0468-7fc1-d867-725d66369940}">
          <p14:sldIdLst>
            <p14:sldId id="259"/>
          </p14:sldIdLst>
        </p14:section>
        <p14:section name="04 · Research gaps" id="{fea623ea-abcb-34b0-335a-3169e4c45862}">
          <p14:sldIdLst>
            <p14:sldId id="260"/>
          </p14:sldIdLst>
        </p14:section>
        <p14:section name="05 · Methodology" id="{8221c767-ce94-0de9-3c1d-c26dbec01751}">
          <p14:sldIdLst>
            <p14:sldId id="261"/>
            <p14:sldId id="262"/>
            <p14:sldId id="263"/>
            <p14:sldId id="264"/>
            <p14:sldId id="265"/>
            <p14:sldId id="266"/>
            <p14:sldId id="267"/>
          </p14:sldIdLst>
        </p14:section>
        <p14:section name="06 · Workflow" id="{de259ce9-f3fc-d8e1-c696-a30e29d7c405}">
          <p14:sldIdLst>
            <p14:sldId id="268"/>
          </p14:sldIdLst>
        </p14:section>
        <p14:section name="07 · Evaluation and benchmark" id="{5d708efa-1067-c951-811e-e90874bdf6de}">
          <p14:sldIdLst>
            <p14:sldId id="269"/>
            <p14:sldId id="270"/>
          </p14:sldIdLst>
        </p14:section>
        <p14:section name="08 · Evaluation results" id="{05ccd8e3-a1f8-bfe5-11e7-5e95f5078dee}">
          <p14:sldIdLst>
            <p14:sldId id="271"/>
            <p14:sldId id="272"/>
            <p14:sldId id="273"/>
            <p14:sldId id="274"/>
            <p14:sldId id="275"/>
          </p14:sldIdLst>
        </p14:section>
        <p14:section name="09 · Our app" id="{0acc9d2d-ab0b-3276-dd2e-3088bb527d75}">
          <p14:sldIdLst>
            <p14:sldId id="276"/>
          </p14:sldIdLst>
        </p14:section>
        <p14:section name="10 · Conclusion" id="{4baf8b95-1594-019a-5e45-152d5e79f2ef}">
          <p14:sldIdLst>
            <p14:sldId id="277"/>
          </p14:sldIdLst>
        </p14:section>
        <p14:section name="11 · Future work" id="{6722faa1-0b18-e63b-82c2-17b2fc9fee07}">
          <p14:sldIdLst>
            <p14:sldId id="278"/>
          </p14:sldIdLst>
        </p14:section>
        <p14:section name="12 · Team" id="{d561c141-6cf3-c536-f314-ffd9d273eb8e}">
          <p14:sldIdLst>
            <p14:sldId id="279"/>
          </p14:sldIdLst>
        </p14:section>
        <p14:section name="13 · References" id="{2435cb37-085f-d928-901f-16cbf59a116b}">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72033"/>
                </a:solidFill>
                <a:latin typeface="+mn-lt"/>
              </a:defRPr>
            </a:pPr>
            <a:r>
              <a:rPr sz="1400" b="0" i="0" u="none" strike="noStrike">
                <a:solidFill>
                  <a:srgbClr val="172033"/>
                </a:solidFill>
                <a:latin typeface="+mn-lt"/>
              </a:rPr>
              <a:t>Distinct faults verified (of 24)</a:t>
            </a:r>
          </a:p>
        </c:rich>
      </c:tx>
      <c:layout/>
      <c:overlay val="0"/>
    </c:title>
    <c:autoTitleDeleted val="0"/>
    <c:plotArea>
      <c:layout/>
      <c:barChart>
        <c:barDir val="bar"/>
        <c:grouping val="clustered"/>
        <c:varyColors val="0"/>
        <c:ser>
          <c:idx val="0"/>
          <c:order val="0"/>
          <c:tx>
            <c:strRef>
              <c:f>Sheet1!$B$1</c:f>
              <c:strCache>
                <c:ptCount val="1"/>
                <c:pt idx="0">
                  <c:v>Distinct faults</c:v>
                </c:pt>
              </c:strCache>
            </c:strRef>
          </c:tx>
          <c:spPr>
            <a:solidFill>
              <a:srgbClr val="9AA3AE"/>
            </a:solidFill>
            <a:effectLst/>
          </c:spPr>
          <c:invertIfNegative val="0"/>
          <c:dLbls>
            <c:numFmt formatCode="#,##0" sourceLinked="0"/>
            <c:txPr>
              <a:bodyPr/>
              <a:lstStyle/>
              <a:p>
                <a:pPr>
                  <a:defRPr b="0" i="0" strike="noStrike" sz="1100" u="none">
                    <a:solidFill>
                      <a:srgbClr val="172033"/>
                    </a:solidFill>
                    <a:latin typeface="+mn-lt"/>
                  </a:defRPr>
                </a:pPr>
              </a:p>
            </c:txPr>
            <c:showLegendKey val="0"/>
            <c:showVal val="1"/>
            <c:showCatName val="0"/>
            <c:showSerName val="0"/>
            <c:showPercent val="0"/>
            <c:showBubbleSize val="0"/>
            <c:showLeaderLines val="0"/>
          </c:dLbls>
          <c:dPt>
            <c:idx val="0"/>
            <c:invertIfNegative val="0"/>
            <c:bubble3D val="0"/>
            <c:spPr>
              <a:solidFill>
                <a:srgbClr val="9AA3AE"/>
              </a:solidFill>
              <a:effectLst/>
            </c:spPr>
          </c:dPt>
          <c:dPt>
            <c:idx val="1"/>
            <c:invertIfNegative val="0"/>
            <c:bubble3D val="0"/>
            <c:spPr>
              <a:solidFill>
                <a:srgbClr val="E8A33D"/>
              </a:solidFill>
              <a:effectLst/>
            </c:spPr>
          </c:dPt>
          <c:dPt>
            <c:idx val="2"/>
            <c:invertIfNegative val="0"/>
            <c:bubble3D val="0"/>
            <c:spPr>
              <a:solidFill>
                <a:srgbClr val="0F8B8D"/>
              </a:solidFill>
              <a:effectLst/>
            </c:spPr>
          </c:dPt>
          <c:dPt>
            <c:idx val="3"/>
            <c:invertIfNegative val="0"/>
            <c:bubble3D val="0"/>
            <c:spPr>
              <a:solidFill>
                <a:srgbClr val="F26B4F"/>
              </a:solidFill>
              <a:effectLst/>
            </c:spPr>
          </c:dPt>
          <c:cat>
            <c:multiLvlStrRef>
              <c:f>Sheet1!$A$2:$A$5</c:f>
              <c:multiLvlStrCache>
                <c:ptCount val="4"/>
                <c:lvl>
                  <c:pt idx="0">
                    <c:v>random</c:v>
                  </c:pt>
                  <c:pt idx="1">
                    <c:v>v1_dqn_pretrained</c:v>
                  </c:pt>
                  <c:pt idx="2">
                    <c:v>hybrid_nolearn</c:v>
                  </c:pt>
                  <c:pt idx="3">
                    <c:v>hybrid_bandit</c:v>
                  </c:pt>
                </c:lvl>
              </c:multiLvlStrCache>
            </c:multiLvlStrRef>
          </c:cat>
          <c:val>
            <c:numRef>
              <c:f>Sheet1!$B$2:$B$5</c:f>
              <c:numCache>
                <c:formatCode>General</c:formatCode>
                <c:ptCount val="4"/>
                <c:pt idx="0">
                  <c:v>13</c:v>
                </c:pt>
                <c:pt idx="1">
                  <c:v>17</c:v>
                </c:pt>
                <c:pt idx="2">
                  <c:v>18</c:v>
                </c:pt>
                <c:pt idx="3">
                  <c:v>19</c:v>
                </c:pt>
              </c:numCache>
            </c:numRef>
          </c:val>
        </c:ser>
        <c:dLbls>
          <c:numFmt formatCode="#,##0" sourceLinked="0"/>
          <c:txPr>
            <a:bodyPr/>
            <a:lstStyle/>
            <a:p>
              <a:pPr>
                <a:defRPr b="0" i="0" strike="noStrike" sz="1100" u="none">
                  <a:solidFill>
                    <a:srgbClr val="1720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2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72033"/>
                </a:solidFill>
                <a:latin typeface="+mn-lt"/>
              </a:defRPr>
            </a:pPr>
            <a:r>
              <a:rPr sz="1400" b="0" i="0" u="none" strike="noStrike">
                <a:solidFill>
                  <a:srgbClr val="172033"/>
                </a:solidFill>
                <a:latin typeface="+mn-lt"/>
              </a:rPr>
              <a:t>Distinct faults verified, by declared depth</a:t>
            </a:r>
          </a:p>
        </c:rich>
      </c:tx>
      <c:layout/>
      <c:overlay val="0"/>
    </c:title>
    <c:autoTitleDeleted val="0"/>
    <c:plotArea>
      <c:layout/>
      <c:barChart>
        <c:barDir val="col"/>
        <c:grouping val="clustered"/>
        <c:varyColors val="0"/>
        <c:ser>
          <c:idx val="0"/>
          <c:order val="0"/>
          <c:tx>
            <c:strRef>
              <c:f>Sheet1!$B$1</c:f>
              <c:strCache>
                <c:ptCount val="1"/>
                <c:pt idx="0">
                  <c:v>random</c:v>
                </c:pt>
              </c:strCache>
            </c:strRef>
          </c:tx>
          <c:spPr>
            <a:solidFill>
              <a:srgbClr val="9AA3AE"/>
            </a:solidFill>
            <a:effectLst/>
          </c:spPr>
          <c:invertIfNegative val="0"/>
          <c:dLbls>
            <c:numFmt formatCode="#,##0" sourceLinked="0"/>
            <c:txPr>
              <a:bodyPr/>
              <a:lstStyle/>
              <a:p>
                <a:pPr>
                  <a:defRPr b="0" i="0" strike="noStrike" sz="1100" u="none">
                    <a:solidFill>
                      <a:srgbClr val="172033"/>
                    </a:solidFill>
                    <a:latin typeface="+mn-lt"/>
                  </a:defRPr>
                </a:pPr>
              </a:p>
            </c:txPr>
            <c:showLegendKey val="0"/>
            <c:showVal val="1"/>
            <c:showCatName val="0"/>
            <c:showSerName val="0"/>
            <c:showPercent val="0"/>
            <c:showBubbleSize val="0"/>
            <c:showLeaderLines val="0"/>
          </c:dLbls>
          <c:cat>
            <c:multiLvlStrRef>
              <c:f>Sheet1!$A$2:$A$4</c:f>
              <c:multiLvlStrCache>
                <c:ptCount val="3"/>
                <c:lvl>
                  <c:pt idx="0">
                    <c:v>Shallow (≤4 steps)</c:v>
                  </c:pt>
                  <c:pt idx="1">
                    <c:v>Moderate (5–6)</c:v>
                  </c:pt>
                  <c:pt idx="2">
                    <c:v>Deep (≥7)</c:v>
                  </c:pt>
                </c:lvl>
              </c:multiLvlStrCache>
            </c:multiLvlStrRef>
          </c:cat>
          <c:val>
            <c:numRef>
              <c:f>Sheet1!$B$2:$B$4</c:f>
              <c:numCache>
                <c:formatCode>General</c:formatCode>
                <c:ptCount val="3"/>
                <c:pt idx="0">
                  <c:v>6</c:v>
                </c:pt>
                <c:pt idx="1">
                  <c:v>5</c:v>
                </c:pt>
                <c:pt idx="2">
                  <c:v>2</c:v>
                </c:pt>
              </c:numCache>
            </c:numRef>
          </c:val>
        </c:ser>
        <c:ser>
          <c:idx val="1"/>
          <c:order val="1"/>
          <c:tx>
            <c:strRef>
              <c:f>Sheet1!$C$1</c:f>
              <c:strCache>
                <c:ptCount val="1"/>
                <c:pt idx="0">
                  <c:v>v1_dqn_pretrained</c:v>
                </c:pt>
              </c:strCache>
            </c:strRef>
          </c:tx>
          <c:spPr>
            <a:solidFill>
              <a:srgbClr val="E8A33D"/>
            </a:solidFill>
            <a:effectLst/>
          </c:spPr>
          <c:invertIfNegative val="0"/>
          <c:dLbls>
            <c:numFmt formatCode="#,##0" sourceLinked="0"/>
            <c:txPr>
              <a:bodyPr/>
              <a:lstStyle/>
              <a:p>
                <a:pPr>
                  <a:defRPr b="0" i="0" strike="noStrike" sz="1100" u="none">
                    <a:solidFill>
                      <a:srgbClr val="172033"/>
                    </a:solidFill>
                    <a:latin typeface="+mn-lt"/>
                  </a:defRPr>
                </a:pPr>
              </a:p>
            </c:txPr>
            <c:showLegendKey val="0"/>
            <c:showVal val="1"/>
            <c:showCatName val="0"/>
            <c:showSerName val="0"/>
            <c:showPercent val="0"/>
            <c:showBubbleSize val="0"/>
            <c:showLeaderLines val="0"/>
          </c:dLbls>
          <c:cat>
            <c:multiLvlStrRef>
              <c:f>Sheet1!$A$2:$A$4</c:f>
              <c:multiLvlStrCache>
                <c:ptCount val="3"/>
                <c:lvl>
                  <c:pt idx="0">
                    <c:v>Shallow (≤4 steps)</c:v>
                  </c:pt>
                  <c:pt idx="1">
                    <c:v>Moderate (5–6)</c:v>
                  </c:pt>
                  <c:pt idx="2">
                    <c:v>Deep (≥7)</c:v>
                  </c:pt>
                </c:lvl>
              </c:multiLvlStrCache>
            </c:multiLvlStrRef>
          </c:cat>
          <c:val>
            <c:numRef>
              <c:f>Sheet1!$C$2:$C$4</c:f>
              <c:numCache>
                <c:formatCode>General</c:formatCode>
                <c:ptCount val="3"/>
                <c:pt idx="0">
                  <c:v>7</c:v>
                </c:pt>
                <c:pt idx="1">
                  <c:v>7</c:v>
                </c:pt>
                <c:pt idx="2">
                  <c:v>3</c:v>
                </c:pt>
              </c:numCache>
            </c:numRef>
          </c:val>
        </c:ser>
        <c:ser>
          <c:idx val="2"/>
          <c:order val="2"/>
          <c:tx>
            <c:strRef>
              <c:f>Sheet1!$D$1</c:f>
              <c:strCache>
                <c:ptCount val="1"/>
                <c:pt idx="0">
                  <c:v>hybrid_nolearn</c:v>
                </c:pt>
              </c:strCache>
            </c:strRef>
          </c:tx>
          <c:spPr>
            <a:solidFill>
              <a:srgbClr val="0F8B8D"/>
            </a:solidFill>
            <a:effectLst/>
          </c:spPr>
          <c:invertIfNegative val="0"/>
          <c:dLbls>
            <c:numFmt formatCode="#,##0" sourceLinked="0"/>
            <c:txPr>
              <a:bodyPr/>
              <a:lstStyle/>
              <a:p>
                <a:pPr>
                  <a:defRPr b="0" i="0" strike="noStrike" sz="1100" u="none">
                    <a:solidFill>
                      <a:srgbClr val="172033"/>
                    </a:solidFill>
                    <a:latin typeface="+mn-lt"/>
                  </a:defRPr>
                </a:pPr>
              </a:p>
            </c:txPr>
            <c:showLegendKey val="0"/>
            <c:showVal val="1"/>
            <c:showCatName val="0"/>
            <c:showSerName val="0"/>
            <c:showPercent val="0"/>
            <c:showBubbleSize val="0"/>
            <c:showLeaderLines val="0"/>
          </c:dLbls>
          <c:cat>
            <c:multiLvlStrRef>
              <c:f>Sheet1!$A$2:$A$4</c:f>
              <c:multiLvlStrCache>
                <c:ptCount val="3"/>
                <c:lvl>
                  <c:pt idx="0">
                    <c:v>Shallow (≤4 steps)</c:v>
                  </c:pt>
                  <c:pt idx="1">
                    <c:v>Moderate (5–6)</c:v>
                  </c:pt>
                  <c:pt idx="2">
                    <c:v>Deep (≥7)</c:v>
                  </c:pt>
                </c:lvl>
              </c:multiLvlStrCache>
            </c:multiLvlStrRef>
          </c:cat>
          <c:val>
            <c:numRef>
              <c:f>Sheet1!$D$2:$D$4</c:f>
              <c:numCache>
                <c:formatCode>General</c:formatCode>
                <c:ptCount val="3"/>
                <c:pt idx="0">
                  <c:v>6</c:v>
                </c:pt>
                <c:pt idx="1">
                  <c:v>9</c:v>
                </c:pt>
                <c:pt idx="2">
                  <c:v>3</c:v>
                </c:pt>
              </c:numCache>
            </c:numRef>
          </c:val>
        </c:ser>
        <c:ser>
          <c:idx val="3"/>
          <c:order val="3"/>
          <c:tx>
            <c:strRef>
              <c:f>Sheet1!$E$1</c:f>
              <c:strCache>
                <c:ptCount val="1"/>
                <c:pt idx="0">
                  <c:v>hybrid_bandit</c:v>
                </c:pt>
              </c:strCache>
            </c:strRef>
          </c:tx>
          <c:spPr>
            <a:solidFill>
              <a:srgbClr val="F26B4F"/>
            </a:solidFill>
            <a:effectLst/>
          </c:spPr>
          <c:invertIfNegative val="0"/>
          <c:dLbls>
            <c:numFmt formatCode="#,##0" sourceLinked="0"/>
            <c:txPr>
              <a:bodyPr/>
              <a:lstStyle/>
              <a:p>
                <a:pPr>
                  <a:defRPr b="0" i="0" strike="noStrike" sz="1100" u="none">
                    <a:solidFill>
                      <a:srgbClr val="172033"/>
                    </a:solidFill>
                    <a:latin typeface="+mn-lt"/>
                  </a:defRPr>
                </a:pPr>
              </a:p>
            </c:txPr>
            <c:showLegendKey val="0"/>
            <c:showVal val="1"/>
            <c:showCatName val="0"/>
            <c:showSerName val="0"/>
            <c:showPercent val="0"/>
            <c:showBubbleSize val="0"/>
            <c:showLeaderLines val="0"/>
          </c:dLbls>
          <c:cat>
            <c:multiLvlStrRef>
              <c:f>Sheet1!$A$2:$A$4</c:f>
              <c:multiLvlStrCache>
                <c:ptCount val="3"/>
                <c:lvl>
                  <c:pt idx="0">
                    <c:v>Shallow (≤4 steps)</c:v>
                  </c:pt>
                  <c:pt idx="1">
                    <c:v>Moderate (5–6)</c:v>
                  </c:pt>
                  <c:pt idx="2">
                    <c:v>Deep (≥7)</c:v>
                  </c:pt>
                </c:lvl>
              </c:multiLvlStrCache>
            </c:multiLvlStrRef>
          </c:cat>
          <c:val>
            <c:numRef>
              <c:f>Sheet1!$E$2:$E$4</c:f>
              <c:numCache>
                <c:formatCode>General</c:formatCode>
                <c:ptCount val="3"/>
                <c:pt idx="0">
                  <c:v>8</c:v>
                </c:pt>
                <c:pt idx="1">
                  <c:v>7</c:v>
                </c:pt>
                <c:pt idx="2">
                  <c:v>4</c:v>
                </c:pt>
              </c:numCache>
            </c:numRef>
          </c:val>
        </c:ser>
        <c:dLbls>
          <c:numFmt formatCode="#,##0" sourceLinked="0"/>
          <c:txPr>
            <a:bodyPr/>
            <a:lstStyle/>
            <a:p>
              <a:pPr>
                <a:defRPr b="0" i="0" strike="noStrike" sz="1100" u="none">
                  <a:solidFill>
                    <a:srgbClr val="1720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2E8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200">
              <a:solidFill>
                <a:srgbClr val="4A55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72033"/>
                </a:solidFill>
                <a:latin typeface="+mn-lt"/>
              </a:defRPr>
            </a:pPr>
            <a:r>
              <a:rPr sz="1400" b="0" i="0" u="none" strike="noStrike">
                <a:solidFill>
                  <a:srgbClr val="172033"/>
                </a:solidFill>
                <a:latin typeface="+mn-lt"/>
              </a:rPr>
              <a:t>Average branch coverage, 6 apps (%)</a:t>
            </a:r>
          </a:p>
        </c:rich>
      </c:tx>
      <c:layout/>
      <c:overlay val="0"/>
    </c:title>
    <c:autoTitleDeleted val="0"/>
    <c:plotArea>
      <c:layout/>
      <c:barChart>
        <c:barDir val="col"/>
        <c:grouping val="clustered"/>
        <c:varyColors val="0"/>
        <c:ser>
          <c:idx val="0"/>
          <c:order val="0"/>
          <c:tx>
            <c:strRef>
              <c:f>Sheet1!$B$1</c:f>
              <c:strCache>
                <c:ptCount val="1"/>
                <c:pt idx="0">
                  <c:v>Coverage</c:v>
                </c:pt>
              </c:strCache>
            </c:strRef>
          </c:tx>
          <c:spPr>
            <a:solidFill>
              <a:srgbClr val="0F8B8D"/>
            </a:solidFill>
            <a:effectLst/>
          </c:spPr>
          <c:invertIfNegative val="0"/>
          <c:dLbls>
            <c:numFmt formatCode="0.0" sourceLinked="0"/>
            <c:txPr>
              <a:bodyPr/>
              <a:lstStyle/>
              <a:p>
                <a:pPr>
                  <a:defRPr b="0" i="0" strike="noStrike" sz="1100" u="none">
                    <a:solidFill>
                      <a:srgbClr val="172033"/>
                    </a:solidFill>
                    <a:latin typeface="+mn-lt"/>
                  </a:defRPr>
                </a:pPr>
              </a:p>
            </c:txPr>
            <c:showLegendKey val="0"/>
            <c:showVal val="1"/>
            <c:showCatName val="0"/>
            <c:showSerName val="0"/>
            <c:showPercent val="0"/>
            <c:showBubbleSize val="0"/>
            <c:showLeaderLines val="0"/>
          </c:dLbls>
          <c:dPt>
            <c:idx val="0"/>
            <c:invertIfNegative val="0"/>
            <c:bubble3D val="0"/>
            <c:spPr>
              <a:solidFill>
                <a:srgbClr val="0F8B8D"/>
              </a:solidFill>
              <a:effectLst/>
            </c:spPr>
          </c:dPt>
          <c:dPt>
            <c:idx val="1"/>
            <c:invertIfNegative val="0"/>
            <c:bubble3D val="0"/>
            <c:spPr>
              <a:solidFill>
                <a:srgbClr val="F26B4F"/>
              </a:solidFill>
              <a:effectLst/>
            </c:spPr>
          </c:dPt>
          <c:dPt>
            <c:idx val="2"/>
            <c:invertIfNegative val="0"/>
            <c:bubble3D val="0"/>
            <c:spPr>
              <a:solidFill>
                <a:srgbClr val="9AA3AE"/>
              </a:solidFill>
              <a:effectLst/>
            </c:spPr>
          </c:dPt>
          <c:dPt>
            <c:idx val="3"/>
            <c:invertIfNegative val="0"/>
            <c:bubble3D val="0"/>
            <c:spPr>
              <a:solidFill>
                <a:srgbClr val="4A5568"/>
              </a:solidFill>
              <a:effectLst/>
            </c:spPr>
          </c:dPt>
          <c:dPt>
            <c:idx val="4"/>
            <c:invertIfNegative val="0"/>
            <c:bubble3D val="0"/>
            <c:spPr>
              <a:solidFill>
                <a:srgbClr val="172033"/>
              </a:solidFill>
              <a:effectLst/>
            </c:spPr>
          </c:dPt>
          <c:cat>
            <c:multiLvlStrRef>
              <c:f>Sheet1!$A$2:$A$6</c:f>
              <c:multiLvlStrCache>
                <c:ptCount val="5"/>
                <c:lvl>
                  <c:pt idx="0">
                    <c:v>hybrid_final</c:v>
                  </c:pt>
                  <c:pt idx="1">
                    <c:v>hybrid_curiosity</c:v>
                  </c:pt>
                  <c:pt idx="2">
                    <c:v>random</c:v>
                  </c:pt>
                  <c:pt idx="3">
                    <c:v>WebExplor</c:v>
                  </c:pt>
                  <c:pt idx="4">
                    <c:v>WebRLED</c:v>
                  </c:pt>
                </c:lvl>
              </c:multiLvlStrCache>
            </c:multiLvlStrRef>
          </c:cat>
          <c:val>
            <c:numRef>
              <c:f>Sheet1!$B$2:$B$6</c:f>
              <c:numCache>
                <c:formatCode>General</c:formatCode>
                <c:ptCount val="5"/>
                <c:pt idx="0">
                  <c:v>44.3</c:v>
                </c:pt>
                <c:pt idx="1">
                  <c:v>44.7</c:v>
                </c:pt>
                <c:pt idx="2">
                  <c:v>40.3</c:v>
                </c:pt>
                <c:pt idx="3">
                  <c:v>55.5</c:v>
                </c:pt>
                <c:pt idx="4">
                  <c:v>64.2</c:v>
                </c:pt>
              </c:numCache>
            </c:numRef>
          </c:val>
        </c:ser>
        <c:dLbls>
          <c:numFmt formatCode="0.0" sourceLinked="0"/>
          <c:txPr>
            <a:bodyPr/>
            <a:lstStyle/>
            <a:p>
              <a:pPr>
                <a:defRPr b="0" i="0" strike="noStrike" sz="1100" u="none">
                  <a:solidFill>
                    <a:srgbClr val="1720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E2E8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72033"/>
                </a:solidFill>
                <a:latin typeface="+mn-lt"/>
              </a:defRPr>
            </a:pPr>
            <a:r>
              <a:rPr sz="1400" b="0" i="0" u="none" strike="noStrike">
                <a:solidFill>
                  <a:srgbClr val="172033"/>
                </a:solidFill>
                <a:latin typeface="+mn-lt"/>
              </a:rPr>
              <a:t>Branch coverage per application (%)</a:t>
            </a:r>
          </a:p>
        </c:rich>
      </c:tx>
      <c:layout/>
      <c:overlay val="0"/>
    </c:title>
    <c:autoTitleDeleted val="0"/>
    <c:plotArea>
      <c:layout/>
      <c:barChart>
        <c:barDir val="col"/>
        <c:grouping val="clustered"/>
        <c:varyColors val="0"/>
        <c:ser>
          <c:idx val="0"/>
          <c:order val="0"/>
          <c:tx>
            <c:strRef>
              <c:f>Sheet1!$B$1</c:f>
              <c:strCache>
                <c:ptCount val="1"/>
                <c:pt idx="0">
                  <c:v>hybrid_final_v5</c:v>
                </c:pt>
              </c:strCache>
            </c:strRef>
          </c:tx>
          <c:spPr>
            <a:solidFill>
              <a:srgbClr val="0F8B8D"/>
            </a:solidFill>
            <a:effectLst/>
          </c:spPr>
          <c:invertIfNegative val="0"/>
          <c:dLbls>
            <c:numFmt formatCode="#,##0" sourceLinked="0"/>
            <c:txPr>
              <a:bodyPr/>
              <a:lstStyle/>
              <a:p>
                <a:pPr>
                  <a:defRPr b="0" i="0" strike="noStrike" sz="1100" u="none">
                    <a:solidFill>
                      <a:srgbClr val="172033"/>
                    </a:solidFill>
                    <a:latin typeface="+mn-lt"/>
                  </a:defRPr>
                </a:pPr>
              </a:p>
            </c:txPr>
            <c:showLegendKey val="0"/>
            <c:showVal val="0"/>
            <c:showCatName val="0"/>
            <c:showSerName val="0"/>
            <c:showPercent val="0"/>
            <c:showBubbleSize val="0"/>
            <c:showLeaderLines val="0"/>
          </c:dLbls>
          <c:cat>
            <c:multiLvlStrRef>
              <c:f>Sheet1!$A$2:$A$7</c:f>
              <c:multiLvlStrCache>
                <c:ptCount val="6"/>
                <c:lvl>
                  <c:pt idx="0">
                    <c:v>Dimeshift</c:v>
                  </c:pt>
                  <c:pt idx="1">
                    <c:v>Pagekit</c:v>
                  </c:pt>
                  <c:pt idx="2">
                    <c:v>Splittypie</c:v>
                  </c:pt>
                  <c:pt idx="3">
                    <c:v>Phoenix</c:v>
                  </c:pt>
                  <c:pt idx="4">
                    <c:v>Retroboard</c:v>
                  </c:pt>
                  <c:pt idx="5">
                    <c:v>Petclinic</c:v>
                  </c:pt>
                </c:lvl>
              </c:multiLvlStrCache>
            </c:multiLvlStrRef>
          </c:cat>
          <c:val>
            <c:numRef>
              <c:f>Sheet1!$B$2:$B$7</c:f>
              <c:numCache>
                <c:formatCode>General</c:formatCode>
                <c:ptCount val="6"/>
                <c:pt idx="0">
                  <c:v>48.6</c:v>
                </c:pt>
                <c:pt idx="1">
                  <c:v>35</c:v>
                </c:pt>
                <c:pt idx="2">
                  <c:v>37.7</c:v>
                </c:pt>
                <c:pt idx="3">
                  <c:v>82.4</c:v>
                </c:pt>
                <c:pt idx="4">
                  <c:v>54</c:v>
                </c:pt>
                <c:pt idx="5">
                  <c:v>51</c:v>
                </c:pt>
              </c:numCache>
            </c:numRef>
          </c:val>
        </c:ser>
        <c:ser>
          <c:idx val="1"/>
          <c:order val="1"/>
          <c:tx>
            <c:strRef>
              <c:f>Sheet1!$C$1</c:f>
              <c:strCache>
                <c:ptCount val="1"/>
                <c:pt idx="0">
                  <c:v>hybrid_curiosity_v5</c:v>
                </c:pt>
              </c:strCache>
            </c:strRef>
          </c:tx>
          <c:spPr>
            <a:solidFill>
              <a:srgbClr val="F26B4F"/>
            </a:solidFill>
            <a:effectLst/>
          </c:spPr>
          <c:invertIfNegative val="0"/>
          <c:dLbls>
            <c:numFmt formatCode="#,##0" sourceLinked="0"/>
            <c:txPr>
              <a:bodyPr/>
              <a:lstStyle/>
              <a:p>
                <a:pPr>
                  <a:defRPr b="0" i="0" strike="noStrike" sz="1100" u="none">
                    <a:solidFill>
                      <a:srgbClr val="172033"/>
                    </a:solidFill>
                    <a:latin typeface="+mn-lt"/>
                  </a:defRPr>
                </a:pPr>
              </a:p>
            </c:txPr>
            <c:showLegendKey val="0"/>
            <c:showVal val="0"/>
            <c:showCatName val="0"/>
            <c:showSerName val="0"/>
            <c:showPercent val="0"/>
            <c:showBubbleSize val="0"/>
            <c:showLeaderLines val="0"/>
          </c:dLbls>
          <c:cat>
            <c:multiLvlStrRef>
              <c:f>Sheet1!$A$2:$A$7</c:f>
              <c:multiLvlStrCache>
                <c:ptCount val="6"/>
                <c:lvl>
                  <c:pt idx="0">
                    <c:v>Dimeshift</c:v>
                  </c:pt>
                  <c:pt idx="1">
                    <c:v>Pagekit</c:v>
                  </c:pt>
                  <c:pt idx="2">
                    <c:v>Splittypie</c:v>
                  </c:pt>
                  <c:pt idx="3">
                    <c:v>Phoenix</c:v>
                  </c:pt>
                  <c:pt idx="4">
                    <c:v>Retroboard</c:v>
                  </c:pt>
                  <c:pt idx="5">
                    <c:v>Petclinic</c:v>
                  </c:pt>
                </c:lvl>
              </c:multiLvlStrCache>
            </c:multiLvlStrRef>
          </c:cat>
          <c:val>
            <c:numRef>
              <c:f>Sheet1!$C$2:$C$7</c:f>
              <c:numCache>
                <c:formatCode>General</c:formatCode>
                <c:ptCount val="6"/>
                <c:pt idx="0">
                  <c:v>48.9</c:v>
                </c:pt>
                <c:pt idx="1">
                  <c:v>41</c:v>
                </c:pt>
                <c:pt idx="2">
                  <c:v>47</c:v>
                </c:pt>
                <c:pt idx="3">
                  <c:v>84.7</c:v>
                </c:pt>
                <c:pt idx="4">
                  <c:v>54</c:v>
                </c:pt>
                <c:pt idx="5">
                  <c:v>46</c:v>
                </c:pt>
              </c:numCache>
            </c:numRef>
          </c:val>
        </c:ser>
        <c:ser>
          <c:idx val="2"/>
          <c:order val="2"/>
          <c:tx>
            <c:strRef>
              <c:f>Sheet1!$D$1</c:f>
              <c:strCache>
                <c:ptCount val="1"/>
                <c:pt idx="0">
                  <c:v>hybrid_bandit_v5 (post-hoc)</c:v>
                </c:pt>
              </c:strCache>
            </c:strRef>
          </c:tx>
          <c:spPr>
            <a:solidFill>
              <a:srgbClr val="E8A33D"/>
            </a:solidFill>
            <a:effectLst/>
          </c:spPr>
          <c:invertIfNegative val="0"/>
          <c:dLbls>
            <c:numFmt formatCode="#,##0" sourceLinked="0"/>
            <c:txPr>
              <a:bodyPr/>
              <a:lstStyle/>
              <a:p>
                <a:pPr>
                  <a:defRPr b="0" i="0" strike="noStrike" sz="1100" u="none">
                    <a:solidFill>
                      <a:srgbClr val="172033"/>
                    </a:solidFill>
                    <a:latin typeface="+mn-lt"/>
                  </a:defRPr>
                </a:pPr>
              </a:p>
            </c:txPr>
            <c:showLegendKey val="0"/>
            <c:showVal val="0"/>
            <c:showCatName val="0"/>
            <c:showSerName val="0"/>
            <c:showPercent val="0"/>
            <c:showBubbleSize val="0"/>
            <c:showLeaderLines val="0"/>
          </c:dLbls>
          <c:cat>
            <c:multiLvlStrRef>
              <c:f>Sheet1!$A$2:$A$7</c:f>
              <c:multiLvlStrCache>
                <c:ptCount val="6"/>
                <c:lvl>
                  <c:pt idx="0">
                    <c:v>Dimeshift</c:v>
                  </c:pt>
                  <c:pt idx="1">
                    <c:v>Pagekit</c:v>
                  </c:pt>
                  <c:pt idx="2">
                    <c:v>Splittypie</c:v>
                  </c:pt>
                  <c:pt idx="3">
                    <c:v>Phoenix</c:v>
                  </c:pt>
                  <c:pt idx="4">
                    <c:v>Retroboard</c:v>
                  </c:pt>
                  <c:pt idx="5">
                    <c:v>Petclinic</c:v>
                  </c:pt>
                </c:lvl>
              </c:multiLvlStrCache>
            </c:multiLvlStrRef>
          </c:cat>
          <c:val>
            <c:numRef>
              <c:f>Sheet1!$D$2:$D$7</c:f>
              <c:numCache>
                <c:formatCode>General</c:formatCode>
                <c:ptCount val="6"/>
                <c:pt idx="0">
                  <c:v>51.3</c:v>
                </c:pt>
                <c:pt idx="1">
                  <c:v>34.8</c:v>
                </c:pt>
                <c:pt idx="2">
                  <c:v>34.8</c:v>
                </c:pt>
                <c:pt idx="3">
                  <c:v>82.9</c:v>
                </c:pt>
                <c:pt idx="4">
                  <c:v>53.9</c:v>
                </c:pt>
                <c:pt idx="5">
                  <c:v>42</c:v>
                </c:pt>
              </c:numCache>
            </c:numRef>
          </c:val>
        </c:ser>
        <c:ser>
          <c:idx val="3"/>
          <c:order val="3"/>
          <c:tx>
            <c:strRef>
              <c:f>Sheet1!$E$1</c:f>
              <c:strCache>
                <c:ptCount val="1"/>
                <c:pt idx="0">
                  <c:v>WebExplor</c:v>
                </c:pt>
              </c:strCache>
            </c:strRef>
          </c:tx>
          <c:spPr>
            <a:solidFill>
              <a:srgbClr val="4A5568"/>
            </a:solidFill>
            <a:effectLst/>
          </c:spPr>
          <c:invertIfNegative val="0"/>
          <c:dLbls>
            <c:numFmt formatCode="#,##0" sourceLinked="0"/>
            <c:txPr>
              <a:bodyPr/>
              <a:lstStyle/>
              <a:p>
                <a:pPr>
                  <a:defRPr b="0" i="0" strike="noStrike" sz="1100" u="none">
                    <a:solidFill>
                      <a:srgbClr val="172033"/>
                    </a:solidFill>
                    <a:latin typeface="+mn-lt"/>
                  </a:defRPr>
                </a:pPr>
              </a:p>
            </c:txPr>
            <c:showLegendKey val="0"/>
            <c:showVal val="0"/>
            <c:showCatName val="0"/>
            <c:showSerName val="0"/>
            <c:showPercent val="0"/>
            <c:showBubbleSize val="0"/>
            <c:showLeaderLines val="0"/>
          </c:dLbls>
          <c:cat>
            <c:multiLvlStrRef>
              <c:f>Sheet1!$A$2:$A$7</c:f>
              <c:multiLvlStrCache>
                <c:ptCount val="6"/>
                <c:lvl>
                  <c:pt idx="0">
                    <c:v>Dimeshift</c:v>
                  </c:pt>
                  <c:pt idx="1">
                    <c:v>Pagekit</c:v>
                  </c:pt>
                  <c:pt idx="2">
                    <c:v>Splittypie</c:v>
                  </c:pt>
                  <c:pt idx="3">
                    <c:v>Phoenix</c:v>
                  </c:pt>
                  <c:pt idx="4">
                    <c:v>Retroboard</c:v>
                  </c:pt>
                  <c:pt idx="5">
                    <c:v>Petclinic</c:v>
                  </c:pt>
                </c:lvl>
              </c:multiLvlStrCache>
            </c:multiLvlStrRef>
          </c:cat>
          <c:val>
            <c:numRef>
              <c:f>Sheet1!$E$2:$E$7</c:f>
              <c:numCache>
                <c:formatCode>General</c:formatCode>
                <c:ptCount val="6"/>
                <c:pt idx="0">
                  <c:v>54.2</c:v>
                </c:pt>
                <c:pt idx="1">
                  <c:v>25.8</c:v>
                </c:pt>
                <c:pt idx="2">
                  <c:v>36.2</c:v>
                </c:pt>
                <c:pt idx="3">
                  <c:v>71.8</c:v>
                </c:pt>
                <c:pt idx="4">
                  <c:v>60.2</c:v>
                </c:pt>
                <c:pt idx="5">
                  <c:v>85</c:v>
                </c:pt>
              </c:numCache>
            </c:numRef>
          </c:val>
        </c:ser>
        <c:ser>
          <c:idx val="4"/>
          <c:order val="4"/>
          <c:tx>
            <c:strRef>
              <c:f>Sheet1!$F$1</c:f>
              <c:strCache>
                <c:ptCount val="1"/>
                <c:pt idx="0">
                  <c:v>WebRLED</c:v>
                </c:pt>
              </c:strCache>
            </c:strRef>
          </c:tx>
          <c:spPr>
            <a:solidFill>
              <a:srgbClr val="172033"/>
            </a:solidFill>
            <a:effectLst/>
          </c:spPr>
          <c:invertIfNegative val="0"/>
          <c:dLbls>
            <c:numFmt formatCode="#,##0" sourceLinked="0"/>
            <c:txPr>
              <a:bodyPr/>
              <a:lstStyle/>
              <a:p>
                <a:pPr>
                  <a:defRPr b="0" i="0" strike="noStrike" sz="1100" u="none">
                    <a:solidFill>
                      <a:srgbClr val="172033"/>
                    </a:solidFill>
                    <a:latin typeface="+mn-lt"/>
                  </a:defRPr>
                </a:pPr>
              </a:p>
            </c:txPr>
            <c:showLegendKey val="0"/>
            <c:showVal val="0"/>
            <c:showCatName val="0"/>
            <c:showSerName val="0"/>
            <c:showPercent val="0"/>
            <c:showBubbleSize val="0"/>
            <c:showLeaderLines val="0"/>
          </c:dLbls>
          <c:cat>
            <c:multiLvlStrRef>
              <c:f>Sheet1!$A$2:$A$7</c:f>
              <c:multiLvlStrCache>
                <c:ptCount val="6"/>
                <c:lvl>
                  <c:pt idx="0">
                    <c:v>Dimeshift</c:v>
                  </c:pt>
                  <c:pt idx="1">
                    <c:v>Pagekit</c:v>
                  </c:pt>
                  <c:pt idx="2">
                    <c:v>Splittypie</c:v>
                  </c:pt>
                  <c:pt idx="3">
                    <c:v>Phoenix</c:v>
                  </c:pt>
                  <c:pt idx="4">
                    <c:v>Retroboard</c:v>
                  </c:pt>
                  <c:pt idx="5">
                    <c:v>Petclinic</c:v>
                  </c:pt>
                </c:lvl>
              </c:multiLvlStrCache>
            </c:multiLvlStrRef>
          </c:cat>
          <c:val>
            <c:numRef>
              <c:f>Sheet1!$F$2:$F$7</c:f>
              <c:numCache>
                <c:formatCode>General</c:formatCode>
                <c:ptCount val="6"/>
                <c:pt idx="0">
                  <c:v>55.4</c:v>
                </c:pt>
                <c:pt idx="1">
                  <c:v>39.8</c:v>
                </c:pt>
                <c:pt idx="2">
                  <c:v>44.6</c:v>
                </c:pt>
                <c:pt idx="3">
                  <c:v>82.9</c:v>
                </c:pt>
                <c:pt idx="4">
                  <c:v>77.4</c:v>
                </c:pt>
                <c:pt idx="5">
                  <c:v>85</c:v>
                </c:pt>
              </c:numCache>
            </c:numRef>
          </c:val>
        </c:ser>
        <c:dLbls>
          <c:numFmt formatCode="#,##0" sourceLinked="0"/>
          <c:txPr>
            <a:bodyPr/>
            <a:lstStyle/>
            <a:p>
              <a:pPr>
                <a:defRPr b="0" i="0" strike="noStrike" sz="1100" u="none">
                  <a:solidFill>
                    <a:srgbClr val="172033"/>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2E8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majorUnit val="20"/>
      </c:valAx>
      <c:spPr>
        <a:noFill/>
        <a:ln>
          <a:noFill/>
        </a:ln>
        <a:effectLst/>
      </c:spPr>
    </c:plotArea>
    <c:legend>
      <c:legendPos val="b"/>
      <c:overlay val="0"/>
      <c:txPr>
        <a:bodyPr/>
        <a:lstStyle/>
        <a:p>
          <a:pPr>
            <a:defRPr sz="1200">
              <a:solidFill>
                <a:srgbClr val="4A556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everyday examples. None of them throws an error; that is what makes them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not claim a new RL algorithm. The contribution is the system, the evaluation method and the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WebExplor and WebRLED are also our external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v2 arm shares the same structure, so differences between them are the learner's. Each arm follows on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intake. Teal: exploring and detecting. Coral: proving and reporting. Nothing reaches the report without passing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is still useful: it is the only public benchmark for RL web testers, and it shows where our tester is weak (coverage) as well as where it is strong.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Post-hoc analysis; difficulty comes from each fault's manifest, written before any agent 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2 was pre-registered (tag v5-freeze) but informed by round 1. Petclinic has only 20 branches, so it is noisy.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claim is narrow: with these learners, at this scale, learning was not what made the difference. Not 'RL does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Helpline, about 7 minutes, 3 seeded faults found and verified. Keep a finished report open as a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rtlCol="0"/>
          <a:lstStyle>
            <a:lvl1pPr indent="0" marL="0">
              <a:buNone/>
              <a:defRPr lang="en-US" sz="1300" b="1"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rtlCol="0"/>
          <a:lstStyle>
            <a:lvl1pPr indent="0" marL="0">
              <a:buNone/>
              <a:defRPr lang="en-US" sz="1700" dirty="0">
                <a:solidFill>
                  <a:schemeClr val="accent5"/>
                </a:solidFill>
              </a:defRPr>
            </a:lvl1pPr>
          </a:lstStyle>
          <a:p>
            <a:pPr indent="0" marL="0">
              <a:buNone/>
            </a:pPr>
            <a:endParaRPr lang="en-US" sz="1700" dirty="0"/>
          </a:p>
        </p:txBody>
      </p:sp>
      <p:sp>
        <p:nvSpPr>
          <p:cNvPr id="5" name="Text 0"/>
          <p:cNvSpPr/>
          <p:nvPr/>
        </p:nvSpPr>
        <p:spPr>
          <a:xfrm>
            <a:off x="548640" y="6419088"/>
            <a:ext cx="4572000" cy="256032"/>
          </a:xfrm>
          <a:prstGeom prst="rect">
            <a:avLst/>
          </a:prstGeom>
          <a:noFill/>
          <a:ln/>
        </p:spPr>
        <p:txBody>
          <a:bodyPr wrap="square" lIns="0" tIns="0" rIns="0" bIns="0" rtlCol="0" anchor="ctr"/>
          <a:lstStyle/>
          <a:p>
            <a:pPr indent="0" marL="0">
              <a:buNone/>
            </a:pPr>
            <a:r>
              <a:rPr lang="en-US" sz="1000" dirty="0">
                <a:solidFill>
                  <a:schemeClr val="tx2"/>
                </a:solidFill>
              </a:rPr>
              <a:t>Katalyze · Final Review</a:t>
            </a:r>
            <a:endParaRPr lang="en-US" sz="10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6-1.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reach\AppData\Local\Temp\claude\c--Users-reach-OneDrive-Code-files-SEM7-RL-web-tester\7c3024aa-1118-49fd-b386-f99dd0651f57\scratchpad\deck\univA.png">    </p:cNvPr>
          <p:cNvPicPr>
            <a:picLocks noChangeAspect="1"/>
          </p:cNvPicPr>
          <p:nvPr/>
        </p:nvPicPr>
        <p:blipFill>
          <a:blip r:embed="rId1"/>
          <a:stretch>
            <a:fillRect/>
          </a:stretch>
        </p:blipFill>
        <p:spPr>
          <a:xfrm>
            <a:off x="548640" y="457200"/>
            <a:ext cx="2834640" cy="731520"/>
          </a:xfrm>
          <a:prstGeom prst="rect">
            <a:avLst/>
          </a:prstGeom>
        </p:spPr>
      </p:pic>
      <p:sp>
        <p:nvSpPr>
          <p:cNvPr id="3" name="Text 0"/>
          <p:cNvSpPr txBox="1"/>
          <p:nvPr/>
        </p:nvSpPr>
        <p:spPr>
          <a:xfrm>
            <a:off x="548640" y="1298448"/>
            <a:ext cx="5943600" cy="274320"/>
          </a:xfrm>
          <a:prstGeom prst="rect">
            <a:avLst/>
          </a:prstGeom>
          <a:noFill/>
          <a:ln/>
        </p:spPr>
        <p:txBody>
          <a:bodyPr wrap="square" lIns="0" tIns="0" rIns="0" bIns="0" rtlCol="0" anchor="t"/>
          <a:lstStyle/>
          <a:p>
            <a:pPr indent="0" marL="0">
              <a:buNone/>
            </a:pPr>
            <a:r>
              <a:rPr lang="en-US" sz="1100" b="1" spc="100" kern="0" dirty="0">
                <a:solidFill>
                  <a:schemeClr val="tx2"/>
                </a:solidFill>
              </a:rPr>
              <a:t>SCHOOL OF ARTIFICIAL INTELLIGENCE · COIMBATORE</a:t>
            </a:r>
            <a:endParaRPr lang="en-US" sz="1100" dirty="0"/>
          </a:p>
        </p:txBody>
      </p:sp>
      <p:sp>
        <p:nvSpPr>
          <p:cNvPr id="4" name="Text 1"/>
          <p:cNvSpPr txBox="1"/>
          <p:nvPr/>
        </p:nvSpPr>
        <p:spPr>
          <a:xfrm>
            <a:off x="548640" y="1874520"/>
            <a:ext cx="5486400" cy="320040"/>
          </a:xfrm>
          <a:prstGeom prst="rect">
            <a:avLst/>
          </a:prstGeom>
          <a:noFill/>
          <a:ln/>
        </p:spPr>
        <p:txBody>
          <a:bodyPr wrap="square" lIns="0" tIns="0" rIns="0" bIns="0" rtlCol="0" anchor="t"/>
          <a:lstStyle/>
          <a:p>
            <a:pPr indent="0" marL="0">
              <a:buNone/>
            </a:pPr>
            <a:r>
              <a:rPr lang="en-US" sz="1400" b="1" spc="200" kern="0" dirty="0">
                <a:solidFill>
                  <a:schemeClr val="accent2"/>
                </a:solidFill>
              </a:rPr>
              <a:t>FINAL REVIEW</a:t>
            </a:r>
            <a:endParaRPr lang="en-US" sz="1400" dirty="0"/>
          </a:p>
        </p:txBody>
      </p:sp>
      <p:sp>
        <p:nvSpPr>
          <p:cNvPr id="5" name="Text 2"/>
          <p:cNvSpPr txBox="1"/>
          <p:nvPr/>
        </p:nvSpPr>
        <p:spPr>
          <a:xfrm>
            <a:off x="548640" y="2194560"/>
            <a:ext cx="6766560" cy="914400"/>
          </a:xfrm>
          <a:prstGeom prst="rect">
            <a:avLst/>
          </a:prstGeom>
          <a:noFill/>
          <a:ln/>
        </p:spPr>
        <p:txBody>
          <a:bodyPr wrap="square" lIns="0" tIns="0" rIns="0" bIns="0" rtlCol="0" anchor="t"/>
          <a:lstStyle/>
          <a:p>
            <a:pPr indent="0" marL="0">
              <a:buNone/>
            </a:pPr>
            <a:r>
              <a:rPr lang="en-US" sz="6000" b="1" dirty="0">
                <a:solidFill>
                  <a:schemeClr val="tx1"/>
                </a:solidFill>
              </a:rPr>
              <a:t>Katalyze</a:t>
            </a:r>
            <a:endParaRPr lang="en-US" sz="6000" dirty="0"/>
          </a:p>
        </p:txBody>
      </p:sp>
      <p:sp>
        <p:nvSpPr>
          <p:cNvPr id="6" name="Text 3"/>
          <p:cNvSpPr txBox="1"/>
          <p:nvPr/>
        </p:nvSpPr>
        <p:spPr>
          <a:xfrm>
            <a:off x="548640" y="3154680"/>
            <a:ext cx="6766560" cy="822960"/>
          </a:xfrm>
          <a:prstGeom prst="rect">
            <a:avLst/>
          </a:prstGeom>
          <a:noFill/>
          <a:ln/>
        </p:spPr>
        <p:txBody>
          <a:bodyPr wrap="square" lIns="0" tIns="0" rIns="0" bIns="0" rtlCol="0" anchor="t"/>
          <a:lstStyle/>
          <a:p>
            <a:pPr indent="0" marL="0">
              <a:buNone/>
            </a:pPr>
            <a:r>
              <a:rPr lang="en-US" sz="2200" dirty="0">
                <a:solidFill>
                  <a:schemeClr val="accent1"/>
                </a:solidFill>
              </a:rPr>
              <a:t>An Autonomous Testing Agent for Functional Bugs in Web Applications</a:t>
            </a:r>
            <a:endParaRPr lang="en-US" sz="2200" dirty="0"/>
          </a:p>
        </p:txBody>
      </p:sp>
      <p:sp>
        <p:nvSpPr>
          <p:cNvPr id="7" name="Text 4"/>
          <p:cNvSpPr txBox="1"/>
          <p:nvPr/>
        </p:nvSpPr>
        <p:spPr>
          <a:xfrm>
            <a:off x="548640" y="4206240"/>
            <a:ext cx="5029200" cy="128016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Arunoday A K  </a:t>
            </a:r>
            <a:pPr indent="0" marL="0">
              <a:spcAft>
                <a:spcPts val="300"/>
              </a:spcAft>
              <a:buNone/>
            </a:pPr>
            <a:r>
              <a:rPr lang="en-US" sz="1500" dirty="0">
                <a:solidFill>
                  <a:schemeClr val="tx2"/>
                </a:solidFill>
              </a:rPr>
              <a:t>CB.SC.U4AIE23106</a:t>
            </a:r>
            <a:endParaRPr lang="en-US" sz="1500" dirty="0"/>
          </a:p>
          <a:p>
            <a:pPr indent="0" marL="0">
              <a:spcAft>
                <a:spcPts val="300"/>
              </a:spcAft>
              <a:buNone/>
            </a:pPr>
            <a:r>
              <a:rPr lang="en-US" sz="1500" b="1" dirty="0">
                <a:solidFill>
                  <a:schemeClr val="tx1"/>
                </a:solidFill>
              </a:rPr>
              <a:t>Achutharaj R  </a:t>
            </a:r>
            <a:pPr indent="0" marL="0">
              <a:spcAft>
                <a:spcPts val="300"/>
              </a:spcAft>
              <a:buNone/>
            </a:pPr>
            <a:r>
              <a:rPr lang="en-US" sz="1500" dirty="0">
                <a:solidFill>
                  <a:schemeClr val="tx2"/>
                </a:solidFill>
              </a:rPr>
              <a:t>CB.SC.U4AIE23108</a:t>
            </a:r>
            <a:endParaRPr lang="en-US" sz="1500" dirty="0"/>
          </a:p>
          <a:p>
            <a:pPr indent="0" marL="0">
              <a:spcAft>
                <a:spcPts val="300"/>
              </a:spcAft>
              <a:buNone/>
            </a:pPr>
            <a:r>
              <a:rPr lang="en-US" sz="1500" b="1" dirty="0">
                <a:solidFill>
                  <a:schemeClr val="tx1"/>
                </a:solidFill>
              </a:rPr>
              <a:t>Lokesh D  </a:t>
            </a:r>
            <a:pPr indent="0" marL="0">
              <a:spcAft>
                <a:spcPts val="300"/>
              </a:spcAft>
              <a:buNone/>
            </a:pPr>
            <a:r>
              <a:rPr lang="en-US" sz="1500" dirty="0">
                <a:solidFill>
                  <a:schemeClr val="tx2"/>
                </a:solidFill>
              </a:rPr>
              <a:t>CB.SC.U4AIE23123</a:t>
            </a:r>
            <a:endParaRPr lang="en-US" sz="1500" dirty="0"/>
          </a:p>
          <a:p>
            <a:pPr indent="0" marL="0">
              <a:spcAft>
                <a:spcPts val="300"/>
              </a:spcAft>
              <a:buNone/>
            </a:pPr>
            <a:r>
              <a:rPr lang="en-US" sz="1500" b="1" dirty="0">
                <a:solidFill>
                  <a:schemeClr val="tx1"/>
                </a:solidFill>
              </a:rPr>
              <a:t>Abhay Rohit M  </a:t>
            </a:r>
            <a:pPr indent="0" marL="0">
              <a:spcAft>
                <a:spcPts val="300"/>
              </a:spcAft>
              <a:buNone/>
            </a:pPr>
            <a:r>
              <a:rPr lang="en-US" sz="1500" dirty="0">
                <a:solidFill>
                  <a:schemeClr val="tx2"/>
                </a:solidFill>
              </a:rPr>
              <a:t>CB.SC.U4AIE23173</a:t>
            </a:r>
            <a:endParaRPr lang="en-US" sz="1500" dirty="0"/>
          </a:p>
        </p:txBody>
      </p:sp>
      <p:sp>
        <p:nvSpPr>
          <p:cNvPr id="8" name="Text 5"/>
          <p:cNvSpPr txBox="1"/>
          <p:nvPr/>
        </p:nvSpPr>
        <p:spPr>
          <a:xfrm>
            <a:off x="548640" y="5715000"/>
            <a:ext cx="6949440" cy="365760"/>
          </a:xfrm>
          <a:prstGeom prst="rect">
            <a:avLst/>
          </a:prstGeom>
          <a:noFill/>
          <a:ln/>
        </p:spPr>
        <p:txBody>
          <a:bodyPr wrap="square" lIns="0" tIns="0" rIns="0" bIns="0" rtlCol="0" anchor="t"/>
          <a:lstStyle/>
          <a:p>
            <a:pPr indent="0" marL="0">
              <a:buNone/>
            </a:pPr>
            <a:r>
              <a:rPr lang="en-US" sz="1400" b="1" dirty="0">
                <a:solidFill>
                  <a:schemeClr val="accent2"/>
                </a:solidFill>
              </a:rPr>
              <a:t>Supervisor  </a:t>
            </a:r>
            <a:pPr indent="0" marL="0">
              <a:buNone/>
            </a:pPr>
            <a:r>
              <a:rPr lang="en-US" sz="1400" dirty="0">
                <a:solidFill>
                  <a:schemeClr val="tx1"/>
                </a:solidFill>
              </a:rPr>
              <a:t>Dr. Palmani Duraisamy, Assistant Professor (Sr. Gd.), CEN</a:t>
            </a:r>
            <a:endParaRPr lang="en-US" sz="1400" dirty="0"/>
          </a:p>
        </p:txBody>
      </p:sp>
      <p:sp>
        <p:nvSpPr>
          <p:cNvPr id="9" name="Shape 6"/>
          <p:cNvSpPr/>
          <p:nvPr/>
        </p:nvSpPr>
        <p:spPr>
          <a:xfrm>
            <a:off x="8001000" y="0"/>
            <a:ext cx="4190695" cy="6858000"/>
          </a:xfrm>
          <a:prstGeom prst="rect">
            <a:avLst/>
          </a:prstGeom>
          <a:solidFill>
            <a:schemeClr val="tx1"/>
          </a:solidFill>
          <a:ln w="12700">
            <a:solidFill>
              <a:schemeClr val="tx1"/>
            </a:solidFill>
            <a:prstDash val="solid"/>
          </a:ln>
        </p:spPr>
      </p:sp>
      <p:sp>
        <p:nvSpPr>
          <p:cNvPr id="10" name="Shape 7"/>
          <p:cNvSpPr/>
          <p:nvPr/>
        </p:nvSpPr>
        <p:spPr>
          <a:xfrm>
            <a:off x="8503920" y="1234440"/>
            <a:ext cx="868680" cy="868680"/>
          </a:xfrm>
          <a:prstGeom prst="ellipse">
            <a:avLst/>
          </a:prstGeom>
          <a:solidFill>
            <a:schemeClr val="accent1"/>
          </a:solidFill>
          <a:ln w="1270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8732520" y="1463040"/>
            <a:ext cx="411480" cy="411480"/>
          </a:xfrm>
          <a:prstGeom prst="rect">
            <a:avLst/>
          </a:prstGeom>
        </p:spPr>
      </p:pic>
      <p:sp>
        <p:nvSpPr>
          <p:cNvPr id="12" name="Text 8"/>
          <p:cNvSpPr txBox="1"/>
          <p:nvPr/>
        </p:nvSpPr>
        <p:spPr>
          <a:xfrm>
            <a:off x="9555480" y="1252728"/>
            <a:ext cx="2377440" cy="384048"/>
          </a:xfrm>
          <a:prstGeom prst="rect">
            <a:avLst/>
          </a:prstGeom>
          <a:noFill/>
          <a:ln/>
        </p:spPr>
        <p:txBody>
          <a:bodyPr wrap="square" lIns="0" tIns="0" rIns="0" bIns="0" rtlCol="0" anchor="t"/>
          <a:lstStyle/>
          <a:p>
            <a:pPr indent="0" marL="0">
              <a:buNone/>
            </a:pPr>
            <a:r>
              <a:rPr lang="en-US" sz="2200" b="1" dirty="0">
                <a:solidFill>
                  <a:schemeClr val="bg1"/>
                </a:solidFill>
              </a:rPr>
              <a:t>Explore</a:t>
            </a:r>
            <a:endParaRPr lang="en-US" sz="2200" dirty="0"/>
          </a:p>
        </p:txBody>
      </p:sp>
      <p:sp>
        <p:nvSpPr>
          <p:cNvPr id="13" name="Text 9"/>
          <p:cNvSpPr txBox="1"/>
          <p:nvPr/>
        </p:nvSpPr>
        <p:spPr>
          <a:xfrm>
            <a:off x="9555480" y="1645920"/>
            <a:ext cx="2377440" cy="640080"/>
          </a:xfrm>
          <a:prstGeom prst="rect">
            <a:avLst/>
          </a:prstGeom>
          <a:noFill/>
          <a:ln/>
        </p:spPr>
        <p:txBody>
          <a:bodyPr wrap="square" lIns="0" tIns="0" rIns="0" bIns="0" rtlCol="0" anchor="t"/>
          <a:lstStyle/>
          <a:p>
            <a:pPr indent="0" marL="0">
              <a:buNone/>
            </a:pPr>
            <a:r>
              <a:rPr lang="en-US" sz="1300" dirty="0">
                <a:solidFill>
                  <a:schemeClr val="accent6"/>
                </a:solidFill>
              </a:rPr>
              <a:t>drives a real browser through the app</a:t>
            </a:r>
            <a:endParaRPr lang="en-US" sz="1300" dirty="0"/>
          </a:p>
        </p:txBody>
      </p:sp>
      <p:sp>
        <p:nvSpPr>
          <p:cNvPr id="14" name="Shape 10"/>
          <p:cNvSpPr/>
          <p:nvPr/>
        </p:nvSpPr>
        <p:spPr>
          <a:xfrm>
            <a:off x="8503920" y="2834640"/>
            <a:ext cx="868680" cy="868680"/>
          </a:xfrm>
          <a:prstGeom prst="ellipse">
            <a:avLst/>
          </a:prstGeom>
          <a:solidFill>
            <a:schemeClr val="accent5"/>
          </a:solidFill>
          <a:ln w="12700">
            <a:solidFill>
              <a:schemeClr val="accent5"/>
            </a:solidFill>
            <a:prstDash val="solid"/>
          </a:ln>
        </p:spPr>
      </p:sp>
      <p:pic>
        <p:nvPicPr>
          <p:cNvPr id="15" name="Image 2" descr="preencoded.png">    </p:cNvPr>
          <p:cNvPicPr>
            <a:picLocks noChangeAspect="1"/>
          </p:cNvPicPr>
          <p:nvPr/>
        </p:nvPicPr>
        <p:blipFill>
          <a:blip r:embed="rId3"/>
          <a:stretch>
            <a:fillRect/>
          </a:stretch>
        </p:blipFill>
        <p:spPr>
          <a:xfrm>
            <a:off x="8732520" y="3063240"/>
            <a:ext cx="411480" cy="411480"/>
          </a:xfrm>
          <a:prstGeom prst="rect">
            <a:avLst/>
          </a:prstGeom>
        </p:spPr>
      </p:pic>
      <p:sp>
        <p:nvSpPr>
          <p:cNvPr id="16" name="Text 11"/>
          <p:cNvSpPr txBox="1"/>
          <p:nvPr/>
        </p:nvSpPr>
        <p:spPr>
          <a:xfrm>
            <a:off x="9555480" y="2852928"/>
            <a:ext cx="2377440" cy="384048"/>
          </a:xfrm>
          <a:prstGeom prst="rect">
            <a:avLst/>
          </a:prstGeom>
          <a:noFill/>
          <a:ln/>
        </p:spPr>
        <p:txBody>
          <a:bodyPr wrap="square" lIns="0" tIns="0" rIns="0" bIns="0" rtlCol="0" anchor="t"/>
          <a:lstStyle/>
          <a:p>
            <a:pPr indent="0" marL="0">
              <a:buNone/>
            </a:pPr>
            <a:r>
              <a:rPr lang="en-US" sz="2200" b="1" dirty="0">
                <a:solidFill>
                  <a:schemeClr val="bg1"/>
                </a:solidFill>
              </a:rPr>
              <a:t>Detect</a:t>
            </a:r>
            <a:endParaRPr lang="en-US" sz="2200" dirty="0"/>
          </a:p>
        </p:txBody>
      </p:sp>
      <p:sp>
        <p:nvSpPr>
          <p:cNvPr id="17" name="Text 12"/>
          <p:cNvSpPr txBox="1"/>
          <p:nvPr/>
        </p:nvSpPr>
        <p:spPr>
          <a:xfrm>
            <a:off x="9555480" y="3246120"/>
            <a:ext cx="2377440" cy="640080"/>
          </a:xfrm>
          <a:prstGeom prst="rect">
            <a:avLst/>
          </a:prstGeom>
          <a:noFill/>
          <a:ln/>
        </p:spPr>
        <p:txBody>
          <a:bodyPr wrap="square" lIns="0" tIns="0" rIns="0" bIns="0" rtlCol="0" anchor="t"/>
          <a:lstStyle/>
          <a:p>
            <a:pPr indent="0" marL="0">
              <a:buNone/>
            </a:pPr>
            <a:r>
              <a:rPr lang="en-US" sz="1300" dirty="0">
                <a:solidFill>
                  <a:schemeClr val="accent6"/>
                </a:solidFill>
              </a:rPr>
              <a:t>notices behaviour that breaks a requirement</a:t>
            </a:r>
            <a:endParaRPr lang="en-US" sz="1300" dirty="0"/>
          </a:p>
        </p:txBody>
      </p:sp>
      <p:sp>
        <p:nvSpPr>
          <p:cNvPr id="18" name="Shape 13"/>
          <p:cNvSpPr/>
          <p:nvPr/>
        </p:nvSpPr>
        <p:spPr>
          <a:xfrm>
            <a:off x="8503920" y="4434840"/>
            <a:ext cx="868680" cy="868680"/>
          </a:xfrm>
          <a:prstGeom prst="ellipse">
            <a:avLst/>
          </a:prstGeom>
          <a:solidFill>
            <a:schemeClr val="accent2"/>
          </a:solidFill>
          <a:ln w="12700">
            <a:solidFill>
              <a:schemeClr val="accent2"/>
            </a:solidFill>
            <a:prstDash val="solid"/>
          </a:ln>
        </p:spPr>
      </p:sp>
      <p:pic>
        <p:nvPicPr>
          <p:cNvPr id="19" name="Image 3" descr="preencoded.png">    </p:cNvPr>
          <p:cNvPicPr>
            <a:picLocks noChangeAspect="1"/>
          </p:cNvPicPr>
          <p:nvPr/>
        </p:nvPicPr>
        <p:blipFill>
          <a:blip r:embed="rId4"/>
          <a:stretch>
            <a:fillRect/>
          </a:stretch>
        </p:blipFill>
        <p:spPr>
          <a:xfrm>
            <a:off x="8732520" y="4663440"/>
            <a:ext cx="411480" cy="411480"/>
          </a:xfrm>
          <a:prstGeom prst="rect">
            <a:avLst/>
          </a:prstGeom>
        </p:spPr>
      </p:pic>
      <p:sp>
        <p:nvSpPr>
          <p:cNvPr id="20" name="Text 14"/>
          <p:cNvSpPr txBox="1"/>
          <p:nvPr/>
        </p:nvSpPr>
        <p:spPr>
          <a:xfrm>
            <a:off x="9555480" y="4453128"/>
            <a:ext cx="2377440" cy="384048"/>
          </a:xfrm>
          <a:prstGeom prst="rect">
            <a:avLst/>
          </a:prstGeom>
          <a:noFill/>
          <a:ln/>
        </p:spPr>
        <p:txBody>
          <a:bodyPr wrap="square" lIns="0" tIns="0" rIns="0" bIns="0" rtlCol="0" anchor="t"/>
          <a:lstStyle/>
          <a:p>
            <a:pPr indent="0" marL="0">
              <a:buNone/>
            </a:pPr>
            <a:r>
              <a:rPr lang="en-US" sz="2200" b="1" dirty="0">
                <a:solidFill>
                  <a:schemeClr val="bg1"/>
                </a:solidFill>
              </a:rPr>
              <a:t>Verify</a:t>
            </a:r>
            <a:endParaRPr lang="en-US" sz="2200" dirty="0"/>
          </a:p>
        </p:txBody>
      </p:sp>
      <p:sp>
        <p:nvSpPr>
          <p:cNvPr id="21" name="Text 15"/>
          <p:cNvSpPr txBox="1"/>
          <p:nvPr/>
        </p:nvSpPr>
        <p:spPr>
          <a:xfrm>
            <a:off x="9555480" y="4846320"/>
            <a:ext cx="2377440" cy="640080"/>
          </a:xfrm>
          <a:prstGeom prst="rect">
            <a:avLst/>
          </a:prstGeom>
          <a:noFill/>
          <a:ln/>
        </p:spPr>
        <p:txBody>
          <a:bodyPr wrap="square" lIns="0" tIns="0" rIns="0" bIns="0" rtlCol="0" anchor="t"/>
          <a:lstStyle/>
          <a:p>
            <a:pPr indent="0" marL="0">
              <a:buNone/>
            </a:pPr>
            <a:r>
              <a:rPr lang="en-US" sz="1300" dirty="0">
                <a:solidFill>
                  <a:schemeClr val="accent6"/>
                </a:solidFill>
              </a:rPr>
              <a:t>replays it, checks a control build, minimises it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01 · Introduction</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Introduction</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Why functional bugs in web applications are hard to find</a:t>
            </a:r>
            <a:endParaRPr lang="en-US" sz="1700" dirty="0"/>
          </a:p>
        </p:txBody>
      </p:sp>
      <p:sp>
        <p:nvSpPr>
          <p:cNvPr id="5" name="Text 3"/>
          <p:cNvSpPr txBox="1"/>
          <p:nvPr/>
        </p:nvSpPr>
        <p:spPr>
          <a:xfrm>
            <a:off x="548640" y="1828800"/>
            <a:ext cx="11064240" cy="2651760"/>
          </a:xfrm>
          <a:prstGeom prst="rect">
            <a:avLst/>
          </a:prstGeom>
          <a:noFill/>
          <a:ln/>
        </p:spPr>
        <p:txBody>
          <a:bodyPr wrap="square" lIns="0" tIns="0" rIns="0" bIns="0" rtlCol="0" anchor="t"/>
          <a:lstStyle/>
          <a:p>
            <a:pPr indent="0" marL="0">
              <a:lnSpc>
                <a:spcPct val="112000"/>
              </a:lnSpc>
              <a:buNone/>
            </a:pPr>
            <a:r>
              <a:rPr lang="en-US" sz="1800" dirty="0">
                <a:solidFill>
                  <a:schemeClr val="tx1"/>
                </a:solidFill>
              </a:rPr>
              <a:t>Web applications now run much of everyday life: shopping, banking, booking and customer support. Their most damaging defects are often not crashes but functional bugs. A basket total ignores a changed quantity, a form accepts an empty address on one path, an edit quietly reverts after a reload. These bugs hide behind long sequences of interactions and produce no error message, so writing a scripted test for every path is expensive and always incomplete. Automated exploratory testers drive a real browser instead, and reinforcement learning (RL) has become the leading way to decide where they go. Katalyze is our autonomous tester for functional bugs: it explores a web application, detects behaviour that breaks a requirement, and reports a bug only after it has verified it.</a:t>
            </a:r>
            <a:endParaRPr lang="en-US" sz="1800" dirty="0"/>
          </a:p>
        </p:txBody>
      </p:sp>
      <p:sp>
        <p:nvSpPr>
          <p:cNvPr id="6" name="bug0"/>
          <p:cNvSpPr/>
          <p:nvPr/>
        </p:nvSpPr>
        <p:spPr>
          <a:xfrm>
            <a:off x="548640" y="4754880"/>
            <a:ext cx="3474720" cy="1371600"/>
          </a:xfrm>
          <a:prstGeom prst="roundRect">
            <a:avLst>
              <a:gd name="adj" fmla="val 6667"/>
            </a:avLst>
          </a:prstGeom>
          <a:solidFill>
            <a:schemeClr val="bg2"/>
          </a:solidFill>
          <a:ln w="12700">
            <a:solidFill>
              <a:schemeClr val="bg2"/>
            </a:solidFill>
            <a:prstDash val="solid"/>
          </a:ln>
        </p:spPr>
      </p:sp>
      <p:sp>
        <p:nvSpPr>
          <p:cNvPr id="7" name="Shape 5"/>
          <p:cNvSpPr/>
          <p:nvPr/>
        </p:nvSpPr>
        <p:spPr>
          <a:xfrm>
            <a:off x="777240" y="5029200"/>
            <a:ext cx="777240" cy="777240"/>
          </a:xfrm>
          <a:prstGeom prst="ellipse">
            <a:avLst/>
          </a:prstGeom>
          <a:solidFill>
            <a:schemeClr val="bg1"/>
          </a:solidFill>
          <a:ln w="12700">
            <a:solidFill>
              <a:schemeClr val="accent6"/>
            </a:solidFill>
            <a:prstDash val="solid"/>
          </a:ln>
        </p:spPr>
      </p:sp>
      <p:pic>
        <p:nvPicPr>
          <p:cNvPr id="8" name="Image 0" descr="preencoded.png">    </p:cNvPr>
          <p:cNvPicPr>
            <a:picLocks noChangeAspect="1"/>
          </p:cNvPicPr>
          <p:nvPr/>
        </p:nvPicPr>
        <p:blipFill>
          <a:blip r:embed="rId1"/>
          <a:stretch>
            <a:fillRect/>
          </a:stretch>
        </p:blipFill>
        <p:spPr>
          <a:xfrm>
            <a:off x="978408" y="5230368"/>
            <a:ext cx="365760" cy="365760"/>
          </a:xfrm>
          <a:prstGeom prst="rect">
            <a:avLst/>
          </a:prstGeom>
        </p:spPr>
      </p:pic>
      <p:sp>
        <p:nvSpPr>
          <p:cNvPr id="9" name="Text 6"/>
          <p:cNvSpPr txBox="1"/>
          <p:nvPr/>
        </p:nvSpPr>
        <p:spPr>
          <a:xfrm>
            <a:off x="1737360" y="4983480"/>
            <a:ext cx="2194560" cy="365760"/>
          </a:xfrm>
          <a:prstGeom prst="rect">
            <a:avLst/>
          </a:prstGeom>
          <a:noFill/>
          <a:ln/>
        </p:spPr>
        <p:txBody>
          <a:bodyPr wrap="square" lIns="0" tIns="0" rIns="0" bIns="0" rtlCol="0" anchor="t"/>
          <a:lstStyle/>
          <a:p>
            <a:pPr indent="0" marL="0">
              <a:buNone/>
            </a:pPr>
            <a:r>
              <a:rPr lang="en-US" sz="1700" b="1" dirty="0">
                <a:solidFill>
                  <a:schemeClr val="tx1"/>
                </a:solidFill>
              </a:rPr>
              <a:t>Wrong total</a:t>
            </a:r>
            <a:endParaRPr lang="en-US" sz="1700" dirty="0"/>
          </a:p>
        </p:txBody>
      </p:sp>
      <p:sp>
        <p:nvSpPr>
          <p:cNvPr id="10" name="Text 7"/>
          <p:cNvSpPr txBox="1"/>
          <p:nvPr/>
        </p:nvSpPr>
        <p:spPr>
          <a:xfrm>
            <a:off x="1737360" y="5349240"/>
            <a:ext cx="2194560" cy="640080"/>
          </a:xfrm>
          <a:prstGeom prst="rect">
            <a:avLst/>
          </a:prstGeom>
          <a:noFill/>
          <a:ln/>
        </p:spPr>
        <p:txBody>
          <a:bodyPr wrap="square" lIns="0" tIns="0" rIns="0" bIns="0" rtlCol="0" anchor="t"/>
          <a:lstStyle/>
          <a:p>
            <a:pPr indent="0" marL="0">
              <a:buNone/>
            </a:pPr>
            <a:r>
              <a:rPr lang="en-US" sz="1300" dirty="0">
                <a:solidFill>
                  <a:schemeClr val="tx2"/>
                </a:solidFill>
              </a:rPr>
              <a:t>the page renders, the number is wrong</a:t>
            </a:r>
            <a:endParaRPr lang="en-US" sz="1300" dirty="0"/>
          </a:p>
        </p:txBody>
      </p:sp>
      <p:sp>
        <p:nvSpPr>
          <p:cNvPr id="11" name="bug1"/>
          <p:cNvSpPr/>
          <p:nvPr/>
        </p:nvSpPr>
        <p:spPr>
          <a:xfrm>
            <a:off x="4297680" y="4754880"/>
            <a:ext cx="3474720" cy="1371600"/>
          </a:xfrm>
          <a:prstGeom prst="roundRect">
            <a:avLst>
              <a:gd name="adj" fmla="val 6667"/>
            </a:avLst>
          </a:prstGeom>
          <a:solidFill>
            <a:schemeClr val="bg2"/>
          </a:solidFill>
          <a:ln w="12700">
            <a:solidFill>
              <a:schemeClr val="bg2"/>
            </a:solidFill>
            <a:prstDash val="solid"/>
          </a:ln>
        </p:spPr>
      </p:sp>
      <p:sp>
        <p:nvSpPr>
          <p:cNvPr id="12" name="Shape 9"/>
          <p:cNvSpPr/>
          <p:nvPr/>
        </p:nvSpPr>
        <p:spPr>
          <a:xfrm>
            <a:off x="4526280" y="5029200"/>
            <a:ext cx="777240" cy="777240"/>
          </a:xfrm>
          <a:prstGeom prst="ellipse">
            <a:avLst/>
          </a:prstGeom>
          <a:solidFill>
            <a:schemeClr val="bg1"/>
          </a:solidFill>
          <a:ln w="12700">
            <a:solidFill>
              <a:schemeClr val="accent6"/>
            </a:solidFill>
            <a:prstDash val="solid"/>
          </a:ln>
        </p:spPr>
      </p:sp>
      <p:pic>
        <p:nvPicPr>
          <p:cNvPr id="13" name="Image 1" descr="preencoded.png">    </p:cNvPr>
          <p:cNvPicPr>
            <a:picLocks noChangeAspect="1"/>
          </p:cNvPicPr>
          <p:nvPr/>
        </p:nvPicPr>
        <p:blipFill>
          <a:blip r:embed="rId2"/>
          <a:stretch>
            <a:fillRect/>
          </a:stretch>
        </p:blipFill>
        <p:spPr>
          <a:xfrm>
            <a:off x="4727448" y="5230368"/>
            <a:ext cx="365760" cy="365760"/>
          </a:xfrm>
          <a:prstGeom prst="rect">
            <a:avLst/>
          </a:prstGeom>
        </p:spPr>
      </p:pic>
      <p:sp>
        <p:nvSpPr>
          <p:cNvPr id="14" name="Text 10"/>
          <p:cNvSpPr txBox="1"/>
          <p:nvPr/>
        </p:nvSpPr>
        <p:spPr>
          <a:xfrm>
            <a:off x="5486400" y="4983480"/>
            <a:ext cx="2194560" cy="365760"/>
          </a:xfrm>
          <a:prstGeom prst="rect">
            <a:avLst/>
          </a:prstGeom>
          <a:noFill/>
          <a:ln/>
        </p:spPr>
        <p:txBody>
          <a:bodyPr wrap="square" lIns="0" tIns="0" rIns="0" bIns="0" rtlCol="0" anchor="t"/>
          <a:lstStyle/>
          <a:p>
            <a:pPr indent="0" marL="0">
              <a:buNone/>
            </a:pPr>
            <a:r>
              <a:rPr lang="en-US" sz="1700" b="1" dirty="0">
                <a:solidFill>
                  <a:schemeClr val="tx1"/>
                </a:solidFill>
              </a:rPr>
              <a:t>Validation bypass</a:t>
            </a:r>
            <a:endParaRPr lang="en-US" sz="1700" dirty="0"/>
          </a:p>
        </p:txBody>
      </p:sp>
      <p:sp>
        <p:nvSpPr>
          <p:cNvPr id="15" name="Text 11"/>
          <p:cNvSpPr txBox="1"/>
          <p:nvPr/>
        </p:nvSpPr>
        <p:spPr>
          <a:xfrm>
            <a:off x="5486400" y="5349240"/>
            <a:ext cx="2194560" cy="640080"/>
          </a:xfrm>
          <a:prstGeom prst="rect">
            <a:avLst/>
          </a:prstGeom>
          <a:noFill/>
          <a:ln/>
        </p:spPr>
        <p:txBody>
          <a:bodyPr wrap="square" lIns="0" tIns="0" rIns="0" bIns="0" rtlCol="0" anchor="t"/>
          <a:lstStyle/>
          <a:p>
            <a:pPr indent="0" marL="0">
              <a:buNone/>
            </a:pPr>
            <a:r>
              <a:rPr lang="en-US" sz="1300" dirty="0">
                <a:solidFill>
                  <a:schemeClr val="tx2"/>
                </a:solidFill>
              </a:rPr>
              <a:t>invalid input accepted on one path</a:t>
            </a:r>
            <a:endParaRPr lang="en-US" sz="1300" dirty="0"/>
          </a:p>
        </p:txBody>
      </p:sp>
      <p:sp>
        <p:nvSpPr>
          <p:cNvPr id="16" name="bug2"/>
          <p:cNvSpPr/>
          <p:nvPr/>
        </p:nvSpPr>
        <p:spPr>
          <a:xfrm>
            <a:off x="8046720" y="4754880"/>
            <a:ext cx="3474720" cy="1371600"/>
          </a:xfrm>
          <a:prstGeom prst="roundRect">
            <a:avLst>
              <a:gd name="adj" fmla="val 6667"/>
            </a:avLst>
          </a:prstGeom>
          <a:solidFill>
            <a:schemeClr val="bg2"/>
          </a:solidFill>
          <a:ln w="12700">
            <a:solidFill>
              <a:schemeClr val="bg2"/>
            </a:solidFill>
            <a:prstDash val="solid"/>
          </a:ln>
        </p:spPr>
      </p:sp>
      <p:sp>
        <p:nvSpPr>
          <p:cNvPr id="17" name="Shape 13"/>
          <p:cNvSpPr/>
          <p:nvPr/>
        </p:nvSpPr>
        <p:spPr>
          <a:xfrm>
            <a:off x="8275320" y="5029200"/>
            <a:ext cx="777240" cy="777240"/>
          </a:xfrm>
          <a:prstGeom prst="ellipse">
            <a:avLst/>
          </a:prstGeom>
          <a:solidFill>
            <a:schemeClr val="bg1"/>
          </a:solidFill>
          <a:ln w="12700">
            <a:solidFill>
              <a:schemeClr val="accent6"/>
            </a:solidFill>
            <a:prstDash val="solid"/>
          </a:ln>
        </p:spPr>
      </p:sp>
      <p:pic>
        <p:nvPicPr>
          <p:cNvPr id="18" name="Image 2" descr="preencoded.png">    </p:cNvPr>
          <p:cNvPicPr>
            <a:picLocks noChangeAspect="1"/>
          </p:cNvPicPr>
          <p:nvPr/>
        </p:nvPicPr>
        <p:blipFill>
          <a:blip r:embed="rId3"/>
          <a:stretch>
            <a:fillRect/>
          </a:stretch>
        </p:blipFill>
        <p:spPr>
          <a:xfrm>
            <a:off x="8476488" y="5230368"/>
            <a:ext cx="365760" cy="365760"/>
          </a:xfrm>
          <a:prstGeom prst="rect">
            <a:avLst/>
          </a:prstGeom>
        </p:spPr>
      </p:pic>
      <p:sp>
        <p:nvSpPr>
          <p:cNvPr id="19" name="Text 14"/>
          <p:cNvSpPr txBox="1"/>
          <p:nvPr/>
        </p:nvSpPr>
        <p:spPr>
          <a:xfrm>
            <a:off x="9235440" y="4983480"/>
            <a:ext cx="2194560" cy="365760"/>
          </a:xfrm>
          <a:prstGeom prst="rect">
            <a:avLst/>
          </a:prstGeom>
          <a:noFill/>
          <a:ln/>
        </p:spPr>
        <p:txBody>
          <a:bodyPr wrap="square" lIns="0" tIns="0" rIns="0" bIns="0" rtlCol="0" anchor="t"/>
          <a:lstStyle/>
          <a:p>
            <a:pPr indent="0" marL="0">
              <a:buNone/>
            </a:pPr>
            <a:r>
              <a:rPr lang="en-US" sz="1700" b="1" dirty="0">
                <a:solidFill>
                  <a:schemeClr val="tx1"/>
                </a:solidFill>
              </a:rPr>
              <a:t>Lost data</a:t>
            </a:r>
            <a:endParaRPr lang="en-US" sz="1700" dirty="0"/>
          </a:p>
        </p:txBody>
      </p:sp>
      <p:sp>
        <p:nvSpPr>
          <p:cNvPr id="20" name="Text 15"/>
          <p:cNvSpPr txBox="1"/>
          <p:nvPr/>
        </p:nvSpPr>
        <p:spPr>
          <a:xfrm>
            <a:off x="9235440" y="5349240"/>
            <a:ext cx="2194560" cy="640080"/>
          </a:xfrm>
          <a:prstGeom prst="rect">
            <a:avLst/>
          </a:prstGeom>
          <a:noFill/>
          <a:ln/>
        </p:spPr>
        <p:txBody>
          <a:bodyPr wrap="square" lIns="0" tIns="0" rIns="0" bIns="0" rtlCol="0" anchor="t"/>
          <a:lstStyle/>
          <a:p>
            <a:pPr indent="0" marL="0">
              <a:buNone/>
            </a:pPr>
            <a:r>
              <a:rPr lang="en-US" sz="1300" dirty="0">
                <a:solidFill>
                  <a:schemeClr val="tx2"/>
                </a:solidFill>
              </a:rPr>
              <a:t>a saved edit reverts after reload</a:t>
            </a:r>
            <a:endParaRPr lang="en-US" sz="13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02 · Problem statement</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Problem Statement</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What published RL testers miss, and the question this project asks</a:t>
            </a:r>
            <a:endParaRPr lang="en-US" sz="1700" dirty="0"/>
          </a:p>
        </p:txBody>
      </p:sp>
      <p:sp>
        <p:nvSpPr>
          <p:cNvPr id="5" name="Text 3"/>
          <p:cNvSpPr txBox="1"/>
          <p:nvPr/>
        </p:nvSpPr>
        <p:spPr>
          <a:xfrm>
            <a:off x="548640" y="1828800"/>
            <a:ext cx="11064240" cy="2697480"/>
          </a:xfrm>
          <a:prstGeom prst="rect">
            <a:avLst/>
          </a:prstGeom>
          <a:noFill/>
          <a:ln/>
        </p:spPr>
        <p:txBody>
          <a:bodyPr wrap="square" lIns="0" tIns="0" rIns="0" bIns="0" rtlCol="0" anchor="t"/>
          <a:lstStyle/>
          <a:p>
            <a:pPr indent="0" marL="0">
              <a:lnSpc>
                <a:spcPct val="112000"/>
              </a:lnSpc>
              <a:buNone/>
            </a:pPr>
            <a:r>
              <a:rPr lang="en-US" sz="1800" dirty="0">
                <a:solidFill>
                  <a:schemeClr val="tx1"/>
                </a:solidFill>
              </a:rPr>
              <a:t>Published RL web testers such as WebExplor and WebRLED reward curiosity and count any error in the browser console as a failure. This has two consequences. They cannot see silent functional bugs, which render without any error, and they never check that a reported failure is reproducible or caused by a real fault. It also remains unclear whether their learning is what drives their results, or the exploration structure and the set of actions around it. This project builds an autonomous tester that verifies every bug it reports, and uses it to measure how much exploration structure, lightweight online learning and reliable verification each contribute, under pre-registration, on held-out applications and on the published benchmark.</a:t>
            </a:r>
            <a:endParaRPr lang="en-US" sz="1800" dirty="0"/>
          </a:p>
        </p:txBody>
      </p:sp>
      <p:sp>
        <p:nvSpPr>
          <p:cNvPr id="6" name="question"/>
          <p:cNvSpPr/>
          <p:nvPr/>
        </p:nvSpPr>
        <p:spPr>
          <a:xfrm>
            <a:off x="548640" y="4754880"/>
            <a:ext cx="11064240" cy="1371600"/>
          </a:xfrm>
          <a:prstGeom prst="roundRect">
            <a:avLst>
              <a:gd name="adj" fmla="val 6667"/>
            </a:avLst>
          </a:prstGeom>
          <a:solidFill>
            <a:schemeClr val="tx1"/>
          </a:solidFill>
          <a:ln w="12700">
            <a:solidFill>
              <a:schemeClr val="tx1"/>
            </a:solidFill>
            <a:prstDash val="solid"/>
          </a:ln>
        </p:spPr>
      </p:sp>
      <p:sp>
        <p:nvSpPr>
          <p:cNvPr id="7" name="Text 5"/>
          <p:cNvSpPr txBox="1"/>
          <p:nvPr/>
        </p:nvSpPr>
        <p:spPr>
          <a:xfrm>
            <a:off x="868680" y="4919472"/>
            <a:ext cx="54864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THE CENTRAL QUESTION</a:t>
            </a:r>
            <a:endParaRPr lang="en-US" sz="1200" dirty="0"/>
          </a:p>
        </p:txBody>
      </p:sp>
      <p:sp>
        <p:nvSpPr>
          <p:cNvPr id="8" name="Text 6"/>
          <p:cNvSpPr txBox="1"/>
          <p:nvPr/>
        </p:nvSpPr>
        <p:spPr>
          <a:xfrm>
            <a:off x="868680" y="5230368"/>
            <a:ext cx="10424160" cy="777240"/>
          </a:xfrm>
          <a:prstGeom prst="rect">
            <a:avLst/>
          </a:prstGeom>
          <a:noFill/>
          <a:ln/>
        </p:spPr>
        <p:txBody>
          <a:bodyPr wrap="square" lIns="0" tIns="0" rIns="0" bIns="0" rtlCol="0" anchor="t"/>
          <a:lstStyle/>
          <a:p>
            <a:pPr indent="0" marL="0">
              <a:buNone/>
            </a:pPr>
            <a:r>
              <a:rPr lang="en-US" sz="1900" b="1" dirty="0">
                <a:solidFill>
                  <a:schemeClr val="bg1"/>
                </a:solidFill>
              </a:rPr>
              <a:t>How much do exploration structure, online learning and verification each contribute to finding verified functional bugs?</a:t>
            </a:r>
            <a:endParaRPr lang="en-US" sz="19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03 · Literature review</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Literature Review</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The five papers closest to this work</a:t>
            </a:r>
            <a:endParaRPr lang="en-US" sz="1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606040"/>
                <a:gridCol w="2286000"/>
                <a:gridCol w="2148840"/>
                <a:gridCol w="2011680"/>
                <a:gridCol w="2011680"/>
              </a:tblGrid>
              <a:tr h="365760">
                <a:tc>
                  <a:txBody>
                    <a:bodyPr/>
                    <a:lstStyle/>
                    <a:p>
                      <a:pPr indent="0" marL="0">
                        <a:buNone/>
                      </a:pPr>
                      <a:r>
                        <a:rPr lang="en-US" sz="1200" b="1" dirty="0">
                          <a:solidFill>
                            <a:srgbClr val="FFFFFF"/>
                          </a:solidFill>
                        </a:rPr>
                        <a:t>Paper</a:t>
                      </a:r>
                      <a:endParaRPr lang="en-US" sz="120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172033"/>
                    </a:solidFill>
                  </a:tcPr>
                </a:tc>
                <a:tc>
                  <a:txBody>
                    <a:bodyPr/>
                    <a:lstStyle/>
                    <a:p>
                      <a:pPr indent="0" marL="0">
                        <a:buNone/>
                      </a:pPr>
                      <a:r>
                        <a:rPr lang="en-US" sz="1200" b="1" dirty="0">
                          <a:solidFill>
                            <a:srgbClr val="FFFFFF"/>
                          </a:solidFill>
                        </a:rPr>
                        <a:t>What they did</a:t>
                      </a:r>
                      <a:endParaRPr lang="en-US" sz="120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172033"/>
                    </a:solidFill>
                  </a:tcPr>
                </a:tc>
                <a:tc>
                  <a:txBody>
                    <a:bodyPr/>
                    <a:lstStyle/>
                    <a:p>
                      <a:pPr indent="0" marL="0">
                        <a:buNone/>
                      </a:pPr>
                      <a:r>
                        <a:rPr lang="en-US" sz="1200" b="1" dirty="0">
                          <a:solidFill>
                            <a:srgbClr val="FFFFFF"/>
                          </a:solidFill>
                        </a:rPr>
                        <a:t>Limitation</a:t>
                      </a:r>
                      <a:endParaRPr lang="en-US" sz="120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172033"/>
                    </a:solidFill>
                  </a:tcPr>
                </a:tc>
                <a:tc>
                  <a:txBody>
                    <a:bodyPr/>
                    <a:lstStyle/>
                    <a:p>
                      <a:pPr indent="0" marL="0">
                        <a:buNone/>
                      </a:pPr>
                      <a:r>
                        <a:rPr lang="en-US" sz="1200" b="1" dirty="0">
                          <a:solidFill>
                            <a:srgbClr val="FFFFFF"/>
                          </a:solidFill>
                        </a:rPr>
                        <a:t>How we address it</a:t>
                      </a:r>
                      <a:endParaRPr lang="en-US" sz="120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172033"/>
                    </a:solidFill>
                  </a:tcPr>
                </a:tc>
                <a:tc>
                  <a:txBody>
                    <a:bodyPr/>
                    <a:lstStyle/>
                    <a:p>
                      <a:pPr indent="0" marL="0">
                        <a:buNone/>
                      </a:pPr>
                      <a:r>
                        <a:rPr lang="en-US" sz="1200" b="1" dirty="0">
                          <a:solidFill>
                            <a:srgbClr val="FFFFFF"/>
                          </a:solidFill>
                        </a:rPr>
                        <a:t>What we adapt</a:t>
                      </a:r>
                      <a:endParaRPr lang="en-US" sz="120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172033"/>
                    </a:solidFill>
                  </a:tcPr>
                </a:tc>
              </a:tr>
              <a:tr h="804672">
                <a:tc>
                  <a:txBody>
                    <a:bodyPr/>
                    <a:lstStyle/>
                    <a:p>
                      <a:pPr indent="0" marL="0">
                        <a:buNone/>
                      </a:pPr>
                      <a:r>
                        <a:rPr lang="en-US" sz="1150" b="1" dirty="0">
                          <a:solidFill>
                            <a:srgbClr val="172033"/>
                          </a:solidFill>
                        </a:rPr>
                        <a:t>Automatic Web Testing Using Curiosity-Driven Reinforcement Learning (WebExplor, ICSE 2021) [1]</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150" dirty="0">
                          <a:solidFill>
                            <a:srgbClr val="172033"/>
                          </a:solidFill>
                        </a:rPr>
                        <a:t>Tabular Q-learning with a curiosity reward and an automaton that steers back to unexplored states</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150" dirty="0">
                          <a:solidFill>
                            <a:srgbClr val="172033"/>
                          </a:solidFill>
                        </a:rPr>
                        <a:t>Counts console errors as bugs; misses silent functional bugs; never verifies a failure</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150" dirty="0">
                          <a:solidFill>
                            <a:srgbClr val="172033"/>
                          </a:solidFill>
                        </a:rPr>
                        <a:t>Verified-fault oracle over six functional bug classes</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150" dirty="0">
                          <a:solidFill>
                            <a:srgbClr val="172033"/>
                          </a:solidFill>
                        </a:rPr>
                        <a:t>Curiosity reward (our curiosity arm); its six benchmark apps and measures</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r>
              <a:tr h="804672">
                <a:tc>
                  <a:txBody>
                    <a:bodyPr/>
                    <a:lstStyle/>
                    <a:p>
                      <a:pPr indent="0" marL="0">
                        <a:buNone/>
                      </a:pPr>
                      <a:r>
                        <a:rPr lang="en-US" sz="1150" b="1" dirty="0">
                          <a:solidFill>
                            <a:srgbClr val="172033"/>
                          </a:solidFill>
                        </a:rPr>
                        <a:t>Deep Reinforcement Learning for Automated Web GUI Testing (WebRLED, 2025) [2]</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150" dirty="0">
                          <a:solidFill>
                            <a:srgbClr val="172033"/>
                          </a:solidFill>
                        </a:rPr>
                        <a:t>Deep Q-network with grid action values and a learned discriminator of actionable elements</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150" dirty="0">
                          <a:solidFill>
                            <a:srgbClr val="172033"/>
                          </a:solidFill>
                        </a:rPr>
                        <a:t>Same console-error oracle; gains not separated between learner and action space</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150" dirty="0">
                          <a:solidFill>
                            <a:srgbClr val="172033"/>
                          </a:solidFill>
                        </a:rPr>
                        <a:t>Ablation arms that isolate the learner; verified faults</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150" dirty="0">
                          <a:solidFill>
                            <a:srgbClr val="172033"/>
                          </a:solidFill>
                        </a:rPr>
                        <a:t>Idea that detecting clickable elements matters (our listener-based clickables)</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r>
              <a:tr h="731520">
                <a:tc>
                  <a:txBody>
                    <a:bodyPr/>
                    <a:lstStyle/>
                    <a:p>
                      <a:pPr indent="0" marL="0">
                        <a:buNone/>
                      </a:pPr>
                      <a:r>
                        <a:rPr lang="en-US" sz="1150" b="1" dirty="0">
                          <a:solidFill>
                            <a:srgbClr val="172033"/>
                          </a:solidFill>
                        </a:rPr>
                        <a:t>First Return, Then Explore (Go-Explore, Nature 2021) [3]</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150" dirty="0">
                          <a:solidFill>
                            <a:srgbClr val="172033"/>
                          </a:solidFill>
                        </a:rPr>
                        <a:t>Archive of reached states; return to promising ones, then explore from there</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150" dirty="0">
                          <a:solidFill>
                            <a:srgbClr val="172033"/>
                          </a:solidFill>
                        </a:rPr>
                        <a:t>Built for games, not GUI testing; no notion of a bug</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150" dirty="0">
                          <a:solidFill>
                            <a:srgbClr val="172033"/>
                          </a:solidFill>
                        </a:rPr>
                        <a:t>Return by exact browser replay to abstracted page states</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150" dirty="0">
                          <a:solidFill>
                            <a:srgbClr val="172033"/>
                          </a:solidFill>
                        </a:rPr>
                        <a:t>The archive-and-return loop at the core of our hybrid tester</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r>
              <a:tr h="768096">
                <a:tc>
                  <a:txBody>
                    <a:bodyPr/>
                    <a:lstStyle/>
                    <a:p>
                      <a:pPr indent="0" marL="0">
                        <a:buNone/>
                      </a:pPr>
                      <a:r>
                        <a:rPr lang="en-US" sz="1150" b="1" dirty="0">
                          <a:solidFill>
                            <a:srgbClr val="172033"/>
                          </a:solidFill>
                        </a:rPr>
                        <a:t>DinoDroid: Testing Android Apps Using Deep Q-Networks (TOSEM 2024) [4]</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150" dirty="0">
                          <a:solidFill>
                            <a:srgbClr val="172033"/>
                          </a:solidFill>
                        </a:rPr>
                        <a:t>DQN trained on 32 Android apps, then used on unseen apps</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150" dirty="0">
                          <a:solidFill>
                            <a:srgbClr val="172033"/>
                          </a:solidFill>
                        </a:rPr>
                        <a:t>Android only; measures coverage and crashes; needs many training apps</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150" dirty="0">
                          <a:solidFill>
                            <a:srgbClr val="172033"/>
                          </a:solidFill>
                        </a:rPr>
                        <a:t>Pre-registered leave-one-app-out transfer test on web apps</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150" dirty="0">
                          <a:solidFill>
                            <a:srgbClr val="172033"/>
                          </a:solidFill>
                        </a:rPr>
                        <a:t>Pretrain-then-test design and per-action scoring (our v1 DQN)</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r>
              <a:tr h="896112">
                <a:tc>
                  <a:txBody>
                    <a:bodyPr/>
                    <a:lstStyle/>
                    <a:p>
                      <a:pPr indent="0" marL="0">
                        <a:buNone/>
                      </a:pPr>
                      <a:r>
                        <a:rPr lang="en-US" sz="1150" b="1" dirty="0">
                          <a:solidFill>
                            <a:srgbClr val="172033"/>
                          </a:solidFill>
                        </a:rPr>
                        <a:t>Understanding Automated Web GUI Testing: An Empirical Study Across Exploration Strategies and State Abstractions (2026) [5]</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150" dirty="0">
                          <a:solidFill>
                            <a:srgbClr val="172033"/>
                          </a:solidFill>
                        </a:rPr>
                        <a:t>Compares model-, RL- and LLM-based web testers under six state abstractions</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150" dirty="0">
                          <a:solidFill>
                            <a:srgbClr val="172033"/>
                          </a:solidFill>
                        </a:rPr>
                        <a:t>Coverage is only weakly linked to finding failures</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150" dirty="0">
                          <a:solidFill>
                            <a:srgbClr val="172033"/>
                          </a:solidFill>
                        </a:rPr>
                        <a:t>Verified faults as the primary measure, coverage reported beside it</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150" dirty="0">
                          <a:solidFill>
                            <a:srgbClr val="172033"/>
                          </a:solidFill>
                        </a:rPr>
                        <a:t>Compact state abstraction (our page cells)</a:t>
                      </a:r>
                      <a:endParaRPr lang="en-US" sz="1150" dirty="0"/>
                    </a:p>
                  </a:txBody>
                  <a:tcPr marL="73152" marR="73152"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r>
            </a:tbl>
          </a:graphicData>
        </a:graphic>
      </p:graphicFrame>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04 · Research gaps</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Research Gaps</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Each gap, and how this project addresses it</a:t>
            </a:r>
            <a:endParaRPr lang="en-US" sz="1700" dirty="0"/>
          </a:p>
        </p:txBody>
      </p:sp>
      <p:sp>
        <p:nvSpPr>
          <p:cNvPr id="5" name="Shape 3"/>
          <p:cNvSpPr/>
          <p:nvPr/>
        </p:nvSpPr>
        <p:spPr>
          <a:xfrm>
            <a:off x="548640" y="1938528"/>
            <a:ext cx="502920" cy="502920"/>
          </a:xfrm>
          <a:prstGeom prst="ellipse">
            <a:avLst/>
          </a:prstGeom>
          <a:solidFill>
            <a:schemeClr val="accent2"/>
          </a:solidFill>
          <a:ln w="12700">
            <a:solidFill>
              <a:schemeClr val="accent2"/>
            </a:solidFill>
            <a:prstDash val="solid"/>
          </a:ln>
        </p:spPr>
      </p:sp>
      <p:sp>
        <p:nvSpPr>
          <p:cNvPr id="6" name="Text 4"/>
          <p:cNvSpPr txBox="1"/>
          <p:nvPr/>
        </p:nvSpPr>
        <p:spPr>
          <a:xfrm>
            <a:off x="548640" y="193852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234440" y="1819656"/>
            <a:ext cx="4206240" cy="347472"/>
          </a:xfrm>
          <a:prstGeom prst="rect">
            <a:avLst/>
          </a:prstGeom>
          <a:noFill/>
          <a:ln/>
        </p:spPr>
        <p:txBody>
          <a:bodyPr wrap="square" lIns="0" tIns="0" rIns="0" bIns="0" rtlCol="0" anchor="t"/>
          <a:lstStyle/>
          <a:p>
            <a:pPr indent="0" marL="0">
              <a:buNone/>
            </a:pPr>
            <a:r>
              <a:rPr lang="en-US" sz="1600" b="1" dirty="0">
                <a:solidFill>
                  <a:schemeClr val="tx1"/>
                </a:solidFill>
              </a:rPr>
              <a:t>The oracle is implicit</a:t>
            </a:r>
            <a:endParaRPr lang="en-US" sz="1600" dirty="0"/>
          </a:p>
        </p:txBody>
      </p:sp>
      <p:sp>
        <p:nvSpPr>
          <p:cNvPr id="8" name="Text 6"/>
          <p:cNvSpPr txBox="1"/>
          <p:nvPr/>
        </p:nvSpPr>
        <p:spPr>
          <a:xfrm>
            <a:off x="1234440" y="2167128"/>
            <a:ext cx="4206240" cy="457200"/>
          </a:xfrm>
          <a:prstGeom prst="rect">
            <a:avLst/>
          </a:prstGeom>
          <a:noFill/>
          <a:ln/>
        </p:spPr>
        <p:txBody>
          <a:bodyPr wrap="square" lIns="0" tIns="0" rIns="0" bIns="0" rtlCol="0" anchor="t"/>
          <a:lstStyle/>
          <a:p>
            <a:pPr indent="0" marL="0">
              <a:buNone/>
            </a:pPr>
            <a:r>
              <a:rPr lang="en-US" sz="1250" dirty="0">
                <a:solidFill>
                  <a:schemeClr val="tx2"/>
                </a:solidFill>
              </a:rPr>
              <a:t>Console errors miss silent functional bugs, and reported failures are never checked.</a:t>
            </a:r>
            <a:endParaRPr lang="en-US" sz="1250" dirty="0"/>
          </a:p>
        </p:txBody>
      </p:sp>
      <p:sp>
        <p:nvSpPr>
          <p:cNvPr id="9" name="fix0"/>
          <p:cNvSpPr/>
          <p:nvPr/>
        </p:nvSpPr>
        <p:spPr>
          <a:xfrm>
            <a:off x="5669280" y="1819656"/>
            <a:ext cx="5943600" cy="768096"/>
          </a:xfrm>
          <a:prstGeom prst="roundRect">
            <a:avLst>
              <a:gd name="adj" fmla="val 11905"/>
            </a:avLst>
          </a:prstGeom>
          <a:solidFill>
            <a:schemeClr val="bg2"/>
          </a:solidFill>
          <a:ln w="12700">
            <a:solidFill>
              <a:schemeClr val="bg2"/>
            </a:solidFill>
            <a:prstDash val="solid"/>
          </a:ln>
        </p:spPr>
      </p:sp>
      <p:sp>
        <p:nvSpPr>
          <p:cNvPr id="10" name="Text 8"/>
          <p:cNvSpPr txBox="1"/>
          <p:nvPr/>
        </p:nvSpPr>
        <p:spPr>
          <a:xfrm>
            <a:off x="5852160" y="1819656"/>
            <a:ext cx="5623560" cy="768096"/>
          </a:xfrm>
          <a:prstGeom prst="rect">
            <a:avLst/>
          </a:prstGeom>
          <a:noFill/>
          <a:ln/>
        </p:spPr>
        <p:txBody>
          <a:bodyPr wrap="square" lIns="0" tIns="0" rIns="0" bIns="0" rtlCol="0" anchor="ctr"/>
          <a:lstStyle/>
          <a:p>
            <a:pPr indent="0" marL="0">
              <a:buNone/>
            </a:pPr>
            <a:r>
              <a:rPr lang="en-US" sz="1400" b="1" dirty="0">
                <a:solidFill>
                  <a:schemeClr val="accent1"/>
                </a:solidFill>
              </a:rPr>
              <a:t>→  </a:t>
            </a:r>
            <a:pPr indent="0" marL="0">
              <a:buNone/>
            </a:pPr>
            <a:r>
              <a:rPr lang="en-US" sz="1400" dirty="0">
                <a:solidFill>
                  <a:schemeClr val="tx1"/>
                </a:solidFill>
              </a:rPr>
              <a:t>A verified-fault oracle: replay twice, a per-fault control build, delta-debugging minimisation.</a:t>
            </a:r>
            <a:endParaRPr lang="en-US" sz="1400" dirty="0"/>
          </a:p>
        </p:txBody>
      </p:sp>
      <p:sp>
        <p:nvSpPr>
          <p:cNvPr id="11" name="Shape 9"/>
          <p:cNvSpPr/>
          <p:nvPr/>
        </p:nvSpPr>
        <p:spPr>
          <a:xfrm>
            <a:off x="548640" y="2834640"/>
            <a:ext cx="502920" cy="502920"/>
          </a:xfrm>
          <a:prstGeom prst="ellipse">
            <a:avLst/>
          </a:prstGeom>
          <a:solidFill>
            <a:schemeClr val="accent2"/>
          </a:solidFill>
          <a:ln w="12700">
            <a:solidFill>
              <a:schemeClr val="accent2"/>
            </a:solidFill>
            <a:prstDash val="solid"/>
          </a:ln>
        </p:spPr>
      </p:sp>
      <p:sp>
        <p:nvSpPr>
          <p:cNvPr id="12" name="Text 10"/>
          <p:cNvSpPr txBox="1"/>
          <p:nvPr/>
        </p:nvSpPr>
        <p:spPr>
          <a:xfrm>
            <a:off x="548640" y="2834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1"/>
          <p:cNvSpPr txBox="1"/>
          <p:nvPr/>
        </p:nvSpPr>
        <p:spPr>
          <a:xfrm>
            <a:off x="1234440" y="2715768"/>
            <a:ext cx="4206240" cy="347472"/>
          </a:xfrm>
          <a:prstGeom prst="rect">
            <a:avLst/>
          </a:prstGeom>
          <a:noFill/>
          <a:ln/>
        </p:spPr>
        <p:txBody>
          <a:bodyPr wrap="square" lIns="0" tIns="0" rIns="0" bIns="0" rtlCol="0" anchor="t"/>
          <a:lstStyle/>
          <a:p>
            <a:pPr indent="0" marL="0">
              <a:buNone/>
            </a:pPr>
            <a:r>
              <a:rPr lang="en-US" sz="1600" b="1" dirty="0">
                <a:solidFill>
                  <a:schemeClr val="tx1"/>
                </a:solidFill>
              </a:rPr>
              <a:t>The learner's role is unproven</a:t>
            </a:r>
            <a:endParaRPr lang="en-US" sz="1600" dirty="0"/>
          </a:p>
        </p:txBody>
      </p:sp>
      <p:sp>
        <p:nvSpPr>
          <p:cNvPr id="14" name="Text 12"/>
          <p:cNvSpPr txBox="1"/>
          <p:nvPr/>
        </p:nvSpPr>
        <p:spPr>
          <a:xfrm>
            <a:off x="1234440" y="3063240"/>
            <a:ext cx="4206240" cy="457200"/>
          </a:xfrm>
          <a:prstGeom prst="rect">
            <a:avLst/>
          </a:prstGeom>
          <a:noFill/>
          <a:ln/>
        </p:spPr>
        <p:txBody>
          <a:bodyPr wrap="square" lIns="0" tIns="0" rIns="0" bIns="0" rtlCol="0" anchor="t"/>
          <a:lstStyle/>
          <a:p>
            <a:pPr indent="0" marL="0">
              <a:buNone/>
            </a:pPr>
            <a:r>
              <a:rPr lang="en-US" sz="1250" dirty="0">
                <a:solidFill>
                  <a:schemeClr val="tx2"/>
                </a:solidFill>
              </a:rPr>
              <a:t>Gains are reported for whole systems; the learner is never isolated.</a:t>
            </a:r>
            <a:endParaRPr lang="en-US" sz="1250" dirty="0"/>
          </a:p>
        </p:txBody>
      </p:sp>
      <p:sp>
        <p:nvSpPr>
          <p:cNvPr id="15" name="fix1"/>
          <p:cNvSpPr/>
          <p:nvPr/>
        </p:nvSpPr>
        <p:spPr>
          <a:xfrm>
            <a:off x="5669280" y="2715768"/>
            <a:ext cx="5943600" cy="768096"/>
          </a:xfrm>
          <a:prstGeom prst="roundRect">
            <a:avLst>
              <a:gd name="adj" fmla="val 11905"/>
            </a:avLst>
          </a:prstGeom>
          <a:solidFill>
            <a:schemeClr val="bg2"/>
          </a:solidFill>
          <a:ln w="12700">
            <a:solidFill>
              <a:schemeClr val="bg2"/>
            </a:solidFill>
            <a:prstDash val="solid"/>
          </a:ln>
        </p:spPr>
      </p:sp>
      <p:sp>
        <p:nvSpPr>
          <p:cNvPr id="16" name="Text 14"/>
          <p:cNvSpPr txBox="1"/>
          <p:nvPr/>
        </p:nvSpPr>
        <p:spPr>
          <a:xfrm>
            <a:off x="5852160" y="2715768"/>
            <a:ext cx="5623560" cy="768096"/>
          </a:xfrm>
          <a:prstGeom prst="rect">
            <a:avLst/>
          </a:prstGeom>
          <a:noFill/>
          <a:ln/>
        </p:spPr>
        <p:txBody>
          <a:bodyPr wrap="square" lIns="0" tIns="0" rIns="0" bIns="0" rtlCol="0" anchor="ctr"/>
          <a:lstStyle/>
          <a:p>
            <a:pPr indent="0" marL="0">
              <a:buNone/>
            </a:pPr>
            <a:r>
              <a:rPr lang="en-US" sz="1400" b="1" dirty="0">
                <a:solidFill>
                  <a:schemeClr val="accent1"/>
                </a:solidFill>
              </a:rPr>
              <a:t>→  </a:t>
            </a:r>
            <a:pPr indent="0" marL="0">
              <a:buNone/>
            </a:pPr>
            <a:r>
              <a:rPr lang="en-US" sz="1400" dirty="0">
                <a:solidFill>
                  <a:schemeClr val="tx1"/>
                </a:solidFill>
              </a:rPr>
              <a:t>Ablation arms on one shared structure: none, a bandit, curiosity Q-learning, plus random and a DQN.</a:t>
            </a:r>
            <a:endParaRPr lang="en-US" sz="1400" dirty="0"/>
          </a:p>
        </p:txBody>
      </p:sp>
      <p:sp>
        <p:nvSpPr>
          <p:cNvPr id="17" name="Shape 15"/>
          <p:cNvSpPr/>
          <p:nvPr/>
        </p:nvSpPr>
        <p:spPr>
          <a:xfrm>
            <a:off x="548640" y="3730752"/>
            <a:ext cx="502920" cy="502920"/>
          </a:xfrm>
          <a:prstGeom prst="ellipse">
            <a:avLst/>
          </a:prstGeom>
          <a:solidFill>
            <a:schemeClr val="accent2"/>
          </a:solidFill>
          <a:ln w="12700">
            <a:solidFill>
              <a:schemeClr val="accent2"/>
            </a:solidFill>
            <a:prstDash val="solid"/>
          </a:ln>
        </p:spPr>
      </p:sp>
      <p:sp>
        <p:nvSpPr>
          <p:cNvPr id="18" name="Text 16"/>
          <p:cNvSpPr txBox="1"/>
          <p:nvPr/>
        </p:nvSpPr>
        <p:spPr>
          <a:xfrm>
            <a:off x="548640" y="3730752"/>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7"/>
          <p:cNvSpPr txBox="1"/>
          <p:nvPr/>
        </p:nvSpPr>
        <p:spPr>
          <a:xfrm>
            <a:off x="1234440" y="3611880"/>
            <a:ext cx="4206240" cy="347472"/>
          </a:xfrm>
          <a:prstGeom prst="rect">
            <a:avLst/>
          </a:prstGeom>
          <a:noFill/>
          <a:ln/>
        </p:spPr>
        <p:txBody>
          <a:bodyPr wrap="square" lIns="0" tIns="0" rIns="0" bIns="0" rtlCol="0" anchor="t"/>
          <a:lstStyle/>
          <a:p>
            <a:pPr indent="0" marL="0">
              <a:buNone/>
            </a:pPr>
            <a:r>
              <a:rPr lang="en-US" sz="1600" b="1" dirty="0">
                <a:solidFill>
                  <a:schemeClr val="tx1"/>
                </a:solidFill>
              </a:rPr>
              <a:t>Transfer is untested on the web</a:t>
            </a:r>
            <a:endParaRPr lang="en-US" sz="1600" dirty="0"/>
          </a:p>
        </p:txBody>
      </p:sp>
      <p:sp>
        <p:nvSpPr>
          <p:cNvPr id="20" name="Text 18"/>
          <p:cNvSpPr txBox="1"/>
          <p:nvPr/>
        </p:nvSpPr>
        <p:spPr>
          <a:xfrm>
            <a:off x="1234440" y="3959352"/>
            <a:ext cx="4206240" cy="457200"/>
          </a:xfrm>
          <a:prstGeom prst="rect">
            <a:avLst/>
          </a:prstGeom>
          <a:noFill/>
          <a:ln/>
        </p:spPr>
        <p:txBody>
          <a:bodyPr wrap="square" lIns="0" tIns="0" rIns="0" bIns="0" rtlCol="0" anchor="t"/>
          <a:lstStyle/>
          <a:p>
            <a:pPr indent="0" marL="0">
              <a:buNone/>
            </a:pPr>
            <a:r>
              <a:rPr lang="en-US" sz="1250" dirty="0">
                <a:solidFill>
                  <a:schemeClr val="tx2"/>
                </a:solidFill>
              </a:rPr>
              <a:t>Whether pretraining on some web apps helps on new ones is unknown.</a:t>
            </a:r>
            <a:endParaRPr lang="en-US" sz="1250" dirty="0"/>
          </a:p>
        </p:txBody>
      </p:sp>
      <p:sp>
        <p:nvSpPr>
          <p:cNvPr id="21" name="fix2"/>
          <p:cNvSpPr/>
          <p:nvPr/>
        </p:nvSpPr>
        <p:spPr>
          <a:xfrm>
            <a:off x="5669280" y="3611880"/>
            <a:ext cx="5943600" cy="768096"/>
          </a:xfrm>
          <a:prstGeom prst="roundRect">
            <a:avLst>
              <a:gd name="adj" fmla="val 11905"/>
            </a:avLst>
          </a:prstGeom>
          <a:solidFill>
            <a:schemeClr val="bg2"/>
          </a:solidFill>
          <a:ln w="12700">
            <a:solidFill>
              <a:schemeClr val="bg2"/>
            </a:solidFill>
            <a:prstDash val="solid"/>
          </a:ln>
        </p:spPr>
      </p:sp>
      <p:sp>
        <p:nvSpPr>
          <p:cNvPr id="22" name="Text 20"/>
          <p:cNvSpPr txBox="1"/>
          <p:nvPr/>
        </p:nvSpPr>
        <p:spPr>
          <a:xfrm>
            <a:off x="5852160" y="3611880"/>
            <a:ext cx="5623560" cy="768096"/>
          </a:xfrm>
          <a:prstGeom prst="rect">
            <a:avLst/>
          </a:prstGeom>
          <a:noFill/>
          <a:ln/>
        </p:spPr>
        <p:txBody>
          <a:bodyPr wrap="square" lIns="0" tIns="0" rIns="0" bIns="0" rtlCol="0" anchor="ctr"/>
          <a:lstStyle/>
          <a:p>
            <a:pPr indent="0" marL="0">
              <a:buNone/>
            </a:pPr>
            <a:r>
              <a:rPr lang="en-US" sz="1400" b="1" dirty="0">
                <a:solidFill>
                  <a:schemeClr val="accent1"/>
                </a:solidFill>
              </a:rPr>
              <a:t>→  </a:t>
            </a:r>
            <a:pPr indent="0" marL="0">
              <a:buNone/>
            </a:pPr>
            <a:r>
              <a:rPr lang="en-US" sz="1400" dirty="0">
                <a:solidFill>
                  <a:schemeClr val="tx1"/>
                </a:solidFill>
              </a:rPr>
              <a:t>A pre-registered leave-one-application-out transfer experiment.</a:t>
            </a:r>
            <a:endParaRPr lang="en-US" sz="1400" dirty="0"/>
          </a:p>
        </p:txBody>
      </p:sp>
      <p:sp>
        <p:nvSpPr>
          <p:cNvPr id="23" name="Shape 21"/>
          <p:cNvSpPr/>
          <p:nvPr/>
        </p:nvSpPr>
        <p:spPr>
          <a:xfrm>
            <a:off x="548640" y="4626864"/>
            <a:ext cx="502920" cy="502920"/>
          </a:xfrm>
          <a:prstGeom prst="ellipse">
            <a:avLst/>
          </a:prstGeom>
          <a:solidFill>
            <a:schemeClr val="accent2"/>
          </a:solidFill>
          <a:ln w="12700">
            <a:solidFill>
              <a:schemeClr val="accent2"/>
            </a:solidFill>
            <a:prstDash val="solid"/>
          </a:ln>
        </p:spPr>
      </p:sp>
      <p:sp>
        <p:nvSpPr>
          <p:cNvPr id="24" name="Text 22"/>
          <p:cNvSpPr txBox="1"/>
          <p:nvPr/>
        </p:nvSpPr>
        <p:spPr>
          <a:xfrm>
            <a:off x="548640" y="4626864"/>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3"/>
          <p:cNvSpPr txBox="1"/>
          <p:nvPr/>
        </p:nvSpPr>
        <p:spPr>
          <a:xfrm>
            <a:off x="1234440" y="4507992"/>
            <a:ext cx="4206240" cy="347472"/>
          </a:xfrm>
          <a:prstGeom prst="rect">
            <a:avLst/>
          </a:prstGeom>
          <a:noFill/>
          <a:ln/>
        </p:spPr>
        <p:txBody>
          <a:bodyPr wrap="square" lIns="0" tIns="0" rIns="0" bIns="0" rtlCol="0" anchor="t"/>
          <a:lstStyle/>
          <a:p>
            <a:pPr indent="0" marL="0">
              <a:buNone/>
            </a:pPr>
            <a:r>
              <a:rPr lang="en-US" sz="1600" b="1" dirty="0">
                <a:solidFill>
                  <a:schemeClr val="tx1"/>
                </a:solidFill>
              </a:rPr>
              <a:t>The action space is overlooked</a:t>
            </a:r>
            <a:endParaRPr lang="en-US" sz="1600" dirty="0"/>
          </a:p>
        </p:txBody>
      </p:sp>
      <p:sp>
        <p:nvSpPr>
          <p:cNvPr id="26" name="Text 24"/>
          <p:cNvSpPr txBox="1"/>
          <p:nvPr/>
        </p:nvSpPr>
        <p:spPr>
          <a:xfrm>
            <a:off x="1234440" y="4855464"/>
            <a:ext cx="4206240" cy="457200"/>
          </a:xfrm>
          <a:prstGeom prst="rect">
            <a:avLst/>
          </a:prstGeom>
          <a:noFill/>
          <a:ln/>
        </p:spPr>
        <p:txBody>
          <a:bodyPr wrap="square" lIns="0" tIns="0" rIns="0" bIns="0" rtlCol="0" anchor="t"/>
          <a:lstStyle/>
          <a:p>
            <a:pPr indent="0" marL="0">
              <a:buNone/>
            </a:pPr>
            <a:r>
              <a:rPr lang="en-US" sz="1250" dirty="0">
                <a:solidFill>
                  <a:schemeClr val="tx2"/>
                </a:solidFill>
              </a:rPr>
              <a:t>Whether coverage is limited by the policy or by what can be clicked is unclear.</a:t>
            </a:r>
            <a:endParaRPr lang="en-US" sz="1250" dirty="0"/>
          </a:p>
        </p:txBody>
      </p:sp>
      <p:sp>
        <p:nvSpPr>
          <p:cNvPr id="27" name="fix3"/>
          <p:cNvSpPr/>
          <p:nvPr/>
        </p:nvSpPr>
        <p:spPr>
          <a:xfrm>
            <a:off x="5669280" y="4507992"/>
            <a:ext cx="5943600" cy="768096"/>
          </a:xfrm>
          <a:prstGeom prst="roundRect">
            <a:avLst>
              <a:gd name="adj" fmla="val 11905"/>
            </a:avLst>
          </a:prstGeom>
          <a:solidFill>
            <a:schemeClr val="bg2"/>
          </a:solidFill>
          <a:ln w="12700">
            <a:solidFill>
              <a:schemeClr val="bg2"/>
            </a:solidFill>
            <a:prstDash val="solid"/>
          </a:ln>
        </p:spPr>
      </p:sp>
      <p:sp>
        <p:nvSpPr>
          <p:cNvPr id="28" name="Text 26"/>
          <p:cNvSpPr txBox="1"/>
          <p:nvPr/>
        </p:nvSpPr>
        <p:spPr>
          <a:xfrm>
            <a:off x="5852160" y="4507992"/>
            <a:ext cx="5623560" cy="768096"/>
          </a:xfrm>
          <a:prstGeom prst="rect">
            <a:avLst/>
          </a:prstGeom>
          <a:noFill/>
          <a:ln/>
        </p:spPr>
        <p:txBody>
          <a:bodyPr wrap="square" lIns="0" tIns="0" rIns="0" bIns="0" rtlCol="0" anchor="ctr"/>
          <a:lstStyle/>
          <a:p>
            <a:pPr indent="0" marL="0">
              <a:buNone/>
            </a:pPr>
            <a:r>
              <a:rPr lang="en-US" sz="1400" b="1" dirty="0">
                <a:solidFill>
                  <a:schemeClr val="accent1"/>
                </a:solidFill>
              </a:rPr>
              <a:t>→  </a:t>
            </a:r>
            <a:pPr indent="0" marL="0">
              <a:buNone/>
            </a:pPr>
            <a:r>
              <a:rPr lang="en-US" sz="1400" dirty="0">
                <a:solidFill>
                  <a:schemeClr val="tx1"/>
                </a:solidFill>
              </a:rPr>
              <a:t>A clickables follow-up and listener-based detection in a second external round.</a:t>
            </a:r>
            <a:endParaRPr lang="en-US" sz="1400" dirty="0"/>
          </a:p>
        </p:txBody>
      </p:sp>
      <p:sp>
        <p:nvSpPr>
          <p:cNvPr id="29" name="Shape 27"/>
          <p:cNvSpPr/>
          <p:nvPr/>
        </p:nvSpPr>
        <p:spPr>
          <a:xfrm>
            <a:off x="548640" y="5522976"/>
            <a:ext cx="502920" cy="502920"/>
          </a:xfrm>
          <a:prstGeom prst="ellipse">
            <a:avLst/>
          </a:prstGeom>
          <a:solidFill>
            <a:schemeClr val="accent2"/>
          </a:solidFill>
          <a:ln w="12700">
            <a:solidFill>
              <a:schemeClr val="accent2"/>
            </a:solidFill>
            <a:prstDash val="solid"/>
          </a:ln>
        </p:spPr>
      </p:sp>
      <p:sp>
        <p:nvSpPr>
          <p:cNvPr id="30" name="Text 28"/>
          <p:cNvSpPr txBox="1"/>
          <p:nvPr/>
        </p:nvSpPr>
        <p:spPr>
          <a:xfrm>
            <a:off x="548640" y="5522976"/>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1" name="Text 29"/>
          <p:cNvSpPr txBox="1"/>
          <p:nvPr/>
        </p:nvSpPr>
        <p:spPr>
          <a:xfrm>
            <a:off x="1234440" y="5404104"/>
            <a:ext cx="4206240" cy="347472"/>
          </a:xfrm>
          <a:prstGeom prst="rect">
            <a:avLst/>
          </a:prstGeom>
          <a:noFill/>
          <a:ln/>
        </p:spPr>
        <p:txBody>
          <a:bodyPr wrap="square" lIns="0" tIns="0" rIns="0" bIns="0" rtlCol="0" anchor="t"/>
          <a:lstStyle/>
          <a:p>
            <a:pPr indent="0" marL="0">
              <a:buNone/>
            </a:pPr>
            <a:r>
              <a:rPr lang="en-US" sz="1600" b="1" dirty="0">
                <a:solidFill>
                  <a:schemeClr val="tx1"/>
                </a:solidFill>
              </a:rPr>
              <a:t>Evaluation hygiene</a:t>
            </a:r>
            <a:endParaRPr lang="en-US" sz="1600" dirty="0"/>
          </a:p>
        </p:txBody>
      </p:sp>
      <p:sp>
        <p:nvSpPr>
          <p:cNvPr id="32" name="Text 30"/>
          <p:cNvSpPr txBox="1"/>
          <p:nvPr/>
        </p:nvSpPr>
        <p:spPr>
          <a:xfrm>
            <a:off x="1234440" y="5751576"/>
            <a:ext cx="4206240" cy="457200"/>
          </a:xfrm>
          <a:prstGeom prst="rect">
            <a:avLst/>
          </a:prstGeom>
          <a:noFill/>
          <a:ln/>
        </p:spPr>
        <p:txBody>
          <a:bodyPr wrap="square" lIns="0" tIns="0" rIns="0" bIns="0" rtlCol="0" anchor="t"/>
          <a:lstStyle/>
          <a:p>
            <a:pPr indent="0" marL="0">
              <a:buNone/>
            </a:pPr>
            <a:r>
              <a:rPr lang="en-US" sz="1250" dirty="0">
                <a:solidFill>
                  <a:schemeClr val="tx2"/>
                </a:solidFill>
              </a:rPr>
              <a:t>Tuning and testing often share applications; few runs; no false-positive checks.</a:t>
            </a:r>
            <a:endParaRPr lang="en-US" sz="1250" dirty="0"/>
          </a:p>
        </p:txBody>
      </p:sp>
      <p:sp>
        <p:nvSpPr>
          <p:cNvPr id="33" name="fix4"/>
          <p:cNvSpPr/>
          <p:nvPr/>
        </p:nvSpPr>
        <p:spPr>
          <a:xfrm>
            <a:off x="5669280" y="5404104"/>
            <a:ext cx="5943600" cy="768096"/>
          </a:xfrm>
          <a:prstGeom prst="roundRect">
            <a:avLst>
              <a:gd name="adj" fmla="val 11905"/>
            </a:avLst>
          </a:prstGeom>
          <a:solidFill>
            <a:schemeClr val="bg2"/>
          </a:solidFill>
          <a:ln w="12700">
            <a:solidFill>
              <a:schemeClr val="bg2"/>
            </a:solidFill>
            <a:prstDash val="solid"/>
          </a:ln>
        </p:spPr>
      </p:sp>
      <p:sp>
        <p:nvSpPr>
          <p:cNvPr id="34" name="Text 32"/>
          <p:cNvSpPr txBox="1"/>
          <p:nvPr/>
        </p:nvSpPr>
        <p:spPr>
          <a:xfrm>
            <a:off x="5852160" y="5404104"/>
            <a:ext cx="5623560" cy="768096"/>
          </a:xfrm>
          <a:prstGeom prst="rect">
            <a:avLst/>
          </a:prstGeom>
          <a:noFill/>
          <a:ln/>
        </p:spPr>
        <p:txBody>
          <a:bodyPr wrap="square" lIns="0" tIns="0" rIns="0" bIns="0" rtlCol="0" anchor="ctr"/>
          <a:lstStyle/>
          <a:p>
            <a:pPr indent="0" marL="0">
              <a:buNone/>
            </a:pPr>
            <a:r>
              <a:rPr lang="en-US" sz="1400" b="1" dirty="0">
                <a:solidFill>
                  <a:schemeClr val="accent1"/>
                </a:solidFill>
              </a:rPr>
              <a:t>→  </a:t>
            </a:r>
            <a:pPr indent="0" marL="0">
              <a:buNone/>
            </a:pPr>
            <a:r>
              <a:rPr lang="en-US" sz="1400" dirty="0">
                <a:solidFill>
                  <a:schemeClr val="tx1"/>
                </a:solidFill>
              </a:rPr>
              <a:t>Pre-registration, held-out apps used once, clean-build controls, survival statistics.</a:t>
            </a:r>
            <a:endParaRPr lang="en-US" sz="14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05 · Methodology</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Methodology: the Strategy</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Two generations, then a controlled comparison of arms on one shared structure</a:t>
            </a:r>
            <a:endParaRPr lang="en-US" sz="1700" dirty="0"/>
          </a:p>
        </p:txBody>
      </p:sp>
      <p:sp>
        <p:nvSpPr>
          <p:cNvPr id="5" name="stage0"/>
          <p:cNvSpPr/>
          <p:nvPr/>
        </p:nvSpPr>
        <p:spPr>
          <a:xfrm>
            <a:off x="548640" y="1783080"/>
            <a:ext cx="2615184" cy="2331720"/>
          </a:xfrm>
          <a:prstGeom prst="roundRect">
            <a:avLst>
              <a:gd name="adj" fmla="val 3922"/>
            </a:avLst>
          </a:prstGeom>
          <a:solidFill>
            <a:schemeClr val="bg2"/>
          </a:solidFill>
          <a:ln w="12700">
            <a:solidFill>
              <a:schemeClr val="bg2"/>
            </a:solidFill>
            <a:prstDash val="solid"/>
          </a:ln>
        </p:spPr>
      </p:sp>
      <p:sp>
        <p:nvSpPr>
          <p:cNvPr id="6" name="Shape 4"/>
          <p:cNvSpPr/>
          <p:nvPr/>
        </p:nvSpPr>
        <p:spPr>
          <a:xfrm>
            <a:off x="749808" y="1938528"/>
            <a:ext cx="502920" cy="502920"/>
          </a:xfrm>
          <a:prstGeom prst="ellipse">
            <a:avLst/>
          </a:prstGeom>
          <a:solidFill>
            <a:schemeClr val="accent1"/>
          </a:solidFill>
          <a:ln w="12700">
            <a:solidFill>
              <a:schemeClr val="accent1"/>
            </a:solidFill>
            <a:prstDash val="solid"/>
          </a:ln>
        </p:spPr>
      </p:sp>
      <p:sp>
        <p:nvSpPr>
          <p:cNvPr id="7" name="Text 5"/>
          <p:cNvSpPr txBox="1"/>
          <p:nvPr/>
        </p:nvSpPr>
        <p:spPr>
          <a:xfrm>
            <a:off x="749808" y="193852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6"/>
          <p:cNvSpPr txBox="1"/>
          <p:nvPr/>
        </p:nvSpPr>
        <p:spPr>
          <a:xfrm>
            <a:off x="749808" y="2542032"/>
            <a:ext cx="2240280" cy="365760"/>
          </a:xfrm>
          <a:prstGeom prst="rect">
            <a:avLst/>
          </a:prstGeom>
          <a:noFill/>
          <a:ln/>
        </p:spPr>
        <p:txBody>
          <a:bodyPr wrap="square" lIns="0" tIns="0" rIns="0" bIns="0" rtlCol="0" anchor="t"/>
          <a:lstStyle/>
          <a:p>
            <a:pPr indent="0" marL="0">
              <a:buNone/>
            </a:pPr>
            <a:r>
              <a:rPr lang="en-US" sz="1700" b="1" dirty="0">
                <a:solidFill>
                  <a:schemeClr val="tx1"/>
                </a:solidFill>
              </a:rPr>
              <a:t>v1 · Deep RL</a:t>
            </a:r>
            <a:endParaRPr lang="en-US" sz="1700" dirty="0"/>
          </a:p>
        </p:txBody>
      </p:sp>
      <p:sp>
        <p:nvSpPr>
          <p:cNvPr id="9" name="Text 7"/>
          <p:cNvSpPr txBox="1"/>
          <p:nvPr/>
        </p:nvSpPr>
        <p:spPr>
          <a:xfrm>
            <a:off x="749808" y="2907792"/>
            <a:ext cx="2240280" cy="685800"/>
          </a:xfrm>
          <a:prstGeom prst="rect">
            <a:avLst/>
          </a:prstGeom>
          <a:noFill/>
          <a:ln/>
        </p:spPr>
        <p:txBody>
          <a:bodyPr wrap="square" lIns="0" tIns="0" rIns="0" bIns="0" rtlCol="0" anchor="t"/>
          <a:lstStyle/>
          <a:p>
            <a:pPr indent="0" marL="0">
              <a:buNone/>
            </a:pPr>
            <a:r>
              <a:rPr lang="en-US" sz="1300" dirty="0">
                <a:solidFill>
                  <a:schemeClr val="tx1"/>
                </a:solidFill>
              </a:rPr>
              <a:t>A DQN that scores every clickable element, pretrained on 5 apps.</a:t>
            </a:r>
            <a:endParaRPr lang="en-US" sz="1300" dirty="0"/>
          </a:p>
        </p:txBody>
      </p:sp>
      <p:sp>
        <p:nvSpPr>
          <p:cNvPr id="10" name="Text 8"/>
          <p:cNvSpPr txBox="1"/>
          <p:nvPr/>
        </p:nvSpPr>
        <p:spPr>
          <a:xfrm>
            <a:off x="749808" y="3584448"/>
            <a:ext cx="2240280" cy="457200"/>
          </a:xfrm>
          <a:prstGeom prst="rect">
            <a:avLst/>
          </a:prstGeom>
          <a:noFill/>
          <a:ln/>
        </p:spPr>
        <p:txBody>
          <a:bodyPr wrap="square" lIns="0" tIns="0" rIns="0" bIns="0" rtlCol="0" anchor="t"/>
          <a:lstStyle/>
          <a:p>
            <a:pPr indent="0" marL="0">
              <a:buNone/>
            </a:pPr>
            <a:r>
              <a:rPr lang="en-US" sz="1200" i="1" dirty="0">
                <a:solidFill>
                  <a:schemeClr val="tx2"/>
                </a:solidFill>
              </a:rPr>
              <a:t>Tested: does it transfer? does it use context?</a:t>
            </a:r>
            <a:endParaRPr lang="en-US" sz="1200" dirty="0"/>
          </a:p>
        </p:txBody>
      </p:sp>
      <p:sp>
        <p:nvSpPr>
          <p:cNvPr id="11" name="stage1"/>
          <p:cNvSpPr/>
          <p:nvPr/>
        </p:nvSpPr>
        <p:spPr>
          <a:xfrm>
            <a:off x="3346704" y="1783080"/>
            <a:ext cx="2615184" cy="2331720"/>
          </a:xfrm>
          <a:prstGeom prst="roundRect">
            <a:avLst>
              <a:gd name="adj" fmla="val 3922"/>
            </a:avLst>
          </a:prstGeom>
          <a:solidFill>
            <a:schemeClr val="bg2"/>
          </a:solidFill>
          <a:ln w="12700">
            <a:solidFill>
              <a:schemeClr val="bg2"/>
            </a:solidFill>
            <a:prstDash val="solid"/>
          </a:ln>
        </p:spPr>
      </p:sp>
      <p:sp>
        <p:nvSpPr>
          <p:cNvPr id="12" name="Shape 10"/>
          <p:cNvSpPr/>
          <p:nvPr/>
        </p:nvSpPr>
        <p:spPr>
          <a:xfrm>
            <a:off x="3547872" y="1938528"/>
            <a:ext cx="502920" cy="502920"/>
          </a:xfrm>
          <a:prstGeom prst="ellipse">
            <a:avLst/>
          </a:prstGeom>
          <a:solidFill>
            <a:schemeClr val="accent1"/>
          </a:solidFill>
          <a:ln w="12700">
            <a:solidFill>
              <a:schemeClr val="accent1"/>
            </a:solidFill>
            <a:prstDash val="solid"/>
          </a:ln>
        </p:spPr>
      </p:sp>
      <p:sp>
        <p:nvSpPr>
          <p:cNvPr id="13" name="Text 11"/>
          <p:cNvSpPr txBox="1"/>
          <p:nvPr/>
        </p:nvSpPr>
        <p:spPr>
          <a:xfrm>
            <a:off x="3547872" y="193852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2"/>
          <p:cNvSpPr txBox="1"/>
          <p:nvPr/>
        </p:nvSpPr>
        <p:spPr>
          <a:xfrm>
            <a:off x="3547872" y="2542032"/>
            <a:ext cx="2240280" cy="365760"/>
          </a:xfrm>
          <a:prstGeom prst="rect">
            <a:avLst/>
          </a:prstGeom>
          <a:noFill/>
          <a:ln/>
        </p:spPr>
        <p:txBody>
          <a:bodyPr wrap="square" lIns="0" tIns="0" rIns="0" bIns="0" rtlCol="0" anchor="t"/>
          <a:lstStyle/>
          <a:p>
            <a:pPr indent="0" marL="0">
              <a:buNone/>
            </a:pPr>
            <a:r>
              <a:rPr lang="en-US" sz="1700" b="1" dirty="0">
                <a:solidFill>
                  <a:schemeClr val="tx1"/>
                </a:solidFill>
              </a:rPr>
              <a:t>Lessons</a:t>
            </a:r>
            <a:endParaRPr lang="en-US" sz="1700" dirty="0"/>
          </a:p>
        </p:txBody>
      </p:sp>
      <p:sp>
        <p:nvSpPr>
          <p:cNvPr id="15" name="Text 13"/>
          <p:cNvSpPr txBox="1"/>
          <p:nvPr/>
        </p:nvSpPr>
        <p:spPr>
          <a:xfrm>
            <a:off x="3547872" y="2907792"/>
            <a:ext cx="2240280" cy="685800"/>
          </a:xfrm>
          <a:prstGeom prst="rect">
            <a:avLst/>
          </a:prstGeom>
          <a:noFill/>
          <a:ln/>
        </p:spPr>
        <p:txBody>
          <a:bodyPr wrap="square" lIns="0" tIns="0" rIns="0" bIns="0" rtlCol="0" anchor="t"/>
          <a:lstStyle/>
          <a:p>
            <a:pPr indent="0" marL="0">
              <a:buNone/>
            </a:pPr>
            <a:r>
              <a:rPr lang="en-US" sz="1300" dirty="0">
                <a:solidFill>
                  <a:schemeClr val="tx1"/>
                </a:solidFill>
              </a:rPr>
              <a:t>No transfer, no context, LLM reward misaligned, deep faults never reached.</a:t>
            </a:r>
            <a:endParaRPr lang="en-US" sz="1300" dirty="0"/>
          </a:p>
        </p:txBody>
      </p:sp>
      <p:sp>
        <p:nvSpPr>
          <p:cNvPr id="16" name="Text 14"/>
          <p:cNvSpPr txBox="1"/>
          <p:nvPr/>
        </p:nvSpPr>
        <p:spPr>
          <a:xfrm>
            <a:off x="3547872" y="3584448"/>
            <a:ext cx="2240280" cy="457200"/>
          </a:xfrm>
          <a:prstGeom prst="rect">
            <a:avLst/>
          </a:prstGeom>
          <a:noFill/>
          <a:ln/>
        </p:spPr>
        <p:txBody>
          <a:bodyPr wrap="square" lIns="0" tIns="0" rIns="0" bIns="0" rtlCol="0" anchor="t"/>
          <a:lstStyle/>
          <a:p>
            <a:pPr indent="0" marL="0">
              <a:buNone/>
            </a:pPr>
            <a:r>
              <a:rPr lang="en-US" sz="1200" i="1" dirty="0">
                <a:solidFill>
                  <a:schemeClr val="tx2"/>
                </a:solidFill>
              </a:rPr>
              <a:t>So: make state explicit, return exactly, deviate deliberately.</a:t>
            </a:r>
            <a:endParaRPr lang="en-US" sz="1200" dirty="0"/>
          </a:p>
        </p:txBody>
      </p:sp>
      <p:sp>
        <p:nvSpPr>
          <p:cNvPr id="17" name="stage2"/>
          <p:cNvSpPr/>
          <p:nvPr/>
        </p:nvSpPr>
        <p:spPr>
          <a:xfrm>
            <a:off x="6144768" y="1783080"/>
            <a:ext cx="2615184" cy="2331720"/>
          </a:xfrm>
          <a:prstGeom prst="roundRect">
            <a:avLst>
              <a:gd name="adj" fmla="val 3922"/>
            </a:avLst>
          </a:prstGeom>
          <a:solidFill>
            <a:schemeClr val="tx1"/>
          </a:solidFill>
          <a:ln w="12700">
            <a:solidFill>
              <a:schemeClr val="tx1"/>
            </a:solidFill>
            <a:prstDash val="solid"/>
          </a:ln>
        </p:spPr>
      </p:sp>
      <p:sp>
        <p:nvSpPr>
          <p:cNvPr id="18" name="Shape 16"/>
          <p:cNvSpPr/>
          <p:nvPr/>
        </p:nvSpPr>
        <p:spPr>
          <a:xfrm>
            <a:off x="6345936" y="1938528"/>
            <a:ext cx="502920" cy="502920"/>
          </a:xfrm>
          <a:prstGeom prst="ellipse">
            <a:avLst/>
          </a:prstGeom>
          <a:solidFill>
            <a:schemeClr val="accent2"/>
          </a:solidFill>
          <a:ln w="12700">
            <a:solidFill>
              <a:schemeClr val="accent2"/>
            </a:solidFill>
            <a:prstDash val="solid"/>
          </a:ln>
        </p:spPr>
      </p:sp>
      <p:sp>
        <p:nvSpPr>
          <p:cNvPr id="19" name="Text 17"/>
          <p:cNvSpPr txBox="1"/>
          <p:nvPr/>
        </p:nvSpPr>
        <p:spPr>
          <a:xfrm>
            <a:off x="6345936" y="193852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8"/>
          <p:cNvSpPr txBox="1"/>
          <p:nvPr/>
        </p:nvSpPr>
        <p:spPr>
          <a:xfrm>
            <a:off x="6345936" y="2542032"/>
            <a:ext cx="2240280" cy="365760"/>
          </a:xfrm>
          <a:prstGeom prst="rect">
            <a:avLst/>
          </a:prstGeom>
          <a:noFill/>
          <a:ln/>
        </p:spPr>
        <p:txBody>
          <a:bodyPr wrap="square" lIns="0" tIns="0" rIns="0" bIns="0" rtlCol="0" anchor="t"/>
          <a:lstStyle/>
          <a:p>
            <a:pPr indent="0" marL="0">
              <a:buNone/>
            </a:pPr>
            <a:r>
              <a:rPr lang="en-US" sz="1700" b="1" dirty="0">
                <a:solidFill>
                  <a:schemeClr val="bg1"/>
                </a:solidFill>
              </a:rPr>
              <a:t>v2 · Hybrid</a:t>
            </a:r>
            <a:endParaRPr lang="en-US" sz="1700" dirty="0"/>
          </a:p>
        </p:txBody>
      </p:sp>
      <p:sp>
        <p:nvSpPr>
          <p:cNvPr id="21" name="Text 19"/>
          <p:cNvSpPr txBox="1"/>
          <p:nvPr/>
        </p:nvSpPr>
        <p:spPr>
          <a:xfrm>
            <a:off x="6345936" y="2907792"/>
            <a:ext cx="2240280" cy="685800"/>
          </a:xfrm>
          <a:prstGeom prst="rect">
            <a:avLst/>
          </a:prstGeom>
          <a:noFill/>
          <a:ln/>
        </p:spPr>
        <p:txBody>
          <a:bodyPr wrap="square" lIns="0" tIns="0" rIns="0" bIns="0" rtlCol="0" anchor="t"/>
          <a:lstStyle/>
          <a:p>
            <a:pPr indent="0" marL="0">
              <a:buNone/>
            </a:pPr>
            <a:r>
              <a:rPr lang="en-US" sz="1300" dirty="0">
                <a:solidFill>
                  <a:schemeClr val="bg1"/>
                </a:solidFill>
              </a:rPr>
              <a:t>Page abstraction + Go-Explore archive + test-design operators.</a:t>
            </a:r>
            <a:endParaRPr lang="en-US" sz="1300" dirty="0"/>
          </a:p>
        </p:txBody>
      </p:sp>
      <p:sp>
        <p:nvSpPr>
          <p:cNvPr id="22" name="Text 20"/>
          <p:cNvSpPr txBox="1"/>
          <p:nvPr/>
        </p:nvSpPr>
        <p:spPr>
          <a:xfrm>
            <a:off x="6345936" y="3584448"/>
            <a:ext cx="2240280" cy="457200"/>
          </a:xfrm>
          <a:prstGeom prst="rect">
            <a:avLst/>
          </a:prstGeom>
          <a:noFill/>
          <a:ln/>
        </p:spPr>
        <p:txBody>
          <a:bodyPr wrap="square" lIns="0" tIns="0" rIns="0" bIns="0" rtlCol="0" anchor="t"/>
          <a:lstStyle/>
          <a:p>
            <a:pPr indent="0" marL="0">
              <a:buNone/>
            </a:pPr>
            <a:r>
              <a:rPr lang="en-US" sz="1200" i="1" dirty="0">
                <a:solidFill>
                  <a:schemeClr val="accent6"/>
                </a:solidFill>
              </a:rPr>
              <a:t>Structure shared by every v2 arm.</a:t>
            </a:r>
            <a:endParaRPr lang="en-US" sz="1200" dirty="0"/>
          </a:p>
        </p:txBody>
      </p:sp>
      <p:sp>
        <p:nvSpPr>
          <p:cNvPr id="23" name="stage3"/>
          <p:cNvSpPr/>
          <p:nvPr/>
        </p:nvSpPr>
        <p:spPr>
          <a:xfrm>
            <a:off x="8942832" y="1783080"/>
            <a:ext cx="2615184" cy="2331720"/>
          </a:xfrm>
          <a:prstGeom prst="roundRect">
            <a:avLst>
              <a:gd name="adj" fmla="val 3922"/>
            </a:avLst>
          </a:prstGeom>
          <a:solidFill>
            <a:schemeClr val="bg2"/>
          </a:solidFill>
          <a:ln w="12700">
            <a:solidFill>
              <a:schemeClr val="bg2"/>
            </a:solidFill>
            <a:prstDash val="solid"/>
          </a:ln>
        </p:spPr>
      </p:sp>
      <p:sp>
        <p:nvSpPr>
          <p:cNvPr id="24" name="Shape 22"/>
          <p:cNvSpPr/>
          <p:nvPr/>
        </p:nvSpPr>
        <p:spPr>
          <a:xfrm>
            <a:off x="9144000" y="1938528"/>
            <a:ext cx="502920" cy="502920"/>
          </a:xfrm>
          <a:prstGeom prst="ellipse">
            <a:avLst/>
          </a:prstGeom>
          <a:solidFill>
            <a:schemeClr val="accent1"/>
          </a:solidFill>
          <a:ln w="12700">
            <a:solidFill>
              <a:schemeClr val="accent1"/>
            </a:solidFill>
            <a:prstDash val="solid"/>
          </a:ln>
        </p:spPr>
      </p:sp>
      <p:sp>
        <p:nvSpPr>
          <p:cNvPr id="25" name="Text 23"/>
          <p:cNvSpPr txBox="1"/>
          <p:nvPr/>
        </p:nvSpPr>
        <p:spPr>
          <a:xfrm>
            <a:off x="9144000" y="193852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6" name="Text 24"/>
          <p:cNvSpPr txBox="1"/>
          <p:nvPr/>
        </p:nvSpPr>
        <p:spPr>
          <a:xfrm>
            <a:off x="9144000" y="2542032"/>
            <a:ext cx="2240280" cy="365760"/>
          </a:xfrm>
          <a:prstGeom prst="rect">
            <a:avLst/>
          </a:prstGeom>
          <a:noFill/>
          <a:ln/>
        </p:spPr>
        <p:txBody>
          <a:bodyPr wrap="square" lIns="0" tIns="0" rIns="0" bIns="0" rtlCol="0" anchor="t"/>
          <a:lstStyle/>
          <a:p>
            <a:pPr indent="0" marL="0">
              <a:buNone/>
            </a:pPr>
            <a:r>
              <a:rPr lang="en-US" sz="1700" b="1" dirty="0">
                <a:solidFill>
                  <a:schemeClr val="tx1"/>
                </a:solidFill>
              </a:rPr>
              <a:t>Arms</a:t>
            </a:r>
            <a:endParaRPr lang="en-US" sz="1700" dirty="0"/>
          </a:p>
        </p:txBody>
      </p:sp>
      <p:sp>
        <p:nvSpPr>
          <p:cNvPr id="27" name="Text 25"/>
          <p:cNvSpPr txBox="1"/>
          <p:nvPr/>
        </p:nvSpPr>
        <p:spPr>
          <a:xfrm>
            <a:off x="9144000" y="2907792"/>
            <a:ext cx="2240280" cy="685800"/>
          </a:xfrm>
          <a:prstGeom prst="rect">
            <a:avLst/>
          </a:prstGeom>
          <a:noFill/>
          <a:ln/>
        </p:spPr>
        <p:txBody>
          <a:bodyPr wrap="square" lIns="0" tIns="0" rIns="0" bIns="0" rtlCol="0" anchor="t"/>
          <a:lstStyle/>
          <a:p>
            <a:pPr indent="0" marL="0">
              <a:buNone/>
            </a:pPr>
            <a:r>
              <a:rPr lang="en-US" sz="1300" dirty="0">
                <a:solidFill>
                  <a:schemeClr val="tx1"/>
                </a:solidFill>
              </a:rPr>
              <a:t>Vary only the decision layer: none, bandit, curiosity Q-learning.</a:t>
            </a:r>
            <a:endParaRPr lang="en-US" sz="1300" dirty="0"/>
          </a:p>
        </p:txBody>
      </p:sp>
      <p:sp>
        <p:nvSpPr>
          <p:cNvPr id="28" name="Text 26"/>
          <p:cNvSpPr txBox="1"/>
          <p:nvPr/>
        </p:nvSpPr>
        <p:spPr>
          <a:xfrm>
            <a:off x="9144000" y="3584448"/>
            <a:ext cx="2240280" cy="457200"/>
          </a:xfrm>
          <a:prstGeom prst="rect">
            <a:avLst/>
          </a:prstGeom>
          <a:noFill/>
          <a:ln/>
        </p:spPr>
        <p:txBody>
          <a:bodyPr wrap="square" lIns="0" tIns="0" rIns="0" bIns="0" rtlCol="0" anchor="t"/>
          <a:lstStyle/>
          <a:p>
            <a:pPr indent="0" marL="0">
              <a:buNone/>
            </a:pPr>
            <a:r>
              <a:rPr lang="en-US" sz="1200" i="1" dirty="0">
                <a:solidFill>
                  <a:schemeClr val="tx2"/>
                </a:solidFill>
              </a:rPr>
              <a:t>Isolates what learning adds.</a:t>
            </a:r>
            <a:endParaRPr lang="en-US" sz="1200" dirty="0"/>
          </a:p>
        </p:txBody>
      </p:sp>
      <p:sp>
        <p:nvSpPr>
          <p:cNvPr id="29" name="Text 27"/>
          <p:cNvSpPr txBox="1"/>
          <p:nvPr/>
        </p:nvSpPr>
        <p:spPr>
          <a:xfrm>
            <a:off x="548640" y="4343400"/>
            <a:ext cx="54864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THE ARMS AS A LADDER</a:t>
            </a:r>
            <a:endParaRPr lang="en-US" sz="1200" dirty="0"/>
          </a:p>
        </p:txBody>
      </p:sp>
      <p:sp>
        <p:nvSpPr>
          <p:cNvPr id="30" name="rung0"/>
          <p:cNvSpPr/>
          <p:nvPr/>
        </p:nvSpPr>
        <p:spPr>
          <a:xfrm>
            <a:off x="548640" y="4681728"/>
            <a:ext cx="1719072" cy="1463040"/>
          </a:xfrm>
          <a:prstGeom prst="roundRect">
            <a:avLst>
              <a:gd name="adj" fmla="val 6250"/>
            </a:avLst>
          </a:prstGeom>
          <a:solidFill>
            <a:schemeClr val="accent4"/>
          </a:solidFill>
          <a:ln w="12700">
            <a:solidFill>
              <a:schemeClr val="accent4"/>
            </a:solidFill>
            <a:prstDash val="solid"/>
          </a:ln>
        </p:spPr>
      </p:sp>
      <p:sp>
        <p:nvSpPr>
          <p:cNvPr id="31" name="Text 29"/>
          <p:cNvSpPr txBox="1"/>
          <p:nvPr/>
        </p:nvSpPr>
        <p:spPr>
          <a:xfrm>
            <a:off x="658368" y="4800600"/>
            <a:ext cx="1517904" cy="502920"/>
          </a:xfrm>
          <a:prstGeom prst="rect">
            <a:avLst/>
          </a:prstGeom>
          <a:noFill/>
          <a:ln/>
        </p:spPr>
        <p:txBody>
          <a:bodyPr wrap="square" lIns="0" tIns="0" rIns="0" bIns="0" rtlCol="0" anchor="ctr"/>
          <a:lstStyle/>
          <a:p>
            <a:pPr indent="0" marL="0">
              <a:buNone/>
            </a:pPr>
            <a:r>
              <a:rPr lang="en-US" sz="1200" b="1" dirty="0">
                <a:solidFill>
                  <a:schemeClr val="bg1"/>
                </a:solidFill>
                <a:latin typeface="Consolas" pitchFamily="34" charset="0"/>
                <a:ea typeface="Consolas" pitchFamily="34" charset="-122"/>
                <a:cs typeface="Consolas" pitchFamily="34" charset="-120"/>
              </a:rPr>
              <a:t>random</a:t>
            </a:r>
            <a:endParaRPr lang="en-US" sz="1200" dirty="0"/>
          </a:p>
        </p:txBody>
      </p:sp>
      <p:sp>
        <p:nvSpPr>
          <p:cNvPr id="32" name="Text 30"/>
          <p:cNvSpPr txBox="1"/>
          <p:nvPr/>
        </p:nvSpPr>
        <p:spPr>
          <a:xfrm>
            <a:off x="658368" y="5349240"/>
            <a:ext cx="1517904" cy="685800"/>
          </a:xfrm>
          <a:prstGeom prst="rect">
            <a:avLst/>
          </a:prstGeom>
          <a:noFill/>
          <a:ln/>
        </p:spPr>
        <p:txBody>
          <a:bodyPr wrap="square" lIns="0" tIns="0" rIns="0" bIns="0" rtlCol="0" anchor="t"/>
          <a:lstStyle/>
          <a:p>
            <a:pPr indent="0" marL="0">
              <a:buNone/>
            </a:pPr>
            <a:r>
              <a:rPr lang="en-US" sz="1300" dirty="0">
                <a:solidFill>
                  <a:schemeClr val="bg1"/>
                </a:solidFill>
              </a:rPr>
              <a:t>no structure, no learning</a:t>
            </a:r>
            <a:endParaRPr lang="en-US" sz="1300" dirty="0"/>
          </a:p>
        </p:txBody>
      </p:sp>
      <p:sp>
        <p:nvSpPr>
          <p:cNvPr id="33" name="rung1"/>
          <p:cNvSpPr/>
          <p:nvPr/>
        </p:nvSpPr>
        <p:spPr>
          <a:xfrm>
            <a:off x="2404872" y="4681728"/>
            <a:ext cx="1719072" cy="1463040"/>
          </a:xfrm>
          <a:prstGeom prst="roundRect">
            <a:avLst>
              <a:gd name="adj" fmla="val 6250"/>
            </a:avLst>
          </a:prstGeom>
          <a:solidFill>
            <a:schemeClr val="accent3"/>
          </a:solidFill>
          <a:ln w="12700">
            <a:solidFill>
              <a:schemeClr val="accent3"/>
            </a:solidFill>
            <a:prstDash val="solid"/>
          </a:ln>
        </p:spPr>
      </p:sp>
      <p:sp>
        <p:nvSpPr>
          <p:cNvPr id="34" name="Text 32"/>
          <p:cNvSpPr txBox="1"/>
          <p:nvPr/>
        </p:nvSpPr>
        <p:spPr>
          <a:xfrm>
            <a:off x="2514600" y="4800600"/>
            <a:ext cx="1517904" cy="502920"/>
          </a:xfrm>
          <a:prstGeom prst="rect">
            <a:avLst/>
          </a:prstGeom>
          <a:noFill/>
          <a:ln/>
        </p:spPr>
        <p:txBody>
          <a:bodyPr wrap="square" lIns="0" tIns="0" rIns="0" bIns="0" rtlCol="0" anchor="ctr"/>
          <a:lstStyle/>
          <a:p>
            <a:pPr indent="0" marL="0">
              <a:buNone/>
            </a:pPr>
            <a:r>
              <a:rPr lang="en-US" sz="1200" b="1" dirty="0">
                <a:solidFill>
                  <a:schemeClr val="bg1"/>
                </a:solidFill>
                <a:latin typeface="Consolas" pitchFamily="34" charset="0"/>
                <a:ea typeface="Consolas" pitchFamily="34" charset="-122"/>
                <a:cs typeface="Consolas" pitchFamily="34" charset="-120"/>
              </a:rPr>
              <a:t>v1 DQN</a:t>
            </a:r>
            <a:endParaRPr lang="en-US" sz="1200" dirty="0"/>
          </a:p>
        </p:txBody>
      </p:sp>
      <p:sp>
        <p:nvSpPr>
          <p:cNvPr id="35" name="Text 33"/>
          <p:cNvSpPr txBox="1"/>
          <p:nvPr/>
        </p:nvSpPr>
        <p:spPr>
          <a:xfrm>
            <a:off x="2514600" y="5349240"/>
            <a:ext cx="1517904" cy="685800"/>
          </a:xfrm>
          <a:prstGeom prst="rect">
            <a:avLst/>
          </a:prstGeom>
          <a:noFill/>
          <a:ln/>
        </p:spPr>
        <p:txBody>
          <a:bodyPr wrap="square" lIns="0" tIns="0" rIns="0" bIns="0" rtlCol="0" anchor="t"/>
          <a:lstStyle/>
          <a:p>
            <a:pPr indent="0" marL="0">
              <a:buNone/>
            </a:pPr>
            <a:r>
              <a:rPr lang="en-US" sz="1300" dirty="0">
                <a:solidFill>
                  <a:schemeClr val="bg1"/>
                </a:solidFill>
              </a:rPr>
              <a:t>deep RL, no structure</a:t>
            </a:r>
            <a:endParaRPr lang="en-US" sz="1300" dirty="0"/>
          </a:p>
        </p:txBody>
      </p:sp>
      <p:sp>
        <p:nvSpPr>
          <p:cNvPr id="36" name="rung2"/>
          <p:cNvSpPr/>
          <p:nvPr/>
        </p:nvSpPr>
        <p:spPr>
          <a:xfrm>
            <a:off x="4261104" y="4681728"/>
            <a:ext cx="1719072" cy="1463040"/>
          </a:xfrm>
          <a:prstGeom prst="roundRect">
            <a:avLst>
              <a:gd name="adj" fmla="val 6250"/>
            </a:avLst>
          </a:prstGeom>
          <a:solidFill>
            <a:schemeClr val="accent1"/>
          </a:solidFill>
          <a:ln w="12700">
            <a:solidFill>
              <a:schemeClr val="accent1"/>
            </a:solidFill>
            <a:prstDash val="solid"/>
          </a:ln>
        </p:spPr>
      </p:sp>
      <p:sp>
        <p:nvSpPr>
          <p:cNvPr id="37" name="Text 35"/>
          <p:cNvSpPr txBox="1"/>
          <p:nvPr/>
        </p:nvSpPr>
        <p:spPr>
          <a:xfrm>
            <a:off x="4370832" y="4800600"/>
            <a:ext cx="1517904" cy="502920"/>
          </a:xfrm>
          <a:prstGeom prst="rect">
            <a:avLst/>
          </a:prstGeom>
          <a:noFill/>
          <a:ln/>
        </p:spPr>
        <p:txBody>
          <a:bodyPr wrap="square" lIns="0" tIns="0" rIns="0" bIns="0" rtlCol="0" anchor="ctr"/>
          <a:lstStyle/>
          <a:p>
            <a:pPr indent="0" marL="0">
              <a:buNone/>
            </a:pPr>
            <a:r>
              <a:rPr lang="en-US" sz="1200" b="1" dirty="0">
                <a:solidFill>
                  <a:schemeClr val="bg1"/>
                </a:solidFill>
                <a:latin typeface="Consolas" pitchFamily="34" charset="0"/>
                <a:ea typeface="Consolas" pitchFamily="34" charset="-122"/>
                <a:cs typeface="Consolas" pitchFamily="34" charset="-120"/>
              </a:rPr>
              <a:t>hybrid_nolearn</a:t>
            </a:r>
            <a:endParaRPr lang="en-US" sz="1200" dirty="0"/>
          </a:p>
        </p:txBody>
      </p:sp>
      <p:sp>
        <p:nvSpPr>
          <p:cNvPr id="38" name="Text 36"/>
          <p:cNvSpPr txBox="1"/>
          <p:nvPr/>
        </p:nvSpPr>
        <p:spPr>
          <a:xfrm>
            <a:off x="4370832" y="5349240"/>
            <a:ext cx="1517904" cy="685800"/>
          </a:xfrm>
          <a:prstGeom prst="rect">
            <a:avLst/>
          </a:prstGeom>
          <a:noFill/>
          <a:ln/>
        </p:spPr>
        <p:txBody>
          <a:bodyPr wrap="square" lIns="0" tIns="0" rIns="0" bIns="0" rtlCol="0" anchor="t"/>
          <a:lstStyle/>
          <a:p>
            <a:pPr indent="0" marL="0">
              <a:buNone/>
            </a:pPr>
            <a:r>
              <a:rPr lang="en-US" sz="1300" dirty="0">
                <a:solidFill>
                  <a:schemeClr val="bg1"/>
                </a:solidFill>
              </a:rPr>
              <a:t>structure only</a:t>
            </a:r>
            <a:endParaRPr lang="en-US" sz="1300" dirty="0"/>
          </a:p>
        </p:txBody>
      </p:sp>
      <p:sp>
        <p:nvSpPr>
          <p:cNvPr id="39" name="rung3"/>
          <p:cNvSpPr/>
          <p:nvPr/>
        </p:nvSpPr>
        <p:spPr>
          <a:xfrm>
            <a:off x="6117336" y="4681728"/>
            <a:ext cx="1719072" cy="1463040"/>
          </a:xfrm>
          <a:prstGeom prst="roundRect">
            <a:avLst>
              <a:gd name="adj" fmla="val 6250"/>
            </a:avLst>
          </a:prstGeom>
          <a:solidFill>
            <a:schemeClr val="accent2"/>
          </a:solidFill>
          <a:ln w="12700">
            <a:solidFill>
              <a:schemeClr val="accent2"/>
            </a:solidFill>
            <a:prstDash val="solid"/>
          </a:ln>
        </p:spPr>
      </p:sp>
      <p:sp>
        <p:nvSpPr>
          <p:cNvPr id="40" name="Text 38"/>
          <p:cNvSpPr txBox="1"/>
          <p:nvPr/>
        </p:nvSpPr>
        <p:spPr>
          <a:xfrm>
            <a:off x="6227064" y="4800600"/>
            <a:ext cx="1517904" cy="502920"/>
          </a:xfrm>
          <a:prstGeom prst="rect">
            <a:avLst/>
          </a:prstGeom>
          <a:noFill/>
          <a:ln/>
        </p:spPr>
        <p:txBody>
          <a:bodyPr wrap="square" lIns="0" tIns="0" rIns="0" bIns="0" rtlCol="0" anchor="ctr"/>
          <a:lstStyle/>
          <a:p>
            <a:pPr indent="0" marL="0">
              <a:buNone/>
            </a:pPr>
            <a:r>
              <a:rPr lang="en-US" sz="1200" b="1" dirty="0">
                <a:solidFill>
                  <a:schemeClr val="bg1"/>
                </a:solidFill>
                <a:latin typeface="Consolas" pitchFamily="34" charset="0"/>
                <a:ea typeface="Consolas" pitchFamily="34" charset="-122"/>
                <a:cs typeface="Consolas" pitchFamily="34" charset="-120"/>
              </a:rPr>
              <a:t>hybrid_bandit</a:t>
            </a:r>
            <a:endParaRPr lang="en-US" sz="1200" dirty="0"/>
          </a:p>
        </p:txBody>
      </p:sp>
      <p:sp>
        <p:nvSpPr>
          <p:cNvPr id="41" name="Text 39"/>
          <p:cNvSpPr txBox="1"/>
          <p:nvPr/>
        </p:nvSpPr>
        <p:spPr>
          <a:xfrm>
            <a:off x="6227064" y="5349240"/>
            <a:ext cx="1517904" cy="685800"/>
          </a:xfrm>
          <a:prstGeom prst="rect">
            <a:avLst/>
          </a:prstGeom>
          <a:noFill/>
          <a:ln/>
        </p:spPr>
        <p:txBody>
          <a:bodyPr wrap="square" lIns="0" tIns="0" rIns="0" bIns="0" rtlCol="0" anchor="t"/>
          <a:lstStyle/>
          <a:p>
            <a:pPr indent="0" marL="0">
              <a:buNone/>
            </a:pPr>
            <a:r>
              <a:rPr lang="en-US" sz="1300" dirty="0">
                <a:solidFill>
                  <a:schemeClr val="bg1"/>
                </a:solidFill>
              </a:rPr>
              <a:t>structure + bandit</a:t>
            </a:r>
            <a:endParaRPr lang="en-US" sz="1300" dirty="0"/>
          </a:p>
        </p:txBody>
      </p:sp>
      <p:sp>
        <p:nvSpPr>
          <p:cNvPr id="42" name="rung4"/>
          <p:cNvSpPr/>
          <p:nvPr/>
        </p:nvSpPr>
        <p:spPr>
          <a:xfrm>
            <a:off x="7973568" y="4681728"/>
            <a:ext cx="1719072" cy="1463040"/>
          </a:xfrm>
          <a:prstGeom prst="roundRect">
            <a:avLst>
              <a:gd name="adj" fmla="val 6250"/>
            </a:avLst>
          </a:prstGeom>
          <a:solidFill>
            <a:schemeClr val="accent5"/>
          </a:solidFill>
          <a:ln w="12700">
            <a:solidFill>
              <a:schemeClr val="accent5"/>
            </a:solidFill>
            <a:prstDash val="solid"/>
          </a:ln>
        </p:spPr>
      </p:sp>
      <p:sp>
        <p:nvSpPr>
          <p:cNvPr id="43" name="Text 41"/>
          <p:cNvSpPr txBox="1"/>
          <p:nvPr/>
        </p:nvSpPr>
        <p:spPr>
          <a:xfrm>
            <a:off x="8083296" y="4800600"/>
            <a:ext cx="1517904" cy="502920"/>
          </a:xfrm>
          <a:prstGeom prst="rect">
            <a:avLst/>
          </a:prstGeom>
          <a:noFill/>
          <a:ln/>
        </p:spPr>
        <p:txBody>
          <a:bodyPr wrap="square" lIns="0" tIns="0" rIns="0" bIns="0" rtlCol="0" anchor="ctr"/>
          <a:lstStyle/>
          <a:p>
            <a:pPr indent="0" marL="0">
              <a:buNone/>
            </a:pPr>
            <a:r>
              <a:rPr lang="en-US" sz="1200" b="1" dirty="0">
                <a:solidFill>
                  <a:schemeClr val="bg1"/>
                </a:solidFill>
                <a:latin typeface="Consolas" pitchFamily="34" charset="0"/>
                <a:ea typeface="Consolas" pitchFamily="34" charset="-122"/>
                <a:cs typeface="Consolas" pitchFamily="34" charset="-120"/>
              </a:rPr>
              <a:t>hybrid_curiosity</a:t>
            </a:r>
            <a:endParaRPr lang="en-US" sz="1200" dirty="0"/>
          </a:p>
        </p:txBody>
      </p:sp>
      <p:sp>
        <p:nvSpPr>
          <p:cNvPr id="44" name="Text 42"/>
          <p:cNvSpPr txBox="1"/>
          <p:nvPr/>
        </p:nvSpPr>
        <p:spPr>
          <a:xfrm>
            <a:off x="8083296" y="5349240"/>
            <a:ext cx="1517904" cy="685800"/>
          </a:xfrm>
          <a:prstGeom prst="rect">
            <a:avLst/>
          </a:prstGeom>
          <a:noFill/>
          <a:ln/>
        </p:spPr>
        <p:txBody>
          <a:bodyPr wrap="square" lIns="0" tIns="0" rIns="0" bIns="0" rtlCol="0" anchor="t"/>
          <a:lstStyle/>
          <a:p>
            <a:pPr indent="0" marL="0">
              <a:buNone/>
            </a:pPr>
            <a:r>
              <a:rPr lang="en-US" sz="1300" dirty="0">
                <a:solidFill>
                  <a:schemeClr val="bg1"/>
                </a:solidFill>
              </a:rPr>
              <a:t>structure + RL</a:t>
            </a:r>
            <a:endParaRPr lang="en-US" sz="1300" dirty="0"/>
          </a:p>
        </p:txBody>
      </p:sp>
      <p:sp>
        <p:nvSpPr>
          <p:cNvPr id="45" name="rung5"/>
          <p:cNvSpPr/>
          <p:nvPr/>
        </p:nvSpPr>
        <p:spPr>
          <a:xfrm>
            <a:off x="9829800" y="4681728"/>
            <a:ext cx="1719072" cy="1463040"/>
          </a:xfrm>
          <a:prstGeom prst="roundRect">
            <a:avLst>
              <a:gd name="adj" fmla="val 6250"/>
            </a:avLst>
          </a:prstGeom>
          <a:solidFill>
            <a:schemeClr val="tx1"/>
          </a:solidFill>
          <a:ln w="12700">
            <a:solidFill>
              <a:schemeClr val="tx1"/>
            </a:solidFill>
            <a:prstDash val="solid"/>
          </a:ln>
        </p:spPr>
      </p:sp>
      <p:sp>
        <p:nvSpPr>
          <p:cNvPr id="46" name="Text 44"/>
          <p:cNvSpPr txBox="1"/>
          <p:nvPr/>
        </p:nvSpPr>
        <p:spPr>
          <a:xfrm>
            <a:off x="9939528" y="4800600"/>
            <a:ext cx="1517904" cy="502920"/>
          </a:xfrm>
          <a:prstGeom prst="rect">
            <a:avLst/>
          </a:prstGeom>
          <a:noFill/>
          <a:ln/>
        </p:spPr>
        <p:txBody>
          <a:bodyPr wrap="square" lIns="0" tIns="0" rIns="0" bIns="0" rtlCol="0" anchor="ctr"/>
          <a:lstStyle/>
          <a:p>
            <a:pPr indent="0" marL="0">
              <a:buNone/>
            </a:pPr>
            <a:r>
              <a:rPr lang="en-US" sz="1200" b="1" dirty="0">
                <a:solidFill>
                  <a:schemeClr val="bg1"/>
                </a:solidFill>
                <a:latin typeface="Consolas" pitchFamily="34" charset="0"/>
                <a:ea typeface="Consolas" pitchFamily="34" charset="-122"/>
                <a:cs typeface="Consolas" pitchFamily="34" charset="-120"/>
              </a:rPr>
              <a:t>hybrid_final</a:t>
            </a:r>
            <a:endParaRPr lang="en-US" sz="1200" dirty="0"/>
          </a:p>
        </p:txBody>
      </p:sp>
      <p:sp>
        <p:nvSpPr>
          <p:cNvPr id="47" name="Text 45"/>
          <p:cNvSpPr txBox="1"/>
          <p:nvPr/>
        </p:nvSpPr>
        <p:spPr>
          <a:xfrm>
            <a:off x="9939528" y="5349240"/>
            <a:ext cx="1517904" cy="685800"/>
          </a:xfrm>
          <a:prstGeom prst="rect">
            <a:avLst/>
          </a:prstGeom>
          <a:noFill/>
          <a:ln/>
        </p:spPr>
        <p:txBody>
          <a:bodyPr wrap="square" lIns="0" tIns="0" rIns="0" bIns="0" rtlCol="0" anchor="t"/>
          <a:lstStyle/>
          <a:p>
            <a:pPr indent="0" marL="0">
              <a:buNone/>
            </a:pPr>
            <a:r>
              <a:rPr lang="en-US" sz="1300" dirty="0">
                <a:solidFill>
                  <a:schemeClr val="bg1"/>
                </a:solidFill>
              </a:rPr>
              <a:t>tuned structure</a:t>
            </a:r>
            <a:endParaRPr lang="en-US" sz="13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05 · Methodology</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Arm 1 · random</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The honest baseline: no structure, no learning</a:t>
            </a:r>
            <a:endParaRPr lang="en-US" sz="1700" dirty="0"/>
          </a:p>
        </p:txBody>
      </p:sp>
      <p:sp>
        <p:nvSpPr>
          <p:cNvPr id="5" name="motivation"/>
          <p:cNvSpPr/>
          <p:nvPr/>
        </p:nvSpPr>
        <p:spPr>
          <a:xfrm>
            <a:off x="548640" y="1783080"/>
            <a:ext cx="5257800" cy="1234440"/>
          </a:xfrm>
          <a:prstGeom prst="roundRect">
            <a:avLst>
              <a:gd name="adj" fmla="val 7407"/>
            </a:avLst>
          </a:prstGeom>
          <a:solidFill>
            <a:schemeClr val="bg2"/>
          </a:solidFill>
          <a:ln w="12700">
            <a:solidFill>
              <a:schemeClr val="bg2"/>
            </a:solidFill>
            <a:prstDash val="solid"/>
          </a:ln>
        </p:spPr>
      </p:sp>
      <p:sp>
        <p:nvSpPr>
          <p:cNvPr id="6" name="Text 4"/>
          <p:cNvSpPr txBox="1"/>
          <p:nvPr/>
        </p:nvSpPr>
        <p:spPr>
          <a:xfrm>
            <a:off x="777240" y="1874520"/>
            <a:ext cx="4572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MOTIVATION</a:t>
            </a:r>
            <a:endParaRPr lang="en-US" sz="1200" dirty="0"/>
          </a:p>
        </p:txBody>
      </p:sp>
      <p:sp>
        <p:nvSpPr>
          <p:cNvPr id="7" name="Text 5"/>
          <p:cNvSpPr txBox="1"/>
          <p:nvPr/>
        </p:nvSpPr>
        <p:spPr>
          <a:xfrm>
            <a:off x="777240" y="2176272"/>
            <a:ext cx="4846320" cy="804672"/>
          </a:xfrm>
          <a:prstGeom prst="rect">
            <a:avLst/>
          </a:prstGeom>
          <a:noFill/>
          <a:ln/>
        </p:spPr>
        <p:txBody>
          <a:bodyPr wrap="square" lIns="0" tIns="0" rIns="0" bIns="0" rtlCol="0" anchor="t"/>
          <a:lstStyle/>
          <a:p>
            <a:pPr indent="0" marL="0">
              <a:buNone/>
            </a:pPr>
            <a:r>
              <a:rPr lang="en-US" sz="1400" dirty="0">
                <a:solidFill>
                  <a:schemeClr val="tx1"/>
                </a:solidFill>
              </a:rPr>
              <a:t>Any tester has to beat chance. Random exploration is cheap, and on applications with shallow faults it is surprisingly strong.</a:t>
            </a:r>
            <a:endParaRPr lang="en-US" sz="1400" dirty="0"/>
          </a:p>
        </p:txBody>
      </p:sp>
      <p:sp>
        <p:nvSpPr>
          <p:cNvPr id="8" name="Text 6"/>
          <p:cNvSpPr txBox="1"/>
          <p:nvPr/>
        </p:nvSpPr>
        <p:spPr>
          <a:xfrm>
            <a:off x="548640" y="3154680"/>
            <a:ext cx="45720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HOW IT WORKS</a:t>
            </a:r>
            <a:endParaRPr lang="en-US" sz="1200" dirty="0"/>
          </a:p>
        </p:txBody>
      </p:sp>
      <p:sp>
        <p:nvSpPr>
          <p:cNvPr id="9" name="Text 7"/>
          <p:cNvSpPr txBox="1"/>
          <p:nvPr/>
        </p:nvSpPr>
        <p:spPr>
          <a:xfrm>
            <a:off x="548640" y="3456432"/>
            <a:ext cx="5257800" cy="17830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Looks at the actions available on the current page</a:t>
            </a:r>
            <a:endParaRPr lang="en-US" sz="1400" dirty="0"/>
          </a:p>
          <a:p>
            <a:pPr marL="342900" indent="-342900">
              <a:spcAft>
                <a:spcPts val="400"/>
              </a:spcAft>
              <a:buSzPct val="100000"/>
              <a:buChar char="•"/>
            </a:pPr>
            <a:r>
              <a:rPr lang="en-US" sz="1400" dirty="0">
                <a:solidFill>
                  <a:schemeClr val="tx1"/>
                </a:solidFill>
              </a:rPr>
              <a:t>Picks one uniformly at random</a:t>
            </a:r>
            <a:endParaRPr lang="en-US" sz="1400" dirty="0"/>
          </a:p>
          <a:p>
            <a:pPr marL="342900" indent="-342900">
              <a:spcAft>
                <a:spcPts val="400"/>
              </a:spcAft>
              <a:buSzPct val="100000"/>
              <a:buChar char="•"/>
            </a:pPr>
            <a:r>
              <a:rPr lang="en-US" sz="1400" dirty="0">
                <a:solidFill>
                  <a:schemeClr val="tx1"/>
                </a:solidFill>
              </a:rPr>
              <a:t>Same verifier as every other arm</a:t>
            </a:r>
            <a:endParaRPr lang="en-US" sz="1400" dirty="0"/>
          </a:p>
        </p:txBody>
      </p:sp>
      <p:sp>
        <p:nvSpPr>
          <p:cNvPr id="10" name="formula"/>
          <p:cNvSpPr/>
          <p:nvPr/>
        </p:nvSpPr>
        <p:spPr>
          <a:xfrm>
            <a:off x="6080760" y="1783080"/>
            <a:ext cx="5532120" cy="2103120"/>
          </a:xfrm>
          <a:prstGeom prst="roundRect">
            <a:avLst>
              <a:gd name="adj" fmla="val 4348"/>
            </a:avLst>
          </a:prstGeom>
          <a:solidFill>
            <a:schemeClr val="tx1"/>
          </a:solidFill>
          <a:ln w="12700">
            <a:solidFill>
              <a:schemeClr val="tx1"/>
            </a:solidFill>
            <a:prstDash val="solid"/>
          </a:ln>
        </p:spPr>
      </p:sp>
      <p:sp>
        <p:nvSpPr>
          <p:cNvPr id="11" name="Text 9"/>
          <p:cNvSpPr txBox="1"/>
          <p:nvPr/>
        </p:nvSpPr>
        <p:spPr>
          <a:xfrm>
            <a:off x="6355080" y="1874520"/>
            <a:ext cx="4572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FORMULA</a:t>
            </a:r>
            <a:endParaRPr lang="en-US" sz="1200" dirty="0"/>
          </a:p>
        </p:txBody>
      </p:sp>
      <p:sp>
        <p:nvSpPr>
          <p:cNvPr id="12" name="Text 10"/>
          <p:cNvSpPr txBox="1"/>
          <p:nvPr/>
        </p:nvSpPr>
        <p:spPr>
          <a:xfrm>
            <a:off x="6355080" y="2176272"/>
            <a:ext cx="5074920" cy="1664208"/>
          </a:xfrm>
          <a:prstGeom prst="rect">
            <a:avLst/>
          </a:prstGeom>
          <a:noFill/>
          <a:ln/>
        </p:spPr>
        <p:txBody>
          <a:bodyPr wrap="square" lIns="0" tIns="0" rIns="0" bIns="0" rtlCol="0" anchor="t"/>
          <a:lstStyle/>
          <a:p>
            <a:pPr indent="0" marL="0">
              <a:spcAft>
                <a:spcPts val="400"/>
              </a:spcAft>
              <a:buNone/>
            </a:pPr>
            <a:r>
              <a:rPr lang="en-US" sz="1400" b="1" dirty="0">
                <a:solidFill>
                  <a:srgbClr val="FFFFFF"/>
                </a:solidFill>
              </a:rPr>
              <a:t>π(a | s) = 1 / |A(s)|</a:t>
            </a:r>
            <a:endParaRPr lang="en-US" sz="1400" dirty="0"/>
          </a:p>
          <a:p>
            <a:pPr indent="0" marL="0">
              <a:spcAft>
                <a:spcPts val="400"/>
              </a:spcAft>
              <a:buNone/>
            </a:pPr>
            <a:r>
              <a:rPr lang="en-US" sz="1150" dirty="0">
                <a:solidFill>
                  <a:srgbClr val="D3EBEA"/>
                </a:solidFill>
              </a:rPr>
              <a:t>A(s): the valid actions on page s</a:t>
            </a:r>
            <a:endParaRPr lang="en-US" sz="1400" dirty="0"/>
          </a:p>
          <a:p>
            <a:pPr indent="0" marL="0">
              <a:spcAft>
                <a:spcPts val="400"/>
              </a:spcAft>
              <a:buNone/>
            </a:pPr>
            <a:r>
              <a:rPr lang="en-US" sz="1400" dirty="0">
                <a:solidFill>
                  <a:srgbClr val="FFFFFF"/>
                </a:solidFill>
              </a:rPr>
              <a:t> </a:t>
            </a:r>
            <a:endParaRPr lang="en-US" sz="1400" dirty="0"/>
          </a:p>
          <a:p>
            <a:pPr indent="0" marL="0">
              <a:spcAft>
                <a:spcPts val="400"/>
              </a:spcAft>
              <a:buNone/>
            </a:pPr>
            <a:r>
              <a:rPr lang="en-US" sz="1150" dirty="0">
                <a:solidFill>
                  <a:srgbClr val="D3EBEA"/>
                </a:solidFill>
              </a:rPr>
              <a:t>No memory, no reward, no learning</a:t>
            </a:r>
            <a:endParaRPr lang="en-US" sz="1400" dirty="0"/>
          </a:p>
        </p:txBody>
      </p:sp>
      <p:sp>
        <p:nvSpPr>
          <p:cNvPr id="13" name="why"/>
          <p:cNvSpPr/>
          <p:nvPr/>
        </p:nvSpPr>
        <p:spPr>
          <a:xfrm>
            <a:off x="6080760" y="4023360"/>
            <a:ext cx="5532120" cy="1216152"/>
          </a:xfrm>
          <a:prstGeom prst="roundRect">
            <a:avLst>
              <a:gd name="adj" fmla="val 7519"/>
            </a:avLst>
          </a:prstGeom>
          <a:solidFill>
            <a:schemeClr val="bg2"/>
          </a:solidFill>
          <a:ln w="12700">
            <a:solidFill>
              <a:schemeClr val="bg2"/>
            </a:solidFill>
            <a:prstDash val="solid"/>
          </a:ln>
        </p:spPr>
      </p:sp>
      <p:sp>
        <p:nvSpPr>
          <p:cNvPr id="14" name="Text 12"/>
          <p:cNvSpPr txBox="1"/>
          <p:nvPr/>
        </p:nvSpPr>
        <p:spPr>
          <a:xfrm>
            <a:off x="6309360" y="4114800"/>
            <a:ext cx="5029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WHY IT PERFORMED THIS WAY</a:t>
            </a:r>
            <a:endParaRPr lang="en-US" sz="1200" dirty="0"/>
          </a:p>
        </p:txBody>
      </p:sp>
      <p:sp>
        <p:nvSpPr>
          <p:cNvPr id="15" name="Text 13"/>
          <p:cNvSpPr txBox="1"/>
          <p:nvPr/>
        </p:nvSpPr>
        <p:spPr>
          <a:xfrm>
            <a:off x="6309360" y="4416552"/>
            <a:ext cx="5120640" cy="777240"/>
          </a:xfrm>
          <a:prstGeom prst="rect">
            <a:avLst/>
          </a:prstGeom>
          <a:noFill/>
          <a:ln/>
        </p:spPr>
        <p:txBody>
          <a:bodyPr wrap="square" lIns="0" tIns="0" rIns="0" bIns="0" rtlCol="0" anchor="t"/>
          <a:lstStyle/>
          <a:p>
            <a:pPr indent="0" marL="0">
              <a:buNone/>
            </a:pPr>
            <a:r>
              <a:rPr lang="en-US" sz="1300" dirty="0">
                <a:solidFill>
                  <a:schemeClr val="tx1"/>
                </a:solidFill>
              </a:rPr>
              <a:t>Random finds shallow faults by chance; it rarely completes the deliberate multi-step sequences deep faults need.</a:t>
            </a:r>
            <a:endParaRPr lang="en-US" sz="1300" dirty="0"/>
          </a:p>
        </p:txBody>
      </p:sp>
      <p:sp>
        <p:nvSpPr>
          <p:cNvPr id="16" name="result0"/>
          <p:cNvSpPr/>
          <p:nvPr/>
        </p:nvSpPr>
        <p:spPr>
          <a:xfrm>
            <a:off x="548640" y="5394960"/>
            <a:ext cx="2628900" cy="850392"/>
          </a:xfrm>
          <a:prstGeom prst="roundRect">
            <a:avLst>
              <a:gd name="adj" fmla="val 10753"/>
            </a:avLst>
          </a:prstGeom>
          <a:solidFill>
            <a:schemeClr val="accent1"/>
          </a:solidFill>
          <a:ln w="12700">
            <a:solidFill>
              <a:schemeClr val="accent1"/>
            </a:solidFill>
            <a:prstDash val="solid"/>
          </a:ln>
        </p:spPr>
      </p:sp>
      <p:sp>
        <p:nvSpPr>
          <p:cNvPr id="17" name="Text 15"/>
          <p:cNvSpPr txBox="1"/>
          <p:nvPr/>
        </p:nvSpPr>
        <p:spPr>
          <a:xfrm>
            <a:off x="713232" y="5413248"/>
            <a:ext cx="2354580" cy="438912"/>
          </a:xfrm>
          <a:prstGeom prst="rect">
            <a:avLst/>
          </a:prstGeom>
          <a:noFill/>
          <a:ln/>
        </p:spPr>
        <p:txBody>
          <a:bodyPr wrap="square" lIns="0" tIns="0" rIns="0" bIns="0" rtlCol="0" anchor="ctr"/>
          <a:lstStyle/>
          <a:p>
            <a:pPr indent="0" marL="0">
              <a:buNone/>
            </a:pPr>
            <a:r>
              <a:rPr lang="en-US" sz="2100" b="1" dirty="0">
                <a:solidFill>
                  <a:schemeClr val="bg1"/>
                </a:solidFill>
              </a:rPr>
              <a:t>13 / 24</a:t>
            </a:r>
            <a:endParaRPr lang="en-US" sz="2100" dirty="0"/>
          </a:p>
        </p:txBody>
      </p:sp>
      <p:sp>
        <p:nvSpPr>
          <p:cNvPr id="18" name="Text 16"/>
          <p:cNvSpPr txBox="1"/>
          <p:nvPr/>
        </p:nvSpPr>
        <p:spPr>
          <a:xfrm>
            <a:off x="713232" y="5852160"/>
            <a:ext cx="2354580" cy="365760"/>
          </a:xfrm>
          <a:prstGeom prst="rect">
            <a:avLst/>
          </a:prstGeom>
          <a:noFill/>
          <a:ln/>
        </p:spPr>
        <p:txBody>
          <a:bodyPr wrap="square" lIns="0" tIns="0" rIns="0" bIns="0" rtlCol="0" anchor="t"/>
          <a:lstStyle/>
          <a:p>
            <a:pPr indent="0" marL="0">
              <a:buNone/>
            </a:pPr>
            <a:r>
              <a:rPr lang="en-US" sz="1100" dirty="0">
                <a:solidFill>
                  <a:schemeClr val="bg1"/>
                </a:solidFill>
              </a:rPr>
              <a:t>held-out faults verified</a:t>
            </a:r>
            <a:endParaRPr lang="en-US" sz="1100" dirty="0"/>
          </a:p>
        </p:txBody>
      </p:sp>
      <p:sp>
        <p:nvSpPr>
          <p:cNvPr id="19" name="result1"/>
          <p:cNvSpPr/>
          <p:nvPr/>
        </p:nvSpPr>
        <p:spPr>
          <a:xfrm>
            <a:off x="3360420" y="5394960"/>
            <a:ext cx="2628900" cy="850392"/>
          </a:xfrm>
          <a:prstGeom prst="roundRect">
            <a:avLst>
              <a:gd name="adj" fmla="val 10753"/>
            </a:avLst>
          </a:prstGeom>
          <a:solidFill>
            <a:schemeClr val="bg2"/>
          </a:solidFill>
          <a:ln w="12700">
            <a:solidFill>
              <a:schemeClr val="bg2"/>
            </a:solidFill>
            <a:prstDash val="solid"/>
          </a:ln>
        </p:spPr>
      </p:sp>
      <p:sp>
        <p:nvSpPr>
          <p:cNvPr id="20" name="Text 18"/>
          <p:cNvSpPr txBox="1"/>
          <p:nvPr/>
        </p:nvSpPr>
        <p:spPr>
          <a:xfrm>
            <a:off x="3525012" y="5413248"/>
            <a:ext cx="2354580" cy="438912"/>
          </a:xfrm>
          <a:prstGeom prst="rect">
            <a:avLst/>
          </a:prstGeom>
          <a:noFill/>
          <a:ln/>
        </p:spPr>
        <p:txBody>
          <a:bodyPr wrap="square" lIns="0" tIns="0" rIns="0" bIns="0" rtlCol="0" anchor="ctr"/>
          <a:lstStyle/>
          <a:p>
            <a:pPr indent="0" marL="0">
              <a:buNone/>
            </a:pPr>
            <a:r>
              <a:rPr lang="en-US" sz="2100" b="1" dirty="0">
                <a:solidFill>
                  <a:schemeClr val="accent1"/>
                </a:solidFill>
              </a:rPr>
              <a:t>978</a:t>
            </a:r>
            <a:endParaRPr lang="en-US" sz="2100" dirty="0"/>
          </a:p>
        </p:txBody>
      </p:sp>
      <p:sp>
        <p:nvSpPr>
          <p:cNvPr id="21" name="Text 19"/>
          <p:cNvSpPr txBox="1"/>
          <p:nvPr/>
        </p:nvSpPr>
        <p:spPr>
          <a:xfrm>
            <a:off x="3525012" y="5852160"/>
            <a:ext cx="2354580" cy="365760"/>
          </a:xfrm>
          <a:prstGeom prst="rect">
            <a:avLst/>
          </a:prstGeom>
          <a:noFill/>
          <a:ln/>
        </p:spPr>
        <p:txBody>
          <a:bodyPr wrap="square" lIns="0" tIns="0" rIns="0" bIns="0" rtlCol="0" anchor="t"/>
          <a:lstStyle/>
          <a:p>
            <a:pPr indent="0" marL="0">
              <a:buNone/>
            </a:pPr>
            <a:r>
              <a:rPr lang="en-US" sz="1100" dirty="0">
                <a:solidFill>
                  <a:schemeClr val="tx2"/>
                </a:solidFill>
              </a:rPr>
              <a:t>mean interactions to first fault (worst)</a:t>
            </a:r>
            <a:endParaRPr lang="en-US" sz="1100" dirty="0"/>
          </a:p>
        </p:txBody>
      </p:sp>
      <p:sp>
        <p:nvSpPr>
          <p:cNvPr id="22" name="result2"/>
          <p:cNvSpPr/>
          <p:nvPr/>
        </p:nvSpPr>
        <p:spPr>
          <a:xfrm>
            <a:off x="6172200" y="5394960"/>
            <a:ext cx="2628900" cy="850392"/>
          </a:xfrm>
          <a:prstGeom prst="roundRect">
            <a:avLst>
              <a:gd name="adj" fmla="val 10753"/>
            </a:avLst>
          </a:prstGeom>
          <a:solidFill>
            <a:schemeClr val="bg2"/>
          </a:solidFill>
          <a:ln w="12700">
            <a:solidFill>
              <a:schemeClr val="bg2"/>
            </a:solidFill>
            <a:prstDash val="solid"/>
          </a:ln>
        </p:spPr>
      </p:sp>
      <p:sp>
        <p:nvSpPr>
          <p:cNvPr id="23" name="Text 21"/>
          <p:cNvSpPr txBox="1"/>
          <p:nvPr/>
        </p:nvSpPr>
        <p:spPr>
          <a:xfrm>
            <a:off x="6336792" y="5413248"/>
            <a:ext cx="2354580" cy="438912"/>
          </a:xfrm>
          <a:prstGeom prst="rect">
            <a:avLst/>
          </a:prstGeom>
          <a:noFill/>
          <a:ln/>
        </p:spPr>
        <p:txBody>
          <a:bodyPr wrap="square" lIns="0" tIns="0" rIns="0" bIns="0" rtlCol="0" anchor="ctr"/>
          <a:lstStyle/>
          <a:p>
            <a:pPr indent="0" marL="0">
              <a:buNone/>
            </a:pPr>
            <a:r>
              <a:rPr lang="en-US" sz="2100" b="1" dirty="0">
                <a:solidFill>
                  <a:schemeClr val="accent1"/>
                </a:solidFill>
              </a:rPr>
              <a:t>5 of 10</a:t>
            </a:r>
            <a:endParaRPr lang="en-US" sz="2100" dirty="0"/>
          </a:p>
        </p:txBody>
      </p:sp>
      <p:sp>
        <p:nvSpPr>
          <p:cNvPr id="24" name="Text 22"/>
          <p:cNvSpPr txBox="1"/>
          <p:nvPr/>
        </p:nvSpPr>
        <p:spPr>
          <a:xfrm>
            <a:off x="6336792" y="5852160"/>
            <a:ext cx="2354580" cy="365760"/>
          </a:xfrm>
          <a:prstGeom prst="rect">
            <a:avLst/>
          </a:prstGeom>
          <a:noFill/>
          <a:ln/>
        </p:spPr>
        <p:txBody>
          <a:bodyPr wrap="square" lIns="0" tIns="0" rIns="0" bIns="0" rtlCol="0" anchor="t"/>
          <a:lstStyle/>
          <a:p>
            <a:pPr indent="0" marL="0">
              <a:buNone/>
            </a:pPr>
            <a:r>
              <a:rPr lang="en-US" sz="1100" dirty="0">
                <a:solidFill>
                  <a:schemeClr val="tx2"/>
                </a:solidFill>
              </a:rPr>
              <a:t>moderate-depth faults</a:t>
            </a:r>
            <a:endParaRPr lang="en-US" sz="1100" dirty="0"/>
          </a:p>
        </p:txBody>
      </p:sp>
      <p:sp>
        <p:nvSpPr>
          <p:cNvPr id="25" name="result3"/>
          <p:cNvSpPr/>
          <p:nvPr/>
        </p:nvSpPr>
        <p:spPr>
          <a:xfrm>
            <a:off x="8983980" y="5394960"/>
            <a:ext cx="2628900" cy="850392"/>
          </a:xfrm>
          <a:prstGeom prst="roundRect">
            <a:avLst>
              <a:gd name="adj" fmla="val 10753"/>
            </a:avLst>
          </a:prstGeom>
          <a:solidFill>
            <a:schemeClr val="bg2"/>
          </a:solidFill>
          <a:ln w="12700">
            <a:solidFill>
              <a:schemeClr val="bg2"/>
            </a:solidFill>
            <a:prstDash val="solid"/>
          </a:ln>
        </p:spPr>
      </p:sp>
      <p:sp>
        <p:nvSpPr>
          <p:cNvPr id="26" name="Text 24"/>
          <p:cNvSpPr txBox="1"/>
          <p:nvPr/>
        </p:nvSpPr>
        <p:spPr>
          <a:xfrm>
            <a:off x="9148572" y="5413248"/>
            <a:ext cx="2354580" cy="438912"/>
          </a:xfrm>
          <a:prstGeom prst="rect">
            <a:avLst/>
          </a:prstGeom>
          <a:noFill/>
          <a:ln/>
        </p:spPr>
        <p:txBody>
          <a:bodyPr wrap="square" lIns="0" tIns="0" rIns="0" bIns="0" rtlCol="0" anchor="ctr"/>
          <a:lstStyle/>
          <a:p>
            <a:pPr indent="0" marL="0">
              <a:buNone/>
            </a:pPr>
            <a:r>
              <a:rPr lang="en-US" sz="2100" b="1" dirty="0">
                <a:solidFill>
                  <a:schemeClr val="accent1"/>
                </a:solidFill>
              </a:rPr>
              <a:t>40.3%</a:t>
            </a:r>
            <a:endParaRPr lang="en-US" sz="2100" dirty="0"/>
          </a:p>
        </p:txBody>
      </p:sp>
      <p:sp>
        <p:nvSpPr>
          <p:cNvPr id="27" name="Text 25"/>
          <p:cNvSpPr txBox="1"/>
          <p:nvPr/>
        </p:nvSpPr>
        <p:spPr>
          <a:xfrm>
            <a:off x="9148572" y="5852160"/>
            <a:ext cx="2354580" cy="365760"/>
          </a:xfrm>
          <a:prstGeom prst="rect">
            <a:avLst/>
          </a:prstGeom>
          <a:noFill/>
          <a:ln/>
        </p:spPr>
        <p:txBody>
          <a:bodyPr wrap="square" lIns="0" tIns="0" rIns="0" bIns="0" rtlCol="0" anchor="t"/>
          <a:lstStyle/>
          <a:p>
            <a:pPr indent="0" marL="0">
              <a:buNone/>
            </a:pPr>
            <a:r>
              <a:rPr lang="en-US" sz="1100" dirty="0">
                <a:solidFill>
                  <a:schemeClr val="tx2"/>
                </a:solidFill>
              </a:rPr>
              <a:t>external branch coverage (round 1)</a:t>
            </a:r>
            <a:endParaRPr lang="en-US" sz="11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05 · Methodology</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Arm 2 · v1 deep Q-network</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Deep RL that scores every clickable element, pretrained on other applications</a:t>
            </a:r>
            <a:endParaRPr lang="en-US" sz="1700" dirty="0"/>
          </a:p>
        </p:txBody>
      </p:sp>
      <p:sp>
        <p:nvSpPr>
          <p:cNvPr id="5" name="motivation"/>
          <p:cNvSpPr/>
          <p:nvPr/>
        </p:nvSpPr>
        <p:spPr>
          <a:xfrm>
            <a:off x="548640" y="1783080"/>
            <a:ext cx="5257800" cy="1234440"/>
          </a:xfrm>
          <a:prstGeom prst="roundRect">
            <a:avLst>
              <a:gd name="adj" fmla="val 7407"/>
            </a:avLst>
          </a:prstGeom>
          <a:solidFill>
            <a:schemeClr val="bg2"/>
          </a:solidFill>
          <a:ln w="12700">
            <a:solidFill>
              <a:schemeClr val="bg2"/>
            </a:solidFill>
            <a:prstDash val="solid"/>
          </a:ln>
        </p:spPr>
      </p:sp>
      <p:sp>
        <p:nvSpPr>
          <p:cNvPr id="6" name="Text 4"/>
          <p:cNvSpPr txBox="1"/>
          <p:nvPr/>
        </p:nvSpPr>
        <p:spPr>
          <a:xfrm>
            <a:off x="777240" y="1874520"/>
            <a:ext cx="4572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MOTIVATION</a:t>
            </a:r>
            <a:endParaRPr lang="en-US" sz="1200" dirty="0"/>
          </a:p>
        </p:txBody>
      </p:sp>
      <p:sp>
        <p:nvSpPr>
          <p:cNvPr id="7" name="Text 5"/>
          <p:cNvSpPr txBox="1"/>
          <p:nvPr/>
        </p:nvSpPr>
        <p:spPr>
          <a:xfrm>
            <a:off x="777240" y="2176272"/>
            <a:ext cx="4846320" cy="804672"/>
          </a:xfrm>
          <a:prstGeom prst="rect">
            <a:avLst/>
          </a:prstGeom>
          <a:noFill/>
          <a:ln/>
        </p:spPr>
        <p:txBody>
          <a:bodyPr wrap="square" lIns="0" tIns="0" rIns="0" bIns="0" rtlCol="0" anchor="t"/>
          <a:lstStyle/>
          <a:p>
            <a:pPr indent="0" marL="0">
              <a:buNone/>
            </a:pPr>
            <a:r>
              <a:rPr lang="en-US" sz="1400" dirty="0">
                <a:solidFill>
                  <a:schemeClr val="tx1"/>
                </a:solidFill>
              </a:rPr>
              <a:t>Our original hypothesis: a deep RL tester trained on several apps learns which actions find bugs, and that knowledge transfers to a new app.</a:t>
            </a:r>
            <a:endParaRPr lang="en-US" sz="1400" dirty="0"/>
          </a:p>
        </p:txBody>
      </p:sp>
      <p:sp>
        <p:nvSpPr>
          <p:cNvPr id="8" name="Text 6"/>
          <p:cNvSpPr txBox="1"/>
          <p:nvPr/>
        </p:nvSpPr>
        <p:spPr>
          <a:xfrm>
            <a:off x="548640" y="3154680"/>
            <a:ext cx="45720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HOW IT WORKS</a:t>
            </a:r>
            <a:endParaRPr lang="en-US" sz="1200" dirty="0"/>
          </a:p>
        </p:txBody>
      </p:sp>
      <p:sp>
        <p:nvSpPr>
          <p:cNvPr id="9" name="Text 7"/>
          <p:cNvSpPr txBox="1"/>
          <p:nvPr/>
        </p:nvSpPr>
        <p:spPr>
          <a:xfrm>
            <a:off x="548640" y="3456432"/>
            <a:ext cx="5257800" cy="17830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State: 25 numbers about the page and episode; action: 95 features</a:t>
            </a:r>
            <a:endParaRPr lang="en-US" sz="1400" dirty="0"/>
          </a:p>
          <a:p>
            <a:pPr marL="342900" indent="-342900">
              <a:spcAft>
                <a:spcPts val="400"/>
              </a:spcAft>
              <a:buSzPct val="100000"/>
              <a:buChar char="•"/>
            </a:pPr>
            <a:r>
              <a:rPr lang="en-US" sz="1400" dirty="0">
                <a:solidFill>
                  <a:schemeClr val="tx1"/>
                </a:solidFill>
              </a:rPr>
              <a:t>One network scores each (state, action) pair, so any page works</a:t>
            </a:r>
            <a:endParaRPr lang="en-US" sz="1400" dirty="0"/>
          </a:p>
          <a:p>
            <a:pPr marL="342900" indent="-342900">
              <a:spcAft>
                <a:spcPts val="400"/>
              </a:spcAft>
              <a:buSzPct val="100000"/>
              <a:buChar char="•"/>
            </a:pPr>
            <a:r>
              <a:rPr lang="en-US" sz="1400" dirty="0">
                <a:solidFill>
                  <a:schemeClr val="tx1"/>
                </a:solidFill>
              </a:rPr>
              <a:t>Reward: novelty, revealed controls, errors, plus an LLM progress score</a:t>
            </a:r>
            <a:endParaRPr lang="en-US" sz="1400" dirty="0"/>
          </a:p>
          <a:p>
            <a:pPr marL="342900" indent="-342900">
              <a:spcAft>
                <a:spcPts val="400"/>
              </a:spcAft>
              <a:buSzPct val="100000"/>
              <a:buChar char="•"/>
            </a:pPr>
            <a:r>
              <a:rPr lang="en-US" sz="1400" dirty="0">
                <a:solidFill>
                  <a:schemeClr val="tx1"/>
                </a:solidFill>
              </a:rPr>
              <a:t>Pretrained on 5 apps, adapts online on the 6th</a:t>
            </a:r>
            <a:endParaRPr lang="en-US" sz="1400" dirty="0"/>
          </a:p>
        </p:txBody>
      </p:sp>
      <p:sp>
        <p:nvSpPr>
          <p:cNvPr id="10" name="formula"/>
          <p:cNvSpPr/>
          <p:nvPr/>
        </p:nvSpPr>
        <p:spPr>
          <a:xfrm>
            <a:off x="6080760" y="1783080"/>
            <a:ext cx="5532120" cy="2103120"/>
          </a:xfrm>
          <a:prstGeom prst="roundRect">
            <a:avLst>
              <a:gd name="adj" fmla="val 4348"/>
            </a:avLst>
          </a:prstGeom>
          <a:solidFill>
            <a:schemeClr val="tx1"/>
          </a:solidFill>
          <a:ln w="12700">
            <a:solidFill>
              <a:schemeClr val="tx1"/>
            </a:solidFill>
            <a:prstDash val="solid"/>
          </a:ln>
        </p:spPr>
      </p:sp>
      <p:sp>
        <p:nvSpPr>
          <p:cNvPr id="11" name="Text 9"/>
          <p:cNvSpPr txBox="1"/>
          <p:nvPr/>
        </p:nvSpPr>
        <p:spPr>
          <a:xfrm>
            <a:off x="6355080" y="1874520"/>
            <a:ext cx="4572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FORMULA</a:t>
            </a:r>
            <a:endParaRPr lang="en-US" sz="1200" dirty="0"/>
          </a:p>
        </p:txBody>
      </p:sp>
      <p:sp>
        <p:nvSpPr>
          <p:cNvPr id="12" name="Text 10"/>
          <p:cNvSpPr txBox="1"/>
          <p:nvPr/>
        </p:nvSpPr>
        <p:spPr>
          <a:xfrm>
            <a:off x="6355080" y="2176272"/>
            <a:ext cx="5074920" cy="1664208"/>
          </a:xfrm>
          <a:prstGeom prst="rect">
            <a:avLst/>
          </a:prstGeom>
          <a:noFill/>
          <a:ln/>
        </p:spPr>
        <p:txBody>
          <a:bodyPr wrap="square" lIns="0" tIns="0" rIns="0" bIns="0" rtlCol="0" anchor="t"/>
          <a:lstStyle/>
          <a:p>
            <a:pPr indent="0" marL="0">
              <a:spcAft>
                <a:spcPts val="400"/>
              </a:spcAft>
              <a:buNone/>
            </a:pPr>
            <a:r>
              <a:rPr lang="en-US" sz="1400" b="1" dirty="0">
                <a:solidFill>
                  <a:srgbClr val="FFFFFF"/>
                </a:solidFill>
              </a:rPr>
              <a:t>Q(s,a) = V(s) + A(s,φ(a)) − mean A</a:t>
            </a:r>
            <a:endParaRPr lang="en-US" sz="1400" dirty="0"/>
          </a:p>
          <a:p>
            <a:pPr indent="0" marL="0">
              <a:spcAft>
                <a:spcPts val="400"/>
              </a:spcAft>
              <a:buNone/>
            </a:pPr>
            <a:r>
              <a:rPr lang="en-US" sz="1400" b="1" dirty="0">
                <a:solidFill>
                  <a:srgbClr val="FFFFFF"/>
                </a:solidFill>
              </a:rPr>
              <a:t>y = r₀ + γr₁ + γ²r₂ + γ³ Q_target(s₃, argmax Q(s₃,a))</a:t>
            </a:r>
            <a:endParaRPr lang="en-US" sz="1400" dirty="0"/>
          </a:p>
          <a:p>
            <a:pPr indent="0" marL="0">
              <a:spcAft>
                <a:spcPts val="400"/>
              </a:spcAft>
              <a:buNone/>
            </a:pPr>
            <a:r>
              <a:rPr lang="en-US" sz="1150" dirty="0">
                <a:solidFill>
                  <a:srgbClr val="D3EBEA"/>
                </a:solidFill>
              </a:rPr>
              <a:t>Double DQN, 3-step returns, γ = 0.95, prioritised replay</a:t>
            </a:r>
            <a:endParaRPr lang="en-US" sz="1400" dirty="0"/>
          </a:p>
          <a:p>
            <a:pPr indent="0" marL="0">
              <a:spcAft>
                <a:spcPts val="400"/>
              </a:spcAft>
              <a:buNone/>
            </a:pPr>
            <a:r>
              <a:rPr lang="en-US" sz="1400" b="1" dirty="0">
                <a:solidFill>
                  <a:srgbClr val="FFFFFF"/>
                </a:solidFill>
              </a:rPr>
              <a:t>r = r_env + λ · max(0, Φ(s′) − max Φ so far)</a:t>
            </a:r>
            <a:endParaRPr lang="en-US" sz="1400" dirty="0"/>
          </a:p>
          <a:p>
            <a:pPr indent="0" marL="0">
              <a:spcAft>
                <a:spcPts val="400"/>
              </a:spcAft>
              <a:buNone/>
            </a:pPr>
            <a:r>
              <a:rPr lang="en-US" sz="1150" dirty="0">
                <a:solidFill>
                  <a:srgbClr val="D3EBEA"/>
                </a:solidFill>
              </a:rPr>
              <a:t>Φ: the LLM's task-progress score in [0, 1]</a:t>
            </a:r>
            <a:endParaRPr lang="en-US" sz="1400" dirty="0"/>
          </a:p>
        </p:txBody>
      </p:sp>
      <p:sp>
        <p:nvSpPr>
          <p:cNvPr id="13" name="why"/>
          <p:cNvSpPr/>
          <p:nvPr/>
        </p:nvSpPr>
        <p:spPr>
          <a:xfrm>
            <a:off x="6080760" y="4023360"/>
            <a:ext cx="5532120" cy="1216152"/>
          </a:xfrm>
          <a:prstGeom prst="roundRect">
            <a:avLst>
              <a:gd name="adj" fmla="val 7519"/>
            </a:avLst>
          </a:prstGeom>
          <a:solidFill>
            <a:schemeClr val="bg2"/>
          </a:solidFill>
          <a:ln w="12700">
            <a:solidFill>
              <a:schemeClr val="bg2"/>
            </a:solidFill>
            <a:prstDash val="solid"/>
          </a:ln>
        </p:spPr>
      </p:sp>
      <p:sp>
        <p:nvSpPr>
          <p:cNvPr id="14" name="Text 12"/>
          <p:cNvSpPr txBox="1"/>
          <p:nvPr/>
        </p:nvSpPr>
        <p:spPr>
          <a:xfrm>
            <a:off x="6309360" y="4114800"/>
            <a:ext cx="5029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WHY IT PERFORMED THIS WAY</a:t>
            </a:r>
            <a:endParaRPr lang="en-US" sz="1200" dirty="0"/>
          </a:p>
        </p:txBody>
      </p:sp>
      <p:sp>
        <p:nvSpPr>
          <p:cNvPr id="15" name="Text 13"/>
          <p:cNvSpPr txBox="1"/>
          <p:nvPr/>
        </p:nvSpPr>
        <p:spPr>
          <a:xfrm>
            <a:off x="6309360" y="4416552"/>
            <a:ext cx="5120640" cy="777240"/>
          </a:xfrm>
          <a:prstGeom prst="rect">
            <a:avLst/>
          </a:prstGeom>
          <a:noFill/>
          <a:ln/>
        </p:spPr>
        <p:txBody>
          <a:bodyPr wrap="square" lIns="0" tIns="0" rIns="0" bIns="0" rtlCol="0" anchor="t"/>
          <a:lstStyle/>
          <a:p>
            <a:pPr indent="0" marL="0">
              <a:buNone/>
            </a:pPr>
            <a:r>
              <a:rPr lang="en-US" sz="1300" dirty="0">
                <a:solidFill>
                  <a:schemeClr val="tx1"/>
                </a:solidFill>
              </a:rPr>
              <a:t>It learned useful action priors (top-1 0.56 vs 0.18 for random) but not context; 5 training apps is far below what transfer needs; the LLM reward was not aligned with faults.</a:t>
            </a:r>
            <a:endParaRPr lang="en-US" sz="1300" dirty="0"/>
          </a:p>
        </p:txBody>
      </p:sp>
      <p:sp>
        <p:nvSpPr>
          <p:cNvPr id="16" name="result0"/>
          <p:cNvSpPr/>
          <p:nvPr/>
        </p:nvSpPr>
        <p:spPr>
          <a:xfrm>
            <a:off x="548640" y="5394960"/>
            <a:ext cx="2628900" cy="850392"/>
          </a:xfrm>
          <a:prstGeom prst="roundRect">
            <a:avLst>
              <a:gd name="adj" fmla="val 10753"/>
            </a:avLst>
          </a:prstGeom>
          <a:solidFill>
            <a:schemeClr val="bg2"/>
          </a:solidFill>
          <a:ln w="12700">
            <a:solidFill>
              <a:schemeClr val="bg2"/>
            </a:solidFill>
            <a:prstDash val="solid"/>
          </a:ln>
        </p:spPr>
      </p:sp>
      <p:sp>
        <p:nvSpPr>
          <p:cNvPr id="17" name="Text 15"/>
          <p:cNvSpPr txBox="1"/>
          <p:nvPr/>
        </p:nvSpPr>
        <p:spPr>
          <a:xfrm>
            <a:off x="713232" y="5413248"/>
            <a:ext cx="2354580" cy="438912"/>
          </a:xfrm>
          <a:prstGeom prst="rect">
            <a:avLst/>
          </a:prstGeom>
          <a:noFill/>
          <a:ln/>
        </p:spPr>
        <p:txBody>
          <a:bodyPr wrap="square" lIns="0" tIns="0" rIns="0" bIns="0" rtlCol="0" anchor="ctr"/>
          <a:lstStyle/>
          <a:p>
            <a:pPr indent="0" marL="0">
              <a:buNone/>
            </a:pPr>
            <a:r>
              <a:rPr lang="en-US" sz="2100" b="1" dirty="0">
                <a:solidFill>
                  <a:schemeClr val="accent1"/>
                </a:solidFill>
              </a:rPr>
              <a:t>0</a:t>
            </a:r>
            <a:endParaRPr lang="en-US" sz="2100" dirty="0"/>
          </a:p>
        </p:txBody>
      </p:sp>
      <p:sp>
        <p:nvSpPr>
          <p:cNvPr id="18" name="Text 16"/>
          <p:cNvSpPr txBox="1"/>
          <p:nvPr/>
        </p:nvSpPr>
        <p:spPr>
          <a:xfrm>
            <a:off x="713232" y="5852160"/>
            <a:ext cx="2354580" cy="365760"/>
          </a:xfrm>
          <a:prstGeom prst="rect">
            <a:avLst/>
          </a:prstGeom>
          <a:noFill/>
          <a:ln/>
        </p:spPr>
        <p:txBody>
          <a:bodyPr wrap="square" lIns="0" tIns="0" rIns="0" bIns="0" rtlCol="0" anchor="t"/>
          <a:lstStyle/>
          <a:p>
            <a:pPr indent="0" marL="0">
              <a:buNone/>
            </a:pPr>
            <a:r>
              <a:rPr lang="en-US" sz="1100" dirty="0">
                <a:solidFill>
                  <a:schemeClr val="tx2"/>
                </a:solidFill>
              </a:rPr>
              <a:t>median transfer benefit, interval [−749, +290]</a:t>
            </a:r>
            <a:endParaRPr lang="en-US" sz="1100" dirty="0"/>
          </a:p>
        </p:txBody>
      </p:sp>
      <p:sp>
        <p:nvSpPr>
          <p:cNvPr id="19" name="result1"/>
          <p:cNvSpPr/>
          <p:nvPr/>
        </p:nvSpPr>
        <p:spPr>
          <a:xfrm>
            <a:off x="3360420" y="5394960"/>
            <a:ext cx="2628900" cy="850392"/>
          </a:xfrm>
          <a:prstGeom prst="roundRect">
            <a:avLst>
              <a:gd name="adj" fmla="val 10753"/>
            </a:avLst>
          </a:prstGeom>
          <a:solidFill>
            <a:schemeClr val="bg2"/>
          </a:solidFill>
          <a:ln w="12700">
            <a:solidFill>
              <a:schemeClr val="bg2"/>
            </a:solidFill>
            <a:prstDash val="solid"/>
          </a:ln>
        </p:spPr>
      </p:sp>
      <p:sp>
        <p:nvSpPr>
          <p:cNvPr id="20" name="Text 18"/>
          <p:cNvSpPr txBox="1"/>
          <p:nvPr/>
        </p:nvSpPr>
        <p:spPr>
          <a:xfrm>
            <a:off x="3525012" y="5413248"/>
            <a:ext cx="2354580" cy="438912"/>
          </a:xfrm>
          <a:prstGeom prst="rect">
            <a:avLst/>
          </a:prstGeom>
          <a:noFill/>
          <a:ln/>
        </p:spPr>
        <p:txBody>
          <a:bodyPr wrap="square" lIns="0" tIns="0" rIns="0" bIns="0" rtlCol="0" anchor="ctr"/>
          <a:lstStyle/>
          <a:p>
            <a:pPr indent="0" marL="0">
              <a:buNone/>
            </a:pPr>
            <a:r>
              <a:rPr lang="en-US" sz="2100" b="1" dirty="0">
                <a:solidFill>
                  <a:schemeClr val="accent1"/>
                </a:solidFill>
              </a:rPr>
              <a:t>0.51</a:t>
            </a:r>
            <a:endParaRPr lang="en-US" sz="2100" dirty="0"/>
          </a:p>
        </p:txBody>
      </p:sp>
      <p:sp>
        <p:nvSpPr>
          <p:cNvPr id="21" name="Text 19"/>
          <p:cNvSpPr txBox="1"/>
          <p:nvPr/>
        </p:nvSpPr>
        <p:spPr>
          <a:xfrm>
            <a:off x="3525012" y="5852160"/>
            <a:ext cx="2354580" cy="365760"/>
          </a:xfrm>
          <a:prstGeom prst="rect">
            <a:avLst/>
          </a:prstGeom>
          <a:noFill/>
          <a:ln/>
        </p:spPr>
        <p:txBody>
          <a:bodyPr wrap="square" lIns="0" tIns="0" rIns="0" bIns="0" rtlCol="0" anchor="t"/>
          <a:lstStyle/>
          <a:p>
            <a:pPr indent="0" marL="0">
              <a:buNone/>
            </a:pPr>
            <a:r>
              <a:rPr lang="en-US" sz="1100" dirty="0">
                <a:solidFill>
                  <a:schemeClr val="tx2"/>
                </a:solidFill>
              </a:rPr>
              <a:t>AUROC for using state (bar 0.70)</a:t>
            </a:r>
            <a:endParaRPr lang="en-US" sz="1100" dirty="0"/>
          </a:p>
        </p:txBody>
      </p:sp>
      <p:sp>
        <p:nvSpPr>
          <p:cNvPr id="22" name="result2"/>
          <p:cNvSpPr/>
          <p:nvPr/>
        </p:nvSpPr>
        <p:spPr>
          <a:xfrm>
            <a:off x="6172200" y="5394960"/>
            <a:ext cx="2628900" cy="850392"/>
          </a:xfrm>
          <a:prstGeom prst="roundRect">
            <a:avLst>
              <a:gd name="adj" fmla="val 10753"/>
            </a:avLst>
          </a:prstGeom>
          <a:solidFill>
            <a:schemeClr val="bg2"/>
          </a:solidFill>
          <a:ln w="12700">
            <a:solidFill>
              <a:schemeClr val="bg2"/>
            </a:solidFill>
            <a:prstDash val="solid"/>
          </a:ln>
        </p:spPr>
      </p:sp>
      <p:sp>
        <p:nvSpPr>
          <p:cNvPr id="23" name="Text 21"/>
          <p:cNvSpPr txBox="1"/>
          <p:nvPr/>
        </p:nvSpPr>
        <p:spPr>
          <a:xfrm>
            <a:off x="6336792" y="5413248"/>
            <a:ext cx="2354580" cy="438912"/>
          </a:xfrm>
          <a:prstGeom prst="rect">
            <a:avLst/>
          </a:prstGeom>
          <a:noFill/>
          <a:ln/>
        </p:spPr>
        <p:txBody>
          <a:bodyPr wrap="square" lIns="0" tIns="0" rIns="0" bIns="0" rtlCol="0" anchor="ctr"/>
          <a:lstStyle/>
          <a:p>
            <a:pPr indent="0" marL="0">
              <a:buNone/>
            </a:pPr>
            <a:r>
              <a:rPr lang="en-US" sz="2100" b="1" dirty="0">
                <a:solidFill>
                  <a:schemeClr val="accent1"/>
                </a:solidFill>
              </a:rPr>
              <a:t>17 / 24</a:t>
            </a:r>
            <a:endParaRPr lang="en-US" sz="2100" dirty="0"/>
          </a:p>
        </p:txBody>
      </p:sp>
      <p:sp>
        <p:nvSpPr>
          <p:cNvPr id="24" name="Text 22"/>
          <p:cNvSpPr txBox="1"/>
          <p:nvPr/>
        </p:nvSpPr>
        <p:spPr>
          <a:xfrm>
            <a:off x="6336792" y="5852160"/>
            <a:ext cx="2354580" cy="365760"/>
          </a:xfrm>
          <a:prstGeom prst="rect">
            <a:avLst/>
          </a:prstGeom>
          <a:noFill/>
          <a:ln/>
        </p:spPr>
        <p:txBody>
          <a:bodyPr wrap="square" lIns="0" tIns="0" rIns="0" bIns="0" rtlCol="0" anchor="t"/>
          <a:lstStyle/>
          <a:p>
            <a:pPr indent="0" marL="0">
              <a:buNone/>
            </a:pPr>
            <a:r>
              <a:rPr lang="en-US" sz="1100" dirty="0">
                <a:solidFill>
                  <a:schemeClr val="tx2"/>
                </a:solidFill>
              </a:rPr>
              <a:t>held-out faults verified</a:t>
            </a:r>
            <a:endParaRPr lang="en-US" sz="1100" dirty="0"/>
          </a:p>
        </p:txBody>
      </p:sp>
      <p:sp>
        <p:nvSpPr>
          <p:cNvPr id="25" name="result3"/>
          <p:cNvSpPr/>
          <p:nvPr/>
        </p:nvSpPr>
        <p:spPr>
          <a:xfrm>
            <a:off x="8983980" y="5394960"/>
            <a:ext cx="2628900" cy="850392"/>
          </a:xfrm>
          <a:prstGeom prst="roundRect">
            <a:avLst>
              <a:gd name="adj" fmla="val 10753"/>
            </a:avLst>
          </a:prstGeom>
          <a:solidFill>
            <a:schemeClr val="accent1"/>
          </a:solidFill>
          <a:ln w="12700">
            <a:solidFill>
              <a:schemeClr val="accent1"/>
            </a:solidFill>
            <a:prstDash val="solid"/>
          </a:ln>
        </p:spPr>
      </p:sp>
      <p:sp>
        <p:nvSpPr>
          <p:cNvPr id="26" name="Text 24"/>
          <p:cNvSpPr txBox="1"/>
          <p:nvPr/>
        </p:nvSpPr>
        <p:spPr>
          <a:xfrm>
            <a:off x="9148572" y="5413248"/>
            <a:ext cx="2354580" cy="438912"/>
          </a:xfrm>
          <a:prstGeom prst="rect">
            <a:avLst/>
          </a:prstGeom>
          <a:noFill/>
          <a:ln/>
        </p:spPr>
        <p:txBody>
          <a:bodyPr wrap="square" lIns="0" tIns="0" rIns="0" bIns="0" rtlCol="0" anchor="ctr"/>
          <a:lstStyle/>
          <a:p>
            <a:pPr indent="0" marL="0">
              <a:buNone/>
            </a:pPr>
            <a:r>
              <a:rPr lang="en-US" sz="2100" b="1" dirty="0">
                <a:solidFill>
                  <a:schemeClr val="bg1"/>
                </a:solidFill>
              </a:rPr>
              <a:t>595</a:t>
            </a:r>
            <a:endParaRPr lang="en-US" sz="2100" dirty="0"/>
          </a:p>
        </p:txBody>
      </p:sp>
      <p:sp>
        <p:nvSpPr>
          <p:cNvPr id="27" name="Text 25"/>
          <p:cNvSpPr txBox="1"/>
          <p:nvPr/>
        </p:nvSpPr>
        <p:spPr>
          <a:xfrm>
            <a:off x="9148572" y="5852160"/>
            <a:ext cx="2354580" cy="365760"/>
          </a:xfrm>
          <a:prstGeom prst="rect">
            <a:avLst/>
          </a:prstGeom>
          <a:noFill/>
          <a:ln/>
        </p:spPr>
        <p:txBody>
          <a:bodyPr wrap="square" lIns="0" tIns="0" rIns="0" bIns="0" rtlCol="0" anchor="t"/>
          <a:lstStyle/>
          <a:p>
            <a:pPr indent="0" marL="0">
              <a:buNone/>
            </a:pPr>
            <a:r>
              <a:rPr lang="en-US" sz="1100" dirty="0">
                <a:solidFill>
                  <a:schemeClr val="bg1"/>
                </a:solidFill>
              </a:rPr>
              <a:t>fastest mean time, but not significant</a:t>
            </a:r>
            <a:endParaRPr lang="en-US" sz="11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05 · Methodology</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Arm 3 · hybrid_nolearn (the structure)</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No learning: remember states, return to them exactly, and test deliberately</a:t>
            </a:r>
            <a:endParaRPr lang="en-US" sz="1700" dirty="0"/>
          </a:p>
        </p:txBody>
      </p:sp>
      <p:sp>
        <p:nvSpPr>
          <p:cNvPr id="5" name="motivation"/>
          <p:cNvSpPr/>
          <p:nvPr/>
        </p:nvSpPr>
        <p:spPr>
          <a:xfrm>
            <a:off x="548640" y="1783080"/>
            <a:ext cx="5257800" cy="1234440"/>
          </a:xfrm>
          <a:prstGeom prst="roundRect">
            <a:avLst>
              <a:gd name="adj" fmla="val 7407"/>
            </a:avLst>
          </a:prstGeom>
          <a:solidFill>
            <a:schemeClr val="bg2"/>
          </a:solidFill>
          <a:ln w="12700">
            <a:solidFill>
              <a:schemeClr val="bg2"/>
            </a:solidFill>
            <a:prstDash val="solid"/>
          </a:ln>
        </p:spPr>
      </p:sp>
      <p:sp>
        <p:nvSpPr>
          <p:cNvPr id="6" name="Text 4"/>
          <p:cNvSpPr txBox="1"/>
          <p:nvPr/>
        </p:nvSpPr>
        <p:spPr>
          <a:xfrm>
            <a:off x="777240" y="1874520"/>
            <a:ext cx="4572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MOTIVATION</a:t>
            </a:r>
            <a:endParaRPr lang="en-US" sz="1200" dirty="0"/>
          </a:p>
        </p:txBody>
      </p:sp>
      <p:sp>
        <p:nvSpPr>
          <p:cNvPr id="7" name="Text 5"/>
          <p:cNvSpPr txBox="1"/>
          <p:nvPr/>
        </p:nvSpPr>
        <p:spPr>
          <a:xfrm>
            <a:off x="777240" y="2176272"/>
            <a:ext cx="4846320" cy="804672"/>
          </a:xfrm>
          <a:prstGeom prst="rect">
            <a:avLst/>
          </a:prstGeom>
          <a:noFill/>
          <a:ln/>
        </p:spPr>
        <p:txBody>
          <a:bodyPr wrap="square" lIns="0" tIns="0" rIns="0" bIns="0" rtlCol="0" anchor="t"/>
          <a:lstStyle/>
          <a:p>
            <a:pPr indent="0" marL="0">
              <a:buNone/>
            </a:pPr>
            <a:r>
              <a:rPr lang="en-US" sz="1400" dirty="0">
                <a:solidFill>
                  <a:schemeClr val="tx1"/>
                </a:solidFill>
              </a:rPr>
              <a:t>v1 never reached deep faults and did not use context. So make the page state explicit, remember how to get back, and deviate on purpose.</a:t>
            </a:r>
            <a:endParaRPr lang="en-US" sz="1400" dirty="0"/>
          </a:p>
        </p:txBody>
      </p:sp>
      <p:sp>
        <p:nvSpPr>
          <p:cNvPr id="8" name="Text 6"/>
          <p:cNvSpPr txBox="1"/>
          <p:nvPr/>
        </p:nvSpPr>
        <p:spPr>
          <a:xfrm>
            <a:off x="548640" y="3154680"/>
            <a:ext cx="45720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HOW IT WORKS</a:t>
            </a:r>
            <a:endParaRPr lang="en-US" sz="1200" dirty="0"/>
          </a:p>
        </p:txBody>
      </p:sp>
      <p:sp>
        <p:nvSpPr>
          <p:cNvPr id="9" name="Text 7"/>
          <p:cNvSpPr txBox="1"/>
          <p:nvPr/>
        </p:nvSpPr>
        <p:spPr>
          <a:xfrm>
            <a:off x="548640" y="3456432"/>
            <a:ext cx="5257800" cy="17830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Each page becomes a cell: page kind, path, form state, error shown</a:t>
            </a:r>
            <a:endParaRPr lang="en-US" sz="1400" dirty="0"/>
          </a:p>
          <a:p>
            <a:pPr marL="342900" indent="-342900">
              <a:spcAft>
                <a:spcPts val="400"/>
              </a:spcAft>
              <a:buSzPct val="100000"/>
              <a:buChar char="•"/>
            </a:pPr>
            <a:r>
              <a:rPr lang="en-US" sz="1400" dirty="0">
                <a:solidFill>
                  <a:schemeClr val="tx1"/>
                </a:solidFill>
              </a:rPr>
              <a:t>Archive keeps every cell and the shortest path to it; returns by exact replay</a:t>
            </a:r>
            <a:endParaRPr lang="en-US" sz="1400" dirty="0"/>
          </a:p>
          <a:p>
            <a:pPr marL="342900" indent="-342900">
              <a:spcAft>
                <a:spcPts val="400"/>
              </a:spcAft>
              <a:buSzPct val="100000"/>
              <a:buChar char="•"/>
            </a:pPr>
            <a:r>
              <a:rPr lang="en-US" sz="1400" dirty="0">
                <a:solidFill>
                  <a:schemeClr val="tx1"/>
                </a:solidFill>
              </a:rPr>
              <a:t>Applies a test operator: complete step, invalid input, edit after review…</a:t>
            </a:r>
            <a:endParaRPr lang="en-US" sz="1400" dirty="0"/>
          </a:p>
          <a:p>
            <a:pPr marL="342900" indent="-342900">
              <a:spcAft>
                <a:spcPts val="400"/>
              </a:spcAft>
              <a:buSzPct val="100000"/>
              <a:buChar char="•"/>
            </a:pPr>
            <a:r>
              <a:rPr lang="en-US" sz="1400" dirty="0">
                <a:solidFill>
                  <a:schemeClr val="tx1"/>
                </a:solidFill>
              </a:rPr>
              <a:t>Untried (operator, target) pairs first, in random order</a:t>
            </a:r>
            <a:endParaRPr lang="en-US" sz="1400" dirty="0"/>
          </a:p>
        </p:txBody>
      </p:sp>
      <p:sp>
        <p:nvSpPr>
          <p:cNvPr id="10" name="formula"/>
          <p:cNvSpPr/>
          <p:nvPr/>
        </p:nvSpPr>
        <p:spPr>
          <a:xfrm>
            <a:off x="6080760" y="1783080"/>
            <a:ext cx="5532120" cy="2103120"/>
          </a:xfrm>
          <a:prstGeom prst="roundRect">
            <a:avLst>
              <a:gd name="adj" fmla="val 4348"/>
            </a:avLst>
          </a:prstGeom>
          <a:solidFill>
            <a:schemeClr val="tx1"/>
          </a:solidFill>
          <a:ln w="12700">
            <a:solidFill>
              <a:schemeClr val="tx1"/>
            </a:solidFill>
            <a:prstDash val="solid"/>
          </a:ln>
        </p:spPr>
      </p:sp>
      <p:sp>
        <p:nvSpPr>
          <p:cNvPr id="11" name="Text 9"/>
          <p:cNvSpPr txBox="1"/>
          <p:nvPr/>
        </p:nvSpPr>
        <p:spPr>
          <a:xfrm>
            <a:off x="6355080" y="1874520"/>
            <a:ext cx="4572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FORMULA</a:t>
            </a:r>
            <a:endParaRPr lang="en-US" sz="1200" dirty="0"/>
          </a:p>
        </p:txBody>
      </p:sp>
      <p:sp>
        <p:nvSpPr>
          <p:cNvPr id="12" name="Text 10"/>
          <p:cNvSpPr txBox="1"/>
          <p:nvPr/>
        </p:nvSpPr>
        <p:spPr>
          <a:xfrm>
            <a:off x="6355080" y="2176272"/>
            <a:ext cx="5074920" cy="1664208"/>
          </a:xfrm>
          <a:prstGeom prst="rect">
            <a:avLst/>
          </a:prstGeom>
          <a:noFill/>
          <a:ln/>
        </p:spPr>
        <p:txBody>
          <a:bodyPr wrap="square" lIns="0" tIns="0" rIns="0" bIns="0" rtlCol="0" anchor="t"/>
          <a:lstStyle/>
          <a:p>
            <a:pPr indent="0" marL="0">
              <a:spcAft>
                <a:spcPts val="400"/>
              </a:spcAft>
              <a:buNone/>
            </a:pPr>
            <a:r>
              <a:rPr lang="en-US" sz="1400" b="1" dirty="0">
                <a:solidFill>
                  <a:srgbClr val="FFFFFF"/>
                </a:solidFill>
              </a:rPr>
              <a:t>w(c) = 1/√(1+n) · (1 + min(u,10)/5) · 1/(1+2f) · ρ · (1 + 2·min(d,30)/30)</a:t>
            </a:r>
            <a:endParaRPr lang="en-US" sz="1400" dirty="0"/>
          </a:p>
          <a:p>
            <a:pPr indent="0" marL="0">
              <a:spcAft>
                <a:spcPts val="400"/>
              </a:spcAft>
              <a:buNone/>
            </a:pPr>
            <a:r>
              <a:rPr lang="en-US" sz="1150" dirty="0">
                <a:solidFill>
                  <a:srgbClr val="D3EBEA"/>
                </a:solidFill>
              </a:rPr>
              <a:t>n visits · u untried operators · f failed returns · ρ room left in the episode · d depth (deeper preferred)</a:t>
            </a:r>
            <a:endParaRPr lang="en-US" sz="1400" dirty="0"/>
          </a:p>
          <a:p>
            <a:pPr indent="0" marL="0">
              <a:spcAft>
                <a:spcPts val="400"/>
              </a:spcAft>
              <a:buNone/>
            </a:pPr>
            <a:r>
              <a:rPr lang="en-US" sz="1400" b="1" dirty="0">
                <a:solidFill>
                  <a:srgbClr val="FFFFFF"/>
                </a:solidFill>
              </a:rPr>
              <a:t>P(return to c) ∝ w(c)</a:t>
            </a:r>
            <a:endParaRPr lang="en-US" sz="1400" dirty="0"/>
          </a:p>
          <a:p>
            <a:pPr indent="0" marL="0">
              <a:spcAft>
                <a:spcPts val="400"/>
              </a:spcAft>
              <a:buNone/>
            </a:pPr>
            <a:r>
              <a:rPr lang="en-US" sz="1150" dirty="0">
                <a:solidFill>
                  <a:srgbClr val="D3EBEA"/>
                </a:solidFill>
              </a:rPr>
              <a:t>This is Go-Explore: first return, then explore</a:t>
            </a:r>
            <a:endParaRPr lang="en-US" sz="1400" dirty="0"/>
          </a:p>
        </p:txBody>
      </p:sp>
      <p:sp>
        <p:nvSpPr>
          <p:cNvPr id="13" name="why"/>
          <p:cNvSpPr/>
          <p:nvPr/>
        </p:nvSpPr>
        <p:spPr>
          <a:xfrm>
            <a:off x="6080760" y="4023360"/>
            <a:ext cx="5532120" cy="1216152"/>
          </a:xfrm>
          <a:prstGeom prst="roundRect">
            <a:avLst>
              <a:gd name="adj" fmla="val 7519"/>
            </a:avLst>
          </a:prstGeom>
          <a:solidFill>
            <a:schemeClr val="bg2"/>
          </a:solidFill>
          <a:ln w="12700">
            <a:solidFill>
              <a:schemeClr val="bg2"/>
            </a:solidFill>
            <a:prstDash val="solid"/>
          </a:ln>
        </p:spPr>
      </p:sp>
      <p:sp>
        <p:nvSpPr>
          <p:cNvPr id="14" name="Text 12"/>
          <p:cNvSpPr txBox="1"/>
          <p:nvPr/>
        </p:nvSpPr>
        <p:spPr>
          <a:xfrm>
            <a:off x="6309360" y="4114800"/>
            <a:ext cx="5029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WHY IT PERFORMED THIS WAY</a:t>
            </a:r>
            <a:endParaRPr lang="en-US" sz="1200" dirty="0"/>
          </a:p>
        </p:txBody>
      </p:sp>
      <p:sp>
        <p:nvSpPr>
          <p:cNvPr id="15" name="Text 13"/>
          <p:cNvSpPr txBox="1"/>
          <p:nvPr/>
        </p:nvSpPr>
        <p:spPr>
          <a:xfrm>
            <a:off x="6309360" y="4416552"/>
            <a:ext cx="5120640" cy="777240"/>
          </a:xfrm>
          <a:prstGeom prst="rect">
            <a:avLst/>
          </a:prstGeom>
          <a:noFill/>
          <a:ln/>
        </p:spPr>
        <p:txBody>
          <a:bodyPr wrap="square" lIns="0" tIns="0" rIns="0" bIns="0" rtlCol="0" anchor="t"/>
          <a:lstStyle/>
          <a:p>
            <a:pPr indent="0" marL="0">
              <a:buNone/>
            </a:pPr>
            <a:r>
              <a:rPr lang="en-US" sz="1300" dirty="0">
                <a:solidFill>
                  <a:schemeClr val="tx1"/>
                </a:solidFill>
              </a:rPr>
              <a:t>Blind spot: no operator paged through lists, so it missed all three skylark faults; that led to the browse_list operator.</a:t>
            </a:r>
            <a:endParaRPr lang="en-US" sz="1300" dirty="0"/>
          </a:p>
        </p:txBody>
      </p:sp>
      <p:sp>
        <p:nvSpPr>
          <p:cNvPr id="16" name="result0"/>
          <p:cNvSpPr/>
          <p:nvPr/>
        </p:nvSpPr>
        <p:spPr>
          <a:xfrm>
            <a:off x="548640" y="5394960"/>
            <a:ext cx="2628900" cy="850392"/>
          </a:xfrm>
          <a:prstGeom prst="roundRect">
            <a:avLst>
              <a:gd name="adj" fmla="val 10753"/>
            </a:avLst>
          </a:prstGeom>
          <a:solidFill>
            <a:schemeClr val="bg2"/>
          </a:solidFill>
          <a:ln w="12700">
            <a:solidFill>
              <a:schemeClr val="bg2"/>
            </a:solidFill>
            <a:prstDash val="solid"/>
          </a:ln>
        </p:spPr>
      </p:sp>
      <p:sp>
        <p:nvSpPr>
          <p:cNvPr id="17" name="Text 15"/>
          <p:cNvSpPr txBox="1"/>
          <p:nvPr/>
        </p:nvSpPr>
        <p:spPr>
          <a:xfrm>
            <a:off x="713232" y="5413248"/>
            <a:ext cx="2354580" cy="438912"/>
          </a:xfrm>
          <a:prstGeom prst="rect">
            <a:avLst/>
          </a:prstGeom>
          <a:noFill/>
          <a:ln/>
        </p:spPr>
        <p:txBody>
          <a:bodyPr wrap="square" lIns="0" tIns="0" rIns="0" bIns="0" rtlCol="0" anchor="ctr"/>
          <a:lstStyle/>
          <a:p>
            <a:pPr indent="0" marL="0">
              <a:buNone/>
            </a:pPr>
            <a:r>
              <a:rPr lang="en-US" sz="2100" b="1" dirty="0">
                <a:solidFill>
                  <a:schemeClr val="accent1"/>
                </a:solidFill>
              </a:rPr>
              <a:t>18 / 24</a:t>
            </a:r>
            <a:endParaRPr lang="en-US" sz="2100" dirty="0"/>
          </a:p>
        </p:txBody>
      </p:sp>
      <p:sp>
        <p:nvSpPr>
          <p:cNvPr id="18" name="Text 16"/>
          <p:cNvSpPr txBox="1"/>
          <p:nvPr/>
        </p:nvSpPr>
        <p:spPr>
          <a:xfrm>
            <a:off x="713232" y="5852160"/>
            <a:ext cx="2354580" cy="365760"/>
          </a:xfrm>
          <a:prstGeom prst="rect">
            <a:avLst/>
          </a:prstGeom>
          <a:noFill/>
          <a:ln/>
        </p:spPr>
        <p:txBody>
          <a:bodyPr wrap="square" lIns="0" tIns="0" rIns="0" bIns="0" rtlCol="0" anchor="t"/>
          <a:lstStyle/>
          <a:p>
            <a:pPr indent="0" marL="0">
              <a:buNone/>
            </a:pPr>
            <a:r>
              <a:rPr lang="en-US" sz="1100" dirty="0">
                <a:solidFill>
                  <a:schemeClr val="tx2"/>
                </a:solidFill>
              </a:rPr>
              <a:t>held-out faults verified</a:t>
            </a:r>
            <a:endParaRPr lang="en-US" sz="1100" dirty="0"/>
          </a:p>
        </p:txBody>
      </p:sp>
      <p:sp>
        <p:nvSpPr>
          <p:cNvPr id="19" name="result1"/>
          <p:cNvSpPr/>
          <p:nvPr/>
        </p:nvSpPr>
        <p:spPr>
          <a:xfrm>
            <a:off x="3360420" y="5394960"/>
            <a:ext cx="2628900" cy="850392"/>
          </a:xfrm>
          <a:prstGeom prst="roundRect">
            <a:avLst>
              <a:gd name="adj" fmla="val 10753"/>
            </a:avLst>
          </a:prstGeom>
          <a:solidFill>
            <a:schemeClr val="accent1"/>
          </a:solidFill>
          <a:ln w="12700">
            <a:solidFill>
              <a:schemeClr val="accent1"/>
            </a:solidFill>
            <a:prstDash val="solid"/>
          </a:ln>
        </p:spPr>
      </p:sp>
      <p:sp>
        <p:nvSpPr>
          <p:cNvPr id="20" name="Text 18"/>
          <p:cNvSpPr txBox="1"/>
          <p:nvPr/>
        </p:nvSpPr>
        <p:spPr>
          <a:xfrm>
            <a:off x="3525012" y="5413248"/>
            <a:ext cx="2354580" cy="438912"/>
          </a:xfrm>
          <a:prstGeom prst="rect">
            <a:avLst/>
          </a:prstGeom>
          <a:noFill/>
          <a:ln/>
        </p:spPr>
        <p:txBody>
          <a:bodyPr wrap="square" lIns="0" tIns="0" rIns="0" bIns="0" rtlCol="0" anchor="ctr"/>
          <a:lstStyle/>
          <a:p>
            <a:pPr indent="0" marL="0">
              <a:buNone/>
            </a:pPr>
            <a:r>
              <a:rPr lang="en-US" sz="2100" b="1" dirty="0">
                <a:solidFill>
                  <a:schemeClr val="bg1"/>
                </a:solidFill>
              </a:rPr>
              <a:t>9 of 10</a:t>
            </a:r>
            <a:endParaRPr lang="en-US" sz="2100" dirty="0"/>
          </a:p>
        </p:txBody>
      </p:sp>
      <p:sp>
        <p:nvSpPr>
          <p:cNvPr id="21" name="Text 19"/>
          <p:cNvSpPr txBox="1"/>
          <p:nvPr/>
        </p:nvSpPr>
        <p:spPr>
          <a:xfrm>
            <a:off x="3525012" y="5852160"/>
            <a:ext cx="2354580" cy="365760"/>
          </a:xfrm>
          <a:prstGeom prst="rect">
            <a:avLst/>
          </a:prstGeom>
          <a:noFill/>
          <a:ln/>
        </p:spPr>
        <p:txBody>
          <a:bodyPr wrap="square" lIns="0" tIns="0" rIns="0" bIns="0" rtlCol="0" anchor="t"/>
          <a:lstStyle/>
          <a:p>
            <a:pPr indent="0" marL="0">
              <a:buNone/>
            </a:pPr>
            <a:r>
              <a:rPr lang="en-US" sz="1100" dirty="0">
                <a:solidFill>
                  <a:schemeClr val="bg1"/>
                </a:solidFill>
              </a:rPr>
              <a:t>moderate-depth faults (random: 5)</a:t>
            </a:r>
            <a:endParaRPr lang="en-US" sz="1100" dirty="0"/>
          </a:p>
        </p:txBody>
      </p:sp>
      <p:sp>
        <p:nvSpPr>
          <p:cNvPr id="22" name="result2"/>
          <p:cNvSpPr/>
          <p:nvPr/>
        </p:nvSpPr>
        <p:spPr>
          <a:xfrm>
            <a:off x="6172200" y="5394960"/>
            <a:ext cx="2628900" cy="850392"/>
          </a:xfrm>
          <a:prstGeom prst="roundRect">
            <a:avLst>
              <a:gd name="adj" fmla="val 10753"/>
            </a:avLst>
          </a:prstGeom>
          <a:solidFill>
            <a:schemeClr val="bg2"/>
          </a:solidFill>
          <a:ln w="12700">
            <a:solidFill>
              <a:schemeClr val="bg2"/>
            </a:solidFill>
            <a:prstDash val="solid"/>
          </a:ln>
        </p:spPr>
      </p:sp>
      <p:sp>
        <p:nvSpPr>
          <p:cNvPr id="23" name="Text 21"/>
          <p:cNvSpPr txBox="1"/>
          <p:nvPr/>
        </p:nvSpPr>
        <p:spPr>
          <a:xfrm>
            <a:off x="6336792" y="5413248"/>
            <a:ext cx="2354580" cy="438912"/>
          </a:xfrm>
          <a:prstGeom prst="rect">
            <a:avLst/>
          </a:prstGeom>
          <a:noFill/>
          <a:ln/>
        </p:spPr>
        <p:txBody>
          <a:bodyPr wrap="square" lIns="0" tIns="0" rIns="0" bIns="0" rtlCol="0" anchor="ctr"/>
          <a:lstStyle/>
          <a:p>
            <a:pPr indent="0" marL="0">
              <a:buNone/>
            </a:pPr>
            <a:r>
              <a:rPr lang="en-US" sz="2100" b="1" dirty="0">
                <a:solidFill>
                  <a:schemeClr val="accent1"/>
                </a:solidFill>
              </a:rPr>
              <a:t>9</a:t>
            </a:r>
            <a:endParaRPr lang="en-US" sz="2100" dirty="0"/>
          </a:p>
        </p:txBody>
      </p:sp>
      <p:sp>
        <p:nvSpPr>
          <p:cNvPr id="24" name="Text 22"/>
          <p:cNvSpPr txBox="1"/>
          <p:nvPr/>
        </p:nvSpPr>
        <p:spPr>
          <a:xfrm>
            <a:off x="6336792" y="5852160"/>
            <a:ext cx="2354580" cy="365760"/>
          </a:xfrm>
          <a:prstGeom prst="rect">
            <a:avLst/>
          </a:prstGeom>
          <a:noFill/>
          <a:ln/>
        </p:spPr>
        <p:txBody>
          <a:bodyPr wrap="square" lIns="0" tIns="0" rIns="0" bIns="0" rtlCol="0" anchor="t"/>
          <a:lstStyle/>
          <a:p>
            <a:pPr indent="0" marL="0">
              <a:buNone/>
            </a:pPr>
            <a:r>
              <a:rPr lang="en-US" sz="1100" dirty="0">
                <a:solidFill>
                  <a:schemeClr val="tx2"/>
                </a:solidFill>
              </a:rPr>
              <a:t>faults no random run found</a:t>
            </a:r>
            <a:endParaRPr lang="en-US" sz="1100" dirty="0"/>
          </a:p>
        </p:txBody>
      </p:sp>
      <p:sp>
        <p:nvSpPr>
          <p:cNvPr id="25" name="result3"/>
          <p:cNvSpPr/>
          <p:nvPr/>
        </p:nvSpPr>
        <p:spPr>
          <a:xfrm>
            <a:off x="8983980" y="5394960"/>
            <a:ext cx="2628900" cy="850392"/>
          </a:xfrm>
          <a:prstGeom prst="roundRect">
            <a:avLst>
              <a:gd name="adj" fmla="val 10753"/>
            </a:avLst>
          </a:prstGeom>
          <a:solidFill>
            <a:schemeClr val="bg2"/>
          </a:solidFill>
          <a:ln w="12700">
            <a:solidFill>
              <a:schemeClr val="bg2"/>
            </a:solidFill>
            <a:prstDash val="solid"/>
          </a:ln>
        </p:spPr>
      </p:sp>
      <p:sp>
        <p:nvSpPr>
          <p:cNvPr id="26" name="Text 24"/>
          <p:cNvSpPr txBox="1"/>
          <p:nvPr/>
        </p:nvSpPr>
        <p:spPr>
          <a:xfrm>
            <a:off x="9148572" y="5413248"/>
            <a:ext cx="2354580" cy="438912"/>
          </a:xfrm>
          <a:prstGeom prst="rect">
            <a:avLst/>
          </a:prstGeom>
          <a:noFill/>
          <a:ln/>
        </p:spPr>
        <p:txBody>
          <a:bodyPr wrap="square" lIns="0" tIns="0" rIns="0" bIns="0" rtlCol="0" anchor="ctr"/>
          <a:lstStyle/>
          <a:p>
            <a:pPr indent="0" marL="0">
              <a:buNone/>
            </a:pPr>
            <a:r>
              <a:rPr lang="en-US" sz="2100" b="1" dirty="0">
                <a:solidFill>
                  <a:schemeClr val="accent1"/>
                </a:solidFill>
              </a:rPr>
              <a:t>0 / 8</a:t>
            </a:r>
            <a:endParaRPr lang="en-US" sz="2100" dirty="0"/>
          </a:p>
        </p:txBody>
      </p:sp>
      <p:sp>
        <p:nvSpPr>
          <p:cNvPr id="27" name="Text 25"/>
          <p:cNvSpPr txBox="1"/>
          <p:nvPr/>
        </p:nvSpPr>
        <p:spPr>
          <a:xfrm>
            <a:off x="9148572" y="5852160"/>
            <a:ext cx="2354580" cy="365760"/>
          </a:xfrm>
          <a:prstGeom prst="rect">
            <a:avLst/>
          </a:prstGeom>
          <a:noFill/>
          <a:ln/>
        </p:spPr>
        <p:txBody>
          <a:bodyPr wrap="square" lIns="0" tIns="0" rIns="0" bIns="0" rtlCol="0" anchor="t"/>
          <a:lstStyle/>
          <a:p>
            <a:pPr indent="0" marL="0">
              <a:buNone/>
            </a:pPr>
            <a:r>
              <a:rPr lang="en-US" sz="1100" dirty="0">
                <a:solidFill>
                  <a:schemeClr val="tx2"/>
                </a:solidFill>
              </a:rPr>
              <a:t>false positives on clean builds</a:t>
            </a:r>
            <a:endParaRPr lang="en-US" sz="11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05 · Methodology</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Arm 4 · hybrid_bandit (Thompson sampling)</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The smallest learner that fits a run: learn which test pays off on which kind of page</a:t>
            </a:r>
            <a:endParaRPr lang="en-US" sz="1700" dirty="0"/>
          </a:p>
        </p:txBody>
      </p:sp>
      <p:sp>
        <p:nvSpPr>
          <p:cNvPr id="5" name="motivation"/>
          <p:cNvSpPr/>
          <p:nvPr/>
        </p:nvSpPr>
        <p:spPr>
          <a:xfrm>
            <a:off x="548640" y="1783080"/>
            <a:ext cx="5257800" cy="1234440"/>
          </a:xfrm>
          <a:prstGeom prst="roundRect">
            <a:avLst>
              <a:gd name="adj" fmla="val 7407"/>
            </a:avLst>
          </a:prstGeom>
          <a:solidFill>
            <a:schemeClr val="bg2"/>
          </a:solidFill>
          <a:ln w="12700">
            <a:solidFill>
              <a:schemeClr val="bg2"/>
            </a:solidFill>
            <a:prstDash val="solid"/>
          </a:ln>
        </p:spPr>
      </p:sp>
      <p:sp>
        <p:nvSpPr>
          <p:cNvPr id="6" name="Text 4"/>
          <p:cNvSpPr txBox="1"/>
          <p:nvPr/>
        </p:nvSpPr>
        <p:spPr>
          <a:xfrm>
            <a:off x="777240" y="1874520"/>
            <a:ext cx="4572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MOTIVATION</a:t>
            </a:r>
            <a:endParaRPr lang="en-US" sz="1200" dirty="0"/>
          </a:p>
        </p:txBody>
      </p:sp>
      <p:sp>
        <p:nvSpPr>
          <p:cNvPr id="7" name="Text 5"/>
          <p:cNvSpPr txBox="1"/>
          <p:nvPr/>
        </p:nvSpPr>
        <p:spPr>
          <a:xfrm>
            <a:off x="777240" y="2176272"/>
            <a:ext cx="4846320" cy="804672"/>
          </a:xfrm>
          <a:prstGeom prst="rect">
            <a:avLst/>
          </a:prstGeom>
          <a:noFill/>
          <a:ln/>
        </p:spPr>
        <p:txBody>
          <a:bodyPr wrap="square" lIns="0" tIns="0" rIns="0" bIns="0" rtlCol="0" anchor="t"/>
          <a:lstStyle/>
          <a:p>
            <a:pPr indent="0" marL="0">
              <a:buNone/>
            </a:pPr>
            <a:r>
              <a:rPr lang="en-US" sz="1400" dirty="0">
                <a:solidFill>
                  <a:schemeClr val="tx1"/>
                </a:solidFill>
              </a:rPr>
              <a:t>A run makes only 50–135 operator decisions: too few for a neural network, enough for a Bayesian bandit over a few dozen meaningful keys.</a:t>
            </a:r>
            <a:endParaRPr lang="en-US" sz="1400" dirty="0"/>
          </a:p>
        </p:txBody>
      </p:sp>
      <p:sp>
        <p:nvSpPr>
          <p:cNvPr id="8" name="Text 6"/>
          <p:cNvSpPr txBox="1"/>
          <p:nvPr/>
        </p:nvSpPr>
        <p:spPr>
          <a:xfrm>
            <a:off x="548640" y="3154680"/>
            <a:ext cx="45720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HOW IT WORKS</a:t>
            </a:r>
            <a:endParaRPr lang="en-US" sz="1200" dirty="0"/>
          </a:p>
        </p:txBody>
      </p:sp>
      <p:sp>
        <p:nvSpPr>
          <p:cNvPr id="9" name="Text 7"/>
          <p:cNvSpPr txBox="1"/>
          <p:nvPr/>
        </p:nvSpPr>
        <p:spPr>
          <a:xfrm>
            <a:off x="548640" y="3456432"/>
            <a:ext cx="5257800" cy="17830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Key = (page kind, operator, target type), backing off to (operator, target) and (operator)</a:t>
            </a:r>
            <a:endParaRPr lang="en-US" sz="1400" dirty="0"/>
          </a:p>
          <a:p>
            <a:pPr marL="342900" indent="-342900">
              <a:spcAft>
                <a:spcPts val="400"/>
              </a:spcAft>
              <a:buSzPct val="100000"/>
              <a:buChar char="•"/>
            </a:pPr>
            <a:r>
              <a:rPr lang="en-US" sz="1400" dirty="0">
                <a:solidFill>
                  <a:schemeClr val="tx1"/>
                </a:solidFill>
              </a:rPr>
              <a:t>Reward is the tester's own observation (alert, new cell), never the oracle</a:t>
            </a:r>
            <a:endParaRPr lang="en-US" sz="1400" dirty="0"/>
          </a:p>
          <a:p>
            <a:pPr marL="342900" indent="-342900">
              <a:spcAft>
                <a:spcPts val="400"/>
              </a:spcAft>
              <a:buSzPct val="100000"/>
              <a:buChar char="•"/>
            </a:pPr>
            <a:r>
              <a:rPr lang="en-US" sz="1400" dirty="0">
                <a:solidFill>
                  <a:schemeClr val="tx1"/>
                </a:solidFill>
              </a:rPr>
              <a:t>Each decision samples every candidate's posterior and takes the best</a:t>
            </a:r>
            <a:endParaRPr lang="en-US" sz="1400" dirty="0"/>
          </a:p>
          <a:p>
            <a:pPr marL="342900" indent="-342900">
              <a:spcAft>
                <a:spcPts val="400"/>
              </a:spcAft>
              <a:buSzPct val="100000"/>
              <a:buChar char="•"/>
            </a:pPr>
            <a:r>
              <a:rPr lang="en-US" sz="1400" dirty="0">
                <a:solidFill>
                  <a:schemeClr val="tx1"/>
                </a:solidFill>
              </a:rPr>
              <a:t>Same structure as hybrid_nolearn</a:t>
            </a:r>
            <a:endParaRPr lang="en-US" sz="1400" dirty="0"/>
          </a:p>
        </p:txBody>
      </p:sp>
      <p:sp>
        <p:nvSpPr>
          <p:cNvPr id="10" name="formula"/>
          <p:cNvSpPr/>
          <p:nvPr/>
        </p:nvSpPr>
        <p:spPr>
          <a:xfrm>
            <a:off x="6080760" y="1783080"/>
            <a:ext cx="5532120" cy="2103120"/>
          </a:xfrm>
          <a:prstGeom prst="roundRect">
            <a:avLst>
              <a:gd name="adj" fmla="val 4348"/>
            </a:avLst>
          </a:prstGeom>
          <a:solidFill>
            <a:schemeClr val="tx1"/>
          </a:solidFill>
          <a:ln w="12700">
            <a:solidFill>
              <a:schemeClr val="tx1"/>
            </a:solidFill>
            <a:prstDash val="solid"/>
          </a:ln>
        </p:spPr>
      </p:sp>
      <p:sp>
        <p:nvSpPr>
          <p:cNvPr id="11" name="Text 9"/>
          <p:cNvSpPr txBox="1"/>
          <p:nvPr/>
        </p:nvSpPr>
        <p:spPr>
          <a:xfrm>
            <a:off x="6355080" y="1874520"/>
            <a:ext cx="4572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FORMULA</a:t>
            </a:r>
            <a:endParaRPr lang="en-US" sz="1200" dirty="0"/>
          </a:p>
        </p:txBody>
      </p:sp>
      <p:sp>
        <p:nvSpPr>
          <p:cNvPr id="12" name="Text 10"/>
          <p:cNvSpPr txBox="1"/>
          <p:nvPr/>
        </p:nvSpPr>
        <p:spPr>
          <a:xfrm>
            <a:off x="6355080" y="2176272"/>
            <a:ext cx="5074920" cy="1664208"/>
          </a:xfrm>
          <a:prstGeom prst="rect">
            <a:avLst/>
          </a:prstGeom>
          <a:noFill/>
          <a:ln/>
        </p:spPr>
        <p:txBody>
          <a:bodyPr wrap="square" lIns="0" tIns="0" rIns="0" bIns="0" rtlCol="0" anchor="t"/>
          <a:lstStyle/>
          <a:p>
            <a:pPr indent="0" marL="0">
              <a:spcAft>
                <a:spcPts val="400"/>
              </a:spcAft>
              <a:buNone/>
            </a:pPr>
            <a:r>
              <a:rPr lang="en-US" sz="1400" b="1" dirty="0">
                <a:solidFill>
                  <a:srgbClr val="FFFFFF"/>
                </a:solidFill>
              </a:rPr>
              <a:t>θₖ ~ Beta(αₖ, βₖ)</a:t>
            </a:r>
            <a:endParaRPr lang="en-US" sz="1400" dirty="0"/>
          </a:p>
          <a:p>
            <a:pPr indent="0" marL="0">
              <a:spcAft>
                <a:spcPts val="400"/>
              </a:spcAft>
              <a:buNone/>
            </a:pPr>
            <a:r>
              <a:rPr lang="en-US" sz="1400" b="1" dirty="0">
                <a:solidFill>
                  <a:srgbClr val="FFFFFF"/>
                </a:solidFill>
              </a:rPr>
              <a:t>αₖ ← αₖ + r,   βₖ ← βₖ + (1 − r)</a:t>
            </a:r>
            <a:endParaRPr lang="en-US" sz="1400" dirty="0"/>
          </a:p>
          <a:p>
            <a:pPr indent="0" marL="0">
              <a:spcAft>
                <a:spcPts val="400"/>
              </a:spcAft>
              <a:buNone/>
            </a:pPr>
            <a:r>
              <a:rPr lang="en-US" sz="1400" b="1" dirty="0">
                <a:solidFill>
                  <a:srgbClr val="FFFFFF"/>
                </a:solidFill>
              </a:rPr>
              <a:t>prior of a new key: α = 1 + 0.3·S_general,  β = 1 + 0.3·F_general</a:t>
            </a:r>
            <a:endParaRPr lang="en-US" sz="1400" dirty="0"/>
          </a:p>
          <a:p>
            <a:pPr indent="0" marL="0">
              <a:spcAft>
                <a:spcPts val="400"/>
              </a:spcAft>
              <a:buNone/>
            </a:pPr>
            <a:r>
              <a:rPr lang="en-US" sz="1400" b="1" dirty="0">
                <a:solidFill>
                  <a:srgbClr val="FFFFFF"/>
                </a:solidFill>
              </a:rPr>
              <a:t>choose argmaxₖ θ̃ₖ (repeats ×0.5)</a:t>
            </a:r>
            <a:endParaRPr lang="en-US" sz="1400" dirty="0"/>
          </a:p>
          <a:p>
            <a:pPr indent="0" marL="0">
              <a:spcAft>
                <a:spcPts val="400"/>
              </a:spcAft>
              <a:buNone/>
            </a:pPr>
            <a:r>
              <a:rPr lang="en-US" sz="1150" dirty="0">
                <a:solidFill>
                  <a:srgbClr val="D3EBEA"/>
                </a:solidFill>
              </a:rPr>
              <a:t>S, F: successes and failures seen by the more general keys</a:t>
            </a:r>
            <a:endParaRPr lang="en-US" sz="1400" dirty="0"/>
          </a:p>
        </p:txBody>
      </p:sp>
      <p:sp>
        <p:nvSpPr>
          <p:cNvPr id="13" name="why"/>
          <p:cNvSpPr/>
          <p:nvPr/>
        </p:nvSpPr>
        <p:spPr>
          <a:xfrm>
            <a:off x="6080760" y="4023360"/>
            <a:ext cx="5532120" cy="1216152"/>
          </a:xfrm>
          <a:prstGeom prst="roundRect">
            <a:avLst>
              <a:gd name="adj" fmla="val 7519"/>
            </a:avLst>
          </a:prstGeom>
          <a:solidFill>
            <a:schemeClr val="bg2"/>
          </a:solidFill>
          <a:ln w="12700">
            <a:solidFill>
              <a:schemeClr val="bg2"/>
            </a:solidFill>
            <a:prstDash val="solid"/>
          </a:ln>
        </p:spPr>
      </p:sp>
      <p:sp>
        <p:nvSpPr>
          <p:cNvPr id="14" name="Text 12"/>
          <p:cNvSpPr txBox="1"/>
          <p:nvPr/>
        </p:nvSpPr>
        <p:spPr>
          <a:xfrm>
            <a:off x="6309360" y="4114800"/>
            <a:ext cx="5029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WHY IT PERFORMED THIS WAY</a:t>
            </a:r>
            <a:endParaRPr lang="en-US" sz="1200" dirty="0"/>
          </a:p>
        </p:txBody>
      </p:sp>
      <p:sp>
        <p:nvSpPr>
          <p:cNvPr id="15" name="Text 13"/>
          <p:cNvSpPr txBox="1"/>
          <p:nvPr/>
        </p:nvSpPr>
        <p:spPr>
          <a:xfrm>
            <a:off x="6309360" y="4416552"/>
            <a:ext cx="5120640" cy="777240"/>
          </a:xfrm>
          <a:prstGeom prst="rect">
            <a:avLst/>
          </a:prstGeom>
          <a:noFill/>
          <a:ln/>
        </p:spPr>
        <p:txBody>
          <a:bodyPr wrap="square" lIns="0" tIns="0" rIns="0" bIns="0" rtlCol="0" anchor="t"/>
          <a:lstStyle/>
          <a:p>
            <a:pPr indent="0" marL="0">
              <a:buNone/>
            </a:pPr>
            <a:r>
              <a:rPr lang="en-US" sz="1300" dirty="0">
                <a:solidFill>
                  <a:schemeClr val="tx1"/>
                </a:solidFill>
              </a:rPr>
              <a:t>Too few decisions and a small option space (about 28 cells × 8 operators) that trying untried options already covers; no forgetting, so early winners stay favoured.</a:t>
            </a:r>
            <a:endParaRPr lang="en-US" sz="1300" dirty="0"/>
          </a:p>
        </p:txBody>
      </p:sp>
      <p:sp>
        <p:nvSpPr>
          <p:cNvPr id="16" name="result0"/>
          <p:cNvSpPr/>
          <p:nvPr/>
        </p:nvSpPr>
        <p:spPr>
          <a:xfrm>
            <a:off x="548640" y="5394960"/>
            <a:ext cx="2628900" cy="850392"/>
          </a:xfrm>
          <a:prstGeom prst="roundRect">
            <a:avLst>
              <a:gd name="adj" fmla="val 10753"/>
            </a:avLst>
          </a:prstGeom>
          <a:solidFill>
            <a:schemeClr val="accent1"/>
          </a:solidFill>
          <a:ln w="12700">
            <a:solidFill>
              <a:schemeClr val="accent1"/>
            </a:solidFill>
            <a:prstDash val="solid"/>
          </a:ln>
        </p:spPr>
      </p:sp>
      <p:sp>
        <p:nvSpPr>
          <p:cNvPr id="17" name="Text 15"/>
          <p:cNvSpPr txBox="1"/>
          <p:nvPr/>
        </p:nvSpPr>
        <p:spPr>
          <a:xfrm>
            <a:off x="713232" y="5413248"/>
            <a:ext cx="2354580" cy="438912"/>
          </a:xfrm>
          <a:prstGeom prst="rect">
            <a:avLst/>
          </a:prstGeom>
          <a:noFill/>
          <a:ln/>
        </p:spPr>
        <p:txBody>
          <a:bodyPr wrap="square" lIns="0" tIns="0" rIns="0" bIns="0" rtlCol="0" anchor="ctr"/>
          <a:lstStyle/>
          <a:p>
            <a:pPr indent="0" marL="0">
              <a:buNone/>
            </a:pPr>
            <a:r>
              <a:rPr lang="en-US" sz="2100" b="1" dirty="0">
                <a:solidFill>
                  <a:schemeClr val="bg1"/>
                </a:solidFill>
              </a:rPr>
              <a:t>19 / 24</a:t>
            </a:r>
            <a:endParaRPr lang="en-US" sz="2100" dirty="0"/>
          </a:p>
        </p:txBody>
      </p:sp>
      <p:sp>
        <p:nvSpPr>
          <p:cNvPr id="18" name="Text 16"/>
          <p:cNvSpPr txBox="1"/>
          <p:nvPr/>
        </p:nvSpPr>
        <p:spPr>
          <a:xfrm>
            <a:off x="713232" y="5852160"/>
            <a:ext cx="2354580" cy="365760"/>
          </a:xfrm>
          <a:prstGeom prst="rect">
            <a:avLst/>
          </a:prstGeom>
          <a:noFill/>
          <a:ln/>
        </p:spPr>
        <p:txBody>
          <a:bodyPr wrap="square" lIns="0" tIns="0" rIns="0" bIns="0" rtlCol="0" anchor="t"/>
          <a:lstStyle/>
          <a:p>
            <a:pPr indent="0" marL="0">
              <a:buNone/>
            </a:pPr>
            <a:r>
              <a:rPr lang="en-US" sz="1100" dirty="0">
                <a:solidFill>
                  <a:schemeClr val="bg1"/>
                </a:solidFill>
              </a:rPr>
              <a:t>held-out faults, the most (H2 inconclusive)</a:t>
            </a:r>
            <a:endParaRPr lang="en-US" sz="1100" dirty="0"/>
          </a:p>
        </p:txBody>
      </p:sp>
      <p:sp>
        <p:nvSpPr>
          <p:cNvPr id="19" name="result1"/>
          <p:cNvSpPr/>
          <p:nvPr/>
        </p:nvSpPr>
        <p:spPr>
          <a:xfrm>
            <a:off x="3360420" y="5394960"/>
            <a:ext cx="2628900" cy="850392"/>
          </a:xfrm>
          <a:prstGeom prst="roundRect">
            <a:avLst>
              <a:gd name="adj" fmla="val 10753"/>
            </a:avLst>
          </a:prstGeom>
          <a:solidFill>
            <a:schemeClr val="bg2"/>
          </a:solidFill>
          <a:ln w="12700">
            <a:solidFill>
              <a:schemeClr val="bg2"/>
            </a:solidFill>
            <a:prstDash val="solid"/>
          </a:ln>
        </p:spPr>
      </p:sp>
      <p:sp>
        <p:nvSpPr>
          <p:cNvPr id="20" name="Text 18"/>
          <p:cNvSpPr txBox="1"/>
          <p:nvPr/>
        </p:nvSpPr>
        <p:spPr>
          <a:xfrm>
            <a:off x="3525012" y="5413248"/>
            <a:ext cx="2354580" cy="438912"/>
          </a:xfrm>
          <a:prstGeom prst="rect">
            <a:avLst/>
          </a:prstGeom>
          <a:noFill/>
          <a:ln/>
        </p:spPr>
        <p:txBody>
          <a:bodyPr wrap="square" lIns="0" tIns="0" rIns="0" bIns="0" rtlCol="0" anchor="ctr"/>
          <a:lstStyle/>
          <a:p>
            <a:pPr indent="0" marL="0">
              <a:buNone/>
            </a:pPr>
            <a:r>
              <a:rPr lang="en-US" sz="2100" b="1" dirty="0">
                <a:solidFill>
                  <a:schemeClr val="accent1"/>
                </a:solidFill>
              </a:rPr>
              <a:t>7 of 8</a:t>
            </a:r>
            <a:endParaRPr lang="en-US" sz="2100" dirty="0"/>
          </a:p>
        </p:txBody>
      </p:sp>
      <p:sp>
        <p:nvSpPr>
          <p:cNvPr id="21" name="Text 19"/>
          <p:cNvSpPr txBox="1"/>
          <p:nvPr/>
        </p:nvSpPr>
        <p:spPr>
          <a:xfrm>
            <a:off x="3525012" y="5852160"/>
            <a:ext cx="2354580" cy="365760"/>
          </a:xfrm>
          <a:prstGeom prst="rect">
            <a:avLst/>
          </a:prstGeom>
          <a:noFill/>
          <a:ln/>
        </p:spPr>
        <p:txBody>
          <a:bodyPr wrap="square" lIns="0" tIns="0" rIns="0" bIns="0" rtlCol="0" anchor="t"/>
          <a:lstStyle/>
          <a:p>
            <a:pPr indent="0" marL="0">
              <a:buNone/>
            </a:pPr>
            <a:r>
              <a:rPr lang="en-US" sz="1100" dirty="0">
                <a:solidFill>
                  <a:schemeClr val="tx2"/>
                </a:solidFill>
              </a:rPr>
              <a:t>tuning apps where it was slower</a:t>
            </a:r>
            <a:endParaRPr lang="en-US" sz="1100" dirty="0"/>
          </a:p>
        </p:txBody>
      </p:sp>
      <p:sp>
        <p:nvSpPr>
          <p:cNvPr id="22" name="result2"/>
          <p:cNvSpPr/>
          <p:nvPr/>
        </p:nvSpPr>
        <p:spPr>
          <a:xfrm>
            <a:off x="6172200" y="5394960"/>
            <a:ext cx="2628900" cy="850392"/>
          </a:xfrm>
          <a:prstGeom prst="roundRect">
            <a:avLst>
              <a:gd name="adj" fmla="val 10753"/>
            </a:avLst>
          </a:prstGeom>
          <a:solidFill>
            <a:schemeClr val="bg2"/>
          </a:solidFill>
          <a:ln w="12700">
            <a:solidFill>
              <a:schemeClr val="bg2"/>
            </a:solidFill>
            <a:prstDash val="solid"/>
          </a:ln>
        </p:spPr>
      </p:sp>
      <p:sp>
        <p:nvSpPr>
          <p:cNvPr id="23" name="Text 21"/>
          <p:cNvSpPr txBox="1"/>
          <p:nvPr/>
        </p:nvSpPr>
        <p:spPr>
          <a:xfrm>
            <a:off x="6336792" y="5413248"/>
            <a:ext cx="2354580" cy="438912"/>
          </a:xfrm>
          <a:prstGeom prst="rect">
            <a:avLst/>
          </a:prstGeom>
          <a:noFill/>
          <a:ln/>
        </p:spPr>
        <p:txBody>
          <a:bodyPr wrap="square" lIns="0" tIns="0" rIns="0" bIns="0" rtlCol="0" anchor="ctr"/>
          <a:lstStyle/>
          <a:p>
            <a:pPr indent="0" marL="0">
              <a:buNone/>
            </a:pPr>
            <a:r>
              <a:rPr lang="en-US" sz="2100" b="1" dirty="0">
                <a:solidFill>
                  <a:schemeClr val="accent1"/>
                </a:solidFill>
              </a:rPr>
              <a:t>50.0%</a:t>
            </a:r>
            <a:endParaRPr lang="en-US" sz="2100" dirty="0"/>
          </a:p>
        </p:txBody>
      </p:sp>
      <p:sp>
        <p:nvSpPr>
          <p:cNvPr id="24" name="Text 22"/>
          <p:cNvSpPr txBox="1"/>
          <p:nvPr/>
        </p:nvSpPr>
        <p:spPr>
          <a:xfrm>
            <a:off x="6336792" y="5852160"/>
            <a:ext cx="2354580" cy="365760"/>
          </a:xfrm>
          <a:prstGeom prst="rect">
            <a:avLst/>
          </a:prstGeom>
          <a:noFill/>
          <a:ln/>
        </p:spPr>
        <p:txBody>
          <a:bodyPr wrap="square" lIns="0" tIns="0" rIns="0" bIns="0" rtlCol="0" anchor="t"/>
          <a:lstStyle/>
          <a:p>
            <a:pPr indent="0" marL="0">
              <a:buNone/>
            </a:pPr>
            <a:r>
              <a:rPr lang="en-US" sz="1100" dirty="0">
                <a:solidFill>
                  <a:schemeClr val="tx2"/>
                </a:solidFill>
              </a:rPr>
              <a:t>external coverage (post-hoc, untuned)</a:t>
            </a:r>
            <a:endParaRPr lang="en-US" sz="1100" dirty="0"/>
          </a:p>
        </p:txBody>
      </p:sp>
      <p:sp>
        <p:nvSpPr>
          <p:cNvPr id="25" name="result3"/>
          <p:cNvSpPr/>
          <p:nvPr/>
        </p:nvSpPr>
        <p:spPr>
          <a:xfrm>
            <a:off x="8983980" y="5394960"/>
            <a:ext cx="2628900" cy="850392"/>
          </a:xfrm>
          <a:prstGeom prst="roundRect">
            <a:avLst>
              <a:gd name="adj" fmla="val 10753"/>
            </a:avLst>
          </a:prstGeom>
          <a:solidFill>
            <a:schemeClr val="bg2"/>
          </a:solidFill>
          <a:ln w="12700">
            <a:solidFill>
              <a:schemeClr val="bg2"/>
            </a:solidFill>
            <a:prstDash val="solid"/>
          </a:ln>
        </p:spPr>
      </p:sp>
      <p:sp>
        <p:nvSpPr>
          <p:cNvPr id="26" name="Text 24"/>
          <p:cNvSpPr txBox="1"/>
          <p:nvPr/>
        </p:nvSpPr>
        <p:spPr>
          <a:xfrm>
            <a:off x="9148572" y="5413248"/>
            <a:ext cx="2354580" cy="438912"/>
          </a:xfrm>
          <a:prstGeom prst="rect">
            <a:avLst/>
          </a:prstGeom>
          <a:noFill/>
          <a:ln/>
        </p:spPr>
        <p:txBody>
          <a:bodyPr wrap="square" lIns="0" tIns="0" rIns="0" bIns="0" rtlCol="0" anchor="ctr"/>
          <a:lstStyle/>
          <a:p>
            <a:pPr indent="0" marL="0">
              <a:buNone/>
            </a:pPr>
            <a:r>
              <a:rPr lang="en-US" sz="2100" b="1" dirty="0">
                <a:solidFill>
                  <a:schemeClr val="accent1"/>
                </a:solidFill>
              </a:rPr>
              <a:t>≈ 0</a:t>
            </a:r>
            <a:endParaRPr lang="en-US" sz="2100" dirty="0"/>
          </a:p>
        </p:txBody>
      </p:sp>
      <p:sp>
        <p:nvSpPr>
          <p:cNvPr id="27" name="Text 25"/>
          <p:cNvSpPr txBox="1"/>
          <p:nvPr/>
        </p:nvSpPr>
        <p:spPr>
          <a:xfrm>
            <a:off x="9148572" y="5852160"/>
            <a:ext cx="2354580" cy="365760"/>
          </a:xfrm>
          <a:prstGeom prst="rect">
            <a:avLst/>
          </a:prstGeom>
          <a:noFill/>
          <a:ln/>
        </p:spPr>
        <p:txBody>
          <a:bodyPr wrap="square" lIns="0" tIns="0" rIns="0" bIns="0" rtlCol="0" anchor="t"/>
          <a:lstStyle/>
          <a:p>
            <a:pPr indent="0" marL="0">
              <a:buNone/>
            </a:pPr>
            <a:r>
              <a:rPr lang="en-US" sz="1100" dirty="0">
                <a:solidFill>
                  <a:schemeClr val="tx2"/>
                </a:solidFill>
              </a:rPr>
              <a:t>difference vs no learner, external</a:t>
            </a:r>
            <a:endParaRPr lang="en-US" sz="11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05 · Methodology</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Arm 5 · hybrid_curiosity (Q-learning)</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The published testers' design inside our structure: the like-for-like RL comparison</a:t>
            </a:r>
            <a:endParaRPr lang="en-US" sz="1700" dirty="0"/>
          </a:p>
        </p:txBody>
      </p:sp>
      <p:sp>
        <p:nvSpPr>
          <p:cNvPr id="5" name="motivation"/>
          <p:cNvSpPr/>
          <p:nvPr/>
        </p:nvSpPr>
        <p:spPr>
          <a:xfrm>
            <a:off x="548640" y="1783080"/>
            <a:ext cx="5257800" cy="1234440"/>
          </a:xfrm>
          <a:prstGeom prst="roundRect">
            <a:avLst>
              <a:gd name="adj" fmla="val 7407"/>
            </a:avLst>
          </a:prstGeom>
          <a:solidFill>
            <a:schemeClr val="bg2"/>
          </a:solidFill>
          <a:ln w="12700">
            <a:solidFill>
              <a:schemeClr val="bg2"/>
            </a:solidFill>
            <a:prstDash val="solid"/>
          </a:ln>
        </p:spPr>
      </p:sp>
      <p:sp>
        <p:nvSpPr>
          <p:cNvPr id="6" name="Text 4"/>
          <p:cNvSpPr txBox="1"/>
          <p:nvPr/>
        </p:nvSpPr>
        <p:spPr>
          <a:xfrm>
            <a:off x="777240" y="1874520"/>
            <a:ext cx="4572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MOTIVATION</a:t>
            </a:r>
            <a:endParaRPr lang="en-US" sz="1200" dirty="0"/>
          </a:p>
        </p:txBody>
      </p:sp>
      <p:sp>
        <p:nvSpPr>
          <p:cNvPr id="7" name="Text 5"/>
          <p:cNvSpPr txBox="1"/>
          <p:nvPr/>
        </p:nvSpPr>
        <p:spPr>
          <a:xfrm>
            <a:off x="777240" y="2176272"/>
            <a:ext cx="4846320" cy="804672"/>
          </a:xfrm>
          <a:prstGeom prst="rect">
            <a:avLst/>
          </a:prstGeom>
          <a:noFill/>
          <a:ln/>
        </p:spPr>
        <p:txBody>
          <a:bodyPr wrap="square" lIns="0" tIns="0" rIns="0" bIns="0" rtlCol="0" anchor="t"/>
          <a:lstStyle/>
          <a:p>
            <a:pPr indent="0" marL="0">
              <a:buNone/>
            </a:pPr>
            <a:r>
              <a:rPr lang="en-US" sz="1400" dirty="0">
                <a:solidFill>
                  <a:schemeClr val="tx1"/>
                </a:solidFill>
              </a:rPr>
              <a:t>WebExplor and WebRLED both use count-based curiosity. Putting it in our structure lets us compare RL with RL, on their measures.</a:t>
            </a:r>
            <a:endParaRPr lang="en-US" sz="1400" dirty="0"/>
          </a:p>
        </p:txBody>
      </p:sp>
      <p:sp>
        <p:nvSpPr>
          <p:cNvPr id="8" name="Text 6"/>
          <p:cNvSpPr txBox="1"/>
          <p:nvPr/>
        </p:nvSpPr>
        <p:spPr>
          <a:xfrm>
            <a:off x="548640" y="3154680"/>
            <a:ext cx="45720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HOW IT WORKS</a:t>
            </a:r>
            <a:endParaRPr lang="en-US" sz="1200" dirty="0"/>
          </a:p>
        </p:txBody>
      </p:sp>
      <p:sp>
        <p:nvSpPr>
          <p:cNvPr id="9" name="Text 7"/>
          <p:cNvSpPr txBox="1"/>
          <p:nvPr/>
        </p:nvSpPr>
        <p:spPr>
          <a:xfrm>
            <a:off x="548640" y="3456432"/>
            <a:ext cx="5257800" cy="17830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A tabular Q-learner over cells chooses the free exploration steps</a:t>
            </a:r>
            <a:endParaRPr lang="en-US" sz="1400" dirty="0"/>
          </a:p>
          <a:p>
            <a:pPr marL="342900" indent="-342900">
              <a:spcAft>
                <a:spcPts val="400"/>
              </a:spcAft>
              <a:buSzPct val="100000"/>
              <a:buChar char="•"/>
            </a:pPr>
            <a:r>
              <a:rPr lang="en-US" sz="1400" dirty="0">
                <a:solidFill>
                  <a:schemeClr val="tx1"/>
                </a:solidFill>
              </a:rPr>
              <a:t>Rewarded on every step for rarely seen transitions and new cells</a:t>
            </a:r>
            <a:endParaRPr lang="en-US" sz="1400" dirty="0"/>
          </a:p>
          <a:p>
            <a:pPr marL="342900" indent="-342900">
              <a:spcAft>
                <a:spcPts val="400"/>
              </a:spcAft>
              <a:buSzPct val="100000"/>
              <a:buChar char="•"/>
            </a:pPr>
            <a:r>
              <a:rPr lang="en-US" sz="1400" dirty="0">
                <a:solidFill>
                  <a:schemeClr val="tx1"/>
                </a:solidFill>
              </a:rPr>
              <a:t>Off-policy: learns from every transition (about 2,000 updates per run)</a:t>
            </a:r>
            <a:endParaRPr lang="en-US" sz="1400" dirty="0"/>
          </a:p>
          <a:p>
            <a:pPr marL="342900" indent="-342900">
              <a:spcAft>
                <a:spcPts val="400"/>
              </a:spcAft>
              <a:buSzPct val="100000"/>
              <a:buChar char="•"/>
            </a:pPr>
            <a:r>
              <a:rPr lang="en-US" sz="1400" dirty="0">
                <a:solidFill>
                  <a:schemeClr val="tx1"/>
                </a:solidFill>
              </a:rPr>
              <a:t>Operators and archive as in the other hybrid arms</a:t>
            </a:r>
            <a:endParaRPr lang="en-US" sz="1400" dirty="0"/>
          </a:p>
        </p:txBody>
      </p:sp>
      <p:sp>
        <p:nvSpPr>
          <p:cNvPr id="10" name="formula"/>
          <p:cNvSpPr/>
          <p:nvPr/>
        </p:nvSpPr>
        <p:spPr>
          <a:xfrm>
            <a:off x="6080760" y="1783080"/>
            <a:ext cx="5532120" cy="2103120"/>
          </a:xfrm>
          <a:prstGeom prst="roundRect">
            <a:avLst>
              <a:gd name="adj" fmla="val 4348"/>
            </a:avLst>
          </a:prstGeom>
          <a:solidFill>
            <a:schemeClr val="tx1"/>
          </a:solidFill>
          <a:ln w="12700">
            <a:solidFill>
              <a:schemeClr val="tx1"/>
            </a:solidFill>
            <a:prstDash val="solid"/>
          </a:ln>
        </p:spPr>
      </p:sp>
      <p:sp>
        <p:nvSpPr>
          <p:cNvPr id="11" name="Text 9"/>
          <p:cNvSpPr txBox="1"/>
          <p:nvPr/>
        </p:nvSpPr>
        <p:spPr>
          <a:xfrm>
            <a:off x="6355080" y="1874520"/>
            <a:ext cx="4572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FORMULA</a:t>
            </a:r>
            <a:endParaRPr lang="en-US" sz="1200" dirty="0"/>
          </a:p>
        </p:txBody>
      </p:sp>
      <p:sp>
        <p:nvSpPr>
          <p:cNvPr id="12" name="Text 10"/>
          <p:cNvSpPr txBox="1"/>
          <p:nvPr/>
        </p:nvSpPr>
        <p:spPr>
          <a:xfrm>
            <a:off x="6355080" y="2176272"/>
            <a:ext cx="5074920" cy="1664208"/>
          </a:xfrm>
          <a:prstGeom prst="rect">
            <a:avLst/>
          </a:prstGeom>
          <a:noFill/>
          <a:ln/>
        </p:spPr>
        <p:txBody>
          <a:bodyPr wrap="square" lIns="0" tIns="0" rIns="0" bIns="0" rtlCol="0" anchor="t"/>
          <a:lstStyle/>
          <a:p>
            <a:pPr indent="0" marL="0">
              <a:spcAft>
                <a:spcPts val="400"/>
              </a:spcAft>
              <a:buNone/>
            </a:pPr>
            <a:r>
              <a:rPr lang="en-US" sz="1400" b="1" dirty="0">
                <a:solidFill>
                  <a:srgbClr val="FFFFFF"/>
                </a:solidFill>
              </a:rPr>
              <a:t>r = 1/√N(c, a, c′) + 0.5 · 1[c′ new this episode]</a:t>
            </a:r>
            <a:endParaRPr lang="en-US" sz="1400" dirty="0"/>
          </a:p>
          <a:p>
            <a:pPr indent="0" marL="0">
              <a:spcAft>
                <a:spcPts val="400"/>
              </a:spcAft>
              <a:buNone/>
            </a:pPr>
            <a:r>
              <a:rPr lang="en-US" sz="1400" b="1" dirty="0">
                <a:solidFill>
                  <a:srgbClr val="FFFFFF"/>
                </a:solidFill>
              </a:rPr>
              <a:t>Q(c,a) ← Q(c,a) + α [ r + γ maxₐ′ Q(c′,a′) − Q(c,a) ]</a:t>
            </a:r>
            <a:endParaRPr lang="en-US" sz="1400" dirty="0"/>
          </a:p>
          <a:p>
            <a:pPr indent="0" marL="0">
              <a:spcAft>
                <a:spcPts val="400"/>
              </a:spcAft>
              <a:buNone/>
            </a:pPr>
            <a:r>
              <a:rPr lang="en-US" sz="1150" dirty="0">
                <a:solidFill>
                  <a:srgbClr val="D3EBEA"/>
                </a:solidFill>
              </a:rPr>
              <a:t>α = 0.5, γ = 0.9, ε-greedy with ε = 0.1; untried actions start at R_max/(1−γ)</a:t>
            </a:r>
            <a:endParaRPr lang="en-US" sz="1400" dirty="0"/>
          </a:p>
        </p:txBody>
      </p:sp>
      <p:sp>
        <p:nvSpPr>
          <p:cNvPr id="13" name="why"/>
          <p:cNvSpPr/>
          <p:nvPr/>
        </p:nvSpPr>
        <p:spPr>
          <a:xfrm>
            <a:off x="6080760" y="4023360"/>
            <a:ext cx="5532120" cy="1216152"/>
          </a:xfrm>
          <a:prstGeom prst="roundRect">
            <a:avLst>
              <a:gd name="adj" fmla="val 7519"/>
            </a:avLst>
          </a:prstGeom>
          <a:solidFill>
            <a:schemeClr val="bg2"/>
          </a:solidFill>
          <a:ln w="12700">
            <a:solidFill>
              <a:schemeClr val="bg2"/>
            </a:solidFill>
            <a:prstDash val="solid"/>
          </a:ln>
        </p:spPr>
      </p:sp>
      <p:sp>
        <p:nvSpPr>
          <p:cNvPr id="14" name="Text 12"/>
          <p:cNvSpPr txBox="1"/>
          <p:nvPr/>
        </p:nvSpPr>
        <p:spPr>
          <a:xfrm>
            <a:off x="6309360" y="4114800"/>
            <a:ext cx="5029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WHY IT PERFORMED THIS WAY</a:t>
            </a:r>
            <a:endParaRPr lang="en-US" sz="1200" dirty="0"/>
          </a:p>
        </p:txBody>
      </p:sp>
      <p:sp>
        <p:nvSpPr>
          <p:cNvPr id="15" name="Text 13"/>
          <p:cNvSpPr txBox="1"/>
          <p:nvPr/>
        </p:nvSpPr>
        <p:spPr>
          <a:xfrm>
            <a:off x="6309360" y="4416552"/>
            <a:ext cx="5120640" cy="777240"/>
          </a:xfrm>
          <a:prstGeom prst="rect">
            <a:avLst/>
          </a:prstGeom>
          <a:noFill/>
          <a:ln/>
        </p:spPr>
        <p:txBody>
          <a:bodyPr wrap="square" lIns="0" tIns="0" rIns="0" bIns="0" rtlCol="0" anchor="t"/>
          <a:lstStyle/>
          <a:p>
            <a:pPr indent="0" marL="0">
              <a:buNone/>
            </a:pPr>
            <a:r>
              <a:rPr lang="en-US" sz="1300" dirty="0">
                <a:solidFill>
                  <a:schemeClr val="tx1"/>
                </a:solidFill>
              </a:rPr>
              <a:t>Novelty rewards breadth: it reaches more code and triggers more errors, but functional faults need deliberate deviations, not new pages.</a:t>
            </a:r>
            <a:endParaRPr lang="en-US" sz="1300" dirty="0"/>
          </a:p>
        </p:txBody>
      </p:sp>
      <p:sp>
        <p:nvSpPr>
          <p:cNvPr id="16" name="result0"/>
          <p:cNvSpPr/>
          <p:nvPr/>
        </p:nvSpPr>
        <p:spPr>
          <a:xfrm>
            <a:off x="548640" y="5394960"/>
            <a:ext cx="2628900" cy="850392"/>
          </a:xfrm>
          <a:prstGeom prst="roundRect">
            <a:avLst>
              <a:gd name="adj" fmla="val 10753"/>
            </a:avLst>
          </a:prstGeom>
          <a:solidFill>
            <a:schemeClr val="bg2"/>
          </a:solidFill>
          <a:ln w="12700">
            <a:solidFill>
              <a:schemeClr val="bg2"/>
            </a:solidFill>
            <a:prstDash val="solid"/>
          </a:ln>
        </p:spPr>
      </p:sp>
      <p:sp>
        <p:nvSpPr>
          <p:cNvPr id="17" name="Text 15"/>
          <p:cNvSpPr txBox="1"/>
          <p:nvPr/>
        </p:nvSpPr>
        <p:spPr>
          <a:xfrm>
            <a:off x="713232" y="5413248"/>
            <a:ext cx="2354580" cy="438912"/>
          </a:xfrm>
          <a:prstGeom prst="rect">
            <a:avLst/>
          </a:prstGeom>
          <a:noFill/>
          <a:ln/>
        </p:spPr>
        <p:txBody>
          <a:bodyPr wrap="square" lIns="0" tIns="0" rIns="0" bIns="0" rtlCol="0" anchor="ctr"/>
          <a:lstStyle/>
          <a:p>
            <a:pPr indent="0" marL="0">
              <a:buNone/>
            </a:pPr>
            <a:r>
              <a:rPr lang="en-US" sz="2100" b="1" dirty="0">
                <a:solidFill>
                  <a:schemeClr val="accent1"/>
                </a:solidFill>
              </a:rPr>
              <a:t>5.67</a:t>
            </a:r>
            <a:endParaRPr lang="en-US" sz="2100" dirty="0"/>
          </a:p>
        </p:txBody>
      </p:sp>
      <p:sp>
        <p:nvSpPr>
          <p:cNvPr id="18" name="Text 16"/>
          <p:cNvSpPr txBox="1"/>
          <p:nvPr/>
        </p:nvSpPr>
        <p:spPr>
          <a:xfrm>
            <a:off x="713232" y="5852160"/>
            <a:ext cx="2354580" cy="365760"/>
          </a:xfrm>
          <a:prstGeom prst="rect">
            <a:avLst/>
          </a:prstGeom>
          <a:noFill/>
          <a:ln/>
        </p:spPr>
        <p:txBody>
          <a:bodyPr wrap="square" lIns="0" tIns="0" rIns="0" bIns="0" rtlCol="0" anchor="t"/>
          <a:lstStyle/>
          <a:p>
            <a:pPr indent="0" marL="0">
              <a:buNone/>
            </a:pPr>
            <a:r>
              <a:rPr lang="en-US" sz="1100" dirty="0">
                <a:solidFill>
                  <a:schemeClr val="tx2"/>
                </a:solidFill>
              </a:rPr>
              <a:t>browser errors per run, the most (tuning)</a:t>
            </a:r>
            <a:endParaRPr lang="en-US" sz="1100" dirty="0"/>
          </a:p>
        </p:txBody>
      </p:sp>
      <p:sp>
        <p:nvSpPr>
          <p:cNvPr id="19" name="result1"/>
          <p:cNvSpPr/>
          <p:nvPr/>
        </p:nvSpPr>
        <p:spPr>
          <a:xfrm>
            <a:off x="3360420" y="5394960"/>
            <a:ext cx="2628900" cy="850392"/>
          </a:xfrm>
          <a:prstGeom prst="roundRect">
            <a:avLst>
              <a:gd name="adj" fmla="val 10753"/>
            </a:avLst>
          </a:prstGeom>
          <a:solidFill>
            <a:schemeClr val="bg2"/>
          </a:solidFill>
          <a:ln w="12700">
            <a:solidFill>
              <a:schemeClr val="bg2"/>
            </a:solidFill>
            <a:prstDash val="solid"/>
          </a:ln>
        </p:spPr>
      </p:sp>
      <p:sp>
        <p:nvSpPr>
          <p:cNvPr id="20" name="Text 18"/>
          <p:cNvSpPr txBox="1"/>
          <p:nvPr/>
        </p:nvSpPr>
        <p:spPr>
          <a:xfrm>
            <a:off x="3525012" y="5413248"/>
            <a:ext cx="2354580" cy="438912"/>
          </a:xfrm>
          <a:prstGeom prst="rect">
            <a:avLst/>
          </a:prstGeom>
          <a:noFill/>
          <a:ln/>
        </p:spPr>
        <p:txBody>
          <a:bodyPr wrap="square" lIns="0" tIns="0" rIns="0" bIns="0" rtlCol="0" anchor="ctr"/>
          <a:lstStyle/>
          <a:p>
            <a:pPr indent="0" marL="0">
              <a:buNone/>
            </a:pPr>
            <a:r>
              <a:rPr lang="en-US" sz="2100" b="1" dirty="0">
                <a:solidFill>
                  <a:schemeClr val="accent1"/>
                </a:solidFill>
              </a:rPr>
              <a:t>16 / 41</a:t>
            </a:r>
            <a:endParaRPr lang="en-US" sz="2100" dirty="0"/>
          </a:p>
        </p:txBody>
      </p:sp>
      <p:sp>
        <p:nvSpPr>
          <p:cNvPr id="21" name="Text 19"/>
          <p:cNvSpPr txBox="1"/>
          <p:nvPr/>
        </p:nvSpPr>
        <p:spPr>
          <a:xfrm>
            <a:off x="3525012" y="5852160"/>
            <a:ext cx="2354580" cy="365760"/>
          </a:xfrm>
          <a:prstGeom prst="rect">
            <a:avLst/>
          </a:prstGeom>
          <a:noFill/>
          <a:ln/>
        </p:spPr>
        <p:txBody>
          <a:bodyPr wrap="square" lIns="0" tIns="0" rIns="0" bIns="0" rtlCol="0" anchor="t"/>
          <a:lstStyle/>
          <a:p>
            <a:pPr indent="0" marL="0">
              <a:buNone/>
            </a:pPr>
            <a:r>
              <a:rPr lang="en-US" sz="1100" dirty="0">
                <a:solidFill>
                  <a:schemeClr val="tx2"/>
                </a:solidFill>
              </a:rPr>
              <a:t>tuning faults verified (fewer)</a:t>
            </a:r>
            <a:endParaRPr lang="en-US" sz="1100" dirty="0"/>
          </a:p>
        </p:txBody>
      </p:sp>
      <p:sp>
        <p:nvSpPr>
          <p:cNvPr id="22" name="result2"/>
          <p:cNvSpPr/>
          <p:nvPr/>
        </p:nvSpPr>
        <p:spPr>
          <a:xfrm>
            <a:off x="6172200" y="5394960"/>
            <a:ext cx="2628900" cy="850392"/>
          </a:xfrm>
          <a:prstGeom prst="roundRect">
            <a:avLst>
              <a:gd name="adj" fmla="val 10753"/>
            </a:avLst>
          </a:prstGeom>
          <a:solidFill>
            <a:schemeClr val="accent1"/>
          </a:solidFill>
          <a:ln w="12700">
            <a:solidFill>
              <a:schemeClr val="accent1"/>
            </a:solidFill>
            <a:prstDash val="solid"/>
          </a:ln>
        </p:spPr>
      </p:sp>
      <p:sp>
        <p:nvSpPr>
          <p:cNvPr id="23" name="Text 21"/>
          <p:cNvSpPr txBox="1"/>
          <p:nvPr/>
        </p:nvSpPr>
        <p:spPr>
          <a:xfrm>
            <a:off x="6336792" y="5413248"/>
            <a:ext cx="2354580" cy="438912"/>
          </a:xfrm>
          <a:prstGeom prst="rect">
            <a:avLst/>
          </a:prstGeom>
          <a:noFill/>
          <a:ln/>
        </p:spPr>
        <p:txBody>
          <a:bodyPr wrap="square" lIns="0" tIns="0" rIns="0" bIns="0" rtlCol="0" anchor="ctr"/>
          <a:lstStyle/>
          <a:p>
            <a:pPr indent="0" marL="0">
              <a:buNone/>
            </a:pPr>
            <a:r>
              <a:rPr lang="en-US" sz="2100" b="1" dirty="0">
                <a:solidFill>
                  <a:schemeClr val="bg1"/>
                </a:solidFill>
              </a:rPr>
              <a:t>53.6%</a:t>
            </a:r>
            <a:endParaRPr lang="en-US" sz="2100" dirty="0"/>
          </a:p>
        </p:txBody>
      </p:sp>
      <p:sp>
        <p:nvSpPr>
          <p:cNvPr id="24" name="Text 22"/>
          <p:cNvSpPr txBox="1"/>
          <p:nvPr/>
        </p:nvSpPr>
        <p:spPr>
          <a:xfrm>
            <a:off x="6336792" y="5852160"/>
            <a:ext cx="2354580" cy="365760"/>
          </a:xfrm>
          <a:prstGeom prst="rect">
            <a:avLst/>
          </a:prstGeom>
          <a:noFill/>
          <a:ln/>
        </p:spPr>
        <p:txBody>
          <a:bodyPr wrap="square" lIns="0" tIns="0" rIns="0" bIns="0" rtlCol="0" anchor="t"/>
          <a:lstStyle/>
          <a:p>
            <a:pPr indent="0" marL="0">
              <a:buNone/>
            </a:pPr>
            <a:r>
              <a:rPr lang="en-US" sz="1100" dirty="0">
                <a:solidFill>
                  <a:schemeClr val="bg1"/>
                </a:solidFill>
              </a:rPr>
              <a:t>external coverage, round 2 (best of ours)</a:t>
            </a:r>
            <a:endParaRPr lang="en-US" sz="1100" dirty="0"/>
          </a:p>
        </p:txBody>
      </p:sp>
      <p:sp>
        <p:nvSpPr>
          <p:cNvPr id="25" name="result3"/>
          <p:cNvSpPr/>
          <p:nvPr/>
        </p:nvSpPr>
        <p:spPr>
          <a:xfrm>
            <a:off x="8983980" y="5394960"/>
            <a:ext cx="2628900" cy="850392"/>
          </a:xfrm>
          <a:prstGeom prst="roundRect">
            <a:avLst>
              <a:gd name="adj" fmla="val 10753"/>
            </a:avLst>
          </a:prstGeom>
          <a:solidFill>
            <a:schemeClr val="bg2"/>
          </a:solidFill>
          <a:ln w="12700">
            <a:solidFill>
              <a:schemeClr val="bg2"/>
            </a:solidFill>
            <a:prstDash val="solid"/>
          </a:ln>
        </p:spPr>
      </p:sp>
      <p:sp>
        <p:nvSpPr>
          <p:cNvPr id="26" name="Text 24"/>
          <p:cNvSpPr txBox="1"/>
          <p:nvPr/>
        </p:nvSpPr>
        <p:spPr>
          <a:xfrm>
            <a:off x="9148572" y="5413248"/>
            <a:ext cx="2354580" cy="438912"/>
          </a:xfrm>
          <a:prstGeom prst="rect">
            <a:avLst/>
          </a:prstGeom>
          <a:noFill/>
          <a:ln/>
        </p:spPr>
        <p:txBody>
          <a:bodyPr wrap="square" lIns="0" tIns="0" rIns="0" bIns="0" rtlCol="0" anchor="ctr"/>
          <a:lstStyle/>
          <a:p>
            <a:pPr indent="0" marL="0">
              <a:buNone/>
            </a:pPr>
            <a:r>
              <a:rPr lang="en-US" sz="2100" b="1" dirty="0">
                <a:solidFill>
                  <a:schemeClr val="accent1"/>
                </a:solidFill>
              </a:rPr>
              <a:t>3 apps</a:t>
            </a:r>
            <a:endParaRPr lang="en-US" sz="2100" dirty="0"/>
          </a:p>
        </p:txBody>
      </p:sp>
      <p:sp>
        <p:nvSpPr>
          <p:cNvPr id="27" name="Text 25"/>
          <p:cNvSpPr txBox="1"/>
          <p:nvPr/>
        </p:nvSpPr>
        <p:spPr>
          <a:xfrm>
            <a:off x="9148572" y="5852160"/>
            <a:ext cx="2354580" cy="365760"/>
          </a:xfrm>
          <a:prstGeom prst="rect">
            <a:avLst/>
          </a:prstGeom>
          <a:noFill/>
          <a:ln/>
        </p:spPr>
        <p:txBody>
          <a:bodyPr wrap="square" lIns="0" tIns="0" rIns="0" bIns="0" rtlCol="0" anchor="t"/>
          <a:lstStyle/>
          <a:p>
            <a:pPr indent="0" marL="0">
              <a:buNone/>
            </a:pPr>
            <a:r>
              <a:rPr lang="en-US" sz="1100" dirty="0">
                <a:solidFill>
                  <a:schemeClr val="tx2"/>
                </a:solidFill>
              </a:rPr>
              <a:t>where it beat both published testers</a:t>
            </a:r>
            <a:endParaRPr lang="en-US" sz="11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05 · Methodology</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Arm 6 · hybrid_final (the frozen tester)</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The structure with the two options that won tuning; v5 adds listener-based clickables</a:t>
            </a:r>
            <a:endParaRPr lang="en-US" sz="1700" dirty="0"/>
          </a:p>
        </p:txBody>
      </p:sp>
      <p:sp>
        <p:nvSpPr>
          <p:cNvPr id="5" name="motivation"/>
          <p:cNvSpPr/>
          <p:nvPr/>
        </p:nvSpPr>
        <p:spPr>
          <a:xfrm>
            <a:off x="548640" y="1783080"/>
            <a:ext cx="5257800" cy="1234440"/>
          </a:xfrm>
          <a:prstGeom prst="roundRect">
            <a:avLst>
              <a:gd name="adj" fmla="val 7407"/>
            </a:avLst>
          </a:prstGeom>
          <a:solidFill>
            <a:schemeClr val="bg2"/>
          </a:solidFill>
          <a:ln w="12700">
            <a:solidFill>
              <a:schemeClr val="bg2"/>
            </a:solidFill>
            <a:prstDash val="solid"/>
          </a:ln>
        </p:spPr>
      </p:sp>
      <p:sp>
        <p:nvSpPr>
          <p:cNvPr id="6" name="Text 4"/>
          <p:cNvSpPr txBox="1"/>
          <p:nvPr/>
        </p:nvSpPr>
        <p:spPr>
          <a:xfrm>
            <a:off x="777240" y="1874520"/>
            <a:ext cx="4572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MOTIVATION</a:t>
            </a:r>
            <a:endParaRPr lang="en-US" sz="1200" dirty="0"/>
          </a:p>
        </p:txBody>
      </p:sp>
      <p:sp>
        <p:nvSpPr>
          <p:cNvPr id="7" name="Text 5"/>
          <p:cNvSpPr txBox="1"/>
          <p:nvPr/>
        </p:nvSpPr>
        <p:spPr>
          <a:xfrm>
            <a:off x="777240" y="2176272"/>
            <a:ext cx="4846320" cy="804672"/>
          </a:xfrm>
          <a:prstGeom prst="rect">
            <a:avLst/>
          </a:prstGeom>
          <a:noFill/>
          <a:ln/>
        </p:spPr>
        <p:txBody>
          <a:bodyPr wrap="square" lIns="0" tIns="0" rIns="0" bIns="0" rtlCol="0" anchor="t"/>
          <a:lstStyle/>
          <a:p>
            <a:pPr indent="0" marL="0">
              <a:buNone/>
            </a:pPr>
            <a:r>
              <a:rPr lang="en-US" sz="1400" dirty="0">
                <a:solidFill>
                  <a:schemeClr val="tx1"/>
                </a:solidFill>
              </a:rPr>
              <a:t>Tuning on eight rebuilt full-stack apps kept only what helped: a paging operator and extra attention to code that already misbehaves.</a:t>
            </a:r>
            <a:endParaRPr lang="en-US" sz="1400" dirty="0"/>
          </a:p>
        </p:txBody>
      </p:sp>
      <p:sp>
        <p:nvSpPr>
          <p:cNvPr id="8" name="Text 6"/>
          <p:cNvSpPr txBox="1"/>
          <p:nvPr/>
        </p:nvSpPr>
        <p:spPr>
          <a:xfrm>
            <a:off x="548640" y="3154680"/>
            <a:ext cx="45720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HOW IT WORKS</a:t>
            </a:r>
            <a:endParaRPr lang="en-US" sz="1200" dirty="0"/>
          </a:p>
        </p:txBody>
      </p:sp>
      <p:sp>
        <p:nvSpPr>
          <p:cNvPr id="9" name="Text 7"/>
          <p:cNvSpPr txBox="1"/>
          <p:nvPr/>
        </p:nvSpPr>
        <p:spPr>
          <a:xfrm>
            <a:off x="548640" y="3456432"/>
            <a:ext cx="5257800" cy="17830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browse_list: sort or filter a list, page forward, open an item</a:t>
            </a:r>
            <a:endParaRPr lang="en-US" sz="1400" dirty="0"/>
          </a:p>
          <a:p>
            <a:pPr marL="342900" indent="-342900">
              <a:spcAft>
                <a:spcPts val="400"/>
              </a:spcAft>
              <a:buSzPct val="100000"/>
              <a:buChar char="•"/>
            </a:pPr>
            <a:r>
              <a:rPr lang="en-US" sz="1400" dirty="0">
                <a:solidFill>
                  <a:schemeClr val="tx1"/>
                </a:solidFill>
              </a:rPr>
              <a:t>Failure feedback: cells where an error followed an action get more weight</a:t>
            </a:r>
            <a:endParaRPr lang="en-US" sz="1400" dirty="0"/>
          </a:p>
          <a:p>
            <a:pPr marL="342900" indent="-342900">
              <a:spcAft>
                <a:spcPts val="400"/>
              </a:spcAft>
              <a:buSzPct val="100000"/>
              <a:buChar char="•"/>
            </a:pPr>
            <a:r>
              <a:rPr lang="en-US" sz="1400" dirty="0">
                <a:solidFill>
                  <a:schemeClr val="tx1"/>
                </a:solidFill>
              </a:rPr>
              <a:t>No learner. Frozen and tagged before the external apps were seen</a:t>
            </a:r>
            <a:endParaRPr lang="en-US" sz="1400" dirty="0"/>
          </a:p>
          <a:p>
            <a:pPr marL="342900" indent="-342900">
              <a:spcAft>
                <a:spcPts val="400"/>
              </a:spcAft>
              <a:buSzPct val="100000"/>
              <a:buChar char="•"/>
            </a:pPr>
            <a:r>
              <a:rPr lang="en-US" sz="1400" dirty="0">
                <a:solidFill>
                  <a:schemeClr val="tx1"/>
                </a:solidFill>
              </a:rPr>
              <a:t>v5: clickables found from the click listeners a page registers</a:t>
            </a:r>
            <a:endParaRPr lang="en-US" sz="1400" dirty="0"/>
          </a:p>
        </p:txBody>
      </p:sp>
      <p:sp>
        <p:nvSpPr>
          <p:cNvPr id="10" name="formula"/>
          <p:cNvSpPr/>
          <p:nvPr/>
        </p:nvSpPr>
        <p:spPr>
          <a:xfrm>
            <a:off x="6080760" y="1783080"/>
            <a:ext cx="5532120" cy="2103120"/>
          </a:xfrm>
          <a:prstGeom prst="roundRect">
            <a:avLst>
              <a:gd name="adj" fmla="val 4348"/>
            </a:avLst>
          </a:prstGeom>
          <a:solidFill>
            <a:schemeClr val="tx1"/>
          </a:solidFill>
          <a:ln w="12700">
            <a:solidFill>
              <a:schemeClr val="tx1"/>
            </a:solidFill>
            <a:prstDash val="solid"/>
          </a:ln>
        </p:spPr>
      </p:sp>
      <p:sp>
        <p:nvSpPr>
          <p:cNvPr id="11" name="Text 9"/>
          <p:cNvSpPr txBox="1"/>
          <p:nvPr/>
        </p:nvSpPr>
        <p:spPr>
          <a:xfrm>
            <a:off x="6355080" y="1874520"/>
            <a:ext cx="4572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FORMULA</a:t>
            </a:r>
            <a:endParaRPr lang="en-US" sz="1200" dirty="0"/>
          </a:p>
        </p:txBody>
      </p:sp>
      <p:sp>
        <p:nvSpPr>
          <p:cNvPr id="12" name="Text 10"/>
          <p:cNvSpPr txBox="1"/>
          <p:nvPr/>
        </p:nvSpPr>
        <p:spPr>
          <a:xfrm>
            <a:off x="6355080" y="2176272"/>
            <a:ext cx="5074920" cy="1664208"/>
          </a:xfrm>
          <a:prstGeom prst="rect">
            <a:avLst/>
          </a:prstGeom>
          <a:noFill/>
          <a:ln/>
        </p:spPr>
        <p:txBody>
          <a:bodyPr wrap="square" lIns="0" tIns="0" rIns="0" bIns="0" rtlCol="0" anchor="t"/>
          <a:lstStyle/>
          <a:p>
            <a:pPr indent="0" marL="0">
              <a:spcAft>
                <a:spcPts val="400"/>
              </a:spcAft>
              <a:buNone/>
            </a:pPr>
            <a:r>
              <a:rPr lang="en-US" sz="1400" b="1" dirty="0">
                <a:solidFill>
                  <a:srgbClr val="FFFFFF"/>
                </a:solidFill>
              </a:rPr>
              <a:t>w_final(c) = w(c) · (1 + 2 · min(e_c, 3) / 3)</a:t>
            </a:r>
            <a:endParaRPr lang="en-US" sz="1400" dirty="0"/>
          </a:p>
          <a:p>
            <a:pPr indent="0" marL="0">
              <a:spcAft>
                <a:spcPts val="400"/>
              </a:spcAft>
              <a:buNone/>
            </a:pPr>
            <a:r>
              <a:rPr lang="en-US" sz="1150" dirty="0">
                <a:solidFill>
                  <a:srgbClr val="D3EBEA"/>
                </a:solidFill>
              </a:rPr>
              <a:t>e_c: actions in cell c followed by a browser error (weight up to ×3)</a:t>
            </a:r>
            <a:endParaRPr lang="en-US" sz="1400" dirty="0"/>
          </a:p>
          <a:p>
            <a:pPr indent="0" marL="0">
              <a:spcAft>
                <a:spcPts val="400"/>
              </a:spcAft>
              <a:buNone/>
            </a:pPr>
            <a:r>
              <a:rPr lang="en-US" sz="1400" dirty="0">
                <a:solidFill>
                  <a:srgbClr val="FFFFFF"/>
                </a:solidFill>
              </a:rPr>
              <a:t> </a:t>
            </a:r>
            <a:endParaRPr lang="en-US" sz="1400" dirty="0"/>
          </a:p>
          <a:p>
            <a:pPr indent="0" marL="0">
              <a:spcAft>
                <a:spcPts val="400"/>
              </a:spcAft>
              <a:buNone/>
            </a:pPr>
            <a:r>
              <a:rPr lang="en-US" sz="1150" dirty="0">
                <a:solidFill>
                  <a:srgbClr val="D3EBEA"/>
                </a:solidFill>
              </a:rPr>
              <a:t>v5 clickables: elements that receive click listeners, plus React, Vue, jQuery, Angular and Ember handlers</a:t>
            </a:r>
            <a:endParaRPr lang="en-US" sz="1400" dirty="0"/>
          </a:p>
        </p:txBody>
      </p:sp>
      <p:sp>
        <p:nvSpPr>
          <p:cNvPr id="13" name="why"/>
          <p:cNvSpPr/>
          <p:nvPr/>
        </p:nvSpPr>
        <p:spPr>
          <a:xfrm>
            <a:off x="6080760" y="4023360"/>
            <a:ext cx="5532120" cy="1216152"/>
          </a:xfrm>
          <a:prstGeom prst="roundRect">
            <a:avLst>
              <a:gd name="adj" fmla="val 7519"/>
            </a:avLst>
          </a:prstGeom>
          <a:solidFill>
            <a:schemeClr val="bg2"/>
          </a:solidFill>
          <a:ln w="12700">
            <a:solidFill>
              <a:schemeClr val="bg2"/>
            </a:solidFill>
            <a:prstDash val="solid"/>
          </a:ln>
        </p:spPr>
      </p:sp>
      <p:sp>
        <p:nvSpPr>
          <p:cNvPr id="14" name="Text 12"/>
          <p:cNvSpPr txBox="1"/>
          <p:nvPr/>
        </p:nvSpPr>
        <p:spPr>
          <a:xfrm>
            <a:off x="6309360" y="4114800"/>
            <a:ext cx="5029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WHY IT PERFORMED THIS WAY</a:t>
            </a:r>
            <a:endParaRPr lang="en-US" sz="1200" dirty="0"/>
          </a:p>
        </p:txBody>
      </p:sp>
      <p:sp>
        <p:nvSpPr>
          <p:cNvPr id="15" name="Text 13"/>
          <p:cNvSpPr txBox="1"/>
          <p:nvPr/>
        </p:nvSpPr>
        <p:spPr>
          <a:xfrm>
            <a:off x="6309360" y="4416552"/>
            <a:ext cx="5120640" cy="777240"/>
          </a:xfrm>
          <a:prstGeom prst="rect">
            <a:avLst/>
          </a:prstGeom>
          <a:noFill/>
          <a:ln/>
        </p:spPr>
        <p:txBody>
          <a:bodyPr wrap="square" lIns="0" tIns="0" rIns="0" bIns="0" rtlCol="0" anchor="t"/>
          <a:lstStyle/>
          <a:p>
            <a:pPr indent="0" marL="0">
              <a:buNone/>
            </a:pPr>
            <a:r>
              <a:rPr lang="en-US" sz="1300" dirty="0">
                <a:solidFill>
                  <a:schemeClr val="tx1"/>
                </a:solidFill>
              </a:rPr>
              <a:t>Same hardware, round 1 to round 2: 41.8% to 51.4%, higher on all six apps. The gain came from what it could click, not from learning.</a:t>
            </a:r>
            <a:endParaRPr lang="en-US" sz="1300" dirty="0"/>
          </a:p>
        </p:txBody>
      </p:sp>
      <p:sp>
        <p:nvSpPr>
          <p:cNvPr id="16" name="result0"/>
          <p:cNvSpPr/>
          <p:nvPr/>
        </p:nvSpPr>
        <p:spPr>
          <a:xfrm>
            <a:off x="548640" y="5394960"/>
            <a:ext cx="2628900" cy="850392"/>
          </a:xfrm>
          <a:prstGeom prst="roundRect">
            <a:avLst>
              <a:gd name="adj" fmla="val 10753"/>
            </a:avLst>
          </a:prstGeom>
          <a:solidFill>
            <a:schemeClr val="accent1"/>
          </a:solidFill>
          <a:ln w="12700">
            <a:solidFill>
              <a:schemeClr val="accent1"/>
            </a:solidFill>
            <a:prstDash val="solid"/>
          </a:ln>
        </p:spPr>
      </p:sp>
      <p:sp>
        <p:nvSpPr>
          <p:cNvPr id="17" name="Text 15"/>
          <p:cNvSpPr txBox="1"/>
          <p:nvPr/>
        </p:nvSpPr>
        <p:spPr>
          <a:xfrm>
            <a:off x="713232" y="5413248"/>
            <a:ext cx="2354580" cy="438912"/>
          </a:xfrm>
          <a:prstGeom prst="rect">
            <a:avLst/>
          </a:prstGeom>
          <a:noFill/>
          <a:ln/>
        </p:spPr>
        <p:txBody>
          <a:bodyPr wrap="square" lIns="0" tIns="0" rIns="0" bIns="0" rtlCol="0" anchor="ctr"/>
          <a:lstStyle/>
          <a:p>
            <a:pPr indent="0" marL="0">
              <a:buNone/>
            </a:pPr>
            <a:r>
              <a:rPr lang="en-US" sz="2100" b="1" dirty="0">
                <a:solidFill>
                  <a:schemeClr val="bg1"/>
                </a:solidFill>
              </a:rPr>
              <a:t>22 / 41</a:t>
            </a:r>
            <a:endParaRPr lang="en-US" sz="2100" dirty="0"/>
          </a:p>
        </p:txBody>
      </p:sp>
      <p:sp>
        <p:nvSpPr>
          <p:cNvPr id="18" name="Text 16"/>
          <p:cNvSpPr txBox="1"/>
          <p:nvPr/>
        </p:nvSpPr>
        <p:spPr>
          <a:xfrm>
            <a:off x="713232" y="5852160"/>
            <a:ext cx="2354580" cy="365760"/>
          </a:xfrm>
          <a:prstGeom prst="rect">
            <a:avLst/>
          </a:prstGeom>
          <a:noFill/>
          <a:ln/>
        </p:spPr>
        <p:txBody>
          <a:bodyPr wrap="square" lIns="0" tIns="0" rIns="0" bIns="0" rtlCol="0" anchor="t"/>
          <a:lstStyle/>
          <a:p>
            <a:pPr indent="0" marL="0">
              <a:buNone/>
            </a:pPr>
            <a:r>
              <a:rPr lang="en-US" sz="1100" dirty="0">
                <a:solidFill>
                  <a:schemeClr val="bg1"/>
                </a:solidFill>
              </a:rPr>
              <a:t>tuning faults verified, the most</a:t>
            </a:r>
            <a:endParaRPr lang="en-US" sz="1100" dirty="0"/>
          </a:p>
        </p:txBody>
      </p:sp>
      <p:sp>
        <p:nvSpPr>
          <p:cNvPr id="19" name="result1"/>
          <p:cNvSpPr/>
          <p:nvPr/>
        </p:nvSpPr>
        <p:spPr>
          <a:xfrm>
            <a:off x="3360420" y="5394960"/>
            <a:ext cx="2628900" cy="850392"/>
          </a:xfrm>
          <a:prstGeom prst="roundRect">
            <a:avLst>
              <a:gd name="adj" fmla="val 10753"/>
            </a:avLst>
          </a:prstGeom>
          <a:solidFill>
            <a:schemeClr val="bg2"/>
          </a:solidFill>
          <a:ln w="12700">
            <a:solidFill>
              <a:schemeClr val="bg2"/>
            </a:solidFill>
            <a:prstDash val="solid"/>
          </a:ln>
        </p:spPr>
      </p:sp>
      <p:sp>
        <p:nvSpPr>
          <p:cNvPr id="20" name="Text 18"/>
          <p:cNvSpPr txBox="1"/>
          <p:nvPr/>
        </p:nvSpPr>
        <p:spPr>
          <a:xfrm>
            <a:off x="3525012" y="5413248"/>
            <a:ext cx="2354580" cy="438912"/>
          </a:xfrm>
          <a:prstGeom prst="rect">
            <a:avLst/>
          </a:prstGeom>
          <a:noFill/>
          <a:ln/>
        </p:spPr>
        <p:txBody>
          <a:bodyPr wrap="square" lIns="0" tIns="0" rIns="0" bIns="0" rtlCol="0" anchor="ctr"/>
          <a:lstStyle/>
          <a:p>
            <a:pPr indent="0" marL="0">
              <a:buNone/>
            </a:pPr>
            <a:r>
              <a:rPr lang="en-US" sz="2100" b="1" dirty="0">
                <a:solidFill>
                  <a:schemeClr val="accent1"/>
                </a:solidFill>
              </a:rPr>
              <a:t>4 of 8</a:t>
            </a:r>
            <a:endParaRPr lang="en-US" sz="2100" dirty="0"/>
          </a:p>
        </p:txBody>
      </p:sp>
      <p:sp>
        <p:nvSpPr>
          <p:cNvPr id="21" name="Text 19"/>
          <p:cNvSpPr txBox="1"/>
          <p:nvPr/>
        </p:nvSpPr>
        <p:spPr>
          <a:xfrm>
            <a:off x="3525012" y="5852160"/>
            <a:ext cx="2354580" cy="365760"/>
          </a:xfrm>
          <a:prstGeom prst="rect">
            <a:avLst/>
          </a:prstGeom>
          <a:noFill/>
          <a:ln/>
        </p:spPr>
        <p:txBody>
          <a:bodyPr wrap="square" lIns="0" tIns="0" rIns="0" bIns="0" rtlCol="0" anchor="t"/>
          <a:lstStyle/>
          <a:p>
            <a:pPr indent="0" marL="0">
              <a:buNone/>
            </a:pPr>
            <a:r>
              <a:rPr lang="en-US" sz="1100" dirty="0">
                <a:solidFill>
                  <a:schemeClr val="tx2"/>
                </a:solidFill>
              </a:rPr>
              <a:t>crash-type faults</a:t>
            </a:r>
            <a:endParaRPr lang="en-US" sz="1100" dirty="0"/>
          </a:p>
        </p:txBody>
      </p:sp>
      <p:sp>
        <p:nvSpPr>
          <p:cNvPr id="22" name="result2"/>
          <p:cNvSpPr/>
          <p:nvPr/>
        </p:nvSpPr>
        <p:spPr>
          <a:xfrm>
            <a:off x="6172200" y="5394960"/>
            <a:ext cx="2628900" cy="850392"/>
          </a:xfrm>
          <a:prstGeom prst="roundRect">
            <a:avLst>
              <a:gd name="adj" fmla="val 10753"/>
            </a:avLst>
          </a:prstGeom>
          <a:solidFill>
            <a:schemeClr val="bg2"/>
          </a:solidFill>
          <a:ln w="12700">
            <a:solidFill>
              <a:schemeClr val="bg2"/>
            </a:solidFill>
            <a:prstDash val="solid"/>
          </a:ln>
        </p:spPr>
      </p:sp>
      <p:sp>
        <p:nvSpPr>
          <p:cNvPr id="23" name="Text 21"/>
          <p:cNvSpPr txBox="1"/>
          <p:nvPr/>
        </p:nvSpPr>
        <p:spPr>
          <a:xfrm>
            <a:off x="6336792" y="5413248"/>
            <a:ext cx="2354580" cy="438912"/>
          </a:xfrm>
          <a:prstGeom prst="rect">
            <a:avLst/>
          </a:prstGeom>
          <a:noFill/>
          <a:ln/>
        </p:spPr>
        <p:txBody>
          <a:bodyPr wrap="square" lIns="0" tIns="0" rIns="0" bIns="0" rtlCol="0" anchor="ctr"/>
          <a:lstStyle/>
          <a:p>
            <a:pPr indent="0" marL="0">
              <a:buNone/>
            </a:pPr>
            <a:r>
              <a:rPr lang="en-US" sz="2100" b="1" dirty="0">
                <a:solidFill>
                  <a:schemeClr val="accent1"/>
                </a:solidFill>
              </a:rPr>
              <a:t>44.3%</a:t>
            </a:r>
            <a:endParaRPr lang="en-US" sz="2100" dirty="0"/>
          </a:p>
        </p:txBody>
      </p:sp>
      <p:sp>
        <p:nvSpPr>
          <p:cNvPr id="24" name="Text 22"/>
          <p:cNvSpPr txBox="1"/>
          <p:nvPr/>
        </p:nvSpPr>
        <p:spPr>
          <a:xfrm>
            <a:off x="6336792" y="5852160"/>
            <a:ext cx="2354580" cy="365760"/>
          </a:xfrm>
          <a:prstGeom prst="rect">
            <a:avLst/>
          </a:prstGeom>
          <a:noFill/>
          <a:ln/>
        </p:spPr>
        <p:txBody>
          <a:bodyPr wrap="square" lIns="0" tIns="0" rIns="0" bIns="0" rtlCol="0" anchor="t"/>
          <a:lstStyle/>
          <a:p>
            <a:pPr indent="0" marL="0">
              <a:buNone/>
            </a:pPr>
            <a:r>
              <a:rPr lang="en-US" sz="1100" dirty="0">
                <a:solidFill>
                  <a:schemeClr val="tx2"/>
                </a:solidFill>
              </a:rPr>
              <a:t>external coverage, round 1</a:t>
            </a:r>
            <a:endParaRPr lang="en-US" sz="1100" dirty="0"/>
          </a:p>
        </p:txBody>
      </p:sp>
      <p:sp>
        <p:nvSpPr>
          <p:cNvPr id="25" name="result3"/>
          <p:cNvSpPr/>
          <p:nvPr/>
        </p:nvSpPr>
        <p:spPr>
          <a:xfrm>
            <a:off x="8983980" y="5394960"/>
            <a:ext cx="2628900" cy="850392"/>
          </a:xfrm>
          <a:prstGeom prst="roundRect">
            <a:avLst>
              <a:gd name="adj" fmla="val 10753"/>
            </a:avLst>
          </a:prstGeom>
          <a:solidFill>
            <a:schemeClr val="bg2"/>
          </a:solidFill>
          <a:ln w="12700">
            <a:solidFill>
              <a:schemeClr val="bg2"/>
            </a:solidFill>
            <a:prstDash val="solid"/>
          </a:ln>
        </p:spPr>
      </p:sp>
      <p:sp>
        <p:nvSpPr>
          <p:cNvPr id="26" name="Text 24"/>
          <p:cNvSpPr txBox="1"/>
          <p:nvPr/>
        </p:nvSpPr>
        <p:spPr>
          <a:xfrm>
            <a:off x="9148572" y="5413248"/>
            <a:ext cx="2354580" cy="438912"/>
          </a:xfrm>
          <a:prstGeom prst="rect">
            <a:avLst/>
          </a:prstGeom>
          <a:noFill/>
          <a:ln/>
        </p:spPr>
        <p:txBody>
          <a:bodyPr wrap="square" lIns="0" tIns="0" rIns="0" bIns="0" rtlCol="0" anchor="ctr"/>
          <a:lstStyle/>
          <a:p>
            <a:pPr indent="0" marL="0">
              <a:buNone/>
            </a:pPr>
            <a:r>
              <a:rPr lang="en-US" sz="2100" b="1" dirty="0">
                <a:solidFill>
                  <a:schemeClr val="accent1"/>
                </a:solidFill>
              </a:rPr>
              <a:t>51.4%</a:t>
            </a:r>
            <a:endParaRPr lang="en-US" sz="2100" dirty="0"/>
          </a:p>
        </p:txBody>
      </p:sp>
      <p:sp>
        <p:nvSpPr>
          <p:cNvPr id="27" name="Text 25"/>
          <p:cNvSpPr txBox="1"/>
          <p:nvPr/>
        </p:nvSpPr>
        <p:spPr>
          <a:xfrm>
            <a:off x="9148572" y="5852160"/>
            <a:ext cx="2354580" cy="365760"/>
          </a:xfrm>
          <a:prstGeom prst="rect">
            <a:avLst/>
          </a:prstGeom>
          <a:noFill/>
          <a:ln/>
        </p:spPr>
        <p:txBody>
          <a:bodyPr wrap="square" lIns="0" tIns="0" rIns="0" bIns="0" rtlCol="0" anchor="t"/>
          <a:lstStyle/>
          <a:p>
            <a:pPr indent="0" marL="0">
              <a:buNone/>
            </a:pPr>
            <a:r>
              <a:rPr lang="en-US" sz="1100" dirty="0">
                <a:solidFill>
                  <a:schemeClr val="tx2"/>
                </a:solidFill>
              </a:rPr>
              <a:t>round 2 with listener clickables</a:t>
            </a:r>
            <a:endParaRPr lang="en-US" sz="11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06 · Workflow</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Workflow: How Katalyze Works End to End</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From a URL or an upload to a report where every bug comes with a reproduction</a:t>
            </a:r>
            <a:endParaRPr lang="en-US" sz="1700" dirty="0"/>
          </a:p>
        </p:txBody>
      </p:sp>
      <p:sp>
        <p:nvSpPr>
          <p:cNvPr id="5" name="step0"/>
          <p:cNvSpPr/>
          <p:nvPr/>
        </p:nvSpPr>
        <p:spPr>
          <a:xfrm>
            <a:off x="548640" y="1828800"/>
            <a:ext cx="2615184" cy="1965960"/>
          </a:xfrm>
          <a:prstGeom prst="roundRect">
            <a:avLst>
              <a:gd name="adj" fmla="val 4651"/>
            </a:avLst>
          </a:prstGeom>
          <a:solidFill>
            <a:schemeClr val="bg2"/>
          </a:solidFill>
          <a:ln w="12700">
            <a:solidFill>
              <a:schemeClr val="bg2"/>
            </a:solidFill>
            <a:prstDash val="solid"/>
          </a:ln>
        </p:spPr>
      </p:sp>
      <p:sp>
        <p:nvSpPr>
          <p:cNvPr id="6" name="Shape 4"/>
          <p:cNvSpPr/>
          <p:nvPr/>
        </p:nvSpPr>
        <p:spPr>
          <a:xfrm>
            <a:off x="731520" y="2011680"/>
            <a:ext cx="566928" cy="566928"/>
          </a:xfrm>
          <a:prstGeom prst="ellipse">
            <a:avLst/>
          </a:prstGeom>
          <a:solidFill>
            <a:schemeClr val="accent5"/>
          </a:solidFill>
          <a:ln w="12700">
            <a:solidFill>
              <a:schemeClr val="accent5"/>
            </a:solidFill>
            <a:prstDash val="solid"/>
          </a:ln>
        </p:spPr>
      </p:sp>
      <p:sp>
        <p:nvSpPr>
          <p:cNvPr id="7" name="Text 5"/>
          <p:cNvSpPr txBox="1"/>
          <p:nvPr/>
        </p:nvSpPr>
        <p:spPr>
          <a:xfrm>
            <a:off x="731520" y="201168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6"/>
          <p:cNvSpPr txBox="1"/>
          <p:nvPr/>
        </p:nvSpPr>
        <p:spPr>
          <a:xfrm>
            <a:off x="1417320" y="2029968"/>
            <a:ext cx="1645920" cy="530352"/>
          </a:xfrm>
          <a:prstGeom prst="rect">
            <a:avLst/>
          </a:prstGeom>
          <a:noFill/>
          <a:ln/>
        </p:spPr>
        <p:txBody>
          <a:bodyPr wrap="square" lIns="0" tIns="0" rIns="0" bIns="0" rtlCol="0" anchor="ctr"/>
          <a:lstStyle/>
          <a:p>
            <a:pPr indent="0" marL="0">
              <a:buNone/>
            </a:pPr>
            <a:r>
              <a:rPr lang="en-US" sz="1600" b="1" dirty="0">
                <a:solidFill>
                  <a:schemeClr val="tx1"/>
                </a:solidFill>
              </a:rPr>
              <a:t>Choose a target</a:t>
            </a:r>
            <a:endParaRPr lang="en-US" sz="1600" dirty="0"/>
          </a:p>
        </p:txBody>
      </p:sp>
      <p:sp>
        <p:nvSpPr>
          <p:cNvPr id="9" name="Text 7"/>
          <p:cNvSpPr txBox="1"/>
          <p:nvPr/>
        </p:nvSpPr>
        <p:spPr>
          <a:xfrm>
            <a:off x="731520" y="2697480"/>
            <a:ext cx="2286000" cy="1005840"/>
          </a:xfrm>
          <a:prstGeom prst="rect">
            <a:avLst/>
          </a:prstGeom>
          <a:noFill/>
          <a:ln/>
        </p:spPr>
        <p:txBody>
          <a:bodyPr wrap="square" lIns="0" tIns="0" rIns="0" bIns="0" rtlCol="0" anchor="t"/>
          <a:lstStyle/>
          <a:p>
            <a:pPr indent="0" marL="0">
              <a:buNone/>
            </a:pPr>
            <a:r>
              <a:rPr lang="en-US" sz="1300" dirty="0">
                <a:solidFill>
                  <a:schemeClr val="tx2"/>
                </a:solidFill>
              </a:rPr>
              <a:t>a live URL, a static site, a repository with a Dockerfile, or a demo app</a:t>
            </a:r>
            <a:endParaRPr lang="en-US" sz="1300" dirty="0"/>
          </a:p>
        </p:txBody>
      </p:sp>
      <p:sp>
        <p:nvSpPr>
          <p:cNvPr id="10" name="step1"/>
          <p:cNvSpPr/>
          <p:nvPr/>
        </p:nvSpPr>
        <p:spPr>
          <a:xfrm>
            <a:off x="3346704" y="1828800"/>
            <a:ext cx="2615184" cy="1965960"/>
          </a:xfrm>
          <a:prstGeom prst="roundRect">
            <a:avLst>
              <a:gd name="adj" fmla="val 4651"/>
            </a:avLst>
          </a:prstGeom>
          <a:solidFill>
            <a:schemeClr val="bg2"/>
          </a:solidFill>
          <a:ln w="12700">
            <a:solidFill>
              <a:schemeClr val="bg2"/>
            </a:solidFill>
            <a:prstDash val="solid"/>
          </a:ln>
        </p:spPr>
      </p:sp>
      <p:sp>
        <p:nvSpPr>
          <p:cNvPr id="11" name="Shape 9"/>
          <p:cNvSpPr/>
          <p:nvPr/>
        </p:nvSpPr>
        <p:spPr>
          <a:xfrm>
            <a:off x="3529584" y="2011680"/>
            <a:ext cx="566928" cy="566928"/>
          </a:xfrm>
          <a:prstGeom prst="ellipse">
            <a:avLst/>
          </a:prstGeom>
          <a:solidFill>
            <a:schemeClr val="accent5"/>
          </a:solidFill>
          <a:ln w="12700">
            <a:solidFill>
              <a:schemeClr val="accent5"/>
            </a:solidFill>
            <a:prstDash val="solid"/>
          </a:ln>
        </p:spPr>
      </p:sp>
      <p:sp>
        <p:nvSpPr>
          <p:cNvPr id="12" name="Text 10"/>
          <p:cNvSpPr txBox="1"/>
          <p:nvPr/>
        </p:nvSpPr>
        <p:spPr>
          <a:xfrm>
            <a:off x="3529584" y="201168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1"/>
          <p:cNvSpPr txBox="1"/>
          <p:nvPr/>
        </p:nvSpPr>
        <p:spPr>
          <a:xfrm>
            <a:off x="4215384" y="2029968"/>
            <a:ext cx="1645920" cy="530352"/>
          </a:xfrm>
          <a:prstGeom prst="rect">
            <a:avLst/>
          </a:prstGeom>
          <a:noFill/>
          <a:ln/>
        </p:spPr>
        <p:txBody>
          <a:bodyPr wrap="square" lIns="0" tIns="0" rIns="0" bIns="0" rtlCol="0" anchor="ctr"/>
          <a:lstStyle/>
          <a:p>
            <a:pPr indent="0" marL="0">
              <a:buNone/>
            </a:pPr>
            <a:r>
              <a:rPr lang="en-US" sz="1600" b="1" dirty="0">
                <a:solidFill>
                  <a:schemeClr val="tx1"/>
                </a:solidFill>
              </a:rPr>
              <a:t>Sandbox it</a:t>
            </a:r>
            <a:endParaRPr lang="en-US" sz="1600" dirty="0"/>
          </a:p>
        </p:txBody>
      </p:sp>
      <p:sp>
        <p:nvSpPr>
          <p:cNvPr id="14" name="Text 12"/>
          <p:cNvSpPr txBox="1"/>
          <p:nvPr/>
        </p:nvSpPr>
        <p:spPr>
          <a:xfrm>
            <a:off x="3529584" y="2697480"/>
            <a:ext cx="2286000" cy="1005840"/>
          </a:xfrm>
          <a:prstGeom prst="rect">
            <a:avLst/>
          </a:prstGeom>
          <a:noFill/>
          <a:ln/>
        </p:spPr>
        <p:txBody>
          <a:bodyPr wrap="square" lIns="0" tIns="0" rIns="0" bIns="0" rtlCol="0" anchor="t"/>
          <a:lstStyle/>
          <a:p>
            <a:pPr indent="0" marL="0">
              <a:buNone/>
            </a:pPr>
            <a:r>
              <a:rPr lang="en-US" sz="1300" dirty="0">
                <a:solidFill>
                  <a:schemeClr val="tx2"/>
                </a:solidFill>
              </a:rPr>
              <a:t>uploads are built and run in a restricted container: no capabilities, read-only, internal network</a:t>
            </a:r>
            <a:endParaRPr lang="en-US" sz="1300" dirty="0"/>
          </a:p>
        </p:txBody>
      </p:sp>
      <p:sp>
        <p:nvSpPr>
          <p:cNvPr id="15" name="step2"/>
          <p:cNvSpPr/>
          <p:nvPr/>
        </p:nvSpPr>
        <p:spPr>
          <a:xfrm>
            <a:off x="6144768" y="1828800"/>
            <a:ext cx="2615184" cy="1965960"/>
          </a:xfrm>
          <a:prstGeom prst="roundRect">
            <a:avLst>
              <a:gd name="adj" fmla="val 4651"/>
            </a:avLst>
          </a:prstGeom>
          <a:solidFill>
            <a:schemeClr val="bg2"/>
          </a:solidFill>
          <a:ln w="12700">
            <a:solidFill>
              <a:schemeClr val="bg2"/>
            </a:solidFill>
            <a:prstDash val="solid"/>
          </a:ln>
        </p:spPr>
      </p:sp>
      <p:sp>
        <p:nvSpPr>
          <p:cNvPr id="16" name="Shape 14"/>
          <p:cNvSpPr/>
          <p:nvPr/>
        </p:nvSpPr>
        <p:spPr>
          <a:xfrm>
            <a:off x="6327648" y="2011680"/>
            <a:ext cx="566928" cy="566928"/>
          </a:xfrm>
          <a:prstGeom prst="ellipse">
            <a:avLst/>
          </a:prstGeom>
          <a:solidFill>
            <a:schemeClr val="accent1"/>
          </a:solidFill>
          <a:ln w="12700">
            <a:solidFill>
              <a:schemeClr val="accent1"/>
            </a:solidFill>
            <a:prstDash val="solid"/>
          </a:ln>
        </p:spPr>
      </p:sp>
      <p:sp>
        <p:nvSpPr>
          <p:cNvPr id="17" name="Text 15"/>
          <p:cNvSpPr txBox="1"/>
          <p:nvPr/>
        </p:nvSpPr>
        <p:spPr>
          <a:xfrm>
            <a:off x="6327648" y="201168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7013448" y="2029968"/>
            <a:ext cx="1645920" cy="530352"/>
          </a:xfrm>
          <a:prstGeom prst="rect">
            <a:avLst/>
          </a:prstGeom>
          <a:noFill/>
          <a:ln/>
        </p:spPr>
        <p:txBody>
          <a:bodyPr wrap="square" lIns="0" tIns="0" rIns="0" bIns="0" rtlCol="0" anchor="ctr"/>
          <a:lstStyle/>
          <a:p>
            <a:pPr indent="0" marL="0">
              <a:buNone/>
            </a:pPr>
            <a:r>
              <a:rPr lang="en-US" sz="1600" b="1" dirty="0">
                <a:solidFill>
                  <a:schemeClr val="tx1"/>
                </a:solidFill>
              </a:rPr>
              <a:t>Open a browser</a:t>
            </a:r>
            <a:endParaRPr lang="en-US" sz="1600" dirty="0"/>
          </a:p>
        </p:txBody>
      </p:sp>
      <p:sp>
        <p:nvSpPr>
          <p:cNvPr id="19" name="Text 17"/>
          <p:cNvSpPr txBox="1"/>
          <p:nvPr/>
        </p:nvSpPr>
        <p:spPr>
          <a:xfrm>
            <a:off x="6327648" y="2697480"/>
            <a:ext cx="2286000" cy="1005840"/>
          </a:xfrm>
          <a:prstGeom prst="rect">
            <a:avLst/>
          </a:prstGeom>
          <a:noFill/>
          <a:ln/>
        </p:spPr>
        <p:txBody>
          <a:bodyPr wrap="square" lIns="0" tIns="0" rIns="0" bIns="0" rtlCol="0" anchor="t"/>
          <a:lstStyle/>
          <a:p>
            <a:pPr indent="0" marL="0">
              <a:buNone/>
            </a:pPr>
            <a:r>
              <a:rPr lang="en-US" sz="1300" dirty="0">
                <a:solidFill>
                  <a:schemeClr val="tx2"/>
                </a:solidFill>
              </a:rPr>
              <a:t>Playwright drives Chromium; the action registry lists what can be clicked, typed or selected</a:t>
            </a:r>
            <a:endParaRPr lang="en-US" sz="1300" dirty="0"/>
          </a:p>
        </p:txBody>
      </p:sp>
      <p:sp>
        <p:nvSpPr>
          <p:cNvPr id="20" name="step3"/>
          <p:cNvSpPr/>
          <p:nvPr/>
        </p:nvSpPr>
        <p:spPr>
          <a:xfrm>
            <a:off x="8942832" y="1828800"/>
            <a:ext cx="2615184" cy="1965960"/>
          </a:xfrm>
          <a:prstGeom prst="roundRect">
            <a:avLst>
              <a:gd name="adj" fmla="val 4651"/>
            </a:avLst>
          </a:prstGeom>
          <a:solidFill>
            <a:schemeClr val="bg2"/>
          </a:solidFill>
          <a:ln w="12700">
            <a:solidFill>
              <a:schemeClr val="bg2"/>
            </a:solidFill>
            <a:prstDash val="solid"/>
          </a:ln>
        </p:spPr>
      </p:sp>
      <p:sp>
        <p:nvSpPr>
          <p:cNvPr id="21" name="Shape 19"/>
          <p:cNvSpPr/>
          <p:nvPr/>
        </p:nvSpPr>
        <p:spPr>
          <a:xfrm>
            <a:off x="9125712" y="2011680"/>
            <a:ext cx="566928" cy="566928"/>
          </a:xfrm>
          <a:prstGeom prst="ellipse">
            <a:avLst/>
          </a:prstGeom>
          <a:solidFill>
            <a:schemeClr val="accent1"/>
          </a:solidFill>
          <a:ln w="12700">
            <a:solidFill>
              <a:schemeClr val="accent1"/>
            </a:solidFill>
            <a:prstDash val="solid"/>
          </a:ln>
        </p:spPr>
      </p:sp>
      <p:sp>
        <p:nvSpPr>
          <p:cNvPr id="22" name="Text 20"/>
          <p:cNvSpPr txBox="1"/>
          <p:nvPr/>
        </p:nvSpPr>
        <p:spPr>
          <a:xfrm>
            <a:off x="9125712" y="201168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3" name="Text 21"/>
          <p:cNvSpPr txBox="1"/>
          <p:nvPr/>
        </p:nvSpPr>
        <p:spPr>
          <a:xfrm>
            <a:off x="9811512" y="2029968"/>
            <a:ext cx="1645920" cy="530352"/>
          </a:xfrm>
          <a:prstGeom prst="rect">
            <a:avLst/>
          </a:prstGeom>
          <a:noFill/>
          <a:ln/>
        </p:spPr>
        <p:txBody>
          <a:bodyPr wrap="square" lIns="0" tIns="0" rIns="0" bIns="0" rtlCol="0" anchor="ctr"/>
          <a:lstStyle/>
          <a:p>
            <a:pPr indent="0" marL="0">
              <a:buNone/>
            </a:pPr>
            <a:r>
              <a:rPr lang="en-US" sz="1600" b="1" dirty="0">
                <a:solidFill>
                  <a:schemeClr val="tx1"/>
                </a:solidFill>
              </a:rPr>
              <a:t>Explore</a:t>
            </a:r>
            <a:endParaRPr lang="en-US" sz="1600" dirty="0"/>
          </a:p>
        </p:txBody>
      </p:sp>
      <p:sp>
        <p:nvSpPr>
          <p:cNvPr id="24" name="Text 22"/>
          <p:cNvSpPr txBox="1"/>
          <p:nvPr/>
        </p:nvSpPr>
        <p:spPr>
          <a:xfrm>
            <a:off x="9125712" y="2697480"/>
            <a:ext cx="2286000" cy="1005840"/>
          </a:xfrm>
          <a:prstGeom prst="rect">
            <a:avLst/>
          </a:prstGeom>
          <a:noFill/>
          <a:ln/>
        </p:spPr>
        <p:txBody>
          <a:bodyPr wrap="square" lIns="0" tIns="0" rIns="0" bIns="0" rtlCol="0" anchor="t"/>
          <a:lstStyle/>
          <a:p>
            <a:pPr indent="0" marL="0">
              <a:buNone/>
            </a:pPr>
            <a:r>
              <a:rPr lang="en-US" sz="1300" dirty="0">
                <a:solidFill>
                  <a:schemeClr val="tx2"/>
                </a:solidFill>
              </a:rPr>
              <a:t>the tester returns to remembered states and applies test operators, step by step</a:t>
            </a:r>
            <a:endParaRPr lang="en-US" sz="1300" dirty="0"/>
          </a:p>
        </p:txBody>
      </p:sp>
      <p:sp>
        <p:nvSpPr>
          <p:cNvPr id="25" name="step4"/>
          <p:cNvSpPr/>
          <p:nvPr/>
        </p:nvSpPr>
        <p:spPr>
          <a:xfrm>
            <a:off x="1947672" y="4069080"/>
            <a:ext cx="2615184" cy="1965960"/>
          </a:xfrm>
          <a:prstGeom prst="roundRect">
            <a:avLst>
              <a:gd name="adj" fmla="val 4651"/>
            </a:avLst>
          </a:prstGeom>
          <a:solidFill>
            <a:schemeClr val="bg2"/>
          </a:solidFill>
          <a:ln w="12700">
            <a:solidFill>
              <a:schemeClr val="bg2"/>
            </a:solidFill>
            <a:prstDash val="solid"/>
          </a:ln>
        </p:spPr>
      </p:sp>
      <p:sp>
        <p:nvSpPr>
          <p:cNvPr id="26" name="Shape 24"/>
          <p:cNvSpPr/>
          <p:nvPr/>
        </p:nvSpPr>
        <p:spPr>
          <a:xfrm>
            <a:off x="2130552" y="4251960"/>
            <a:ext cx="566928" cy="566928"/>
          </a:xfrm>
          <a:prstGeom prst="ellipse">
            <a:avLst/>
          </a:prstGeom>
          <a:solidFill>
            <a:schemeClr val="accent1"/>
          </a:solidFill>
          <a:ln w="12700">
            <a:solidFill>
              <a:schemeClr val="accent1"/>
            </a:solidFill>
            <a:prstDash val="solid"/>
          </a:ln>
        </p:spPr>
      </p:sp>
      <p:sp>
        <p:nvSpPr>
          <p:cNvPr id="27" name="Text 25"/>
          <p:cNvSpPr txBox="1"/>
          <p:nvPr/>
        </p:nvSpPr>
        <p:spPr>
          <a:xfrm>
            <a:off x="2130552" y="425196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8" name="Text 26"/>
          <p:cNvSpPr txBox="1"/>
          <p:nvPr/>
        </p:nvSpPr>
        <p:spPr>
          <a:xfrm>
            <a:off x="2816352" y="4270248"/>
            <a:ext cx="1645920" cy="530352"/>
          </a:xfrm>
          <a:prstGeom prst="rect">
            <a:avLst/>
          </a:prstGeom>
          <a:noFill/>
          <a:ln/>
        </p:spPr>
        <p:txBody>
          <a:bodyPr wrap="square" lIns="0" tIns="0" rIns="0" bIns="0" rtlCol="0" anchor="ctr"/>
          <a:lstStyle/>
          <a:p>
            <a:pPr indent="0" marL="0">
              <a:buNone/>
            </a:pPr>
            <a:r>
              <a:rPr lang="en-US" sz="1600" b="1" dirty="0">
                <a:solidFill>
                  <a:schemeClr val="tx1"/>
                </a:solidFill>
              </a:rPr>
              <a:t>Spot a candidate</a:t>
            </a:r>
            <a:endParaRPr lang="en-US" sz="1600" dirty="0"/>
          </a:p>
        </p:txBody>
      </p:sp>
      <p:sp>
        <p:nvSpPr>
          <p:cNvPr id="29" name="Text 27"/>
          <p:cNvSpPr txBox="1"/>
          <p:nvPr/>
        </p:nvSpPr>
        <p:spPr>
          <a:xfrm>
            <a:off x="2130552" y="4937760"/>
            <a:ext cx="2286000" cy="1005840"/>
          </a:xfrm>
          <a:prstGeom prst="rect">
            <a:avLst/>
          </a:prstGeom>
          <a:noFill/>
          <a:ln/>
        </p:spPr>
        <p:txBody>
          <a:bodyPr wrap="square" lIns="0" tIns="0" rIns="0" bIns="0" rtlCol="0" anchor="t"/>
          <a:lstStyle/>
          <a:p>
            <a:pPr indent="0" marL="0">
              <a:buNone/>
            </a:pPr>
            <a:r>
              <a:rPr lang="en-US" sz="1300" dirty="0">
                <a:solidFill>
                  <a:schemeClr val="tx2"/>
                </a:solidFill>
              </a:rPr>
              <a:t>a seeded assertion, a script error, a failed request or a dead link fires</a:t>
            </a:r>
            <a:endParaRPr lang="en-US" sz="1300" dirty="0"/>
          </a:p>
        </p:txBody>
      </p:sp>
      <p:sp>
        <p:nvSpPr>
          <p:cNvPr id="30" name="step5"/>
          <p:cNvSpPr/>
          <p:nvPr/>
        </p:nvSpPr>
        <p:spPr>
          <a:xfrm>
            <a:off x="4745736" y="4069080"/>
            <a:ext cx="2615184" cy="1965960"/>
          </a:xfrm>
          <a:prstGeom prst="roundRect">
            <a:avLst>
              <a:gd name="adj" fmla="val 4651"/>
            </a:avLst>
          </a:prstGeom>
          <a:solidFill>
            <a:schemeClr val="bg2"/>
          </a:solidFill>
          <a:ln w="12700">
            <a:solidFill>
              <a:schemeClr val="bg2"/>
            </a:solidFill>
            <a:prstDash val="solid"/>
          </a:ln>
        </p:spPr>
      </p:sp>
      <p:sp>
        <p:nvSpPr>
          <p:cNvPr id="31" name="Shape 29"/>
          <p:cNvSpPr/>
          <p:nvPr/>
        </p:nvSpPr>
        <p:spPr>
          <a:xfrm>
            <a:off x="4928616" y="4251960"/>
            <a:ext cx="566928" cy="566928"/>
          </a:xfrm>
          <a:prstGeom prst="ellipse">
            <a:avLst/>
          </a:prstGeom>
          <a:solidFill>
            <a:schemeClr val="accent2"/>
          </a:solidFill>
          <a:ln w="12700">
            <a:solidFill>
              <a:schemeClr val="accent2"/>
            </a:solidFill>
            <a:prstDash val="solid"/>
          </a:ln>
        </p:spPr>
      </p:sp>
      <p:sp>
        <p:nvSpPr>
          <p:cNvPr id="32" name="Text 30"/>
          <p:cNvSpPr txBox="1"/>
          <p:nvPr/>
        </p:nvSpPr>
        <p:spPr>
          <a:xfrm>
            <a:off x="4928616" y="425196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3" name="Text 31"/>
          <p:cNvSpPr txBox="1"/>
          <p:nvPr/>
        </p:nvSpPr>
        <p:spPr>
          <a:xfrm>
            <a:off x="5614416" y="4270248"/>
            <a:ext cx="1645920" cy="530352"/>
          </a:xfrm>
          <a:prstGeom prst="rect">
            <a:avLst/>
          </a:prstGeom>
          <a:noFill/>
          <a:ln/>
        </p:spPr>
        <p:txBody>
          <a:bodyPr wrap="square" lIns="0" tIns="0" rIns="0" bIns="0" rtlCol="0" anchor="ctr"/>
          <a:lstStyle/>
          <a:p>
            <a:pPr indent="0" marL="0">
              <a:buNone/>
            </a:pPr>
            <a:r>
              <a:rPr lang="en-US" sz="1600" b="1" dirty="0">
                <a:solidFill>
                  <a:schemeClr val="tx1"/>
                </a:solidFill>
              </a:rPr>
              <a:t>Verify</a:t>
            </a:r>
            <a:endParaRPr lang="en-US" sz="1600" dirty="0"/>
          </a:p>
        </p:txBody>
      </p:sp>
      <p:sp>
        <p:nvSpPr>
          <p:cNvPr id="34" name="Text 32"/>
          <p:cNvSpPr txBox="1"/>
          <p:nvPr/>
        </p:nvSpPr>
        <p:spPr>
          <a:xfrm>
            <a:off x="4928616" y="4937760"/>
            <a:ext cx="2286000" cy="1005840"/>
          </a:xfrm>
          <a:prstGeom prst="rect">
            <a:avLst/>
          </a:prstGeom>
          <a:noFill/>
          <a:ln/>
        </p:spPr>
        <p:txBody>
          <a:bodyPr wrap="square" lIns="0" tIns="0" rIns="0" bIns="0" rtlCol="0" anchor="t"/>
          <a:lstStyle/>
          <a:p>
            <a:pPr indent="0" marL="0">
              <a:buNone/>
            </a:pPr>
            <a:r>
              <a:rPr lang="en-US" sz="1300" dirty="0">
                <a:solidFill>
                  <a:schemeClr val="tx2"/>
                </a:solidFill>
              </a:rPr>
              <a:t>replay twice in fresh sessions, check the control build, minimise with delta debugging</a:t>
            </a:r>
            <a:endParaRPr lang="en-US" sz="1300" dirty="0"/>
          </a:p>
        </p:txBody>
      </p:sp>
      <p:sp>
        <p:nvSpPr>
          <p:cNvPr id="35" name="step6"/>
          <p:cNvSpPr/>
          <p:nvPr/>
        </p:nvSpPr>
        <p:spPr>
          <a:xfrm>
            <a:off x="7543800" y="4069080"/>
            <a:ext cx="2615184" cy="1965960"/>
          </a:xfrm>
          <a:prstGeom prst="roundRect">
            <a:avLst>
              <a:gd name="adj" fmla="val 4651"/>
            </a:avLst>
          </a:prstGeom>
          <a:solidFill>
            <a:schemeClr val="bg2"/>
          </a:solidFill>
          <a:ln w="12700">
            <a:solidFill>
              <a:schemeClr val="bg2"/>
            </a:solidFill>
            <a:prstDash val="solid"/>
          </a:ln>
        </p:spPr>
      </p:sp>
      <p:sp>
        <p:nvSpPr>
          <p:cNvPr id="36" name="Shape 34"/>
          <p:cNvSpPr/>
          <p:nvPr/>
        </p:nvSpPr>
        <p:spPr>
          <a:xfrm>
            <a:off x="7726680" y="4251960"/>
            <a:ext cx="566928" cy="566928"/>
          </a:xfrm>
          <a:prstGeom prst="ellipse">
            <a:avLst/>
          </a:prstGeom>
          <a:solidFill>
            <a:schemeClr val="accent2"/>
          </a:solidFill>
          <a:ln w="12700">
            <a:solidFill>
              <a:schemeClr val="accent2"/>
            </a:solidFill>
            <a:prstDash val="solid"/>
          </a:ln>
        </p:spPr>
      </p:sp>
      <p:sp>
        <p:nvSpPr>
          <p:cNvPr id="37" name="Text 35"/>
          <p:cNvSpPr txBox="1"/>
          <p:nvPr/>
        </p:nvSpPr>
        <p:spPr>
          <a:xfrm>
            <a:off x="7726680" y="425196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38" name="Text 36"/>
          <p:cNvSpPr txBox="1"/>
          <p:nvPr/>
        </p:nvSpPr>
        <p:spPr>
          <a:xfrm>
            <a:off x="8412480" y="4270248"/>
            <a:ext cx="1645920" cy="530352"/>
          </a:xfrm>
          <a:prstGeom prst="rect">
            <a:avLst/>
          </a:prstGeom>
          <a:noFill/>
          <a:ln/>
        </p:spPr>
        <p:txBody>
          <a:bodyPr wrap="square" lIns="0" tIns="0" rIns="0" bIns="0" rtlCol="0" anchor="ctr"/>
          <a:lstStyle/>
          <a:p>
            <a:pPr indent="0" marL="0">
              <a:buNone/>
            </a:pPr>
            <a:r>
              <a:rPr lang="en-US" sz="1600" b="1" dirty="0">
                <a:solidFill>
                  <a:schemeClr val="tx1"/>
                </a:solidFill>
              </a:rPr>
              <a:t>Report</a:t>
            </a:r>
            <a:endParaRPr lang="en-US" sz="1600" dirty="0"/>
          </a:p>
        </p:txBody>
      </p:sp>
      <p:sp>
        <p:nvSpPr>
          <p:cNvPr id="39" name="Text 37"/>
          <p:cNvSpPr txBox="1"/>
          <p:nvPr/>
        </p:nvSpPr>
        <p:spPr>
          <a:xfrm>
            <a:off x="7726680" y="4937760"/>
            <a:ext cx="2286000" cy="1005840"/>
          </a:xfrm>
          <a:prstGeom prst="rect">
            <a:avLst/>
          </a:prstGeom>
          <a:noFill/>
          <a:ln/>
        </p:spPr>
        <p:txBody>
          <a:bodyPr wrap="square" lIns="0" tIns="0" rIns="0" bIns="0" rtlCol="0" anchor="t"/>
          <a:lstStyle/>
          <a:p>
            <a:pPr indent="0" marL="0">
              <a:buNone/>
            </a:pPr>
            <a:r>
              <a:rPr lang="en-US" sz="1300" dirty="0">
                <a:solidFill>
                  <a:schemeClr val="tx2"/>
                </a:solidFill>
              </a:rPr>
              <a:t>HTML, Markdown and JSON: minimal reproduction, screenshots, evidence</a:t>
            </a:r>
            <a:endParaRPr lang="en-US" sz="13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07 · Evaluation and benchmark</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Evaluation Design</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Separate applications for tuning and testing, and every test pre-registered</a:t>
            </a:r>
            <a:endParaRPr lang="en-US" sz="17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675120" cy="914400"/>
        </p:xfrm>
        <a:graphic>
          <a:graphicData uri="http://schemas.openxmlformats.org/drawingml/2006/table">
            <a:tbl>
              <a:tblPr/>
              <a:tblGrid>
                <a:gridCol w="2194560"/>
                <a:gridCol w="2514600"/>
                <a:gridCol w="1965960"/>
              </a:tblGrid>
              <a:tr h="640080">
                <a:tc>
                  <a:txBody>
                    <a:bodyPr/>
                    <a:lstStyle/>
                    <a:p>
                      <a:pPr indent="0" marL="0">
                        <a:buNone/>
                      </a:pPr>
                      <a:r>
                        <a:rPr lang="en-US" sz="1300" b="1" dirty="0">
                          <a:solidFill>
                            <a:srgbClr val="FFFFFF"/>
                          </a:solidFill>
                        </a:rPr>
                        <a:t>Applications</a:t>
                      </a:r>
                      <a:endParaRPr lang="en-US" sz="13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172033"/>
                    </a:solidFill>
                  </a:tcPr>
                </a:tc>
                <a:tc>
                  <a:txBody>
                    <a:bodyPr/>
                    <a:lstStyle/>
                    <a:p>
                      <a:pPr indent="0" marL="0">
                        <a:buNone/>
                      </a:pPr>
                      <a:r>
                        <a:rPr lang="en-US" sz="1300" b="1" dirty="0">
                          <a:solidFill>
                            <a:srgbClr val="FFFFFF"/>
                          </a:solidFill>
                        </a:rPr>
                        <a:t>What</a:t>
                      </a:r>
                      <a:endParaRPr lang="en-US" sz="13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172033"/>
                    </a:solidFill>
                  </a:tcPr>
                </a:tc>
                <a:tc>
                  <a:txBody>
                    <a:bodyPr/>
                    <a:lstStyle/>
                    <a:p>
                      <a:pPr indent="0" marL="0">
                        <a:buNone/>
                      </a:pPr>
                      <a:r>
                        <a:rPr lang="en-US" sz="1300" b="1" dirty="0">
                          <a:solidFill>
                            <a:srgbClr val="FFFFFF"/>
                          </a:solidFill>
                        </a:rPr>
                        <a:t>Used for</a:t>
                      </a:r>
                      <a:endParaRPr lang="en-US" sz="13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172033"/>
                    </a:solidFill>
                  </a:tcPr>
                </a:tc>
              </a:tr>
              <a:tr h="640080">
                <a:tc>
                  <a:txBody>
                    <a:bodyPr/>
                    <a:lstStyle/>
                    <a:p>
                      <a:pPr indent="0" marL="0">
                        <a:buNone/>
                      </a:pPr>
                      <a:r>
                        <a:rPr lang="en-US" sz="1400" b="1" dirty="0">
                          <a:solidFill>
                            <a:srgbClr val="172033"/>
                          </a:solidFill>
                        </a:rPr>
                        <a:t>Development suite</a:t>
                      </a:r>
                      <a:endParaRPr lang="en-US" sz="14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400" dirty="0">
                          <a:solidFill>
                            <a:srgbClr val="172033"/>
                          </a:solidFill>
                        </a:rPr>
                        <a:t>8 full-stack apps, 41 faults (8 crash-type)</a:t>
                      </a:r>
                      <a:endParaRPr lang="en-US" sz="14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400" dirty="0">
                          <a:solidFill>
                            <a:srgbClr val="172033"/>
                          </a:solidFill>
                        </a:rPr>
                        <a:t>tuning only, never evidence</a:t>
                      </a:r>
                      <a:endParaRPr lang="en-US" sz="14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r>
              <a:tr h="640080">
                <a:tc>
                  <a:txBody>
                    <a:bodyPr/>
                    <a:lstStyle/>
                    <a:p>
                      <a:pPr indent="0" marL="0">
                        <a:buNone/>
                      </a:pPr>
                      <a:r>
                        <a:rPr lang="en-US" sz="1400" b="1" dirty="0">
                          <a:solidFill>
                            <a:srgbClr val="172033"/>
                          </a:solidFill>
                        </a:rPr>
                        <a:t>Validation suite</a:t>
                      </a:r>
                      <a:endParaRPr lang="en-US" sz="14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D3EBEA"/>
                    </a:solidFill>
                  </a:tcPr>
                </a:tc>
                <a:tc>
                  <a:txBody>
                    <a:bodyPr/>
                    <a:lstStyle/>
                    <a:p>
                      <a:pPr indent="0" marL="0">
                        <a:buNone/>
                      </a:pPr>
                      <a:r>
                        <a:rPr lang="en-US" sz="1400" dirty="0">
                          <a:solidFill>
                            <a:srgbClr val="172033"/>
                          </a:solidFill>
                        </a:rPr>
                        <a:t>8 apps planned independently, 24 faults</a:t>
                      </a:r>
                      <a:endParaRPr lang="en-US" sz="14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D3EBEA"/>
                    </a:solidFill>
                  </a:tcPr>
                </a:tc>
                <a:tc>
                  <a:txBody>
                    <a:bodyPr/>
                    <a:lstStyle/>
                    <a:p>
                      <a:pPr indent="0" marL="0">
                        <a:buNone/>
                      </a:pPr>
                      <a:r>
                        <a:rPr lang="en-US" sz="1400" dirty="0">
                          <a:solidFill>
                            <a:srgbClr val="172033"/>
                          </a:solidFill>
                        </a:rPr>
                        <a:t>held-out evaluation, used once</a:t>
                      </a:r>
                      <a:endParaRPr lang="en-US" sz="14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D3EBEA"/>
                    </a:solidFill>
                  </a:tcPr>
                </a:tc>
              </a:tr>
              <a:tr h="640080">
                <a:tc>
                  <a:txBody>
                    <a:bodyPr/>
                    <a:lstStyle/>
                    <a:p>
                      <a:pPr indent="0" marL="0">
                        <a:buNone/>
                      </a:pPr>
                      <a:r>
                        <a:rPr lang="en-US" sz="1400" b="1" dirty="0">
                          <a:solidFill>
                            <a:srgbClr val="172033"/>
                          </a:solidFill>
                        </a:rPr>
                        <a:t>External benchmark</a:t>
                      </a:r>
                      <a:endParaRPr lang="en-US" sz="14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400" dirty="0">
                          <a:solidFill>
                            <a:srgbClr val="172033"/>
                          </a:solidFill>
                        </a:rPr>
                        <a:t>WebExplor's 6 open-source apps</a:t>
                      </a:r>
                      <a:endParaRPr lang="en-US" sz="14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400" dirty="0">
                          <a:solidFill>
                            <a:srgbClr val="172033"/>
                          </a:solidFill>
                        </a:rPr>
                        <a:t>comparison with published testers</a:t>
                      </a:r>
                      <a:endParaRPr lang="en-US" sz="14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r>
              <a:tr h="640080">
                <a:tc>
                  <a:txBody>
                    <a:bodyPr/>
                    <a:lstStyle/>
                    <a:p>
                      <a:pPr indent="0" marL="0">
                        <a:buNone/>
                      </a:pPr>
                      <a:r>
                        <a:rPr lang="en-US" sz="1400" b="1" dirty="0">
                          <a:solidFill>
                            <a:srgbClr val="172033"/>
                          </a:solidFill>
                        </a:rPr>
                        <a:t>v1 benchmark</a:t>
                      </a:r>
                      <a:endParaRPr lang="en-US" sz="14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400" dirty="0">
                          <a:solidFill>
                            <a:srgbClr val="172033"/>
                          </a:solidFill>
                        </a:rPr>
                        <a:t>6 apps + 12 generated variants</a:t>
                      </a:r>
                      <a:endParaRPr lang="en-US" sz="14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400" dirty="0">
                          <a:solidFill>
                            <a:srgbClr val="172033"/>
                          </a:solidFill>
                        </a:rPr>
                        <a:t>transfer and context experiments</a:t>
                      </a:r>
                      <a:endParaRPr lang="en-US" sz="14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r>
            </a:tbl>
          </a:graphicData>
        </a:graphic>
      </p:graphicFrame>
      <p:sp>
        <p:nvSpPr>
          <p:cNvPr id="6" name="measures"/>
          <p:cNvSpPr/>
          <p:nvPr/>
        </p:nvSpPr>
        <p:spPr>
          <a:xfrm>
            <a:off x="7498080" y="1783080"/>
            <a:ext cx="4114800" cy="4343400"/>
          </a:xfrm>
          <a:prstGeom prst="roundRect">
            <a:avLst>
              <a:gd name="adj" fmla="val 2222"/>
            </a:avLst>
          </a:prstGeom>
          <a:solidFill>
            <a:schemeClr val="tx1"/>
          </a:solidFill>
          <a:ln w="12700">
            <a:solidFill>
              <a:schemeClr val="tx1"/>
            </a:solidFill>
            <a:prstDash val="solid"/>
          </a:ln>
        </p:spPr>
      </p:sp>
      <p:sp>
        <p:nvSpPr>
          <p:cNvPr id="7" name="Text 4"/>
          <p:cNvSpPr txBox="1"/>
          <p:nvPr/>
        </p:nvSpPr>
        <p:spPr>
          <a:xfrm>
            <a:off x="7772400" y="1965960"/>
            <a:ext cx="36576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HOW WE MEASURE</a:t>
            </a:r>
            <a:endParaRPr lang="en-US" sz="1200" dirty="0"/>
          </a:p>
        </p:txBody>
      </p:sp>
      <p:sp>
        <p:nvSpPr>
          <p:cNvPr id="8" name="Text 5"/>
          <p:cNvSpPr txBox="1"/>
          <p:nvPr/>
        </p:nvSpPr>
        <p:spPr>
          <a:xfrm>
            <a:off x="7772400" y="2331720"/>
            <a:ext cx="3657600"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bg1"/>
                </a:solidFill>
              </a:rPr>
              <a:t>T = interactions until the first verified fault; runs with none are censored at 2,000</a:t>
            </a:r>
            <a:endParaRPr lang="en-US" sz="1400" dirty="0"/>
          </a:p>
          <a:p>
            <a:pPr marL="342900" indent="-342900">
              <a:spcAft>
                <a:spcPts val="900"/>
              </a:spcAft>
              <a:buSzPct val="100000"/>
              <a:buChar char="•"/>
            </a:pPr>
            <a:r>
              <a:rPr lang="en-US" sz="1400" dirty="0">
                <a:solidFill>
                  <a:schemeClr val="bg1"/>
                </a:solidFill>
              </a:rPr>
              <a:t>Restricted mean of T, and distinct faults verified</a:t>
            </a:r>
            <a:endParaRPr lang="en-US" sz="1400" dirty="0"/>
          </a:p>
          <a:p>
            <a:pPr marL="342900" indent="-342900">
              <a:spcAft>
                <a:spcPts val="900"/>
              </a:spcAft>
              <a:buSzPct val="100000"/>
              <a:buChar char="•"/>
            </a:pPr>
            <a:r>
              <a:rPr lang="en-US" sz="1400" dirty="0">
                <a:solidFill>
                  <a:schemeClr val="bg1"/>
                </a:solidFill>
              </a:rPr>
              <a:t>Per-app differences, median with a bootstrap interval; log-rank test</a:t>
            </a:r>
            <a:endParaRPr lang="en-US" sz="1400" dirty="0"/>
          </a:p>
          <a:p>
            <a:pPr marL="342900" indent="-342900">
              <a:spcAft>
                <a:spcPts val="900"/>
              </a:spcAft>
              <a:buSzPct val="100000"/>
              <a:buChar char="•"/>
            </a:pPr>
            <a:r>
              <a:rPr lang="en-US" sz="1400" dirty="0">
                <a:solidFill>
                  <a:schemeClr val="bg1"/>
                </a:solidFill>
              </a:rPr>
              <a:t>Clean-build controls count false positives</a:t>
            </a:r>
            <a:endParaRPr lang="en-US" sz="1400" dirty="0"/>
          </a:p>
          <a:p>
            <a:pPr marL="342900" indent="-342900">
              <a:spcAft>
                <a:spcPts val="900"/>
              </a:spcAft>
              <a:buSzPct val="100000"/>
              <a:buChar char="•"/>
            </a:pPr>
            <a:r>
              <a:rPr lang="en-US" sz="1400" dirty="0">
                <a:solidFill>
                  <a:schemeClr val="bg1"/>
                </a:solidFill>
              </a:rPr>
              <a:t>Hypotheses, arms and code tagged before any run</a:t>
            </a:r>
            <a:endParaRPr lang="en-US" sz="1400" dirty="0"/>
          </a:p>
        </p:txBody>
      </p:sp>
      <p:sp>
        <p:nvSpPr>
          <p:cNvPr id="9" name="Text 6"/>
          <p:cNvSpPr txBox="1"/>
          <p:nvPr/>
        </p:nvSpPr>
        <p:spPr>
          <a:xfrm>
            <a:off x="548640" y="5349240"/>
            <a:ext cx="6675120" cy="777240"/>
          </a:xfrm>
          <a:prstGeom prst="rect">
            <a:avLst/>
          </a:prstGeom>
          <a:noFill/>
          <a:ln/>
        </p:spPr>
        <p:txBody>
          <a:bodyPr wrap="square" lIns="0" tIns="0" rIns="0" bIns="0" rtlCol="0" anchor="t"/>
          <a:lstStyle/>
          <a:p>
            <a:pPr indent="0" marL="0">
              <a:buNone/>
            </a:pPr>
            <a:r>
              <a:rPr lang="en-US" sz="1400" i="1" dirty="0">
                <a:solidFill>
                  <a:schemeClr val="accent1"/>
                </a:solidFill>
              </a:rPr>
              <a:t>Every fault is admitted only after mechanical checks: a scripted witness triggers it on the faulty build and not on its control build.</a:t>
            </a:r>
            <a:endParaRPr lang="en-US" sz="14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07 · Evaluation and benchmark</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The Benchmark: WebExplor and WebRLED</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Their applications and their measures, so the comparison is on their ground</a:t>
            </a:r>
            <a:endParaRPr lang="en-US" sz="1700" dirty="0"/>
          </a:p>
        </p:txBody>
      </p:sp>
      <p:sp>
        <p:nvSpPr>
          <p:cNvPr id="5" name="what"/>
          <p:cNvSpPr/>
          <p:nvPr/>
        </p:nvSpPr>
        <p:spPr>
          <a:xfrm>
            <a:off x="548640" y="1783080"/>
            <a:ext cx="5394960" cy="2103120"/>
          </a:xfrm>
          <a:prstGeom prst="roundRect">
            <a:avLst>
              <a:gd name="adj" fmla="val 4348"/>
            </a:avLst>
          </a:prstGeom>
          <a:solidFill>
            <a:schemeClr val="bg2"/>
          </a:solidFill>
          <a:ln w="12700">
            <a:solidFill>
              <a:schemeClr val="bg2"/>
            </a:solidFill>
            <a:prstDash val="solid"/>
          </a:ln>
        </p:spPr>
      </p:sp>
      <p:sp>
        <p:nvSpPr>
          <p:cNvPr id="6" name="Text 4"/>
          <p:cNvSpPr txBox="1"/>
          <p:nvPr/>
        </p:nvSpPr>
        <p:spPr>
          <a:xfrm>
            <a:off x="777240" y="1920240"/>
            <a:ext cx="45720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WHAT THE BENCHMARK IS</a:t>
            </a:r>
            <a:endParaRPr lang="en-US" sz="1200" dirty="0"/>
          </a:p>
        </p:txBody>
      </p:sp>
      <p:sp>
        <p:nvSpPr>
          <p:cNvPr id="7" name="Text 5"/>
          <p:cNvSpPr txBox="1"/>
          <p:nvPr/>
        </p:nvSpPr>
        <p:spPr>
          <a:xfrm>
            <a:off x="777240" y="2240280"/>
            <a:ext cx="4983480" cy="1600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6 open-source apps: Dimeshift, Pagekit, Splittypie, Phoenix, Retroboard, Petclinic</a:t>
            </a:r>
            <a:endParaRPr lang="en-US" sz="1400" dirty="0"/>
          </a:p>
          <a:p>
            <a:pPr marL="342900" indent="-342900">
              <a:spcAft>
                <a:spcPts val="600"/>
              </a:spcAft>
              <a:buSzPct val="100000"/>
              <a:buChar char="•"/>
            </a:pPr>
            <a:r>
              <a:rPr lang="en-US" sz="1400" dirty="0">
                <a:solidFill>
                  <a:schemeClr val="tx1"/>
                </a:solidFill>
              </a:rPr>
              <a:t>One-hour runs; client-side branch coverage measured by Istanbul</a:t>
            </a:r>
            <a:endParaRPr lang="en-US" sz="1400" dirty="0"/>
          </a:p>
          <a:p>
            <a:pPr marL="342900" indent="-342900">
              <a:spcAft>
                <a:spcPts val="600"/>
              </a:spcAft>
              <a:buSzPct val="100000"/>
              <a:buChar char="•"/>
            </a:pPr>
            <a:r>
              <a:rPr lang="en-US" sz="1400" dirty="0">
                <a:solidFill>
                  <a:schemeClr val="tx1"/>
                </a:solidFill>
              </a:rPr>
              <a:t>Failures = distinct browser console errors</a:t>
            </a:r>
            <a:endParaRPr lang="en-US" sz="1400" dirty="0"/>
          </a:p>
        </p:txBody>
      </p:sp>
      <p:sp>
        <p:nvSpPr>
          <p:cNvPr id="8" name="match"/>
          <p:cNvSpPr/>
          <p:nvPr/>
        </p:nvSpPr>
        <p:spPr>
          <a:xfrm>
            <a:off x="548640" y="4069080"/>
            <a:ext cx="5394960" cy="2057400"/>
          </a:xfrm>
          <a:prstGeom prst="roundRect">
            <a:avLst>
              <a:gd name="adj" fmla="val 4444"/>
            </a:avLst>
          </a:prstGeom>
          <a:solidFill>
            <a:schemeClr val="bg2"/>
          </a:solidFill>
          <a:ln w="12700">
            <a:solidFill>
              <a:schemeClr val="bg2"/>
            </a:solidFill>
            <a:prstDash val="solid"/>
          </a:ln>
        </p:spPr>
      </p:sp>
      <p:sp>
        <p:nvSpPr>
          <p:cNvPr id="9" name="Text 7"/>
          <p:cNvSpPr txBox="1"/>
          <p:nvPr/>
        </p:nvSpPr>
        <p:spPr>
          <a:xfrm>
            <a:off x="777240" y="4206240"/>
            <a:ext cx="45720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HOW WE MATCHED IT</a:t>
            </a:r>
            <a:endParaRPr lang="en-US" sz="1200" dirty="0"/>
          </a:p>
        </p:txBody>
      </p:sp>
      <p:sp>
        <p:nvSpPr>
          <p:cNvPr id="10" name="Text 8"/>
          <p:cNvSpPr txBox="1"/>
          <p:nvPr/>
        </p:nvSpPr>
        <p:spPr>
          <a:xfrm>
            <a:off x="777240" y="4526280"/>
            <a:ext cx="4983480" cy="1554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Same apps, from the DIG replication Docker images with Istanbul</a:t>
            </a:r>
            <a:endParaRPr lang="en-US" sz="1400" dirty="0"/>
          </a:p>
          <a:p>
            <a:pPr marL="342900" indent="-342900">
              <a:spcAft>
                <a:spcPts val="600"/>
              </a:spcAft>
              <a:buSzPct val="100000"/>
              <a:buChar char="•"/>
            </a:pPr>
            <a:r>
              <a:rPr lang="en-US" sz="1400" dirty="0">
                <a:solidFill>
                  <a:schemeClr val="tx1"/>
                </a:solidFill>
              </a:rPr>
              <a:t>Same one-hour budget and measures</a:t>
            </a:r>
            <a:endParaRPr lang="en-US" sz="1400" dirty="0"/>
          </a:p>
          <a:p>
            <a:pPr marL="342900" indent="-342900">
              <a:spcAft>
                <a:spcPts val="600"/>
              </a:spcAft>
              <a:buSzPct val="100000"/>
              <a:buChar char="•"/>
            </a:pPr>
            <a:r>
              <a:rPr lang="en-US" sz="1400" dirty="0">
                <a:solidFill>
                  <a:schemeClr val="tx1"/>
                </a:solidFill>
              </a:rPr>
              <a:t>Round 2: five repetitions, as in the papers</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263640" y="1783080"/>
          <a:ext cx="5349240" cy="914400"/>
        </p:xfrm>
        <a:graphic>
          <a:graphicData uri="http://schemas.openxmlformats.org/drawingml/2006/table">
            <a:tbl>
              <a:tblPr/>
              <a:tblGrid>
                <a:gridCol w="3154680"/>
                <a:gridCol w="1097280"/>
                <a:gridCol w="1097280"/>
              </a:tblGrid>
              <a:tr h="502920">
                <a:tc>
                  <a:txBody>
                    <a:bodyPr/>
                    <a:lstStyle/>
                    <a:p>
                      <a:pPr indent="0" marL="0">
                        <a:buNone/>
                      </a:pPr>
                      <a:r>
                        <a:rPr lang="en-US" sz="1300" b="1" dirty="0">
                          <a:solidFill>
                            <a:srgbClr val="FFFFFF"/>
                          </a:solidFill>
                        </a:rPr>
                        <a:t>Published average</a:t>
                      </a:r>
                      <a:endParaRPr lang="en-US" sz="13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172033"/>
                    </a:solidFill>
                  </a:tcPr>
                </a:tc>
                <a:tc>
                  <a:txBody>
                    <a:bodyPr/>
                    <a:lstStyle/>
                    <a:p>
                      <a:pPr indent="0" marL="0">
                        <a:buNone/>
                      </a:pPr>
                      <a:r>
                        <a:rPr lang="en-US" sz="1300" b="1" dirty="0">
                          <a:solidFill>
                            <a:srgbClr val="FFFFFF"/>
                          </a:solidFill>
                        </a:rPr>
                        <a:t>Coverage</a:t>
                      </a:r>
                      <a:endParaRPr lang="en-US" sz="13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172033"/>
                    </a:solidFill>
                  </a:tcPr>
                </a:tc>
                <a:tc>
                  <a:txBody>
                    <a:bodyPr/>
                    <a:lstStyle/>
                    <a:p>
                      <a:pPr indent="0" marL="0">
                        <a:buNone/>
                      </a:pPr>
                      <a:r>
                        <a:rPr lang="en-US" sz="1300" b="1" dirty="0">
                          <a:solidFill>
                            <a:srgbClr val="FFFFFF"/>
                          </a:solidFill>
                        </a:rPr>
                        <a:t>Failures</a:t>
                      </a:r>
                      <a:endParaRPr lang="en-US" sz="13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172033"/>
                    </a:solidFill>
                  </a:tcPr>
                </a:tc>
              </a:tr>
              <a:tr h="502920">
                <a:tc>
                  <a:txBody>
                    <a:bodyPr/>
                    <a:lstStyle/>
                    <a:p>
                      <a:pPr indent="0" marL="0">
                        <a:buNone/>
                      </a:pPr>
                      <a:r>
                        <a:rPr lang="en-US" sz="1400" b="1" dirty="0">
                          <a:solidFill>
                            <a:srgbClr val="172033"/>
                          </a:solidFill>
                        </a:rPr>
                        <a:t>WebExplor (tabular Q-learning)</a:t>
                      </a:r>
                      <a:endParaRPr lang="en-US" sz="14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tcPr>
                </a:tc>
                <a:tc>
                  <a:txBody>
                    <a:bodyPr/>
                    <a:lstStyle/>
                    <a:p>
                      <a:pPr indent="0" marL="0">
                        <a:buNone/>
                      </a:pPr>
                      <a:r>
                        <a:rPr lang="en-US" sz="1400" dirty="0">
                          <a:solidFill>
                            <a:srgbClr val="172033"/>
                          </a:solidFill>
                        </a:rPr>
                        <a:t>55.5%</a:t>
                      </a:r>
                      <a:endParaRPr lang="en-US" sz="14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tcPr>
                </a:tc>
                <a:tc>
                  <a:txBody>
                    <a:bodyPr/>
                    <a:lstStyle/>
                    <a:p>
                      <a:pPr indent="0" marL="0">
                        <a:buNone/>
                      </a:pPr>
                      <a:r>
                        <a:rPr lang="en-US" sz="1400" dirty="0">
                          <a:solidFill>
                            <a:srgbClr val="172033"/>
                          </a:solidFill>
                        </a:rPr>
                        <a:t>3.1</a:t>
                      </a:r>
                      <a:endParaRPr lang="en-US" sz="14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tcPr>
                </a:tc>
              </a:tr>
              <a:tr h="502920">
                <a:tc>
                  <a:txBody>
                    <a:bodyPr/>
                    <a:lstStyle/>
                    <a:p>
                      <a:pPr indent="0" marL="0">
                        <a:buNone/>
                      </a:pPr>
                      <a:r>
                        <a:rPr lang="en-US" sz="1400" b="1" dirty="0">
                          <a:solidFill>
                            <a:srgbClr val="172033"/>
                          </a:solidFill>
                        </a:rPr>
                        <a:t>WebRLED (deep RL, state of the art)</a:t>
                      </a:r>
                      <a:endParaRPr lang="en-US" sz="14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tcPr>
                </a:tc>
                <a:tc>
                  <a:txBody>
                    <a:bodyPr/>
                    <a:lstStyle/>
                    <a:p>
                      <a:pPr indent="0" marL="0">
                        <a:buNone/>
                      </a:pPr>
                      <a:r>
                        <a:rPr lang="en-US" sz="1400" dirty="0">
                          <a:solidFill>
                            <a:srgbClr val="172033"/>
                          </a:solidFill>
                        </a:rPr>
                        <a:t>64.2%</a:t>
                      </a:r>
                      <a:endParaRPr lang="en-US" sz="14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tcPr>
                </a:tc>
                <a:tc>
                  <a:txBody>
                    <a:bodyPr/>
                    <a:lstStyle/>
                    <a:p>
                      <a:pPr indent="0" marL="0">
                        <a:buNone/>
                      </a:pPr>
                      <a:r>
                        <a:rPr lang="en-US" sz="1400" dirty="0">
                          <a:solidFill>
                            <a:srgbClr val="172033"/>
                          </a:solidFill>
                        </a:rPr>
                        <a:t>4.1</a:t>
                      </a:r>
                      <a:endParaRPr lang="en-US" sz="1400" dirty="0"/>
                    </a:p>
                  </a:txBody>
                  <a:tcPr marL="91440" marR="91440" marT="45720" marB="45720"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tcPr>
                </a:tc>
              </a:tr>
            </a:tbl>
          </a:graphicData>
        </a:graphic>
      </p:graphicFrame>
      <p:sp>
        <p:nvSpPr>
          <p:cNvPr id="12" name="caveats"/>
          <p:cNvSpPr/>
          <p:nvPr/>
        </p:nvSpPr>
        <p:spPr>
          <a:xfrm>
            <a:off x="6263640" y="3520440"/>
            <a:ext cx="5349240" cy="2606040"/>
          </a:xfrm>
          <a:prstGeom prst="roundRect">
            <a:avLst>
              <a:gd name="adj" fmla="val 3509"/>
            </a:avLst>
          </a:prstGeom>
          <a:solidFill>
            <a:schemeClr val="tx1"/>
          </a:solidFill>
          <a:ln w="12700">
            <a:solidFill>
              <a:schemeClr val="tx1"/>
            </a:solidFill>
            <a:prstDash val="solid"/>
          </a:ln>
        </p:spPr>
      </p:sp>
      <p:sp>
        <p:nvSpPr>
          <p:cNvPr id="13" name="Text 10"/>
          <p:cNvSpPr txBox="1"/>
          <p:nvPr/>
        </p:nvSpPr>
        <p:spPr>
          <a:xfrm>
            <a:off x="6537960" y="3657600"/>
            <a:ext cx="4572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DIFFERENCES WE STATE OPENLY</a:t>
            </a:r>
            <a:endParaRPr lang="en-US" sz="1200" dirty="0"/>
          </a:p>
        </p:txBody>
      </p:sp>
      <p:sp>
        <p:nvSpPr>
          <p:cNvPr id="14" name="Text 11"/>
          <p:cNvSpPr txBox="1"/>
          <p:nvPr/>
        </p:nvSpPr>
        <p:spPr>
          <a:xfrm>
            <a:off x="6537960" y="3977640"/>
            <a:ext cx="4892040" cy="21031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bg1"/>
                </a:solidFill>
              </a:rPr>
              <a:t>Their code is not public (WebExplor), so we compare with published numbers</a:t>
            </a:r>
            <a:endParaRPr lang="en-US" sz="1300" dirty="0"/>
          </a:p>
          <a:p>
            <a:pPr marL="342900" indent="-342900">
              <a:spcAft>
                <a:spcPts val="600"/>
              </a:spcAft>
              <a:buSzPct val="100000"/>
              <a:buChar char="•"/>
            </a:pPr>
            <a:r>
              <a:rPr lang="en-US" sz="1300" dirty="0">
                <a:solidFill>
                  <a:schemeClr val="bg1"/>
                </a:solidFill>
              </a:rPr>
              <a:t>Different machines; failures deduplicated automatically, not by hand</a:t>
            </a:r>
            <a:endParaRPr lang="en-US" sz="1300" dirty="0"/>
          </a:p>
          <a:p>
            <a:pPr marL="342900" indent="-342900">
              <a:spcAft>
                <a:spcPts val="600"/>
              </a:spcAft>
              <a:buSzPct val="100000"/>
              <a:buChar char="•"/>
            </a:pPr>
            <a:r>
              <a:rPr lang="en-US" sz="1300" dirty="0">
                <a:solidFill>
                  <a:schemeClr val="bg1"/>
                </a:solidFill>
              </a:rPr>
              <a:t>Round 1 used 3 runs; sign-in macros for two apps; analytics requests stubbed</a:t>
            </a:r>
            <a:endParaRPr lang="en-US" sz="1300" dirty="0"/>
          </a:p>
          <a:p>
            <a:pPr marL="342900" indent="-342900">
              <a:spcAft>
                <a:spcPts val="600"/>
              </a:spcAft>
              <a:buSzPct val="100000"/>
              <a:buChar char="•"/>
            </a:pPr>
            <a:r>
              <a:rPr lang="en-US" sz="1300" dirty="0">
                <a:solidFill>
                  <a:schemeClr val="bg1"/>
                </a:solidFill>
              </a:rPr>
              <a:t>Our tester is built for verified functional faults, not coverage</a:t>
            </a:r>
            <a:endParaRPr lang="en-US" sz="13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08 · Evaluation results</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Results: Held-out Evaluation</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8 unseen apps, 160 runs: structure verified the most faults, with no false positives</a:t>
            </a:r>
            <a:endParaRPr lang="en-US" sz="1700" dirty="0"/>
          </a:p>
        </p:txBody>
      </p:sp>
      <p:pic>
        <p:nvPicPr>
          <p:cNvPr id="5" name="Image 0" descr="C:\Users\reach\AppData\Local\Temp\claude\c--Users-reach-OneDrive-Code-files-SEM7-RL-web-tester\7c3024aa-1118-49fd-b386-f99dd0651f57\scratchpad\deck\km.png">    </p:cNvPr>
          <p:cNvPicPr>
            <a:picLocks noChangeAspect="1"/>
          </p:cNvPicPr>
          <p:nvPr/>
        </p:nvPicPr>
        <p:blipFill>
          <a:blip r:embed="rId1"/>
          <a:stretch>
            <a:fillRect/>
          </a:stretch>
        </p:blipFill>
        <p:spPr>
          <a:xfrm>
            <a:off x="548640" y="1783080"/>
            <a:ext cx="6126480" cy="3364992"/>
          </a:xfrm>
          <a:prstGeom prst="rect">
            <a:avLst/>
          </a:prstGeom>
        </p:spPr>
      </p:pic>
      <p:sp>
        <p:nvSpPr>
          <p:cNvPr id="6" name="Text 3"/>
          <p:cNvSpPr txBox="1"/>
          <p:nvPr/>
        </p:nvSpPr>
        <p:spPr>
          <a:xfrm>
            <a:off x="548640" y="5166360"/>
            <a:ext cx="6126480" cy="320040"/>
          </a:xfrm>
          <a:prstGeom prst="rect">
            <a:avLst/>
          </a:prstGeom>
          <a:noFill/>
          <a:ln/>
        </p:spPr>
        <p:txBody>
          <a:bodyPr wrap="square" lIns="0" tIns="0" rIns="0" bIns="0" rtlCol="0" anchor="t"/>
          <a:lstStyle/>
          <a:p>
            <a:pPr indent="0" marL="0">
              <a:buNone/>
            </a:pPr>
            <a:r>
              <a:rPr lang="en-US" sz="1200" dirty="0">
                <a:solidFill>
                  <a:schemeClr val="tx2"/>
                </a:solidFill>
              </a:rPr>
              <a:t>Share of runs that have not yet verified a fault, against interactions. Lower is better.</a:t>
            </a:r>
            <a:endParaRPr lang="en-US" sz="1200" dirty="0"/>
          </a:p>
        </p:txBody>
      </p:sp>
      <p:graphicFrame>
        <p:nvGraphicFramePr>
          <p:cNvPr id="7" name="Chart 0" descr=""/>
          <p:cNvGraphicFramePr/>
          <p:nvPr/>
        </p:nvGraphicFramePr>
        <p:xfrm>
          <a:off x="6949440" y="1737360"/>
          <a:ext cx="4663440" cy="2514600"/>
        </p:xfrm>
        <a:graphic xmlns:a="http://schemas.openxmlformats.org/drawingml/2006/main">
          <a:graphicData uri="http://schemas.openxmlformats.org/drawingml/2006/chart">
            <c:chart xmlns:c="http://schemas.openxmlformats.org/drawingml/2006/chart" r:id="rId2"/>
          </a:graphicData>
        </a:graphic>
      </p:graphicFrame>
      <p:sp>
        <p:nvSpPr>
          <p:cNvPr id="8" name="analysis"/>
          <p:cNvSpPr/>
          <p:nvPr/>
        </p:nvSpPr>
        <p:spPr>
          <a:xfrm>
            <a:off x="6949440" y="4434840"/>
            <a:ext cx="4663440" cy="1691640"/>
          </a:xfrm>
          <a:prstGeom prst="roundRect">
            <a:avLst>
              <a:gd name="adj" fmla="val 5405"/>
            </a:avLst>
          </a:prstGeom>
          <a:solidFill>
            <a:schemeClr val="bg2"/>
          </a:solidFill>
          <a:ln w="12700">
            <a:solidFill>
              <a:schemeClr val="bg2"/>
            </a:solidFill>
            <a:prstDash val="solid"/>
          </a:ln>
        </p:spPr>
      </p:sp>
      <p:sp>
        <p:nvSpPr>
          <p:cNvPr id="9" name="Text 5"/>
          <p:cNvSpPr txBox="1"/>
          <p:nvPr/>
        </p:nvSpPr>
        <p:spPr>
          <a:xfrm>
            <a:off x="7178040" y="4553712"/>
            <a:ext cx="36576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WHAT IT MEANS</a:t>
            </a:r>
            <a:endParaRPr lang="en-US" sz="1200" dirty="0"/>
          </a:p>
        </p:txBody>
      </p:sp>
      <p:sp>
        <p:nvSpPr>
          <p:cNvPr id="10" name="Text 6"/>
          <p:cNvSpPr txBox="1"/>
          <p:nvPr/>
        </p:nvSpPr>
        <p:spPr>
          <a:xfrm>
            <a:off x="7178040" y="4846320"/>
            <a:ext cx="4251960" cy="1234440"/>
          </a:xfrm>
          <a:prstGeom prst="rect">
            <a:avLst/>
          </a:prstGeom>
          <a:noFill/>
          <a:ln/>
        </p:spPr>
        <p:txBody>
          <a:bodyPr wrap="square" lIns="0" tIns="0" rIns="0" bIns="0" rtlCol="0" anchor="t"/>
          <a:lstStyle/>
          <a:p>
            <a:pPr indent="0" marL="0">
              <a:buNone/>
            </a:pPr>
            <a:r>
              <a:rPr lang="en-US" sz="1300" dirty="0">
                <a:solidFill>
                  <a:schemeClr val="tx1"/>
                </a:solidFill>
              </a:rPr>
              <a:t>Structure found 5–6 more faults than random, including 9 no random run found. v1 was fastest on average, but all four pre-registered speed comparisons were inconclusive: eight apps leave wide intervals.</a:t>
            </a:r>
            <a:endParaRPr lang="en-US" sz="1300" dirty="0"/>
          </a:p>
        </p:txBody>
      </p:sp>
      <p:sp>
        <p:nvSpPr>
          <p:cNvPr id="11" name="Text 7"/>
          <p:cNvSpPr txBox="1"/>
          <p:nvPr/>
        </p:nvSpPr>
        <p:spPr>
          <a:xfrm>
            <a:off x="548640" y="5623560"/>
            <a:ext cx="6126480" cy="365760"/>
          </a:xfrm>
          <a:prstGeom prst="rect">
            <a:avLst/>
          </a:prstGeom>
          <a:noFill/>
          <a:ln/>
        </p:spPr>
        <p:txBody>
          <a:bodyPr wrap="square" lIns="0" tIns="0" rIns="0" bIns="0" rtlCol="0" anchor="t"/>
          <a:lstStyle/>
          <a:p>
            <a:pPr indent="0" marL="0">
              <a:buNone/>
            </a:pPr>
            <a:r>
              <a:rPr lang="en-US" sz="1600" b="1" dirty="0">
                <a:solidFill>
                  <a:schemeClr val="accent1"/>
                </a:solidFill>
              </a:rPr>
              <a:t>0 false positives </a:t>
            </a:r>
            <a:pPr indent="0" marL="0">
              <a:buNone/>
            </a:pPr>
            <a:r>
              <a:rPr lang="en-US" sz="1600" dirty="0">
                <a:solidFill>
                  <a:schemeClr val="tx1"/>
                </a:solidFill>
              </a:rPr>
              <a:t>in 32 clean-build controls</a:t>
            </a:r>
            <a:endParaRPr lang="en-US" sz="16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08 · Evaluation results</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Results: Where Structure Helps</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Judged by each fault's designed path length, the gap opens at moderate depth</a:t>
            </a:r>
            <a:endParaRPr lang="en-US" sz="1700" dirty="0"/>
          </a:p>
        </p:txBody>
      </p:sp>
      <p:graphicFrame>
        <p:nvGraphicFramePr>
          <p:cNvPr id="5" name="Chart 0" descr=""/>
          <p:cNvGraphicFramePr/>
          <p:nvPr/>
        </p:nvGraphicFramePr>
        <p:xfrm>
          <a:off x="548640" y="1737360"/>
          <a:ext cx="6766560" cy="4434840"/>
        </p:xfrm>
        <a:graphic xmlns:a="http://schemas.openxmlformats.org/drawingml/2006/main">
          <a:graphicData uri="http://schemas.openxmlformats.org/drawingml/2006/chart">
            <c:chart xmlns:c="http://schemas.openxmlformats.org/drawingml/2006/chart" r:id="rId1"/>
          </a:graphicData>
        </a:graphic>
      </p:graphicFrame>
      <p:sp>
        <p:nvSpPr>
          <p:cNvPr id="6" name="depth"/>
          <p:cNvSpPr/>
          <p:nvPr/>
        </p:nvSpPr>
        <p:spPr>
          <a:xfrm>
            <a:off x="7635240" y="1783080"/>
            <a:ext cx="3977640" cy="2103120"/>
          </a:xfrm>
          <a:prstGeom prst="roundRect">
            <a:avLst>
              <a:gd name="adj" fmla="val 4348"/>
            </a:avLst>
          </a:prstGeom>
          <a:solidFill>
            <a:schemeClr val="tx1"/>
          </a:solidFill>
          <a:ln w="12700">
            <a:solidFill>
              <a:schemeClr val="tx1"/>
            </a:solidFill>
            <a:prstDash val="solid"/>
          </a:ln>
        </p:spPr>
      </p:sp>
      <p:sp>
        <p:nvSpPr>
          <p:cNvPr id="7" name="Text 4"/>
          <p:cNvSpPr txBox="1"/>
          <p:nvPr/>
        </p:nvSpPr>
        <p:spPr>
          <a:xfrm>
            <a:off x="7863840" y="1920240"/>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DEPTH</a:t>
            </a:r>
            <a:endParaRPr lang="en-US" sz="1200" dirty="0"/>
          </a:p>
        </p:txBody>
      </p:sp>
      <p:sp>
        <p:nvSpPr>
          <p:cNvPr id="8" name="Text 5"/>
          <p:cNvSpPr txBox="1"/>
          <p:nvPr/>
        </p:nvSpPr>
        <p:spPr>
          <a:xfrm>
            <a:off x="7863840" y="2240280"/>
            <a:ext cx="3566160" cy="1554480"/>
          </a:xfrm>
          <a:prstGeom prst="rect">
            <a:avLst/>
          </a:prstGeom>
          <a:noFill/>
          <a:ln/>
        </p:spPr>
        <p:txBody>
          <a:bodyPr wrap="square" lIns="0" tIns="0" rIns="0" bIns="0" rtlCol="0" anchor="t"/>
          <a:lstStyle/>
          <a:p>
            <a:pPr indent="0" marL="0">
              <a:buNone/>
            </a:pPr>
            <a:r>
              <a:rPr lang="en-US" sz="1400" dirty="0">
                <a:solidFill>
                  <a:schemeClr val="bg1"/>
                </a:solidFill>
              </a:rPr>
              <a:t>Shallow faults: every arm finds most. Moderate: structure 9 of 10, random 5. Deep: no arm more than 4 of 6.</a:t>
            </a:r>
            <a:endParaRPr lang="en-US" sz="1400" dirty="0"/>
          </a:p>
        </p:txBody>
      </p:sp>
      <p:sp>
        <p:nvSpPr>
          <p:cNvPr id="9" name="verify"/>
          <p:cNvSpPr/>
          <p:nvPr/>
        </p:nvSpPr>
        <p:spPr>
          <a:xfrm>
            <a:off x="7635240" y="4069080"/>
            <a:ext cx="3977640" cy="2057400"/>
          </a:xfrm>
          <a:prstGeom prst="roundRect">
            <a:avLst>
              <a:gd name="adj" fmla="val 4444"/>
            </a:avLst>
          </a:prstGeom>
          <a:solidFill>
            <a:schemeClr val="bg2"/>
          </a:solidFill>
          <a:ln w="12700">
            <a:solidFill>
              <a:schemeClr val="bg2"/>
            </a:solidFill>
            <a:prstDash val="solid"/>
          </a:ln>
        </p:spPr>
      </p:sp>
      <p:sp>
        <p:nvSpPr>
          <p:cNvPr id="10" name="Text 7"/>
          <p:cNvSpPr txBox="1"/>
          <p:nvPr/>
        </p:nvSpPr>
        <p:spPr>
          <a:xfrm>
            <a:off x="7863840" y="4206240"/>
            <a:ext cx="36576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VERIFICATION AT WORK</a:t>
            </a:r>
            <a:endParaRPr lang="en-US" sz="1200" dirty="0"/>
          </a:p>
        </p:txBody>
      </p:sp>
      <p:sp>
        <p:nvSpPr>
          <p:cNvPr id="11" name="Text 8"/>
          <p:cNvSpPr txBox="1"/>
          <p:nvPr/>
        </p:nvSpPr>
        <p:spPr>
          <a:xfrm>
            <a:off x="7863840" y="4526280"/>
            <a:ext cx="3566160" cy="1554480"/>
          </a:xfrm>
          <a:prstGeom prst="rect">
            <a:avLst/>
          </a:prstGeom>
          <a:noFill/>
          <a:ln/>
        </p:spPr>
        <p:txBody>
          <a:bodyPr wrap="square" lIns="0" tIns="0" rIns="0" bIns="0" rtlCol="0" anchor="t"/>
          <a:lstStyle/>
          <a:p>
            <a:pPr indent="0" marL="0">
              <a:buNone/>
            </a:pPr>
            <a:r>
              <a:rPr lang="en-US" sz="1400" dirty="0">
                <a:solidFill>
                  <a:schemeClr val="tx1"/>
                </a:solidFill>
              </a:rPr>
              <a:t>No candidate failed replay. The per-fault control rejected 18 candidates that replay alone would have reported as the wrong fault (TALLY-3).</a:t>
            </a:r>
            <a:endParaRPr lang="en-US" sz="14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08 · Evaluation results</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Results: External Benchmark, Round 1</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The frozen tester fell short, and every arm stopped at the same wall</a:t>
            </a:r>
            <a:endParaRPr lang="en-US" sz="1700" dirty="0"/>
          </a:p>
        </p:txBody>
      </p:sp>
      <p:graphicFrame>
        <p:nvGraphicFramePr>
          <p:cNvPr id="5" name="Chart 0" descr=""/>
          <p:cNvGraphicFramePr/>
          <p:nvPr/>
        </p:nvGraphicFramePr>
        <p:xfrm>
          <a:off x="548640" y="1737360"/>
          <a:ext cx="6217920" cy="4434840"/>
        </p:xfrm>
        <a:graphic xmlns:a="http://schemas.openxmlformats.org/drawingml/2006/main">
          <a:graphicData uri="http://schemas.openxmlformats.org/drawingml/2006/chart">
            <c:chart xmlns:c="http://schemas.openxmlformats.org/drawingml/2006/chart" r:id="rId1"/>
          </a:graphicData>
        </a:graphic>
      </p:graphicFrame>
      <p:sp>
        <p:nvSpPr>
          <p:cNvPr id="6" name="phoenix"/>
          <p:cNvSpPr/>
          <p:nvPr/>
        </p:nvSpPr>
        <p:spPr>
          <a:xfrm>
            <a:off x="7086600" y="1783080"/>
            <a:ext cx="4526280" cy="2103120"/>
          </a:xfrm>
          <a:prstGeom prst="roundRect">
            <a:avLst>
              <a:gd name="adj" fmla="val 4348"/>
            </a:avLst>
          </a:prstGeom>
          <a:solidFill>
            <a:schemeClr val="tx1"/>
          </a:solidFill>
          <a:ln w="12700">
            <a:solidFill>
              <a:schemeClr val="tx1"/>
            </a:solidFill>
            <a:prstDash val="solid"/>
          </a:ln>
        </p:spPr>
      </p:sp>
      <p:sp>
        <p:nvSpPr>
          <p:cNvPr id="7" name="Text 4"/>
          <p:cNvSpPr txBox="1"/>
          <p:nvPr/>
        </p:nvSpPr>
        <p:spPr>
          <a:xfrm>
            <a:off x="7360920" y="1938528"/>
            <a:ext cx="41148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PHOENIX, EVERY ARM, RANDOM INCLUDED</a:t>
            </a:r>
            <a:endParaRPr lang="en-US" sz="1200" dirty="0"/>
          </a:p>
        </p:txBody>
      </p:sp>
      <p:sp>
        <p:nvSpPr>
          <p:cNvPr id="8" name="Text 5"/>
          <p:cNvSpPr txBox="1"/>
          <p:nvPr/>
        </p:nvSpPr>
        <p:spPr>
          <a:xfrm>
            <a:off x="7360920" y="2286000"/>
            <a:ext cx="4023360" cy="822960"/>
          </a:xfrm>
          <a:prstGeom prst="rect">
            <a:avLst/>
          </a:prstGeom>
          <a:noFill/>
          <a:ln/>
        </p:spPr>
        <p:txBody>
          <a:bodyPr wrap="square" lIns="0" tIns="0" rIns="0" bIns="0" rtlCol="0" anchor="t"/>
          <a:lstStyle/>
          <a:p>
            <a:pPr indent="0" marL="0">
              <a:buNone/>
            </a:pPr>
            <a:r>
              <a:rPr lang="en-US" sz="4400" b="1" dirty="0">
                <a:solidFill>
                  <a:schemeClr val="accent6"/>
                </a:solidFill>
              </a:rPr>
              <a:t>49%</a:t>
            </a:r>
            <a:pPr indent="0" marL="0">
              <a:buNone/>
            </a:pPr>
            <a:r>
              <a:rPr lang="en-US" sz="4400" b="1" dirty="0">
                <a:solidFill>
                  <a:schemeClr val="bg1"/>
                </a:solidFill>
              </a:rPr>
              <a:t>  →  </a:t>
            </a:r>
            <a:pPr indent="0" marL="0">
              <a:buNone/>
            </a:pPr>
            <a:r>
              <a:rPr lang="en-US" sz="4400" b="1" dirty="0">
                <a:solidFill>
                  <a:schemeClr val="accent2"/>
                </a:solidFill>
              </a:rPr>
              <a:t>83%</a:t>
            </a:r>
            <a:endParaRPr lang="en-US" sz="4400" dirty="0"/>
          </a:p>
        </p:txBody>
      </p:sp>
      <p:sp>
        <p:nvSpPr>
          <p:cNvPr id="9" name="Text 6"/>
          <p:cNvSpPr txBox="1"/>
          <p:nvPr/>
        </p:nvSpPr>
        <p:spPr>
          <a:xfrm>
            <a:off x="7360920" y="3154680"/>
            <a:ext cx="4023360" cy="640080"/>
          </a:xfrm>
          <a:prstGeom prst="rect">
            <a:avLst/>
          </a:prstGeom>
          <a:noFill/>
          <a:ln/>
        </p:spPr>
        <p:txBody>
          <a:bodyPr wrap="square" lIns="0" tIns="0" rIns="0" bIns="0" rtlCol="0" anchor="t"/>
          <a:lstStyle/>
          <a:p>
            <a:pPr indent="0" marL="0">
              <a:buNone/>
            </a:pPr>
            <a:r>
              <a:rPr lang="en-US" sz="1300" dirty="0">
                <a:solidFill>
                  <a:schemeClr val="bg1"/>
                </a:solidFill>
              </a:rPr>
              <a:t>once the clickable divs of this React app were in the action space</a:t>
            </a:r>
            <a:endParaRPr lang="en-US" sz="1300" dirty="0"/>
          </a:p>
        </p:txBody>
      </p:sp>
      <p:sp>
        <p:nvSpPr>
          <p:cNvPr id="10" name="reason"/>
          <p:cNvSpPr/>
          <p:nvPr/>
        </p:nvSpPr>
        <p:spPr>
          <a:xfrm>
            <a:off x="7086600" y="4069080"/>
            <a:ext cx="4526280" cy="2057400"/>
          </a:xfrm>
          <a:prstGeom prst="roundRect">
            <a:avLst>
              <a:gd name="adj" fmla="val 4444"/>
            </a:avLst>
          </a:prstGeom>
          <a:solidFill>
            <a:schemeClr val="bg2"/>
          </a:solidFill>
          <a:ln w="12700">
            <a:solidFill>
              <a:schemeClr val="bg2"/>
            </a:solidFill>
            <a:prstDash val="solid"/>
          </a:ln>
        </p:spPr>
      </p:sp>
      <p:sp>
        <p:nvSpPr>
          <p:cNvPr id="11" name="Text 8"/>
          <p:cNvSpPr txBox="1"/>
          <p:nvPr/>
        </p:nvSpPr>
        <p:spPr>
          <a:xfrm>
            <a:off x="7315200" y="4206240"/>
            <a:ext cx="36576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REASONING</a:t>
            </a:r>
            <a:endParaRPr lang="en-US" sz="1200" dirty="0"/>
          </a:p>
        </p:txBody>
      </p:sp>
      <p:sp>
        <p:nvSpPr>
          <p:cNvPr id="12" name="Text 9"/>
          <p:cNvSpPr txBox="1"/>
          <p:nvPr/>
        </p:nvSpPr>
        <p:spPr>
          <a:xfrm>
            <a:off x="7315200" y="4526280"/>
            <a:ext cx="4114800" cy="1554480"/>
          </a:xfrm>
          <a:prstGeom prst="rect">
            <a:avLst/>
          </a:prstGeom>
          <a:noFill/>
          <a:ln/>
        </p:spPr>
        <p:txBody>
          <a:bodyPr wrap="square" lIns="0" tIns="0" rIns="0" bIns="0" rtlCol="0" anchor="t"/>
          <a:lstStyle/>
          <a:p>
            <a:pPr indent="0" marL="0">
              <a:buNone/>
            </a:pPr>
            <a:r>
              <a:rPr lang="en-US" sz="1400" dirty="0">
                <a:solidFill>
                  <a:schemeClr val="tx1"/>
                </a:solidFill>
              </a:rPr>
              <a:t>When three different strategies, one of them random, stop at exactly the same coverage, the limit is what they can click, not how they choose. WebRLED's learned action discriminator solves exactly this.</a:t>
            </a:r>
            <a:endParaRPr lang="en-US" sz="14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08 · Evaluation results</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Results: External Benchmark, Round 2</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With listener-based clickables and five runs: close to WebExplor, ahead of both on three apps</a:t>
            </a:r>
            <a:endParaRPr lang="en-US" sz="1700" dirty="0"/>
          </a:p>
        </p:txBody>
      </p:sp>
      <p:graphicFrame>
        <p:nvGraphicFramePr>
          <p:cNvPr id="5" name="Chart 0" descr=""/>
          <p:cNvGraphicFramePr/>
          <p:nvPr/>
        </p:nvGraphicFramePr>
        <p:xfrm>
          <a:off x="548640" y="1737360"/>
          <a:ext cx="6949440" cy="4434840"/>
        </p:xfrm>
        <a:graphic xmlns:a="http://schemas.openxmlformats.org/drawingml/2006/main">
          <a:graphicData uri="http://schemas.openxmlformats.org/drawingml/2006/chart">
            <c:chart xmlns:c="http://schemas.openxmlformats.org/drawingml/2006/chart" r:id="rId1"/>
          </a:graphicData>
        </a:graphic>
      </p:graphicFrame>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0" y="1783080"/>
          <a:ext cx="3840480" cy="914400"/>
        </p:xfrm>
        <a:graphic>
          <a:graphicData uri="http://schemas.openxmlformats.org/drawingml/2006/table">
            <a:tbl>
              <a:tblPr/>
              <a:tblGrid>
                <a:gridCol w="1920240"/>
                <a:gridCol w="822960"/>
                <a:gridCol w="1097280"/>
              </a:tblGrid>
              <a:tr h="384048">
                <a:tc>
                  <a:txBody>
                    <a:bodyPr/>
                    <a:lstStyle/>
                    <a:p>
                      <a:pPr indent="0" marL="0">
                        <a:buNone/>
                      </a:pPr>
                      <a:r>
                        <a:rPr lang="en-US" sz="1300" b="1" dirty="0">
                          <a:solidFill>
                            <a:srgbClr val="FFFFFF"/>
                          </a:solidFill>
                        </a:rPr>
                        <a:t>Average coverage</a:t>
                      </a:r>
                      <a:endParaRPr lang="en-US" sz="1300" dirty="0"/>
                    </a:p>
                  </a:txBody>
                  <a:tcPr marL="73152" marR="73152"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172033"/>
                    </a:solidFill>
                  </a:tcPr>
                </a:tc>
                <a:tc>
                  <a:txBody>
                    <a:bodyPr/>
                    <a:lstStyle/>
                    <a:p>
                      <a:pPr indent="0" marL="0">
                        <a:buNone/>
                      </a:pPr>
                      <a:r>
                        <a:rPr lang="en-US" sz="1300" b="1" dirty="0">
                          <a:solidFill>
                            <a:srgbClr val="FFFFFF"/>
                          </a:solidFill>
                        </a:rPr>
                        <a:t>6 apps</a:t>
                      </a:r>
                      <a:endParaRPr lang="en-US" sz="1300" dirty="0"/>
                    </a:p>
                  </a:txBody>
                  <a:tcPr marL="73152" marR="73152"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172033"/>
                    </a:solidFill>
                  </a:tcPr>
                </a:tc>
                <a:tc>
                  <a:txBody>
                    <a:bodyPr/>
                    <a:lstStyle/>
                    <a:p>
                      <a:pPr indent="0" marL="0">
                        <a:buNone/>
                      </a:pPr>
                      <a:r>
                        <a:rPr lang="en-US" sz="1300" b="1" dirty="0">
                          <a:solidFill>
                            <a:srgbClr val="FFFFFF"/>
                          </a:solidFill>
                        </a:rPr>
                        <a:t>w/o Petclinic</a:t>
                      </a:r>
                      <a:endParaRPr lang="en-US" sz="1300" dirty="0"/>
                    </a:p>
                  </a:txBody>
                  <a:tcPr marL="73152" marR="73152"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172033"/>
                    </a:solidFill>
                  </a:tcPr>
                </a:tc>
              </a:tr>
              <a:tr h="384048">
                <a:tc>
                  <a:txBody>
                    <a:bodyPr/>
                    <a:lstStyle/>
                    <a:p>
                      <a:pPr indent="0" marL="0">
                        <a:buNone/>
                      </a:pPr>
                      <a:r>
                        <a:rPr lang="en-US" sz="1300" b="1" dirty="0">
                          <a:solidFill>
                            <a:srgbClr val="172033"/>
                          </a:solidFill>
                        </a:rPr>
                        <a:t>hybrid_final_v5</a:t>
                      </a:r>
                      <a:endParaRPr lang="en-US" sz="1300" dirty="0"/>
                    </a:p>
                  </a:txBody>
                  <a:tcPr marL="73152" marR="73152"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300" dirty="0">
                          <a:solidFill>
                            <a:srgbClr val="172033"/>
                          </a:solidFill>
                        </a:rPr>
                        <a:t>51.4</a:t>
                      </a:r>
                      <a:endParaRPr lang="en-US" sz="1300" dirty="0"/>
                    </a:p>
                  </a:txBody>
                  <a:tcPr marL="73152" marR="73152"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300" dirty="0">
                          <a:solidFill>
                            <a:srgbClr val="172033"/>
                          </a:solidFill>
                        </a:rPr>
                        <a:t>51.5</a:t>
                      </a:r>
                      <a:endParaRPr lang="en-US" sz="1300" dirty="0"/>
                    </a:p>
                  </a:txBody>
                  <a:tcPr marL="73152" marR="73152"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rgbClr val="172033"/>
                          </a:solidFill>
                        </a:rPr>
                        <a:t>hybrid_curiosity_v5</a:t>
                      </a:r>
                      <a:endParaRPr lang="en-US" sz="1300" dirty="0"/>
                    </a:p>
                  </a:txBody>
                  <a:tcPr marL="73152" marR="73152"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D3EBEA"/>
                    </a:solidFill>
                  </a:tcPr>
                </a:tc>
                <a:tc>
                  <a:txBody>
                    <a:bodyPr/>
                    <a:lstStyle/>
                    <a:p>
                      <a:pPr indent="0" marL="0">
                        <a:buNone/>
                      </a:pPr>
                      <a:r>
                        <a:rPr lang="en-US" sz="1300" b="1" dirty="0">
                          <a:solidFill>
                            <a:srgbClr val="172033"/>
                          </a:solidFill>
                        </a:rPr>
                        <a:t>53.6</a:t>
                      </a:r>
                      <a:endParaRPr lang="en-US" sz="1300" dirty="0"/>
                    </a:p>
                  </a:txBody>
                  <a:tcPr marL="73152" marR="73152"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D3EBEA"/>
                    </a:solidFill>
                  </a:tcPr>
                </a:tc>
                <a:tc>
                  <a:txBody>
                    <a:bodyPr/>
                    <a:lstStyle/>
                    <a:p>
                      <a:pPr indent="0" marL="0">
                        <a:buNone/>
                      </a:pPr>
                      <a:r>
                        <a:rPr lang="en-US" sz="1300" b="1" dirty="0">
                          <a:solidFill>
                            <a:srgbClr val="172033"/>
                          </a:solidFill>
                        </a:rPr>
                        <a:t>55.1</a:t>
                      </a:r>
                      <a:endParaRPr lang="en-US" sz="1300" dirty="0"/>
                    </a:p>
                  </a:txBody>
                  <a:tcPr marL="73152" marR="73152"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D3EBEA"/>
                    </a:solidFill>
                  </a:tcPr>
                </a:tc>
              </a:tr>
              <a:tr h="384048">
                <a:tc>
                  <a:txBody>
                    <a:bodyPr/>
                    <a:lstStyle/>
                    <a:p>
                      <a:pPr indent="0" marL="0">
                        <a:buNone/>
                      </a:pPr>
                      <a:r>
                        <a:rPr lang="en-US" sz="1300" b="1" dirty="0">
                          <a:solidFill>
                            <a:srgbClr val="172033"/>
                          </a:solidFill>
                        </a:rPr>
                        <a:t>hybrid_bandit_v5 *</a:t>
                      </a:r>
                      <a:endParaRPr lang="en-US" sz="1300" dirty="0"/>
                    </a:p>
                  </a:txBody>
                  <a:tcPr marL="73152" marR="73152"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300" dirty="0">
                          <a:solidFill>
                            <a:srgbClr val="172033"/>
                          </a:solidFill>
                        </a:rPr>
                        <a:t>50.0</a:t>
                      </a:r>
                      <a:endParaRPr lang="en-US" sz="1300" dirty="0"/>
                    </a:p>
                  </a:txBody>
                  <a:tcPr marL="73152" marR="73152"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300" dirty="0">
                          <a:solidFill>
                            <a:srgbClr val="172033"/>
                          </a:solidFill>
                        </a:rPr>
                        <a:t>51.5</a:t>
                      </a:r>
                      <a:endParaRPr lang="en-US" sz="1300" dirty="0"/>
                    </a:p>
                  </a:txBody>
                  <a:tcPr marL="73152" marR="73152"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rgbClr val="172033"/>
                          </a:solidFill>
                        </a:rPr>
                        <a:t>WebExplor</a:t>
                      </a:r>
                      <a:endParaRPr lang="en-US" sz="1300" dirty="0"/>
                    </a:p>
                  </a:txBody>
                  <a:tcPr marL="73152" marR="73152"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300" dirty="0">
                          <a:solidFill>
                            <a:srgbClr val="172033"/>
                          </a:solidFill>
                        </a:rPr>
                        <a:t>55.5</a:t>
                      </a:r>
                      <a:endParaRPr lang="en-US" sz="1300" dirty="0"/>
                    </a:p>
                  </a:txBody>
                  <a:tcPr marL="73152" marR="73152"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300" dirty="0">
                          <a:solidFill>
                            <a:srgbClr val="172033"/>
                          </a:solidFill>
                        </a:rPr>
                        <a:t>49.6</a:t>
                      </a:r>
                      <a:endParaRPr lang="en-US" sz="1300" dirty="0"/>
                    </a:p>
                  </a:txBody>
                  <a:tcPr marL="73152" marR="73152"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rgbClr val="172033"/>
                          </a:solidFill>
                        </a:rPr>
                        <a:t>WebRLED</a:t>
                      </a:r>
                      <a:endParaRPr lang="en-US" sz="1300" dirty="0"/>
                    </a:p>
                  </a:txBody>
                  <a:tcPr marL="73152" marR="73152"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300" dirty="0">
                          <a:solidFill>
                            <a:srgbClr val="172033"/>
                          </a:solidFill>
                        </a:rPr>
                        <a:t>64.2</a:t>
                      </a:r>
                      <a:endParaRPr lang="en-US" sz="1300" dirty="0"/>
                    </a:p>
                  </a:txBody>
                  <a:tcPr marL="73152" marR="73152"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300" dirty="0">
                          <a:solidFill>
                            <a:srgbClr val="172033"/>
                          </a:solidFill>
                        </a:rPr>
                        <a:t>60.0</a:t>
                      </a:r>
                      <a:endParaRPr lang="en-US" sz="1300" dirty="0"/>
                    </a:p>
                  </a:txBody>
                  <a:tcPr marL="73152" marR="73152"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7772400" y="4343400"/>
            <a:ext cx="3840480" cy="17830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Curiosity beat both papers on Pagekit, Splittypie and Phoenix (84.7% vs 82.9%)</a:t>
            </a:r>
            <a:endParaRPr lang="en-US" sz="1300" dirty="0"/>
          </a:p>
          <a:p>
            <a:pPr marL="342900" indent="-342900">
              <a:spcAft>
                <a:spcPts val="600"/>
              </a:spcAft>
              <a:buSzPct val="100000"/>
              <a:buChar char="•"/>
            </a:pPr>
            <a:r>
              <a:rPr lang="en-US" sz="1300" dirty="0">
                <a:solidFill>
                  <a:schemeClr val="tx1"/>
                </a:solidFill>
              </a:rPr>
              <a:t>Console failures still lower: about 2 per run vs 3.1 and 4.1</a:t>
            </a:r>
            <a:endParaRPr lang="en-US" sz="1300" dirty="0"/>
          </a:p>
          <a:p>
            <a:pPr marL="342900" indent="-342900">
              <a:spcAft>
                <a:spcPts val="600"/>
              </a:spcAft>
              <a:buSzPct val="100000"/>
              <a:buChar char="•"/>
            </a:pPr>
            <a:r>
              <a:rPr lang="en-US" sz="1300" dirty="0">
                <a:solidFill>
                  <a:schemeClr val="tx1"/>
                </a:solidFill>
              </a:rPr>
              <a:t>* Bandit (post-hoc, untuned): level with no learner</a:t>
            </a:r>
            <a:endParaRPr lang="en-US" sz="13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08 · Evaluation results</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Results Analysis: Why These Results</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The best arm depends on the measure, and the reasons are consistent</a:t>
            </a:r>
            <a:endParaRPr lang="en-US" sz="17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852160" cy="914400"/>
        </p:xfrm>
        <a:graphic>
          <a:graphicData uri="http://schemas.openxmlformats.org/drawingml/2006/table">
            <a:tbl>
              <a:tblPr/>
              <a:tblGrid>
                <a:gridCol w="2331720"/>
                <a:gridCol w="2423160"/>
                <a:gridCol w="1097280"/>
              </a:tblGrid>
              <a:tr h="475488">
                <a:tc>
                  <a:txBody>
                    <a:bodyPr/>
                    <a:lstStyle/>
                    <a:p>
                      <a:pPr indent="0" marL="0">
                        <a:buNone/>
                      </a:pPr>
                      <a:r>
                        <a:rPr lang="en-US" sz="1300" b="1" dirty="0">
                          <a:solidFill>
                            <a:srgbClr val="FFFFFF"/>
                          </a:solidFill>
                        </a:rPr>
                        <a:t>Measure</a:t>
                      </a:r>
                      <a:endParaRPr lang="en-US" sz="1300" dirty="0"/>
                    </a:p>
                  </a:txBody>
                  <a:tcPr marL="91440" marR="91440"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172033"/>
                    </a:solidFill>
                  </a:tcPr>
                </a:tc>
                <a:tc>
                  <a:txBody>
                    <a:bodyPr/>
                    <a:lstStyle/>
                    <a:p>
                      <a:pPr indent="0" marL="0">
                        <a:buNone/>
                      </a:pPr>
                      <a:r>
                        <a:rPr lang="en-US" sz="1300" b="1" dirty="0">
                          <a:solidFill>
                            <a:srgbClr val="FFFFFF"/>
                          </a:solidFill>
                        </a:rPr>
                        <a:t>Best arm</a:t>
                      </a:r>
                      <a:endParaRPr lang="en-US" sz="1300" dirty="0"/>
                    </a:p>
                  </a:txBody>
                  <a:tcPr marL="91440" marR="91440"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172033"/>
                    </a:solidFill>
                  </a:tcPr>
                </a:tc>
                <a:tc>
                  <a:txBody>
                    <a:bodyPr/>
                    <a:lstStyle/>
                    <a:p>
                      <a:pPr indent="0" marL="0">
                        <a:buNone/>
                      </a:pPr>
                      <a:r>
                        <a:rPr lang="en-US" sz="1300" b="1" dirty="0">
                          <a:solidFill>
                            <a:srgbClr val="FFFFFF"/>
                          </a:solidFill>
                        </a:rPr>
                        <a:t>Learns?</a:t>
                      </a:r>
                      <a:endParaRPr lang="en-US" sz="1300" dirty="0"/>
                    </a:p>
                  </a:txBody>
                  <a:tcPr marL="91440" marR="91440"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172033"/>
                    </a:solidFill>
                  </a:tcPr>
                </a:tc>
              </a:tr>
              <a:tr h="475488">
                <a:tc>
                  <a:txBody>
                    <a:bodyPr/>
                    <a:lstStyle/>
                    <a:p>
                      <a:pPr indent="0" marL="0">
                        <a:buNone/>
                      </a:pPr>
                      <a:r>
                        <a:rPr lang="en-US" sz="1300" b="1" dirty="0">
                          <a:solidFill>
                            <a:srgbClr val="172033"/>
                          </a:solidFill>
                        </a:rPr>
                        <a:t>Verified faults (tuning)</a:t>
                      </a:r>
                      <a:endParaRPr lang="en-US" sz="1300" dirty="0"/>
                    </a:p>
                  </a:txBody>
                  <a:tcPr marL="91440" marR="91440"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300" dirty="0">
                          <a:solidFill>
                            <a:srgbClr val="172033"/>
                          </a:solidFill>
                        </a:rPr>
                        <a:t>hybrid_final, 22 of 41</a:t>
                      </a:r>
                      <a:endParaRPr lang="en-US" sz="1300" dirty="0"/>
                    </a:p>
                  </a:txBody>
                  <a:tcPr marL="91440" marR="91440"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300" b="1" dirty="0">
                          <a:solidFill>
                            <a:srgbClr val="172033"/>
                          </a:solidFill>
                        </a:rPr>
                        <a:t>no</a:t>
                      </a:r>
                      <a:endParaRPr lang="en-US" sz="1300" dirty="0"/>
                    </a:p>
                  </a:txBody>
                  <a:tcPr marL="91440" marR="91440"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r>
              <a:tr h="475488">
                <a:tc>
                  <a:txBody>
                    <a:bodyPr/>
                    <a:lstStyle/>
                    <a:p>
                      <a:pPr indent="0" marL="0">
                        <a:buNone/>
                      </a:pPr>
                      <a:r>
                        <a:rPr lang="en-US" sz="1300" b="1" dirty="0">
                          <a:solidFill>
                            <a:srgbClr val="172033"/>
                          </a:solidFill>
                        </a:rPr>
                        <a:t>Verified faults (held-out)</a:t>
                      </a:r>
                      <a:endParaRPr lang="en-US" sz="1300" dirty="0"/>
                    </a:p>
                  </a:txBody>
                  <a:tcPr marL="91440" marR="91440"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300" dirty="0">
                          <a:solidFill>
                            <a:srgbClr val="172033"/>
                          </a:solidFill>
                        </a:rPr>
                        <a:t>hybrid_bandit, 19 of 24</a:t>
                      </a:r>
                      <a:endParaRPr lang="en-US" sz="1300" dirty="0"/>
                    </a:p>
                  </a:txBody>
                  <a:tcPr marL="91440" marR="91440"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300" b="1" dirty="0">
                          <a:solidFill>
                            <a:srgbClr val="F26B4F"/>
                          </a:solidFill>
                        </a:rPr>
                        <a:t>bandit</a:t>
                      </a:r>
                      <a:endParaRPr lang="en-US" sz="1300" dirty="0"/>
                    </a:p>
                  </a:txBody>
                  <a:tcPr marL="91440" marR="91440"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72033"/>
                          </a:solidFill>
                        </a:rPr>
                        <a:t>Time to first fault (held-out)</a:t>
                      </a:r>
                      <a:endParaRPr lang="en-US" sz="1300" dirty="0"/>
                    </a:p>
                  </a:txBody>
                  <a:tcPr marL="91440" marR="91440"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300" dirty="0">
                          <a:solidFill>
                            <a:srgbClr val="172033"/>
                          </a:solidFill>
                        </a:rPr>
                        <a:t>v1 DQN, 595</a:t>
                      </a:r>
                      <a:endParaRPr lang="en-US" sz="1300" dirty="0"/>
                    </a:p>
                  </a:txBody>
                  <a:tcPr marL="91440" marR="91440"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300" b="1" dirty="0">
                          <a:solidFill>
                            <a:srgbClr val="F26B4F"/>
                          </a:solidFill>
                        </a:rPr>
                        <a:t>deep RL</a:t>
                      </a:r>
                      <a:endParaRPr lang="en-US" sz="1300" dirty="0"/>
                    </a:p>
                  </a:txBody>
                  <a:tcPr marL="91440" marR="91440"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r>
              <a:tr h="475488">
                <a:tc>
                  <a:txBody>
                    <a:bodyPr/>
                    <a:lstStyle/>
                    <a:p>
                      <a:pPr indent="0" marL="0">
                        <a:buNone/>
                      </a:pPr>
                      <a:r>
                        <a:rPr lang="en-US" sz="1300" b="1" dirty="0">
                          <a:solidFill>
                            <a:srgbClr val="172033"/>
                          </a:solidFill>
                        </a:rPr>
                        <a:t>Coverage (external)</a:t>
                      </a:r>
                      <a:endParaRPr lang="en-US" sz="1300" dirty="0"/>
                    </a:p>
                  </a:txBody>
                  <a:tcPr marL="91440" marR="91440"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300" dirty="0">
                          <a:solidFill>
                            <a:srgbClr val="172033"/>
                          </a:solidFill>
                        </a:rPr>
                        <a:t>hybrid_curiosity, 53.6%</a:t>
                      </a:r>
                      <a:endParaRPr lang="en-US" sz="1300" dirty="0"/>
                    </a:p>
                  </a:txBody>
                  <a:tcPr marL="91440" marR="91440"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c>
                  <a:txBody>
                    <a:bodyPr/>
                    <a:lstStyle/>
                    <a:p>
                      <a:pPr indent="0" marL="0">
                        <a:buNone/>
                      </a:pPr>
                      <a:r>
                        <a:rPr lang="en-US" sz="1300" b="1" dirty="0">
                          <a:solidFill>
                            <a:srgbClr val="F26B4F"/>
                          </a:solidFill>
                        </a:rPr>
                        <a:t>RL</a:t>
                      </a:r>
                      <a:endParaRPr lang="en-US" sz="1300" dirty="0"/>
                    </a:p>
                  </a:txBody>
                  <a:tcPr marL="91440" marR="91440"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72033"/>
                          </a:solidFill>
                        </a:rPr>
                        <a:t>Errors triggered</a:t>
                      </a:r>
                      <a:endParaRPr lang="en-US" sz="1300" dirty="0"/>
                    </a:p>
                  </a:txBody>
                  <a:tcPr marL="91440" marR="91440"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300" dirty="0">
                          <a:solidFill>
                            <a:srgbClr val="172033"/>
                          </a:solidFill>
                        </a:rPr>
                        <a:t>hybrid_curiosity</a:t>
                      </a:r>
                      <a:endParaRPr lang="en-US" sz="1300" dirty="0"/>
                    </a:p>
                  </a:txBody>
                  <a:tcPr marL="91440" marR="91440"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c>
                  <a:txBody>
                    <a:bodyPr/>
                    <a:lstStyle/>
                    <a:p>
                      <a:pPr indent="0" marL="0">
                        <a:buNone/>
                      </a:pPr>
                      <a:r>
                        <a:rPr lang="en-US" sz="1300" b="1" dirty="0">
                          <a:solidFill>
                            <a:srgbClr val="F26B4F"/>
                          </a:solidFill>
                        </a:rPr>
                        <a:t>RL</a:t>
                      </a:r>
                      <a:endParaRPr lang="en-US" sz="1300" dirty="0"/>
                    </a:p>
                  </a:txBody>
                  <a:tcPr marL="91440" marR="91440" marT="36576" marB="36576" anchor="ctr">
                    <a:lnL w="6350" cap="flat" cmpd="sng" algn="ctr">
                      <a:solidFill>
                        <a:srgbClr val="D7E3E3"/>
                      </a:solidFill>
                      <a:prstDash val="solid"/>
                      <a:round/>
                      <a:headEnd type="none" w="med" len="med"/>
                      <a:tailEnd type="none" w="med" len="med"/>
                    </a:lnL>
                    <a:lnR w="6350" cap="flat" cmpd="sng" algn="ctr">
                      <a:solidFill>
                        <a:srgbClr val="D7E3E3"/>
                      </a:solidFill>
                      <a:prstDash val="solid"/>
                      <a:round/>
                      <a:headEnd type="none" w="med" len="med"/>
                      <a:tailEnd type="none" w="med" len="med"/>
                    </a:lnR>
                    <a:lnT w="6350" cap="flat" cmpd="sng" algn="ctr">
                      <a:solidFill>
                        <a:srgbClr val="D7E3E3"/>
                      </a:solidFill>
                      <a:prstDash val="solid"/>
                      <a:round/>
                      <a:headEnd type="none" w="med" len="med"/>
                      <a:tailEnd type="none" w="med" len="med"/>
                    </a:lnT>
                    <a:lnB w="6350" cap="flat" cmpd="sng" algn="ctr">
                      <a:solidFill>
                        <a:srgbClr val="D7E3E3"/>
                      </a:solidFill>
                      <a:prstDash val="solid"/>
                      <a:round/>
                      <a:headEnd type="none" w="med" len="med"/>
                      <a:tailEnd type="none" w="med" len="med"/>
                    </a:lnB>
                    <a:solidFill>
                      <a:srgbClr val="EEF4F4"/>
                    </a:solidFill>
                  </a:tcPr>
                </a:tc>
              </a:tr>
            </a:tbl>
          </a:graphicData>
        </a:graphic>
      </p:graphicFrame>
      <p:sp>
        <p:nvSpPr>
          <p:cNvPr id="6" name="Text 3"/>
          <p:cNvSpPr txBox="1"/>
          <p:nvPr/>
        </p:nvSpPr>
        <p:spPr>
          <a:xfrm>
            <a:off x="548640" y="4800600"/>
            <a:ext cx="5852160" cy="640080"/>
          </a:xfrm>
          <a:prstGeom prst="rect">
            <a:avLst/>
          </a:prstGeom>
          <a:noFill/>
          <a:ln/>
        </p:spPr>
        <p:txBody>
          <a:bodyPr wrap="square" lIns="0" tIns="0" rIns="0" bIns="0" rtlCol="0" anchor="t"/>
          <a:lstStyle/>
          <a:p>
            <a:pPr indent="0" marL="0">
              <a:buNone/>
            </a:pPr>
            <a:r>
              <a:rPr lang="en-US" sz="1600" b="1" dirty="0">
                <a:solidFill>
                  <a:schemeClr val="accent1"/>
                </a:solidFill>
              </a:rPr>
              <a:t>No learning layer measurably improved the structure on verified faults.</a:t>
            </a:r>
            <a:endParaRPr lang="en-US" sz="1600" dirty="0"/>
          </a:p>
        </p:txBody>
      </p:sp>
      <p:sp>
        <p:nvSpPr>
          <p:cNvPr id="7" name="why0"/>
          <p:cNvSpPr/>
          <p:nvPr/>
        </p:nvSpPr>
        <p:spPr>
          <a:xfrm>
            <a:off x="6675120" y="1783080"/>
            <a:ext cx="4937760" cy="987552"/>
          </a:xfrm>
          <a:prstGeom prst="roundRect">
            <a:avLst>
              <a:gd name="adj" fmla="val 9259"/>
            </a:avLst>
          </a:prstGeom>
          <a:solidFill>
            <a:schemeClr val="tx1"/>
          </a:solidFill>
          <a:ln w="12700">
            <a:solidFill>
              <a:schemeClr val="tx1"/>
            </a:solidFill>
            <a:prstDash val="solid"/>
          </a:ln>
        </p:spPr>
      </p:sp>
      <p:sp>
        <p:nvSpPr>
          <p:cNvPr id="8" name="Text 5"/>
          <p:cNvSpPr txBox="1"/>
          <p:nvPr/>
        </p:nvSpPr>
        <p:spPr>
          <a:xfrm>
            <a:off x="6858000" y="1856232"/>
            <a:ext cx="4572000" cy="329184"/>
          </a:xfrm>
          <a:prstGeom prst="rect">
            <a:avLst/>
          </a:prstGeom>
          <a:noFill/>
          <a:ln/>
        </p:spPr>
        <p:txBody>
          <a:bodyPr wrap="square" lIns="0" tIns="0" rIns="0" bIns="0" rtlCol="0" anchor="t"/>
          <a:lstStyle/>
          <a:p>
            <a:pPr indent="0" marL="0">
              <a:buNone/>
            </a:pPr>
            <a:r>
              <a:rPr lang="en-US" sz="1500" b="1" dirty="0">
                <a:solidFill>
                  <a:schemeClr val="accent2"/>
                </a:solidFill>
              </a:rPr>
              <a:t>Functional faults need intent</a:t>
            </a:r>
            <a:endParaRPr lang="en-US" sz="1500" dirty="0"/>
          </a:p>
        </p:txBody>
      </p:sp>
      <p:sp>
        <p:nvSpPr>
          <p:cNvPr id="9" name="Text 6"/>
          <p:cNvSpPr txBox="1"/>
          <p:nvPr/>
        </p:nvSpPr>
        <p:spPr>
          <a:xfrm>
            <a:off x="6858000" y="2185416"/>
            <a:ext cx="4572000" cy="548640"/>
          </a:xfrm>
          <a:prstGeom prst="rect">
            <a:avLst/>
          </a:prstGeom>
          <a:noFill/>
          <a:ln/>
        </p:spPr>
        <p:txBody>
          <a:bodyPr wrap="square" lIns="0" tIns="0" rIns="0" bIns="0" rtlCol="0" anchor="t"/>
          <a:lstStyle/>
          <a:p>
            <a:pPr indent="0" marL="0">
              <a:buNone/>
            </a:pPr>
            <a:r>
              <a:rPr lang="en-US" sz="1200" dirty="0">
                <a:solidFill>
                  <a:schemeClr val="bg1"/>
                </a:solidFill>
              </a:rPr>
              <a:t>They sit behind a deliberate sequence: fill validly, reach review, go back, change one answer. Operators do this; novelty does not.</a:t>
            </a:r>
            <a:endParaRPr lang="en-US" sz="1200" dirty="0"/>
          </a:p>
        </p:txBody>
      </p:sp>
      <p:sp>
        <p:nvSpPr>
          <p:cNvPr id="10" name="why1"/>
          <p:cNvSpPr/>
          <p:nvPr/>
        </p:nvSpPr>
        <p:spPr>
          <a:xfrm>
            <a:off x="6675120" y="2880360"/>
            <a:ext cx="4937760" cy="987552"/>
          </a:xfrm>
          <a:prstGeom prst="roundRect">
            <a:avLst>
              <a:gd name="adj" fmla="val 9259"/>
            </a:avLst>
          </a:prstGeom>
          <a:solidFill>
            <a:schemeClr val="bg2"/>
          </a:solidFill>
          <a:ln w="12700">
            <a:solidFill>
              <a:schemeClr val="bg2"/>
            </a:solidFill>
            <a:prstDash val="solid"/>
          </a:ln>
        </p:spPr>
      </p:sp>
      <p:sp>
        <p:nvSpPr>
          <p:cNvPr id="11" name="Text 8"/>
          <p:cNvSpPr txBox="1"/>
          <p:nvPr/>
        </p:nvSpPr>
        <p:spPr>
          <a:xfrm>
            <a:off x="6858000" y="2953512"/>
            <a:ext cx="4572000" cy="329184"/>
          </a:xfrm>
          <a:prstGeom prst="rect">
            <a:avLst/>
          </a:prstGeom>
          <a:noFill/>
          <a:ln/>
        </p:spPr>
        <p:txBody>
          <a:bodyPr wrap="square" lIns="0" tIns="0" rIns="0" bIns="0" rtlCol="0" anchor="t"/>
          <a:lstStyle/>
          <a:p>
            <a:pPr indent="0" marL="0">
              <a:buNone/>
            </a:pPr>
            <a:r>
              <a:rPr lang="en-US" sz="1500" b="1" dirty="0">
                <a:solidFill>
                  <a:schemeClr val="tx1"/>
                </a:solidFill>
              </a:rPr>
              <a:t>Learners had little to learn</a:t>
            </a:r>
            <a:endParaRPr lang="en-US" sz="1500" dirty="0"/>
          </a:p>
        </p:txBody>
      </p:sp>
      <p:sp>
        <p:nvSpPr>
          <p:cNvPr id="12" name="Text 9"/>
          <p:cNvSpPr txBox="1"/>
          <p:nvPr/>
        </p:nvSpPr>
        <p:spPr>
          <a:xfrm>
            <a:off x="6858000" y="3282696"/>
            <a:ext cx="4572000" cy="548640"/>
          </a:xfrm>
          <a:prstGeom prst="rect">
            <a:avLst/>
          </a:prstGeom>
          <a:noFill/>
          <a:ln/>
        </p:spPr>
        <p:txBody>
          <a:bodyPr wrap="square" lIns="0" tIns="0" rIns="0" bIns="0" rtlCol="0" anchor="t"/>
          <a:lstStyle/>
          <a:p>
            <a:pPr indent="0" marL="0">
              <a:buNone/>
            </a:pPr>
            <a:r>
              <a:rPr lang="en-US" sz="1200" dirty="0">
                <a:solidFill>
                  <a:schemeClr val="tx2"/>
                </a:solidFill>
              </a:rPr>
              <a:t>A run has ~50–135 decisions over ~28 cells × 8 operators. Trying untried options already covers most of it.</a:t>
            </a:r>
            <a:endParaRPr lang="en-US" sz="1200" dirty="0"/>
          </a:p>
        </p:txBody>
      </p:sp>
      <p:sp>
        <p:nvSpPr>
          <p:cNvPr id="13" name="why2"/>
          <p:cNvSpPr/>
          <p:nvPr/>
        </p:nvSpPr>
        <p:spPr>
          <a:xfrm>
            <a:off x="6675120" y="3977640"/>
            <a:ext cx="4937760" cy="987552"/>
          </a:xfrm>
          <a:prstGeom prst="roundRect">
            <a:avLst>
              <a:gd name="adj" fmla="val 9259"/>
            </a:avLst>
          </a:prstGeom>
          <a:solidFill>
            <a:schemeClr val="bg2"/>
          </a:solidFill>
          <a:ln w="12700">
            <a:solidFill>
              <a:schemeClr val="bg2"/>
            </a:solidFill>
            <a:prstDash val="solid"/>
          </a:ln>
        </p:spPr>
      </p:sp>
      <p:sp>
        <p:nvSpPr>
          <p:cNvPr id="14" name="Text 11"/>
          <p:cNvSpPr txBox="1"/>
          <p:nvPr/>
        </p:nvSpPr>
        <p:spPr>
          <a:xfrm>
            <a:off x="6858000" y="4050792"/>
            <a:ext cx="4572000" cy="329184"/>
          </a:xfrm>
          <a:prstGeom prst="rect">
            <a:avLst/>
          </a:prstGeom>
          <a:noFill/>
          <a:ln/>
        </p:spPr>
        <p:txBody>
          <a:bodyPr wrap="square" lIns="0" tIns="0" rIns="0" bIns="0" rtlCol="0" anchor="t"/>
          <a:lstStyle/>
          <a:p>
            <a:pPr indent="0" marL="0">
              <a:buNone/>
            </a:pPr>
            <a:r>
              <a:rPr lang="en-US" sz="1500" b="1" dirty="0">
                <a:solidFill>
                  <a:schemeClr val="tx1"/>
                </a:solidFill>
              </a:rPr>
              <a:t>Curiosity rewards breadth</a:t>
            </a:r>
            <a:endParaRPr lang="en-US" sz="1500" dirty="0"/>
          </a:p>
        </p:txBody>
      </p:sp>
      <p:sp>
        <p:nvSpPr>
          <p:cNvPr id="15" name="Text 12"/>
          <p:cNvSpPr txBox="1"/>
          <p:nvPr/>
        </p:nvSpPr>
        <p:spPr>
          <a:xfrm>
            <a:off x="6858000" y="4379976"/>
            <a:ext cx="4572000" cy="548640"/>
          </a:xfrm>
          <a:prstGeom prst="rect">
            <a:avLst/>
          </a:prstGeom>
          <a:noFill/>
          <a:ln/>
        </p:spPr>
        <p:txBody>
          <a:bodyPr wrap="square" lIns="0" tIns="0" rIns="0" bIns="0" rtlCol="0" anchor="t"/>
          <a:lstStyle/>
          <a:p>
            <a:pPr indent="0" marL="0">
              <a:buNone/>
            </a:pPr>
            <a:r>
              <a:rPr lang="en-US" sz="1200" dirty="0">
                <a:solidFill>
                  <a:schemeClr val="tx2"/>
                </a:solidFill>
              </a:rPr>
              <a:t>So the RL arm wins coverage and errors, the literature's measures, but not verified faults.</a:t>
            </a:r>
            <a:endParaRPr lang="en-US" sz="1200" dirty="0"/>
          </a:p>
        </p:txBody>
      </p:sp>
      <p:sp>
        <p:nvSpPr>
          <p:cNvPr id="16" name="why3"/>
          <p:cNvSpPr/>
          <p:nvPr/>
        </p:nvSpPr>
        <p:spPr>
          <a:xfrm>
            <a:off x="6675120" y="5074920"/>
            <a:ext cx="4937760" cy="987552"/>
          </a:xfrm>
          <a:prstGeom prst="roundRect">
            <a:avLst>
              <a:gd name="adj" fmla="val 9259"/>
            </a:avLst>
          </a:prstGeom>
          <a:solidFill>
            <a:schemeClr val="bg2"/>
          </a:solidFill>
          <a:ln w="12700">
            <a:solidFill>
              <a:schemeClr val="bg2"/>
            </a:solidFill>
            <a:prstDash val="solid"/>
          </a:ln>
        </p:spPr>
      </p:sp>
      <p:sp>
        <p:nvSpPr>
          <p:cNvPr id="17" name="Text 14"/>
          <p:cNvSpPr txBox="1"/>
          <p:nvPr/>
        </p:nvSpPr>
        <p:spPr>
          <a:xfrm>
            <a:off x="6858000" y="5148072"/>
            <a:ext cx="4572000" cy="329184"/>
          </a:xfrm>
          <a:prstGeom prst="rect">
            <a:avLst/>
          </a:prstGeom>
          <a:noFill/>
          <a:ln/>
        </p:spPr>
        <p:txBody>
          <a:bodyPr wrap="square" lIns="0" tIns="0" rIns="0" bIns="0" rtlCol="0" anchor="t"/>
          <a:lstStyle/>
          <a:p>
            <a:pPr indent="0" marL="0">
              <a:buNone/>
            </a:pPr>
            <a:r>
              <a:rPr lang="en-US" sz="1500" b="1" dirty="0">
                <a:solidFill>
                  <a:schemeClr val="tx1"/>
                </a:solidFill>
              </a:rPr>
              <a:t>The action space bounds everything</a:t>
            </a:r>
            <a:endParaRPr lang="en-US" sz="1500" dirty="0"/>
          </a:p>
        </p:txBody>
      </p:sp>
      <p:sp>
        <p:nvSpPr>
          <p:cNvPr id="18" name="Text 15"/>
          <p:cNvSpPr txBox="1"/>
          <p:nvPr/>
        </p:nvSpPr>
        <p:spPr>
          <a:xfrm>
            <a:off x="6858000" y="5477256"/>
            <a:ext cx="4572000" cy="548640"/>
          </a:xfrm>
          <a:prstGeom prst="rect">
            <a:avLst/>
          </a:prstGeom>
          <a:noFill/>
          <a:ln/>
        </p:spPr>
        <p:txBody>
          <a:bodyPr wrap="square" lIns="0" tIns="0" rIns="0" bIns="0" rtlCol="0" anchor="t"/>
          <a:lstStyle/>
          <a:p>
            <a:pPr indent="0" marL="0">
              <a:buNone/>
            </a:pPr>
            <a:r>
              <a:rPr lang="en-US" sz="1200" dirty="0">
                <a:solidFill>
                  <a:schemeClr val="tx2"/>
                </a:solidFill>
              </a:rPr>
              <a:t>A tester can only reach code behind elements it can click.</a:t>
            </a:r>
            <a:endParaRPr lang="en-US" sz="12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09 · Our app</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Our App</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Point it at an app, watch it test, and get a report where every bug comes with a reproduction</a:t>
            </a:r>
            <a:endParaRPr lang="en-US" sz="1700" dirty="0"/>
          </a:p>
        </p:txBody>
      </p:sp>
      <p:pic>
        <p:nvPicPr>
          <p:cNvPr id="5" name="Image 0" descr="C:\Users\reach\AppData\Local\Temp\claude\c--Users-reach-OneDrive-Code-files-SEM7-RL-web-tester\7c3024aa-1118-49fd-b386-f99dd0651f57\scratchpad\deck\ui_new_test.png">    </p:cNvPr>
          <p:cNvPicPr>
            <a:picLocks noChangeAspect="1"/>
          </p:cNvPicPr>
          <p:nvPr/>
        </p:nvPicPr>
        <p:blipFill>
          <a:blip r:embed="rId1"/>
          <a:stretch>
            <a:fillRect/>
          </a:stretch>
        </p:blipFill>
        <p:spPr>
          <a:xfrm>
            <a:off x="548640" y="1783080"/>
            <a:ext cx="3657600" cy="2286000"/>
          </a:xfrm>
          <a:prstGeom prst="rect">
            <a:avLst/>
          </a:prstGeom>
        </p:spPr>
      </p:pic>
      <p:pic>
        <p:nvPicPr>
          <p:cNvPr id="6" name="Image 1" descr="C:\Users\reach\AppData\Local\Temp\claude\c--Users-reach-OneDrive-Code-files-SEM7-RL-web-tester\7c3024aa-1118-49fd-b386-f99dd0651f57\scratchpad\deck\ui_run.png">    </p:cNvPr>
          <p:cNvPicPr>
            <a:picLocks noChangeAspect="1"/>
          </p:cNvPicPr>
          <p:nvPr/>
        </p:nvPicPr>
        <p:blipFill>
          <a:blip r:embed="rId2"/>
          <a:stretch>
            <a:fillRect/>
          </a:stretch>
        </p:blipFill>
        <p:spPr>
          <a:xfrm>
            <a:off x="4251960" y="1783080"/>
            <a:ext cx="3657600" cy="2286000"/>
          </a:xfrm>
          <a:prstGeom prst="rect">
            <a:avLst/>
          </a:prstGeom>
        </p:spPr>
      </p:pic>
      <p:pic>
        <p:nvPicPr>
          <p:cNvPr id="7" name="Image 2" descr="C:\Users\reach\AppData\Local\Temp\claude\c--Users-reach-OneDrive-Code-files-SEM7-RL-web-tester\7c3024aa-1118-49fd-b386-f99dd0651f57\scratchpad\deck\ui_report.png">    </p:cNvPr>
          <p:cNvPicPr>
            <a:picLocks noChangeAspect="1"/>
          </p:cNvPicPr>
          <p:nvPr/>
        </p:nvPicPr>
        <p:blipFill>
          <a:blip r:embed="rId3"/>
          <a:stretch>
            <a:fillRect/>
          </a:stretch>
        </p:blipFill>
        <p:spPr>
          <a:xfrm>
            <a:off x="7955280" y="1783080"/>
            <a:ext cx="3657600" cy="2286000"/>
          </a:xfrm>
          <a:prstGeom prst="rect">
            <a:avLst/>
          </a:prstGeom>
        </p:spPr>
      </p:pic>
      <p:sp>
        <p:nvSpPr>
          <p:cNvPr id="8" name="Text 3"/>
          <p:cNvSpPr txBox="1"/>
          <p:nvPr/>
        </p:nvSpPr>
        <p:spPr>
          <a:xfrm>
            <a:off x="548640" y="4160520"/>
            <a:ext cx="3657600" cy="320040"/>
          </a:xfrm>
          <a:prstGeom prst="rect">
            <a:avLst/>
          </a:prstGeom>
          <a:noFill/>
          <a:ln/>
        </p:spPr>
        <p:txBody>
          <a:bodyPr wrap="square" lIns="0" tIns="0" rIns="0" bIns="0" rtlCol="0" anchor="t"/>
          <a:lstStyle/>
          <a:p>
            <a:pPr indent="0" marL="0">
              <a:buNone/>
            </a:pPr>
            <a:r>
              <a:rPr lang="en-US" sz="1500" b="1" dirty="0">
                <a:solidFill>
                  <a:schemeClr val="tx1"/>
                </a:solidFill>
              </a:rPr>
              <a:t>Start a test</a:t>
            </a:r>
            <a:endParaRPr lang="en-US" sz="1500" dirty="0"/>
          </a:p>
        </p:txBody>
      </p:sp>
      <p:sp>
        <p:nvSpPr>
          <p:cNvPr id="9" name="Text 4"/>
          <p:cNvSpPr txBox="1"/>
          <p:nvPr/>
        </p:nvSpPr>
        <p:spPr>
          <a:xfrm>
            <a:off x="548640" y="4480560"/>
            <a:ext cx="3657600" cy="365760"/>
          </a:xfrm>
          <a:prstGeom prst="rect">
            <a:avLst/>
          </a:prstGeom>
          <a:noFill/>
          <a:ln/>
        </p:spPr>
        <p:txBody>
          <a:bodyPr wrap="square" lIns="0" tIns="0" rIns="0" bIns="0" rtlCol="0" anchor="t"/>
          <a:lstStyle/>
          <a:p>
            <a:pPr indent="0" marL="0">
              <a:buNone/>
            </a:pPr>
            <a:r>
              <a:rPr lang="en-US" sz="1200" dirty="0">
                <a:solidFill>
                  <a:schemeClr val="tx2"/>
                </a:solidFill>
              </a:rPr>
              <a:t>demo app, live URL, or an uploaded site or repository</a:t>
            </a:r>
            <a:endParaRPr lang="en-US" sz="1200" dirty="0"/>
          </a:p>
        </p:txBody>
      </p:sp>
      <p:sp>
        <p:nvSpPr>
          <p:cNvPr id="10" name="Text 5"/>
          <p:cNvSpPr txBox="1"/>
          <p:nvPr/>
        </p:nvSpPr>
        <p:spPr>
          <a:xfrm>
            <a:off x="4251960" y="4160520"/>
            <a:ext cx="3657600" cy="320040"/>
          </a:xfrm>
          <a:prstGeom prst="rect">
            <a:avLst/>
          </a:prstGeom>
          <a:noFill/>
          <a:ln/>
        </p:spPr>
        <p:txBody>
          <a:bodyPr wrap="square" lIns="0" tIns="0" rIns="0" bIns="0" rtlCol="0" anchor="t"/>
          <a:lstStyle/>
          <a:p>
            <a:pPr indent="0" marL="0">
              <a:buNone/>
            </a:pPr>
            <a:r>
              <a:rPr lang="en-US" sz="1500" b="1" dirty="0">
                <a:solidFill>
                  <a:schemeClr val="tx1"/>
                </a:solidFill>
              </a:rPr>
              <a:t>Watch it run</a:t>
            </a:r>
            <a:endParaRPr lang="en-US" sz="1500" dirty="0"/>
          </a:p>
        </p:txBody>
      </p:sp>
      <p:sp>
        <p:nvSpPr>
          <p:cNvPr id="11" name="Text 6"/>
          <p:cNvSpPr txBox="1"/>
          <p:nvPr/>
        </p:nvSpPr>
        <p:spPr>
          <a:xfrm>
            <a:off x="4251960" y="4480560"/>
            <a:ext cx="3657600" cy="365760"/>
          </a:xfrm>
          <a:prstGeom prst="rect">
            <a:avLst/>
          </a:prstGeom>
          <a:noFill/>
          <a:ln/>
        </p:spPr>
        <p:txBody>
          <a:bodyPr wrap="square" lIns="0" tIns="0" rIns="0" bIns="0" rtlCol="0" anchor="t"/>
          <a:lstStyle/>
          <a:p>
            <a:pPr indent="0" marL="0">
              <a:buNone/>
            </a:pPr>
            <a:r>
              <a:rPr lang="en-US" sz="1200" dirty="0">
                <a:solidFill>
                  <a:schemeClr val="tx2"/>
                </a:solidFill>
              </a:rPr>
              <a:t>live action log, progress, pipeline status</a:t>
            </a:r>
            <a:endParaRPr lang="en-US" sz="1200" dirty="0"/>
          </a:p>
        </p:txBody>
      </p:sp>
      <p:sp>
        <p:nvSpPr>
          <p:cNvPr id="12" name="Text 7"/>
          <p:cNvSpPr txBox="1"/>
          <p:nvPr/>
        </p:nvSpPr>
        <p:spPr>
          <a:xfrm>
            <a:off x="7955280" y="4160520"/>
            <a:ext cx="3657600" cy="320040"/>
          </a:xfrm>
          <a:prstGeom prst="rect">
            <a:avLst/>
          </a:prstGeom>
          <a:noFill/>
          <a:ln/>
        </p:spPr>
        <p:txBody>
          <a:bodyPr wrap="square" lIns="0" tIns="0" rIns="0" bIns="0" rtlCol="0" anchor="t"/>
          <a:lstStyle/>
          <a:p>
            <a:pPr indent="0" marL="0">
              <a:buNone/>
            </a:pPr>
            <a:r>
              <a:rPr lang="en-US" sz="1500" b="1" dirty="0">
                <a:solidFill>
                  <a:schemeClr val="tx1"/>
                </a:solidFill>
              </a:rPr>
              <a:t>Read the report</a:t>
            </a:r>
            <a:endParaRPr lang="en-US" sz="1500" dirty="0"/>
          </a:p>
        </p:txBody>
      </p:sp>
      <p:sp>
        <p:nvSpPr>
          <p:cNvPr id="13" name="Text 8"/>
          <p:cNvSpPr txBox="1"/>
          <p:nvPr/>
        </p:nvSpPr>
        <p:spPr>
          <a:xfrm>
            <a:off x="7955280" y="4480560"/>
            <a:ext cx="3657600" cy="365760"/>
          </a:xfrm>
          <a:prstGeom prst="rect">
            <a:avLst/>
          </a:prstGeom>
          <a:noFill/>
          <a:ln/>
        </p:spPr>
        <p:txBody>
          <a:bodyPr wrap="square" lIns="0" tIns="0" rIns="0" bIns="0" rtlCol="0" anchor="t"/>
          <a:lstStyle/>
          <a:p>
            <a:pPr indent="0" marL="0">
              <a:buNone/>
            </a:pPr>
            <a:r>
              <a:rPr lang="en-US" sz="1200" dirty="0">
                <a:solidFill>
                  <a:schemeClr val="tx2"/>
                </a:solidFill>
              </a:rPr>
              <a:t>each bug minimised, with screenshots and evidence</a:t>
            </a:r>
            <a:endParaRPr lang="en-US" sz="1200" dirty="0"/>
          </a:p>
        </p:txBody>
      </p:sp>
      <p:sp>
        <p:nvSpPr>
          <p:cNvPr id="14" name="acceptance"/>
          <p:cNvSpPr/>
          <p:nvPr/>
        </p:nvSpPr>
        <p:spPr>
          <a:xfrm>
            <a:off x="548640" y="5029200"/>
            <a:ext cx="11064240" cy="1097280"/>
          </a:xfrm>
          <a:prstGeom prst="roundRect">
            <a:avLst>
              <a:gd name="adj" fmla="val 8333"/>
            </a:avLst>
          </a:prstGeom>
          <a:solidFill>
            <a:schemeClr val="tx1"/>
          </a:solidFill>
          <a:ln w="12700">
            <a:solidFill>
              <a:schemeClr val="tx1"/>
            </a:solidFill>
            <a:prstDash val="solid"/>
          </a:ln>
        </p:spPr>
      </p:sp>
      <p:sp>
        <p:nvSpPr>
          <p:cNvPr id="15" name="Text 10"/>
          <p:cNvSpPr txBox="1"/>
          <p:nvPr/>
        </p:nvSpPr>
        <p:spPr>
          <a:xfrm>
            <a:off x="822960" y="5120640"/>
            <a:ext cx="10515600" cy="914400"/>
          </a:xfrm>
          <a:prstGeom prst="rect">
            <a:avLst/>
          </a:prstGeom>
          <a:noFill/>
          <a:ln/>
        </p:spPr>
        <p:txBody>
          <a:bodyPr wrap="square" lIns="0" tIns="0" rIns="0" bIns="0" rtlCol="0" anchor="ctr"/>
          <a:lstStyle/>
          <a:p>
            <a:pPr indent="0" marL="0">
              <a:buNone/>
            </a:pPr>
            <a:r>
              <a:rPr lang="en-US" sz="1500" b="1" dirty="0">
                <a:solidFill>
                  <a:schemeClr val="accent2"/>
                </a:solidFill>
              </a:rPr>
              <a:t>Acceptance tested  </a:t>
            </a:r>
            <a:pPr indent="0" marL="0">
              <a:buNone/>
            </a:pPr>
            <a:r>
              <a:rPr lang="en-US" sz="1500" dirty="0">
                <a:solidFill>
                  <a:schemeClr val="bg1"/>
                </a:solidFill>
              </a:rPr>
              <a:t>Every kind of target ran end to end: Docker full-stack apps, a benchmark app, a static site, a zip upload, a Dockerfile repository and a public URL. Web interface (FastAPI) and a command-line tool.</a:t>
            </a:r>
            <a:endParaRPr lang="en-US" sz="15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10 · Conclusion</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Conclusion</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What this project shows</a:t>
            </a:r>
            <a:endParaRPr lang="en-US" sz="1700" dirty="0"/>
          </a:p>
        </p:txBody>
      </p:sp>
      <p:sp>
        <p:nvSpPr>
          <p:cNvPr id="5" name="Text 3"/>
          <p:cNvSpPr txBox="1"/>
          <p:nvPr/>
        </p:nvSpPr>
        <p:spPr>
          <a:xfrm>
            <a:off x="548640" y="1828800"/>
            <a:ext cx="11064240" cy="3291840"/>
          </a:xfrm>
          <a:prstGeom prst="rect">
            <a:avLst/>
          </a:prstGeom>
          <a:noFill/>
          <a:ln/>
        </p:spPr>
        <p:txBody>
          <a:bodyPr wrap="square" lIns="0" tIns="0" rIns="0" bIns="0" rtlCol="0" anchor="t"/>
          <a:lstStyle/>
          <a:p>
            <a:pPr indent="0" marL="0">
              <a:lnSpc>
                <a:spcPct val="112000"/>
              </a:lnSpc>
              <a:buNone/>
            </a:pPr>
            <a:r>
              <a:rPr lang="en-US" sz="1800" dirty="0">
                <a:solidFill>
                  <a:schemeClr val="tx1"/>
                </a:solidFill>
              </a:rPr>
              <a:t>Katalyze shows that functional bugs in web applications can be found and proven automatically: every reported fault reproduced twice, was absent from a control build without that fault, and was minimised, with no false positive in any clean-build control. Across our evaluations, the structure of the tester did the measurable work. Remembering states, returning to them exactly and applying test-design operators verified 18–19 of 24 held-out faults against 13 for random exploration, mostly faults several steps deep. No learning layer measurably improved on that structure, while the RL arm, curiosity Q-learning, led on coverage and errors triggered. On WebExplor's benchmark, better clickable detection lifted our coverage from 44.3% to 53.6%, close to WebExplor and still below WebRLED. With these learners and at this scale, structure and the action space mattered more than learning.</a:t>
            </a:r>
            <a:endParaRPr lang="en-US" sz="1800" dirty="0"/>
          </a:p>
        </p:txBody>
      </p:sp>
      <p:sp>
        <p:nvSpPr>
          <p:cNvPr id="6" name="c0"/>
          <p:cNvSpPr/>
          <p:nvPr/>
        </p:nvSpPr>
        <p:spPr>
          <a:xfrm>
            <a:off x="548640" y="5212080"/>
            <a:ext cx="3474720" cy="914400"/>
          </a:xfrm>
          <a:prstGeom prst="roundRect">
            <a:avLst>
              <a:gd name="adj" fmla="val 10000"/>
            </a:avLst>
          </a:prstGeom>
          <a:solidFill>
            <a:schemeClr val="bg2"/>
          </a:solidFill>
          <a:ln w="12700">
            <a:solidFill>
              <a:schemeClr val="bg2"/>
            </a:solidFill>
            <a:prstDash val="solid"/>
          </a:ln>
        </p:spPr>
      </p:sp>
      <p:sp>
        <p:nvSpPr>
          <p:cNvPr id="7" name="Text 5"/>
          <p:cNvSpPr txBox="1"/>
          <p:nvPr/>
        </p:nvSpPr>
        <p:spPr>
          <a:xfrm>
            <a:off x="777240" y="5230368"/>
            <a:ext cx="3108960" cy="502920"/>
          </a:xfrm>
          <a:prstGeom prst="rect">
            <a:avLst/>
          </a:prstGeom>
          <a:noFill/>
          <a:ln/>
        </p:spPr>
        <p:txBody>
          <a:bodyPr wrap="square" lIns="0" tIns="0" rIns="0" bIns="0" rtlCol="0" anchor="ctr"/>
          <a:lstStyle/>
          <a:p>
            <a:pPr indent="0" marL="0">
              <a:buNone/>
            </a:pPr>
            <a:r>
              <a:rPr lang="en-US" sz="2200" b="1" dirty="0">
                <a:solidFill>
                  <a:schemeClr val="accent1"/>
                </a:solidFill>
              </a:rPr>
              <a:t>18–19 vs 13</a:t>
            </a:r>
            <a:endParaRPr lang="en-US" sz="2200" dirty="0"/>
          </a:p>
        </p:txBody>
      </p:sp>
      <p:sp>
        <p:nvSpPr>
          <p:cNvPr id="8" name="Text 6"/>
          <p:cNvSpPr txBox="1"/>
          <p:nvPr/>
        </p:nvSpPr>
        <p:spPr>
          <a:xfrm>
            <a:off x="777240" y="5742432"/>
            <a:ext cx="3108960" cy="347472"/>
          </a:xfrm>
          <a:prstGeom prst="rect">
            <a:avLst/>
          </a:prstGeom>
          <a:noFill/>
          <a:ln/>
        </p:spPr>
        <p:txBody>
          <a:bodyPr wrap="square" lIns="0" tIns="0" rIns="0" bIns="0" rtlCol="0" anchor="t"/>
          <a:lstStyle/>
          <a:p>
            <a:pPr indent="0" marL="0">
              <a:buNone/>
            </a:pPr>
            <a:r>
              <a:rPr lang="en-US" sz="1200" dirty="0">
                <a:solidFill>
                  <a:schemeClr val="tx2"/>
                </a:solidFill>
              </a:rPr>
              <a:t>held-out faults: structure vs random</a:t>
            </a:r>
            <a:endParaRPr lang="en-US" sz="1200" dirty="0"/>
          </a:p>
        </p:txBody>
      </p:sp>
      <p:sp>
        <p:nvSpPr>
          <p:cNvPr id="9" name="c1"/>
          <p:cNvSpPr/>
          <p:nvPr/>
        </p:nvSpPr>
        <p:spPr>
          <a:xfrm>
            <a:off x="4297680" y="5212080"/>
            <a:ext cx="3474720" cy="914400"/>
          </a:xfrm>
          <a:prstGeom prst="roundRect">
            <a:avLst>
              <a:gd name="adj" fmla="val 10000"/>
            </a:avLst>
          </a:prstGeom>
          <a:solidFill>
            <a:schemeClr val="accent1"/>
          </a:solidFill>
          <a:ln w="12700">
            <a:solidFill>
              <a:schemeClr val="accent1"/>
            </a:solidFill>
            <a:prstDash val="solid"/>
          </a:ln>
        </p:spPr>
      </p:sp>
      <p:sp>
        <p:nvSpPr>
          <p:cNvPr id="10" name="Text 8"/>
          <p:cNvSpPr txBox="1"/>
          <p:nvPr/>
        </p:nvSpPr>
        <p:spPr>
          <a:xfrm>
            <a:off x="4526280" y="5230368"/>
            <a:ext cx="3108960" cy="502920"/>
          </a:xfrm>
          <a:prstGeom prst="rect">
            <a:avLst/>
          </a:prstGeom>
          <a:noFill/>
          <a:ln/>
        </p:spPr>
        <p:txBody>
          <a:bodyPr wrap="square" lIns="0" tIns="0" rIns="0" bIns="0" rtlCol="0" anchor="ctr"/>
          <a:lstStyle/>
          <a:p>
            <a:pPr indent="0" marL="0">
              <a:buNone/>
            </a:pPr>
            <a:r>
              <a:rPr lang="en-US" sz="2200" b="1" dirty="0">
                <a:solidFill>
                  <a:schemeClr val="bg1"/>
                </a:solidFill>
              </a:rPr>
              <a:t>0</a:t>
            </a:r>
            <a:endParaRPr lang="en-US" sz="2200" dirty="0"/>
          </a:p>
        </p:txBody>
      </p:sp>
      <p:sp>
        <p:nvSpPr>
          <p:cNvPr id="11" name="Text 9"/>
          <p:cNvSpPr txBox="1"/>
          <p:nvPr/>
        </p:nvSpPr>
        <p:spPr>
          <a:xfrm>
            <a:off x="4526280" y="5742432"/>
            <a:ext cx="3108960" cy="347472"/>
          </a:xfrm>
          <a:prstGeom prst="rect">
            <a:avLst/>
          </a:prstGeom>
          <a:noFill/>
          <a:ln/>
        </p:spPr>
        <p:txBody>
          <a:bodyPr wrap="square" lIns="0" tIns="0" rIns="0" bIns="0" rtlCol="0" anchor="t"/>
          <a:lstStyle/>
          <a:p>
            <a:pPr indent="0" marL="0">
              <a:buNone/>
            </a:pPr>
            <a:r>
              <a:rPr lang="en-US" sz="1200" dirty="0">
                <a:solidFill>
                  <a:schemeClr val="bg1"/>
                </a:solidFill>
              </a:rPr>
              <a:t>false positives in clean controls</a:t>
            </a:r>
            <a:endParaRPr lang="en-US" sz="1200" dirty="0"/>
          </a:p>
        </p:txBody>
      </p:sp>
      <p:sp>
        <p:nvSpPr>
          <p:cNvPr id="12" name="c2"/>
          <p:cNvSpPr/>
          <p:nvPr/>
        </p:nvSpPr>
        <p:spPr>
          <a:xfrm>
            <a:off x="8046720" y="5212080"/>
            <a:ext cx="3474720" cy="914400"/>
          </a:xfrm>
          <a:prstGeom prst="roundRect">
            <a:avLst>
              <a:gd name="adj" fmla="val 10000"/>
            </a:avLst>
          </a:prstGeom>
          <a:solidFill>
            <a:schemeClr val="bg2"/>
          </a:solidFill>
          <a:ln w="12700">
            <a:solidFill>
              <a:schemeClr val="bg2"/>
            </a:solidFill>
            <a:prstDash val="solid"/>
          </a:ln>
        </p:spPr>
      </p:sp>
      <p:sp>
        <p:nvSpPr>
          <p:cNvPr id="13" name="Text 11"/>
          <p:cNvSpPr txBox="1"/>
          <p:nvPr/>
        </p:nvSpPr>
        <p:spPr>
          <a:xfrm>
            <a:off x="8275320" y="5230368"/>
            <a:ext cx="3108960" cy="502920"/>
          </a:xfrm>
          <a:prstGeom prst="rect">
            <a:avLst/>
          </a:prstGeom>
          <a:noFill/>
          <a:ln/>
        </p:spPr>
        <p:txBody>
          <a:bodyPr wrap="square" lIns="0" tIns="0" rIns="0" bIns="0" rtlCol="0" anchor="ctr"/>
          <a:lstStyle/>
          <a:p>
            <a:pPr indent="0" marL="0">
              <a:buNone/>
            </a:pPr>
            <a:r>
              <a:rPr lang="en-US" sz="2200" b="1" dirty="0">
                <a:solidFill>
                  <a:schemeClr val="accent1"/>
                </a:solidFill>
              </a:rPr>
              <a:t>44.3% → 53.6%</a:t>
            </a:r>
            <a:endParaRPr lang="en-US" sz="2200" dirty="0"/>
          </a:p>
        </p:txBody>
      </p:sp>
      <p:sp>
        <p:nvSpPr>
          <p:cNvPr id="14" name="Text 12"/>
          <p:cNvSpPr txBox="1"/>
          <p:nvPr/>
        </p:nvSpPr>
        <p:spPr>
          <a:xfrm>
            <a:off x="8275320" y="5742432"/>
            <a:ext cx="3108960" cy="347472"/>
          </a:xfrm>
          <a:prstGeom prst="rect">
            <a:avLst/>
          </a:prstGeom>
          <a:noFill/>
          <a:ln/>
        </p:spPr>
        <p:txBody>
          <a:bodyPr wrap="square" lIns="0" tIns="0" rIns="0" bIns="0" rtlCol="0" anchor="t"/>
          <a:lstStyle/>
          <a:p>
            <a:pPr indent="0" marL="0">
              <a:buNone/>
            </a:pPr>
            <a:r>
              <a:rPr lang="en-US" sz="1200" dirty="0">
                <a:solidFill>
                  <a:schemeClr val="tx2"/>
                </a:solidFill>
              </a:rPr>
              <a:t>external coverage, round 1 → 2</a:t>
            </a:r>
            <a:endParaRPr lang="en-US" sz="12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11 · Future work</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Future Work</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Each item targets a specific limitation of this work</a:t>
            </a:r>
            <a:endParaRPr lang="en-US" sz="1700" dirty="0"/>
          </a:p>
        </p:txBody>
      </p:sp>
      <p:sp>
        <p:nvSpPr>
          <p:cNvPr id="5" name="Shape 3"/>
          <p:cNvSpPr/>
          <p:nvPr/>
        </p:nvSpPr>
        <p:spPr>
          <a:xfrm>
            <a:off x="548640" y="1938528"/>
            <a:ext cx="502920" cy="502920"/>
          </a:xfrm>
          <a:prstGeom prst="ellipse">
            <a:avLst/>
          </a:prstGeom>
          <a:solidFill>
            <a:schemeClr val="accent1"/>
          </a:solidFill>
          <a:ln w="12700">
            <a:solidFill>
              <a:schemeClr val="accent1"/>
            </a:solidFill>
            <a:prstDash val="solid"/>
          </a:ln>
        </p:spPr>
      </p:sp>
      <p:sp>
        <p:nvSpPr>
          <p:cNvPr id="6" name="Text 4"/>
          <p:cNvSpPr txBox="1"/>
          <p:nvPr/>
        </p:nvSpPr>
        <p:spPr>
          <a:xfrm>
            <a:off x="548640" y="193852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234440" y="1819656"/>
            <a:ext cx="3931920" cy="365760"/>
          </a:xfrm>
          <a:prstGeom prst="rect">
            <a:avLst/>
          </a:prstGeom>
          <a:noFill/>
          <a:ln/>
        </p:spPr>
        <p:txBody>
          <a:bodyPr wrap="square" lIns="0" tIns="0" rIns="0" bIns="0" rtlCol="0" anchor="t"/>
          <a:lstStyle/>
          <a:p>
            <a:pPr indent="0" marL="0">
              <a:buNone/>
            </a:pPr>
            <a:r>
              <a:rPr lang="en-US" sz="1600" b="1" dirty="0">
                <a:solidFill>
                  <a:schemeClr val="tx1"/>
                </a:solidFill>
              </a:rPr>
              <a:t>Learn which elements are actionable</a:t>
            </a:r>
            <a:endParaRPr lang="en-US" sz="1600" dirty="0"/>
          </a:p>
        </p:txBody>
      </p:sp>
      <p:sp>
        <p:nvSpPr>
          <p:cNvPr id="8" name="Text 6"/>
          <p:cNvSpPr txBox="1"/>
          <p:nvPr/>
        </p:nvSpPr>
        <p:spPr>
          <a:xfrm>
            <a:off x="1234440" y="2167128"/>
            <a:ext cx="3931920" cy="475488"/>
          </a:xfrm>
          <a:prstGeom prst="rect">
            <a:avLst/>
          </a:prstGeom>
          <a:noFill/>
          <a:ln/>
        </p:spPr>
        <p:txBody>
          <a:bodyPr wrap="square" lIns="0" tIns="0" rIns="0" bIns="0" rtlCol="0" anchor="t"/>
          <a:lstStyle/>
          <a:p>
            <a:pPr indent="0" marL="0">
              <a:buNone/>
            </a:pPr>
            <a:r>
              <a:rPr lang="en-US" sz="1150" b="1" dirty="0">
                <a:solidFill>
                  <a:schemeClr val="accent2"/>
                </a:solidFill>
              </a:rPr>
              <a:t>Limitation: </a:t>
            </a:r>
            <a:pPr indent="0" marL="0">
              <a:buNone/>
            </a:pPr>
            <a:r>
              <a:rPr lang="en-US" sz="1150" dirty="0">
                <a:solidFill>
                  <a:schemeClr val="tx2"/>
                </a:solidFill>
              </a:rPr>
              <a:t>Coverage is bounded by clickable-element detection, and its recall was never measured.</a:t>
            </a:r>
            <a:endParaRPr lang="en-US" sz="1150" dirty="0"/>
          </a:p>
        </p:txBody>
      </p:sp>
      <p:sp>
        <p:nvSpPr>
          <p:cNvPr id="9" name="fw0"/>
          <p:cNvSpPr/>
          <p:nvPr/>
        </p:nvSpPr>
        <p:spPr>
          <a:xfrm>
            <a:off x="5394960" y="1819656"/>
            <a:ext cx="6217920" cy="768096"/>
          </a:xfrm>
          <a:prstGeom prst="roundRect">
            <a:avLst>
              <a:gd name="adj" fmla="val 11905"/>
            </a:avLst>
          </a:prstGeom>
          <a:solidFill>
            <a:schemeClr val="bg2"/>
          </a:solidFill>
          <a:ln w="12700">
            <a:solidFill>
              <a:schemeClr val="bg2"/>
            </a:solidFill>
            <a:prstDash val="solid"/>
          </a:ln>
        </p:spPr>
      </p:sp>
      <p:sp>
        <p:nvSpPr>
          <p:cNvPr id="10" name="Text 8"/>
          <p:cNvSpPr txBox="1"/>
          <p:nvPr/>
        </p:nvSpPr>
        <p:spPr>
          <a:xfrm>
            <a:off x="5577840" y="1819656"/>
            <a:ext cx="5897880" cy="768096"/>
          </a:xfrm>
          <a:prstGeom prst="rect">
            <a:avLst/>
          </a:prstGeom>
          <a:noFill/>
          <a:ln/>
        </p:spPr>
        <p:txBody>
          <a:bodyPr wrap="square" lIns="0" tIns="0" rIns="0" bIns="0" rtlCol="0" anchor="ctr"/>
          <a:lstStyle/>
          <a:p>
            <a:pPr indent="0" marL="0">
              <a:buNone/>
            </a:pPr>
            <a:r>
              <a:rPr lang="en-US" sz="1400" b="1" dirty="0">
                <a:solidFill>
                  <a:schemeClr val="accent1"/>
                </a:solidFill>
              </a:rPr>
              <a:t>→  </a:t>
            </a:r>
            <a:pPr indent="0" marL="0">
              <a:buNone/>
            </a:pPr>
            <a:r>
              <a:rPr lang="en-US" sz="1400" dirty="0">
                <a:solidFill>
                  <a:schemeClr val="tx1"/>
                </a:solidFill>
              </a:rPr>
              <a:t>A trained element discriminator, as WebRLED uses, and a measured detection recall.</a:t>
            </a:r>
            <a:endParaRPr lang="en-US" sz="1400" dirty="0"/>
          </a:p>
        </p:txBody>
      </p:sp>
      <p:sp>
        <p:nvSpPr>
          <p:cNvPr id="11" name="Shape 9"/>
          <p:cNvSpPr/>
          <p:nvPr/>
        </p:nvSpPr>
        <p:spPr>
          <a:xfrm>
            <a:off x="548640" y="2834640"/>
            <a:ext cx="502920" cy="502920"/>
          </a:xfrm>
          <a:prstGeom prst="ellipse">
            <a:avLst/>
          </a:prstGeom>
          <a:solidFill>
            <a:schemeClr val="accent1"/>
          </a:solidFill>
          <a:ln w="12700">
            <a:solidFill>
              <a:schemeClr val="accent1"/>
            </a:solidFill>
            <a:prstDash val="solid"/>
          </a:ln>
        </p:spPr>
      </p:sp>
      <p:sp>
        <p:nvSpPr>
          <p:cNvPr id="12" name="Text 10"/>
          <p:cNvSpPr txBox="1"/>
          <p:nvPr/>
        </p:nvSpPr>
        <p:spPr>
          <a:xfrm>
            <a:off x="548640" y="2834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1"/>
          <p:cNvSpPr txBox="1"/>
          <p:nvPr/>
        </p:nvSpPr>
        <p:spPr>
          <a:xfrm>
            <a:off x="1234440" y="2715768"/>
            <a:ext cx="3931920" cy="365760"/>
          </a:xfrm>
          <a:prstGeom prst="rect">
            <a:avLst/>
          </a:prstGeom>
          <a:noFill/>
          <a:ln/>
        </p:spPr>
        <p:txBody>
          <a:bodyPr wrap="square" lIns="0" tIns="0" rIns="0" bIns="0" rtlCol="0" anchor="t"/>
          <a:lstStyle/>
          <a:p>
            <a:pPr indent="0" marL="0">
              <a:buNone/>
            </a:pPr>
            <a:r>
              <a:rPr lang="en-US" sz="1600" b="1" dirty="0">
                <a:solidFill>
                  <a:schemeClr val="tx1"/>
                </a:solidFill>
              </a:rPr>
              <a:t>Oracles beyond seeded faults</a:t>
            </a:r>
            <a:endParaRPr lang="en-US" sz="1600" dirty="0"/>
          </a:p>
        </p:txBody>
      </p:sp>
      <p:sp>
        <p:nvSpPr>
          <p:cNvPr id="14" name="Text 12"/>
          <p:cNvSpPr txBox="1"/>
          <p:nvPr/>
        </p:nvSpPr>
        <p:spPr>
          <a:xfrm>
            <a:off x="1234440" y="3063240"/>
            <a:ext cx="3931920" cy="475488"/>
          </a:xfrm>
          <a:prstGeom prst="rect">
            <a:avLst/>
          </a:prstGeom>
          <a:noFill/>
          <a:ln/>
        </p:spPr>
        <p:txBody>
          <a:bodyPr wrap="square" lIns="0" tIns="0" rIns="0" bIns="0" rtlCol="0" anchor="t"/>
          <a:lstStyle/>
          <a:p>
            <a:pPr indent="0" marL="0">
              <a:buNone/>
            </a:pPr>
            <a:r>
              <a:rPr lang="en-US" sz="1150" b="1" dirty="0">
                <a:solidFill>
                  <a:schemeClr val="accent2"/>
                </a:solidFill>
              </a:rPr>
              <a:t>Limitation: </a:t>
            </a:r>
            <a:pPr indent="0" marL="0">
              <a:buNone/>
            </a:pPr>
            <a:r>
              <a:rPr lang="en-US" sz="1150" dirty="0">
                <a:solidFill>
                  <a:schemeClr val="tx2"/>
                </a:solidFill>
              </a:rPr>
              <a:t>Only seeded faults with hand-written checks are verified; invariants raised false alarms on unsaved state.</a:t>
            </a:r>
            <a:endParaRPr lang="en-US" sz="1150" dirty="0"/>
          </a:p>
        </p:txBody>
      </p:sp>
      <p:sp>
        <p:nvSpPr>
          <p:cNvPr id="15" name="fw1"/>
          <p:cNvSpPr/>
          <p:nvPr/>
        </p:nvSpPr>
        <p:spPr>
          <a:xfrm>
            <a:off x="5394960" y="2715768"/>
            <a:ext cx="6217920" cy="768096"/>
          </a:xfrm>
          <a:prstGeom prst="roundRect">
            <a:avLst>
              <a:gd name="adj" fmla="val 11905"/>
            </a:avLst>
          </a:prstGeom>
          <a:solidFill>
            <a:schemeClr val="bg2"/>
          </a:solidFill>
          <a:ln w="12700">
            <a:solidFill>
              <a:schemeClr val="bg2"/>
            </a:solidFill>
            <a:prstDash val="solid"/>
          </a:ln>
        </p:spPr>
      </p:sp>
      <p:sp>
        <p:nvSpPr>
          <p:cNvPr id="16" name="Text 14"/>
          <p:cNvSpPr txBox="1"/>
          <p:nvPr/>
        </p:nvSpPr>
        <p:spPr>
          <a:xfrm>
            <a:off x="5577840" y="2715768"/>
            <a:ext cx="5897880" cy="768096"/>
          </a:xfrm>
          <a:prstGeom prst="rect">
            <a:avLst/>
          </a:prstGeom>
          <a:noFill/>
          <a:ln/>
        </p:spPr>
        <p:txBody>
          <a:bodyPr wrap="square" lIns="0" tIns="0" rIns="0" bIns="0" rtlCol="0" anchor="ctr"/>
          <a:lstStyle/>
          <a:p>
            <a:pPr indent="0" marL="0">
              <a:buNone/>
            </a:pPr>
            <a:r>
              <a:rPr lang="en-US" sz="1400" b="1" dirty="0">
                <a:solidFill>
                  <a:schemeClr val="accent1"/>
                </a:solidFill>
              </a:rPr>
              <a:t>→  </a:t>
            </a:r>
            <a:pPr indent="0" marL="0">
              <a:buNone/>
            </a:pPr>
            <a:r>
              <a:rPr lang="en-US" sz="1400" dirty="0">
                <a:solidFill>
                  <a:schemeClr val="tx1"/>
                </a:solidFill>
              </a:rPr>
              <a:t>Specification-free invariants that tell saved from unsaved state; LLM-proposed assertions, checked offline.</a:t>
            </a:r>
            <a:endParaRPr lang="en-US" sz="1400" dirty="0"/>
          </a:p>
        </p:txBody>
      </p:sp>
      <p:sp>
        <p:nvSpPr>
          <p:cNvPr id="17" name="Shape 15"/>
          <p:cNvSpPr/>
          <p:nvPr/>
        </p:nvSpPr>
        <p:spPr>
          <a:xfrm>
            <a:off x="548640" y="3730752"/>
            <a:ext cx="502920" cy="502920"/>
          </a:xfrm>
          <a:prstGeom prst="ellipse">
            <a:avLst/>
          </a:prstGeom>
          <a:solidFill>
            <a:schemeClr val="accent1"/>
          </a:solidFill>
          <a:ln w="12700">
            <a:solidFill>
              <a:schemeClr val="accent1"/>
            </a:solidFill>
            <a:prstDash val="solid"/>
          </a:ln>
        </p:spPr>
      </p:sp>
      <p:sp>
        <p:nvSpPr>
          <p:cNvPr id="18" name="Text 16"/>
          <p:cNvSpPr txBox="1"/>
          <p:nvPr/>
        </p:nvSpPr>
        <p:spPr>
          <a:xfrm>
            <a:off x="548640" y="3730752"/>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7"/>
          <p:cNvSpPr txBox="1"/>
          <p:nvPr/>
        </p:nvSpPr>
        <p:spPr>
          <a:xfrm>
            <a:off x="1234440" y="3611880"/>
            <a:ext cx="3931920" cy="365760"/>
          </a:xfrm>
          <a:prstGeom prst="rect">
            <a:avLst/>
          </a:prstGeom>
          <a:noFill/>
          <a:ln/>
        </p:spPr>
        <p:txBody>
          <a:bodyPr wrap="square" lIns="0" tIns="0" rIns="0" bIns="0" rtlCol="0" anchor="t"/>
          <a:lstStyle/>
          <a:p>
            <a:pPr indent="0" marL="0">
              <a:buNone/>
            </a:pPr>
            <a:r>
              <a:rPr lang="en-US" sz="1600" b="1" dirty="0">
                <a:solidFill>
                  <a:schemeClr val="tx1"/>
                </a:solidFill>
              </a:rPr>
              <a:t>Two deviations in one walk</a:t>
            </a:r>
            <a:endParaRPr lang="en-US" sz="1600" dirty="0"/>
          </a:p>
        </p:txBody>
      </p:sp>
      <p:sp>
        <p:nvSpPr>
          <p:cNvPr id="20" name="Text 18"/>
          <p:cNvSpPr txBox="1"/>
          <p:nvPr/>
        </p:nvSpPr>
        <p:spPr>
          <a:xfrm>
            <a:off x="1234440" y="3959352"/>
            <a:ext cx="3931920" cy="475488"/>
          </a:xfrm>
          <a:prstGeom prst="rect">
            <a:avLst/>
          </a:prstGeom>
          <a:noFill/>
          <a:ln/>
        </p:spPr>
        <p:txBody>
          <a:bodyPr wrap="square" lIns="0" tIns="0" rIns="0" bIns="0" rtlCol="0" anchor="t"/>
          <a:lstStyle/>
          <a:p>
            <a:pPr indent="0" marL="0">
              <a:buNone/>
            </a:pPr>
            <a:r>
              <a:rPr lang="en-US" sz="1150" b="1" dirty="0">
                <a:solidFill>
                  <a:schemeClr val="accent2"/>
                </a:solidFill>
              </a:rPr>
              <a:t>Limitation: </a:t>
            </a:r>
            <a:pPr indent="0" marL="0">
              <a:buNone/>
            </a:pPr>
            <a:r>
              <a:rPr lang="en-US" sz="1150" dirty="0">
                <a:solidFill>
                  <a:schemeClr val="tx2"/>
                </a:solidFill>
              </a:rPr>
              <a:t>15 of 41 development faults were never found; many need two deviations at once.</a:t>
            </a:r>
            <a:endParaRPr lang="en-US" sz="1150" dirty="0"/>
          </a:p>
        </p:txBody>
      </p:sp>
      <p:sp>
        <p:nvSpPr>
          <p:cNvPr id="21" name="fw2"/>
          <p:cNvSpPr/>
          <p:nvPr/>
        </p:nvSpPr>
        <p:spPr>
          <a:xfrm>
            <a:off x="5394960" y="3611880"/>
            <a:ext cx="6217920" cy="768096"/>
          </a:xfrm>
          <a:prstGeom prst="roundRect">
            <a:avLst>
              <a:gd name="adj" fmla="val 11905"/>
            </a:avLst>
          </a:prstGeom>
          <a:solidFill>
            <a:schemeClr val="bg2"/>
          </a:solidFill>
          <a:ln w="12700">
            <a:solidFill>
              <a:schemeClr val="bg2"/>
            </a:solidFill>
            <a:prstDash val="solid"/>
          </a:ln>
        </p:spPr>
      </p:sp>
      <p:sp>
        <p:nvSpPr>
          <p:cNvPr id="22" name="Text 20"/>
          <p:cNvSpPr txBox="1"/>
          <p:nvPr/>
        </p:nvSpPr>
        <p:spPr>
          <a:xfrm>
            <a:off x="5577840" y="3611880"/>
            <a:ext cx="5897880" cy="768096"/>
          </a:xfrm>
          <a:prstGeom prst="rect">
            <a:avLst/>
          </a:prstGeom>
          <a:noFill/>
          <a:ln/>
        </p:spPr>
        <p:txBody>
          <a:bodyPr wrap="square" lIns="0" tIns="0" rIns="0" bIns="0" rtlCol="0" anchor="ctr"/>
          <a:lstStyle/>
          <a:p>
            <a:pPr indent="0" marL="0">
              <a:buNone/>
            </a:pPr>
            <a:r>
              <a:rPr lang="en-US" sz="1400" b="1" dirty="0">
                <a:solidFill>
                  <a:schemeClr val="accent1"/>
                </a:solidFill>
              </a:rPr>
              <a:t>→  </a:t>
            </a:r>
            <a:pPr indent="0" marL="0">
              <a:buNone/>
            </a:pPr>
            <a:r>
              <a:rPr lang="en-US" sz="1400" dirty="0">
                <a:solidFill>
                  <a:schemeClr val="tx1"/>
                </a:solidFill>
              </a:rPr>
              <a:t>Operators that combine deviations, such as an option plus an invalid field.</a:t>
            </a:r>
            <a:endParaRPr lang="en-US" sz="1400" dirty="0"/>
          </a:p>
        </p:txBody>
      </p:sp>
      <p:sp>
        <p:nvSpPr>
          <p:cNvPr id="23" name="Shape 21"/>
          <p:cNvSpPr/>
          <p:nvPr/>
        </p:nvSpPr>
        <p:spPr>
          <a:xfrm>
            <a:off x="548640" y="4626864"/>
            <a:ext cx="502920" cy="502920"/>
          </a:xfrm>
          <a:prstGeom prst="ellipse">
            <a:avLst/>
          </a:prstGeom>
          <a:solidFill>
            <a:schemeClr val="accent1"/>
          </a:solidFill>
          <a:ln w="12700">
            <a:solidFill>
              <a:schemeClr val="accent1"/>
            </a:solidFill>
            <a:prstDash val="solid"/>
          </a:ln>
        </p:spPr>
      </p:sp>
      <p:sp>
        <p:nvSpPr>
          <p:cNvPr id="24" name="Text 22"/>
          <p:cNvSpPr txBox="1"/>
          <p:nvPr/>
        </p:nvSpPr>
        <p:spPr>
          <a:xfrm>
            <a:off x="548640" y="4626864"/>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3"/>
          <p:cNvSpPr txBox="1"/>
          <p:nvPr/>
        </p:nvSpPr>
        <p:spPr>
          <a:xfrm>
            <a:off x="1234440" y="4507992"/>
            <a:ext cx="3931920" cy="365760"/>
          </a:xfrm>
          <a:prstGeom prst="rect">
            <a:avLst/>
          </a:prstGeom>
          <a:noFill/>
          <a:ln/>
        </p:spPr>
        <p:txBody>
          <a:bodyPr wrap="square" lIns="0" tIns="0" rIns="0" bIns="0" rtlCol="0" anchor="t"/>
          <a:lstStyle/>
          <a:p>
            <a:pPr indent="0" marL="0">
              <a:buNone/>
            </a:pPr>
            <a:r>
              <a:rPr lang="en-US" sz="1600" b="1" dirty="0">
                <a:solidFill>
                  <a:schemeClr val="tx1"/>
                </a:solidFill>
              </a:rPr>
              <a:t>Learning at scale</a:t>
            </a:r>
            <a:endParaRPr lang="en-US" sz="1600" dirty="0"/>
          </a:p>
        </p:txBody>
      </p:sp>
      <p:sp>
        <p:nvSpPr>
          <p:cNvPr id="26" name="Text 24"/>
          <p:cNvSpPr txBox="1"/>
          <p:nvPr/>
        </p:nvSpPr>
        <p:spPr>
          <a:xfrm>
            <a:off x="1234440" y="4855464"/>
            <a:ext cx="3931920" cy="475488"/>
          </a:xfrm>
          <a:prstGeom prst="rect">
            <a:avLst/>
          </a:prstGeom>
          <a:noFill/>
          <a:ln/>
        </p:spPr>
        <p:txBody>
          <a:bodyPr wrap="square" lIns="0" tIns="0" rIns="0" bIns="0" rtlCol="0" anchor="t"/>
          <a:lstStyle/>
          <a:p>
            <a:pPr indent="0" marL="0">
              <a:buNone/>
            </a:pPr>
            <a:r>
              <a:rPr lang="en-US" sz="1150" b="1" dirty="0">
                <a:solidFill>
                  <a:schemeClr val="accent2"/>
                </a:solidFill>
              </a:rPr>
              <a:t>Limitation: </a:t>
            </a:r>
            <a:pPr indent="0" marL="0">
              <a:buNone/>
            </a:pPr>
            <a:r>
              <a:rPr lang="en-US" sz="1150" dirty="0">
                <a:solidFill>
                  <a:schemeClr val="tx2"/>
                </a:solidFill>
              </a:rPr>
              <a:t>Transfer was inconclusive with 5 training apps; the bandit was never tuned.</a:t>
            </a:r>
            <a:endParaRPr lang="en-US" sz="1150" dirty="0"/>
          </a:p>
        </p:txBody>
      </p:sp>
      <p:sp>
        <p:nvSpPr>
          <p:cNvPr id="27" name="fw3"/>
          <p:cNvSpPr/>
          <p:nvPr/>
        </p:nvSpPr>
        <p:spPr>
          <a:xfrm>
            <a:off x="5394960" y="4507992"/>
            <a:ext cx="6217920" cy="768096"/>
          </a:xfrm>
          <a:prstGeom prst="roundRect">
            <a:avLst>
              <a:gd name="adj" fmla="val 11905"/>
            </a:avLst>
          </a:prstGeom>
          <a:solidFill>
            <a:schemeClr val="bg2"/>
          </a:solidFill>
          <a:ln w="12700">
            <a:solidFill>
              <a:schemeClr val="bg2"/>
            </a:solidFill>
            <a:prstDash val="solid"/>
          </a:ln>
        </p:spPr>
      </p:sp>
      <p:sp>
        <p:nvSpPr>
          <p:cNvPr id="28" name="Text 26"/>
          <p:cNvSpPr txBox="1"/>
          <p:nvPr/>
        </p:nvSpPr>
        <p:spPr>
          <a:xfrm>
            <a:off x="5577840" y="4507992"/>
            <a:ext cx="5897880" cy="768096"/>
          </a:xfrm>
          <a:prstGeom prst="rect">
            <a:avLst/>
          </a:prstGeom>
          <a:noFill/>
          <a:ln/>
        </p:spPr>
        <p:txBody>
          <a:bodyPr wrap="square" lIns="0" tIns="0" rIns="0" bIns="0" rtlCol="0" anchor="ctr"/>
          <a:lstStyle/>
          <a:p>
            <a:pPr indent="0" marL="0">
              <a:buNone/>
            </a:pPr>
            <a:r>
              <a:rPr lang="en-US" sz="1400" b="1" dirty="0">
                <a:solidFill>
                  <a:schemeClr val="accent1"/>
                </a:solidFill>
              </a:rPr>
              <a:t>→  </a:t>
            </a:r>
            <a:pPr indent="0" marL="0">
              <a:buNone/>
            </a:pPr>
            <a:r>
              <a:rPr lang="en-US" sz="1400" dirty="0">
                <a:solidFill>
                  <a:schemeClr val="tx1"/>
                </a:solidFill>
              </a:rPr>
              <a:t>Tens of training apps, cross-app bandit priors, and evidence that fades over time.</a:t>
            </a:r>
            <a:endParaRPr lang="en-US" sz="1400" dirty="0"/>
          </a:p>
        </p:txBody>
      </p:sp>
      <p:sp>
        <p:nvSpPr>
          <p:cNvPr id="29" name="Shape 27"/>
          <p:cNvSpPr/>
          <p:nvPr/>
        </p:nvSpPr>
        <p:spPr>
          <a:xfrm>
            <a:off x="548640" y="5522976"/>
            <a:ext cx="502920" cy="502920"/>
          </a:xfrm>
          <a:prstGeom prst="ellipse">
            <a:avLst/>
          </a:prstGeom>
          <a:solidFill>
            <a:schemeClr val="accent1"/>
          </a:solidFill>
          <a:ln w="12700">
            <a:solidFill>
              <a:schemeClr val="accent1"/>
            </a:solidFill>
            <a:prstDash val="solid"/>
          </a:ln>
        </p:spPr>
      </p:sp>
      <p:sp>
        <p:nvSpPr>
          <p:cNvPr id="30" name="Text 28"/>
          <p:cNvSpPr txBox="1"/>
          <p:nvPr/>
        </p:nvSpPr>
        <p:spPr>
          <a:xfrm>
            <a:off x="548640" y="5522976"/>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1" name="Text 29"/>
          <p:cNvSpPr txBox="1"/>
          <p:nvPr/>
        </p:nvSpPr>
        <p:spPr>
          <a:xfrm>
            <a:off x="1234440" y="5404104"/>
            <a:ext cx="3931920" cy="365760"/>
          </a:xfrm>
          <a:prstGeom prst="rect">
            <a:avLst/>
          </a:prstGeom>
          <a:noFill/>
          <a:ln/>
        </p:spPr>
        <p:txBody>
          <a:bodyPr wrap="square" lIns="0" tIns="0" rIns="0" bIns="0" rtlCol="0" anchor="t"/>
          <a:lstStyle/>
          <a:p>
            <a:pPr indent="0" marL="0">
              <a:buNone/>
            </a:pPr>
            <a:r>
              <a:rPr lang="en-US" sz="1600" b="1" dirty="0">
                <a:solidFill>
                  <a:schemeClr val="tx1"/>
                </a:solidFill>
              </a:rPr>
              <a:t>Bigger, independent benchmarks</a:t>
            </a:r>
            <a:endParaRPr lang="en-US" sz="1600" dirty="0"/>
          </a:p>
        </p:txBody>
      </p:sp>
      <p:sp>
        <p:nvSpPr>
          <p:cNvPr id="32" name="Text 30"/>
          <p:cNvSpPr txBox="1"/>
          <p:nvPr/>
        </p:nvSpPr>
        <p:spPr>
          <a:xfrm>
            <a:off x="1234440" y="5751576"/>
            <a:ext cx="3931920" cy="475488"/>
          </a:xfrm>
          <a:prstGeom prst="rect">
            <a:avLst/>
          </a:prstGeom>
          <a:noFill/>
          <a:ln/>
        </p:spPr>
        <p:txBody>
          <a:bodyPr wrap="square" lIns="0" tIns="0" rIns="0" bIns="0" rtlCol="0" anchor="t"/>
          <a:lstStyle/>
          <a:p>
            <a:pPr indent="0" marL="0">
              <a:buNone/>
            </a:pPr>
            <a:r>
              <a:rPr lang="en-US" sz="1150" b="1" dirty="0">
                <a:solidFill>
                  <a:schemeClr val="accent2"/>
                </a:solidFill>
              </a:rPr>
              <a:t>Limitation: </a:t>
            </a:r>
            <a:pPr indent="0" marL="0">
              <a:buNone/>
            </a:pPr>
            <a:r>
              <a:rPr lang="en-US" sz="1150" dirty="0">
                <a:solidFill>
                  <a:schemeClr val="tx2"/>
                </a:solidFill>
              </a:rPr>
              <a:t>Six to eight apps per evaluation left most tests inconclusive.</a:t>
            </a:r>
            <a:endParaRPr lang="en-US" sz="1150" dirty="0"/>
          </a:p>
        </p:txBody>
      </p:sp>
      <p:sp>
        <p:nvSpPr>
          <p:cNvPr id="33" name="fw4"/>
          <p:cNvSpPr/>
          <p:nvPr/>
        </p:nvSpPr>
        <p:spPr>
          <a:xfrm>
            <a:off x="5394960" y="5404104"/>
            <a:ext cx="6217920" cy="768096"/>
          </a:xfrm>
          <a:prstGeom prst="roundRect">
            <a:avLst>
              <a:gd name="adj" fmla="val 11905"/>
            </a:avLst>
          </a:prstGeom>
          <a:solidFill>
            <a:schemeClr val="bg2"/>
          </a:solidFill>
          <a:ln w="12700">
            <a:solidFill>
              <a:schemeClr val="bg2"/>
            </a:solidFill>
            <a:prstDash val="solid"/>
          </a:ln>
        </p:spPr>
      </p:sp>
      <p:sp>
        <p:nvSpPr>
          <p:cNvPr id="34" name="Text 32"/>
          <p:cNvSpPr txBox="1"/>
          <p:nvPr/>
        </p:nvSpPr>
        <p:spPr>
          <a:xfrm>
            <a:off x="5577840" y="5404104"/>
            <a:ext cx="5897880" cy="768096"/>
          </a:xfrm>
          <a:prstGeom prst="rect">
            <a:avLst/>
          </a:prstGeom>
          <a:noFill/>
          <a:ln/>
        </p:spPr>
        <p:txBody>
          <a:bodyPr wrap="square" lIns="0" tIns="0" rIns="0" bIns="0" rtlCol="0" anchor="ctr"/>
          <a:lstStyle/>
          <a:p>
            <a:pPr indent="0" marL="0">
              <a:buNone/>
            </a:pPr>
            <a:r>
              <a:rPr lang="en-US" sz="1400" b="1" dirty="0">
                <a:solidFill>
                  <a:schemeClr val="accent1"/>
                </a:solidFill>
              </a:rPr>
              <a:t>→  </a:t>
            </a:r>
            <a:pPr indent="0" marL="0">
              <a:buNone/>
            </a:pPr>
            <a:r>
              <a:rPr lang="en-US" sz="1400" dirty="0">
                <a:solidFill>
                  <a:schemeClr val="tx1"/>
                </a:solidFill>
              </a:rPr>
              <a:t>More applications, real-bug benchmarks, and independent fault seeding.</a:t>
            </a:r>
            <a:endParaRPr lang="en-US" sz="14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12 · Team</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Team Contributions</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Each member's part of the work</a:t>
            </a:r>
            <a:endParaRPr lang="en-US" sz="1700" dirty="0"/>
          </a:p>
        </p:txBody>
      </p:sp>
      <p:sp>
        <p:nvSpPr>
          <p:cNvPr id="5" name="member0"/>
          <p:cNvSpPr/>
          <p:nvPr/>
        </p:nvSpPr>
        <p:spPr>
          <a:xfrm>
            <a:off x="548640" y="1783080"/>
            <a:ext cx="5394960" cy="1965960"/>
          </a:xfrm>
          <a:prstGeom prst="roundRect">
            <a:avLst>
              <a:gd name="adj" fmla="val 4651"/>
            </a:avLst>
          </a:prstGeom>
          <a:solidFill>
            <a:schemeClr val="bg2"/>
          </a:solidFill>
          <a:ln w="12700">
            <a:solidFill>
              <a:schemeClr val="bg2"/>
            </a:solidFill>
            <a:prstDash val="solid"/>
          </a:ln>
        </p:spPr>
      </p:sp>
      <p:sp>
        <p:nvSpPr>
          <p:cNvPr id="6" name="Text 4"/>
          <p:cNvSpPr txBox="1"/>
          <p:nvPr/>
        </p:nvSpPr>
        <p:spPr>
          <a:xfrm>
            <a:off x="822960" y="1965960"/>
            <a:ext cx="3200400" cy="384048"/>
          </a:xfrm>
          <a:prstGeom prst="rect">
            <a:avLst/>
          </a:prstGeom>
          <a:noFill/>
          <a:ln/>
        </p:spPr>
        <p:txBody>
          <a:bodyPr wrap="square" lIns="0" tIns="0" rIns="0" bIns="0" rtlCol="0" anchor="t"/>
          <a:lstStyle/>
          <a:p>
            <a:pPr indent="0" marL="0">
              <a:buNone/>
            </a:pPr>
            <a:r>
              <a:rPr lang="en-US" sz="1900" b="1" dirty="0">
                <a:solidFill>
                  <a:schemeClr val="tx1"/>
                </a:solidFill>
              </a:rPr>
              <a:t>Arunoday A K</a:t>
            </a:r>
            <a:endParaRPr lang="en-US" sz="1900" dirty="0"/>
          </a:p>
        </p:txBody>
      </p:sp>
      <p:sp>
        <p:nvSpPr>
          <p:cNvPr id="7" name="Text 5"/>
          <p:cNvSpPr txBox="1"/>
          <p:nvPr/>
        </p:nvSpPr>
        <p:spPr>
          <a:xfrm>
            <a:off x="3840480" y="2002536"/>
            <a:ext cx="1874520" cy="320040"/>
          </a:xfrm>
          <a:prstGeom prst="rect">
            <a:avLst/>
          </a:prstGeom>
          <a:noFill/>
          <a:ln/>
        </p:spPr>
        <p:txBody>
          <a:bodyPr wrap="square" lIns="0" tIns="0" rIns="0" bIns="0" rtlCol="0" anchor="t"/>
          <a:lstStyle/>
          <a:p>
            <a:pPr algn="r" indent="0" marL="0">
              <a:buNone/>
            </a:pPr>
            <a:r>
              <a:rPr lang="en-US" sz="1200" dirty="0">
                <a:solidFill>
                  <a:schemeClr val="tx2"/>
                </a:solidFill>
              </a:rPr>
              <a:t>CB.SC.U4AIE23106</a:t>
            </a:r>
            <a:endParaRPr lang="en-US" sz="1200" dirty="0"/>
          </a:p>
        </p:txBody>
      </p:sp>
      <p:sp>
        <p:nvSpPr>
          <p:cNvPr id="8" name="Text 6"/>
          <p:cNvSpPr txBox="1"/>
          <p:nvPr/>
        </p:nvSpPr>
        <p:spPr>
          <a:xfrm>
            <a:off x="822960" y="2514600"/>
            <a:ext cx="4846320" cy="1005840"/>
          </a:xfrm>
          <a:prstGeom prst="rect">
            <a:avLst/>
          </a:prstGeom>
          <a:noFill/>
          <a:ln/>
        </p:spPr>
        <p:txBody>
          <a:bodyPr wrap="square" lIns="0" tIns="0" rIns="0" bIns="0" rtlCol="0" anchor="t"/>
          <a:lstStyle/>
          <a:p>
            <a:pPr indent="0" marL="0">
              <a:buNone/>
            </a:pPr>
            <a:r>
              <a:rPr lang="en-US" sz="1400" i="1" dirty="0">
                <a:solidFill>
                  <a:schemeClr val="accent1"/>
                </a:solidFill>
              </a:rPr>
              <a:t>Contribution: (to be filled in by the team)</a:t>
            </a:r>
            <a:endParaRPr lang="en-US" sz="1400" dirty="0"/>
          </a:p>
        </p:txBody>
      </p:sp>
      <p:sp>
        <p:nvSpPr>
          <p:cNvPr id="9" name="member1"/>
          <p:cNvSpPr/>
          <p:nvPr/>
        </p:nvSpPr>
        <p:spPr>
          <a:xfrm>
            <a:off x="6217920" y="1783080"/>
            <a:ext cx="5394960" cy="1965960"/>
          </a:xfrm>
          <a:prstGeom prst="roundRect">
            <a:avLst>
              <a:gd name="adj" fmla="val 4651"/>
            </a:avLst>
          </a:prstGeom>
          <a:solidFill>
            <a:schemeClr val="bg2"/>
          </a:solidFill>
          <a:ln w="12700">
            <a:solidFill>
              <a:schemeClr val="bg2"/>
            </a:solidFill>
            <a:prstDash val="solid"/>
          </a:ln>
        </p:spPr>
      </p:sp>
      <p:sp>
        <p:nvSpPr>
          <p:cNvPr id="10" name="Text 8"/>
          <p:cNvSpPr txBox="1"/>
          <p:nvPr/>
        </p:nvSpPr>
        <p:spPr>
          <a:xfrm>
            <a:off x="6492240" y="1965960"/>
            <a:ext cx="3200400" cy="384048"/>
          </a:xfrm>
          <a:prstGeom prst="rect">
            <a:avLst/>
          </a:prstGeom>
          <a:noFill/>
          <a:ln/>
        </p:spPr>
        <p:txBody>
          <a:bodyPr wrap="square" lIns="0" tIns="0" rIns="0" bIns="0" rtlCol="0" anchor="t"/>
          <a:lstStyle/>
          <a:p>
            <a:pPr indent="0" marL="0">
              <a:buNone/>
            </a:pPr>
            <a:r>
              <a:rPr lang="en-US" sz="1900" b="1" dirty="0">
                <a:solidFill>
                  <a:schemeClr val="tx1"/>
                </a:solidFill>
              </a:rPr>
              <a:t>Achutharaj R</a:t>
            </a:r>
            <a:endParaRPr lang="en-US" sz="1900" dirty="0"/>
          </a:p>
        </p:txBody>
      </p:sp>
      <p:sp>
        <p:nvSpPr>
          <p:cNvPr id="11" name="Text 9"/>
          <p:cNvSpPr txBox="1"/>
          <p:nvPr/>
        </p:nvSpPr>
        <p:spPr>
          <a:xfrm>
            <a:off x="9509760" y="2002536"/>
            <a:ext cx="1874520" cy="320040"/>
          </a:xfrm>
          <a:prstGeom prst="rect">
            <a:avLst/>
          </a:prstGeom>
          <a:noFill/>
          <a:ln/>
        </p:spPr>
        <p:txBody>
          <a:bodyPr wrap="square" lIns="0" tIns="0" rIns="0" bIns="0" rtlCol="0" anchor="t"/>
          <a:lstStyle/>
          <a:p>
            <a:pPr algn="r" indent="0" marL="0">
              <a:buNone/>
            </a:pPr>
            <a:r>
              <a:rPr lang="en-US" sz="1200" dirty="0">
                <a:solidFill>
                  <a:schemeClr val="tx2"/>
                </a:solidFill>
              </a:rPr>
              <a:t>CB.SC.U4AIE23108</a:t>
            </a:r>
            <a:endParaRPr lang="en-US" sz="1200" dirty="0"/>
          </a:p>
        </p:txBody>
      </p:sp>
      <p:sp>
        <p:nvSpPr>
          <p:cNvPr id="12" name="Text 10"/>
          <p:cNvSpPr txBox="1"/>
          <p:nvPr/>
        </p:nvSpPr>
        <p:spPr>
          <a:xfrm>
            <a:off x="6492240" y="2514600"/>
            <a:ext cx="4846320" cy="1005840"/>
          </a:xfrm>
          <a:prstGeom prst="rect">
            <a:avLst/>
          </a:prstGeom>
          <a:noFill/>
          <a:ln/>
        </p:spPr>
        <p:txBody>
          <a:bodyPr wrap="square" lIns="0" tIns="0" rIns="0" bIns="0" rtlCol="0" anchor="t"/>
          <a:lstStyle/>
          <a:p>
            <a:pPr indent="0" marL="0">
              <a:buNone/>
            </a:pPr>
            <a:r>
              <a:rPr lang="en-US" sz="1400" i="1" dirty="0">
                <a:solidFill>
                  <a:schemeClr val="accent1"/>
                </a:solidFill>
              </a:rPr>
              <a:t>Contribution: (to be filled in by the team)</a:t>
            </a:r>
            <a:endParaRPr lang="en-US" sz="1400" dirty="0"/>
          </a:p>
        </p:txBody>
      </p:sp>
      <p:sp>
        <p:nvSpPr>
          <p:cNvPr id="13" name="member2"/>
          <p:cNvSpPr/>
          <p:nvPr/>
        </p:nvSpPr>
        <p:spPr>
          <a:xfrm>
            <a:off x="548640" y="3977640"/>
            <a:ext cx="5394960" cy="1965960"/>
          </a:xfrm>
          <a:prstGeom prst="roundRect">
            <a:avLst>
              <a:gd name="adj" fmla="val 4651"/>
            </a:avLst>
          </a:prstGeom>
          <a:solidFill>
            <a:schemeClr val="bg2"/>
          </a:solidFill>
          <a:ln w="12700">
            <a:solidFill>
              <a:schemeClr val="bg2"/>
            </a:solidFill>
            <a:prstDash val="solid"/>
          </a:ln>
        </p:spPr>
      </p:sp>
      <p:sp>
        <p:nvSpPr>
          <p:cNvPr id="14" name="Text 12"/>
          <p:cNvSpPr txBox="1"/>
          <p:nvPr/>
        </p:nvSpPr>
        <p:spPr>
          <a:xfrm>
            <a:off x="822960" y="4160520"/>
            <a:ext cx="3200400" cy="384048"/>
          </a:xfrm>
          <a:prstGeom prst="rect">
            <a:avLst/>
          </a:prstGeom>
          <a:noFill/>
          <a:ln/>
        </p:spPr>
        <p:txBody>
          <a:bodyPr wrap="square" lIns="0" tIns="0" rIns="0" bIns="0" rtlCol="0" anchor="t"/>
          <a:lstStyle/>
          <a:p>
            <a:pPr indent="0" marL="0">
              <a:buNone/>
            </a:pPr>
            <a:r>
              <a:rPr lang="en-US" sz="1900" b="1" dirty="0">
                <a:solidFill>
                  <a:schemeClr val="tx1"/>
                </a:solidFill>
              </a:rPr>
              <a:t>Lokesh D</a:t>
            </a:r>
            <a:endParaRPr lang="en-US" sz="1900" dirty="0"/>
          </a:p>
        </p:txBody>
      </p:sp>
      <p:sp>
        <p:nvSpPr>
          <p:cNvPr id="15" name="Text 13"/>
          <p:cNvSpPr txBox="1"/>
          <p:nvPr/>
        </p:nvSpPr>
        <p:spPr>
          <a:xfrm>
            <a:off x="3840480" y="4197096"/>
            <a:ext cx="1874520" cy="320040"/>
          </a:xfrm>
          <a:prstGeom prst="rect">
            <a:avLst/>
          </a:prstGeom>
          <a:noFill/>
          <a:ln/>
        </p:spPr>
        <p:txBody>
          <a:bodyPr wrap="square" lIns="0" tIns="0" rIns="0" bIns="0" rtlCol="0" anchor="t"/>
          <a:lstStyle/>
          <a:p>
            <a:pPr algn="r" indent="0" marL="0">
              <a:buNone/>
            </a:pPr>
            <a:r>
              <a:rPr lang="en-US" sz="1200" dirty="0">
                <a:solidFill>
                  <a:schemeClr val="tx2"/>
                </a:solidFill>
              </a:rPr>
              <a:t>CB.SC.U4AIE23123</a:t>
            </a:r>
            <a:endParaRPr lang="en-US" sz="1200" dirty="0"/>
          </a:p>
        </p:txBody>
      </p:sp>
      <p:sp>
        <p:nvSpPr>
          <p:cNvPr id="16" name="Text 14"/>
          <p:cNvSpPr txBox="1"/>
          <p:nvPr/>
        </p:nvSpPr>
        <p:spPr>
          <a:xfrm>
            <a:off x="822960" y="4709160"/>
            <a:ext cx="4846320" cy="1005840"/>
          </a:xfrm>
          <a:prstGeom prst="rect">
            <a:avLst/>
          </a:prstGeom>
          <a:noFill/>
          <a:ln/>
        </p:spPr>
        <p:txBody>
          <a:bodyPr wrap="square" lIns="0" tIns="0" rIns="0" bIns="0" rtlCol="0" anchor="t"/>
          <a:lstStyle/>
          <a:p>
            <a:pPr indent="0" marL="0">
              <a:buNone/>
            </a:pPr>
            <a:r>
              <a:rPr lang="en-US" sz="1400" i="1" dirty="0">
                <a:solidFill>
                  <a:schemeClr val="accent1"/>
                </a:solidFill>
              </a:rPr>
              <a:t>Contribution: (to be filled in by the team)</a:t>
            </a:r>
            <a:endParaRPr lang="en-US" sz="1400" dirty="0"/>
          </a:p>
        </p:txBody>
      </p:sp>
      <p:sp>
        <p:nvSpPr>
          <p:cNvPr id="17" name="member3"/>
          <p:cNvSpPr/>
          <p:nvPr/>
        </p:nvSpPr>
        <p:spPr>
          <a:xfrm>
            <a:off x="6217920" y="3977640"/>
            <a:ext cx="5394960" cy="1965960"/>
          </a:xfrm>
          <a:prstGeom prst="roundRect">
            <a:avLst>
              <a:gd name="adj" fmla="val 4651"/>
            </a:avLst>
          </a:prstGeom>
          <a:solidFill>
            <a:schemeClr val="bg2"/>
          </a:solidFill>
          <a:ln w="12700">
            <a:solidFill>
              <a:schemeClr val="bg2"/>
            </a:solidFill>
            <a:prstDash val="solid"/>
          </a:ln>
        </p:spPr>
      </p:sp>
      <p:sp>
        <p:nvSpPr>
          <p:cNvPr id="18" name="Text 16"/>
          <p:cNvSpPr txBox="1"/>
          <p:nvPr/>
        </p:nvSpPr>
        <p:spPr>
          <a:xfrm>
            <a:off x="6492240" y="4160520"/>
            <a:ext cx="3200400" cy="384048"/>
          </a:xfrm>
          <a:prstGeom prst="rect">
            <a:avLst/>
          </a:prstGeom>
          <a:noFill/>
          <a:ln/>
        </p:spPr>
        <p:txBody>
          <a:bodyPr wrap="square" lIns="0" tIns="0" rIns="0" bIns="0" rtlCol="0" anchor="t"/>
          <a:lstStyle/>
          <a:p>
            <a:pPr indent="0" marL="0">
              <a:buNone/>
            </a:pPr>
            <a:r>
              <a:rPr lang="en-US" sz="1900" b="1" dirty="0">
                <a:solidFill>
                  <a:schemeClr val="tx1"/>
                </a:solidFill>
              </a:rPr>
              <a:t>Abhay Rohit M</a:t>
            </a:r>
            <a:endParaRPr lang="en-US" sz="1900" dirty="0"/>
          </a:p>
        </p:txBody>
      </p:sp>
      <p:sp>
        <p:nvSpPr>
          <p:cNvPr id="19" name="Text 17"/>
          <p:cNvSpPr txBox="1"/>
          <p:nvPr/>
        </p:nvSpPr>
        <p:spPr>
          <a:xfrm>
            <a:off x="9509760" y="4197096"/>
            <a:ext cx="1874520" cy="320040"/>
          </a:xfrm>
          <a:prstGeom prst="rect">
            <a:avLst/>
          </a:prstGeom>
          <a:noFill/>
          <a:ln/>
        </p:spPr>
        <p:txBody>
          <a:bodyPr wrap="square" lIns="0" tIns="0" rIns="0" bIns="0" rtlCol="0" anchor="t"/>
          <a:lstStyle/>
          <a:p>
            <a:pPr algn="r" indent="0" marL="0">
              <a:buNone/>
            </a:pPr>
            <a:r>
              <a:rPr lang="en-US" sz="1200" dirty="0">
                <a:solidFill>
                  <a:schemeClr val="tx2"/>
                </a:solidFill>
              </a:rPr>
              <a:t>CB.SC.U4AIE23173</a:t>
            </a:r>
            <a:endParaRPr lang="en-US" sz="1200" dirty="0"/>
          </a:p>
        </p:txBody>
      </p:sp>
      <p:sp>
        <p:nvSpPr>
          <p:cNvPr id="20" name="Text 18"/>
          <p:cNvSpPr txBox="1"/>
          <p:nvPr/>
        </p:nvSpPr>
        <p:spPr>
          <a:xfrm>
            <a:off x="6492240" y="4709160"/>
            <a:ext cx="4846320" cy="1005840"/>
          </a:xfrm>
          <a:prstGeom prst="rect">
            <a:avLst/>
          </a:prstGeom>
          <a:noFill/>
          <a:ln/>
        </p:spPr>
        <p:txBody>
          <a:bodyPr wrap="square" lIns="0" tIns="0" rIns="0" bIns="0" rtlCol="0" anchor="t"/>
          <a:lstStyle/>
          <a:p>
            <a:pPr indent="0" marL="0">
              <a:buNone/>
            </a:pPr>
            <a:r>
              <a:rPr lang="en-US" sz="1400" i="1" dirty="0">
                <a:solidFill>
                  <a:schemeClr val="accent1"/>
                </a:solidFill>
              </a:rPr>
              <a:t>Contribution: (to be filled in by the team)</a:t>
            </a:r>
            <a:endParaRPr lang="en-US" sz="14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13 · References</a:t>
            </a:r>
            <a:endParaRPr lang="en-US" sz="1300" dirty="0"/>
          </a:p>
        </p:txBody>
      </p:sp>
      <p:sp>
        <p:nvSpPr>
          <p:cNvPr id="3" name="Text 0"/>
          <p:cNvSpPr/>
          <p:nvPr>
            <p:ph idx="101" type="title" hasCustomPrompt="1"/>
          </p:nvPr>
        </p:nvSpPr>
        <p:spPr>
          <a:xfrm>
            <a:off x="548640" y="585216"/>
            <a:ext cx="11064240" cy="676656"/>
          </a:xfrm>
          <a:prstGeom prst="rect">
            <a:avLst/>
          </a:prstGeom>
          <a:noFill/>
          <a:ln/>
        </p:spPr>
        <p:txBody>
          <a:bodyPr wrap="square" lIns="0" tIns="0" rIns="0" bIns="0" rtlCol="0" anchor="ctr"/>
          <a:lstStyle/>
          <a:p>
            <a:pPr algn="l" indent="0" marL="0">
              <a:buNone/>
            </a:pPr>
            <a:r>
              <a:rPr lang="en-US" sz="3600" b="1" dirty="0">
                <a:solidFill>
                  <a:schemeClr val="tx1"/>
                </a:solidFill>
              </a:rPr>
              <a:t>References</a:t>
            </a:r>
            <a:endParaRPr lang="en-US" sz="3600" dirty="0"/>
          </a:p>
        </p:txBody>
      </p:sp>
      <p:sp>
        <p:nvSpPr>
          <p:cNvPr id="4" name="Text 0"/>
          <p:cNvSpPr/>
          <p:nvPr>
            <p:ph idx="102" type="body" hasCustomPrompt="1"/>
          </p:nvPr>
        </p:nvSpPr>
        <p:spPr>
          <a:xfrm>
            <a:off x="548640" y="1261872"/>
            <a:ext cx="11064240" cy="384048"/>
          </a:xfrm>
          <a:prstGeom prst="rect">
            <a:avLst/>
          </a:prstGeom>
          <a:noFill/>
          <a:ln/>
        </p:spPr>
        <p:txBody>
          <a:bodyPr wrap="square" lIns="0" tIns="0" rIns="0" bIns="0" rtlCol="0" anchor="t"/>
          <a:lstStyle/>
          <a:p>
            <a:pPr indent="0" marL="0">
              <a:buNone/>
            </a:pPr>
            <a:r>
              <a:rPr lang="en-US" sz="1700" dirty="0">
                <a:solidFill>
                  <a:schemeClr val="accent5"/>
                </a:solidFill>
              </a:rPr>
              <a:t>Main sources; the full list is in the thesis</a:t>
            </a:r>
            <a:endParaRPr lang="en-US" sz="1700" dirty="0"/>
          </a:p>
        </p:txBody>
      </p:sp>
      <p:sp>
        <p:nvSpPr>
          <p:cNvPr id="5" name="Text 3"/>
          <p:cNvSpPr txBox="1"/>
          <p:nvPr/>
        </p:nvSpPr>
        <p:spPr>
          <a:xfrm>
            <a:off x="548640" y="1783080"/>
            <a:ext cx="11064240" cy="4434840"/>
          </a:xfrm>
          <a:prstGeom prst="rect">
            <a:avLst/>
          </a:prstGeom>
          <a:noFill/>
          <a:ln/>
        </p:spPr>
        <p:txBody>
          <a:bodyPr wrap="square" lIns="0" tIns="0" rIns="0" bIns="0" rtlCol="0" anchor="t"/>
          <a:lstStyle/>
          <a:p>
            <a:pPr indent="0" marL="0">
              <a:spcAft>
                <a:spcPts val="500"/>
              </a:spcAft>
              <a:buNone/>
            </a:pPr>
            <a:r>
              <a:rPr lang="en-US" sz="1300" dirty="0">
                <a:solidFill>
                  <a:schemeClr val="tx1"/>
                </a:solidFill>
              </a:rPr>
              <a:t>[1] Y. Zheng et al., "Automatic Web Testing Using Curiosity-Driven Reinforcement Learning," ICSE, 2021.</a:t>
            </a:r>
            <a:endParaRPr lang="en-US" sz="1300" dirty="0"/>
          </a:p>
          <a:p>
            <a:pPr indent="0" marL="0">
              <a:spcAft>
                <a:spcPts val="500"/>
              </a:spcAft>
              <a:buNone/>
            </a:pPr>
            <a:r>
              <a:rPr lang="en-US" sz="1300" dirty="0">
                <a:solidFill>
                  <a:schemeClr val="tx1"/>
                </a:solidFill>
              </a:rPr>
              <a:t>[2] Z. Gu et al., "Deep Reinforcement Learning for Automated Web GUI Testing," arXiv preprint (WebRLED), 2025.</a:t>
            </a:r>
            <a:endParaRPr lang="en-US" sz="1300" dirty="0"/>
          </a:p>
          <a:p>
            <a:pPr indent="0" marL="0">
              <a:spcAft>
                <a:spcPts val="500"/>
              </a:spcAft>
              <a:buNone/>
            </a:pPr>
            <a:r>
              <a:rPr lang="en-US" sz="1300" dirty="0">
                <a:solidFill>
                  <a:schemeClr val="tx1"/>
                </a:solidFill>
              </a:rPr>
              <a:t>[3] A. Ecoffet, J. Huizinga, J. Lehman, K. O. Stanley and J. Clune, "First Return, Then Explore," Nature, 2021.</a:t>
            </a:r>
            <a:endParaRPr lang="en-US" sz="1300" dirty="0"/>
          </a:p>
          <a:p>
            <a:pPr indent="0" marL="0">
              <a:spcAft>
                <a:spcPts val="500"/>
              </a:spcAft>
              <a:buNone/>
            </a:pPr>
            <a:r>
              <a:rPr lang="en-US" sz="1300" dirty="0">
                <a:solidFill>
                  <a:schemeClr val="tx1"/>
                </a:solidFill>
              </a:rPr>
              <a:t>[4] Y. Zhao, B. Harrison and T. Yu, "DinoDroid: Testing Android Apps Using Deep Q-Networks," ACM TOSEM, 2024.</a:t>
            </a:r>
            <a:endParaRPr lang="en-US" sz="1300" dirty="0"/>
          </a:p>
          <a:p>
            <a:pPr indent="0" marL="0">
              <a:spcAft>
                <a:spcPts val="500"/>
              </a:spcAft>
              <a:buNone/>
            </a:pPr>
            <a:r>
              <a:rPr lang="en-US" sz="1300" dirty="0">
                <a:solidFill>
                  <a:schemeClr val="tx1"/>
                </a:solidFill>
              </a:rPr>
              <a:t>[5] C. Liu, W. Yang, Y. Zhang and T. Xie, "Understanding Automated Web GUI Testing: An Empirical Study Across Exploration Strategies and State Abstractions," 2026.</a:t>
            </a:r>
            <a:endParaRPr lang="en-US" sz="1300" dirty="0"/>
          </a:p>
          <a:p>
            <a:pPr indent="0" marL="0">
              <a:spcAft>
                <a:spcPts val="500"/>
              </a:spcAft>
              <a:buNone/>
            </a:pPr>
            <a:r>
              <a:rPr lang="en-US" sz="1300" dirty="0">
                <a:solidFill>
                  <a:schemeClr val="tx1"/>
                </a:solidFill>
              </a:rPr>
              <a:t>[6] V. Mnih et al., "Human-Level Control Through Deep Reinforcement Learning," Nature, 2015.</a:t>
            </a:r>
            <a:endParaRPr lang="en-US" sz="1300" dirty="0"/>
          </a:p>
          <a:p>
            <a:pPr indent="0" marL="0">
              <a:spcAft>
                <a:spcPts val="500"/>
              </a:spcAft>
              <a:buNone/>
            </a:pPr>
            <a:r>
              <a:rPr lang="en-US" sz="1300" dirty="0">
                <a:solidFill>
                  <a:schemeClr val="tx1"/>
                </a:solidFill>
              </a:rPr>
              <a:t>[7] H. van Hasselt, A. Guez and D. Silver, "Deep Reinforcement Learning with Double Q-Learning," AAAI, 2016.</a:t>
            </a:r>
            <a:endParaRPr lang="en-US" sz="1300" dirty="0"/>
          </a:p>
          <a:p>
            <a:pPr indent="0" marL="0">
              <a:spcAft>
                <a:spcPts val="500"/>
              </a:spcAft>
              <a:buNone/>
            </a:pPr>
            <a:r>
              <a:rPr lang="en-US" sz="1300" dirty="0">
                <a:solidFill>
                  <a:schemeClr val="tx1"/>
                </a:solidFill>
              </a:rPr>
              <a:t>[8] D. J. Russo et al., "A Tutorial on Thompson Sampling," Foundations and Trends in Machine Learning, 2018.</a:t>
            </a:r>
            <a:endParaRPr lang="en-US" sz="1300" dirty="0"/>
          </a:p>
          <a:p>
            <a:pPr indent="0" marL="0">
              <a:spcAft>
                <a:spcPts val="500"/>
              </a:spcAft>
              <a:buNone/>
            </a:pPr>
            <a:r>
              <a:rPr lang="en-US" sz="1300" dirty="0">
                <a:solidFill>
                  <a:schemeClr val="tx1"/>
                </a:solidFill>
              </a:rPr>
              <a:t>[9] E. T. Barr et al., "The Oracle Problem in Software Testing: A Survey," IEEE TSE, 2015.</a:t>
            </a:r>
            <a:endParaRPr lang="en-US" sz="1300" dirty="0"/>
          </a:p>
          <a:p>
            <a:pPr indent="0" marL="0">
              <a:spcAft>
                <a:spcPts val="500"/>
              </a:spcAft>
              <a:buNone/>
            </a:pPr>
            <a:r>
              <a:rPr lang="en-US" sz="1300" dirty="0">
                <a:solidFill>
                  <a:schemeClr val="tx1"/>
                </a:solidFill>
              </a:rPr>
              <a:t>[10] A. Zeller and R. Hildebrandt, "Simplifying and Isolating Failure-Inducing Input," IEEE TSE, 2002.</a:t>
            </a:r>
            <a:endParaRPr lang="en-US" sz="1300" dirty="0"/>
          </a:p>
          <a:p>
            <a:pPr indent="0" marL="0">
              <a:spcAft>
                <a:spcPts val="500"/>
              </a:spcAft>
              <a:buNone/>
            </a:pPr>
            <a:r>
              <a:rPr lang="en-US" sz="1300" dirty="0">
                <a:solidFill>
                  <a:schemeClr val="tx1"/>
                </a:solidFill>
              </a:rPr>
              <a:t>[11] G. Klees et al., "Evaluating Fuzz Testing," ACM CCS, 2018.</a:t>
            </a:r>
            <a:endParaRPr lang="en-US" sz="1300" dirty="0"/>
          </a:p>
          <a:p>
            <a:pPr indent="0" marL="0">
              <a:spcAft>
                <a:spcPts val="500"/>
              </a:spcAft>
              <a:buNone/>
            </a:pPr>
            <a:r>
              <a:rPr lang="en-US" sz="1300" dirty="0">
                <a:solidFill>
                  <a:schemeClr val="tx1"/>
                </a:solidFill>
              </a:rPr>
              <a:t>[12] M. Biagiola, A. Stocco, F. Ricca and P. Tonella, "Diversity-Based Web Test Generation," ESEC/FSE, 2019.</a:t>
            </a:r>
            <a:endParaRPr lang="en-US" sz="1300" dirty="0"/>
          </a:p>
        </p:txBody>
      </p:sp>
      <p:sp>
        <p:nvSpPr>
          <p:cNvPr id="25" name="Slide Number Placeholder 0"/>
          <p:cNvSpPr>
            <a:spLocks noGrp="1"/>
          </p:cNvSpPr>
          <p:nvPr>
            <p:ph type="sldNum" sz="quarter" idx="4294967295"/>
          </p:nvPr>
        </p:nvSpPr>
        <p:spPr>
          <a:xfrm>
            <a:off x="1120140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103120"/>
            <a:ext cx="11064240" cy="1097280"/>
          </a:xfrm>
          <a:prstGeom prst="rect">
            <a:avLst/>
          </a:prstGeom>
          <a:noFill/>
          <a:ln/>
        </p:spPr>
        <p:txBody>
          <a:bodyPr wrap="square" lIns="0" tIns="0" rIns="0" bIns="0" rtlCol="0" anchor="t"/>
          <a:lstStyle/>
          <a:p>
            <a:pPr algn="ctr" indent="0" marL="0">
              <a:buNone/>
            </a:pPr>
            <a:r>
              <a:rPr lang="en-US" sz="6000" b="1" dirty="0">
                <a:solidFill>
                  <a:schemeClr val="bg1"/>
                </a:solidFill>
              </a:rPr>
              <a:t>Thank You</a:t>
            </a:r>
            <a:endParaRPr lang="en-US" sz="6000" dirty="0"/>
          </a:p>
        </p:txBody>
      </p:sp>
      <p:sp>
        <p:nvSpPr>
          <p:cNvPr id="3" name="Text 1"/>
          <p:cNvSpPr txBox="1"/>
          <p:nvPr/>
        </p:nvSpPr>
        <p:spPr>
          <a:xfrm>
            <a:off x="548640" y="3291840"/>
            <a:ext cx="11064240" cy="548640"/>
          </a:xfrm>
          <a:prstGeom prst="rect">
            <a:avLst/>
          </a:prstGeom>
          <a:noFill/>
          <a:ln/>
        </p:spPr>
        <p:txBody>
          <a:bodyPr wrap="square" lIns="0" tIns="0" rIns="0" bIns="0" rtlCol="0" anchor="t"/>
          <a:lstStyle/>
          <a:p>
            <a:pPr algn="ctr" indent="0" marL="0">
              <a:buNone/>
            </a:pPr>
            <a:r>
              <a:rPr lang="en-US" sz="2200" dirty="0">
                <a:solidFill>
                  <a:schemeClr val="accent6"/>
                </a:solidFill>
              </a:rPr>
              <a:t>Questions, and a live demo of Katalyze</a:t>
            </a:r>
            <a:endParaRPr lang="en-US" sz="2200" dirty="0"/>
          </a:p>
        </p:txBody>
      </p:sp>
      <p:sp>
        <p:nvSpPr>
          <p:cNvPr id="4" name="Shape 2"/>
          <p:cNvSpPr/>
          <p:nvPr/>
        </p:nvSpPr>
        <p:spPr>
          <a:xfrm>
            <a:off x="3584448" y="4343400"/>
            <a:ext cx="1463040" cy="502920"/>
          </a:xfrm>
          <a:prstGeom prst="roundRect">
            <a:avLst>
              <a:gd name="adj" fmla="val 49091"/>
            </a:avLst>
          </a:prstGeom>
          <a:solidFill>
            <a:schemeClr val="accent1"/>
          </a:solidFill>
          <a:ln w="12700">
            <a:solidFill>
              <a:schemeClr val="accent1"/>
            </a:solidFill>
            <a:prstDash val="solid"/>
          </a:ln>
        </p:spPr>
      </p:sp>
      <p:sp>
        <p:nvSpPr>
          <p:cNvPr id="5" name="Text 3"/>
          <p:cNvSpPr txBox="1"/>
          <p:nvPr/>
        </p:nvSpPr>
        <p:spPr>
          <a:xfrm>
            <a:off x="3584448" y="4343400"/>
            <a:ext cx="1463040" cy="502920"/>
          </a:xfrm>
          <a:prstGeom prst="rect">
            <a:avLst/>
          </a:prstGeom>
          <a:noFill/>
          <a:ln/>
        </p:spPr>
        <p:txBody>
          <a:bodyPr wrap="square" lIns="0" tIns="0" rIns="0" bIns="0" rtlCol="0" anchor="ctr"/>
          <a:lstStyle/>
          <a:p>
            <a:pPr algn="ctr" indent="0" marL="0">
              <a:buNone/>
            </a:pPr>
            <a:r>
              <a:rPr lang="en-US" sz="1600" b="1" dirty="0">
                <a:solidFill>
                  <a:schemeClr val="bg1"/>
                </a:solidFill>
              </a:rPr>
              <a:t>Explore</a:t>
            </a:r>
            <a:endParaRPr lang="en-US" sz="1600" dirty="0"/>
          </a:p>
        </p:txBody>
      </p:sp>
      <p:sp>
        <p:nvSpPr>
          <p:cNvPr id="6" name="Shape 4"/>
          <p:cNvSpPr/>
          <p:nvPr/>
        </p:nvSpPr>
        <p:spPr>
          <a:xfrm>
            <a:off x="5367528" y="4343400"/>
            <a:ext cx="1463040" cy="502920"/>
          </a:xfrm>
          <a:prstGeom prst="roundRect">
            <a:avLst>
              <a:gd name="adj" fmla="val 49091"/>
            </a:avLst>
          </a:prstGeom>
          <a:solidFill>
            <a:schemeClr val="accent5"/>
          </a:solidFill>
          <a:ln w="12700">
            <a:solidFill>
              <a:schemeClr val="accent5"/>
            </a:solidFill>
            <a:prstDash val="solid"/>
          </a:ln>
        </p:spPr>
      </p:sp>
      <p:sp>
        <p:nvSpPr>
          <p:cNvPr id="7" name="Text 5"/>
          <p:cNvSpPr txBox="1"/>
          <p:nvPr/>
        </p:nvSpPr>
        <p:spPr>
          <a:xfrm>
            <a:off x="5367528" y="4343400"/>
            <a:ext cx="1463040" cy="502920"/>
          </a:xfrm>
          <a:prstGeom prst="rect">
            <a:avLst/>
          </a:prstGeom>
          <a:noFill/>
          <a:ln/>
        </p:spPr>
        <p:txBody>
          <a:bodyPr wrap="square" lIns="0" tIns="0" rIns="0" bIns="0" rtlCol="0" anchor="ctr"/>
          <a:lstStyle/>
          <a:p>
            <a:pPr algn="ctr" indent="0" marL="0">
              <a:buNone/>
            </a:pPr>
            <a:r>
              <a:rPr lang="en-US" sz="1600" b="1" dirty="0">
                <a:solidFill>
                  <a:schemeClr val="bg1"/>
                </a:solidFill>
              </a:rPr>
              <a:t>Detect</a:t>
            </a:r>
            <a:endParaRPr lang="en-US" sz="1600" dirty="0"/>
          </a:p>
        </p:txBody>
      </p:sp>
      <p:sp>
        <p:nvSpPr>
          <p:cNvPr id="8" name="Shape 6"/>
          <p:cNvSpPr/>
          <p:nvPr/>
        </p:nvSpPr>
        <p:spPr>
          <a:xfrm>
            <a:off x="7150608" y="4343400"/>
            <a:ext cx="1463040" cy="502920"/>
          </a:xfrm>
          <a:prstGeom prst="roundRect">
            <a:avLst>
              <a:gd name="adj" fmla="val 49091"/>
            </a:avLst>
          </a:prstGeom>
          <a:solidFill>
            <a:schemeClr val="accent2"/>
          </a:solidFill>
          <a:ln w="12700">
            <a:solidFill>
              <a:schemeClr val="accent2"/>
            </a:solidFill>
            <a:prstDash val="solid"/>
          </a:ln>
        </p:spPr>
      </p:sp>
      <p:sp>
        <p:nvSpPr>
          <p:cNvPr id="9" name="Text 7"/>
          <p:cNvSpPr txBox="1"/>
          <p:nvPr/>
        </p:nvSpPr>
        <p:spPr>
          <a:xfrm>
            <a:off x="7150608" y="4343400"/>
            <a:ext cx="1463040" cy="502920"/>
          </a:xfrm>
          <a:prstGeom prst="rect">
            <a:avLst/>
          </a:prstGeom>
          <a:noFill/>
          <a:ln/>
        </p:spPr>
        <p:txBody>
          <a:bodyPr wrap="square" lIns="0" tIns="0" rIns="0" bIns="0" rtlCol="0" anchor="ctr"/>
          <a:lstStyle/>
          <a:p>
            <a:pPr algn="ctr" indent="0" marL="0">
              <a:buNone/>
            </a:pPr>
            <a:r>
              <a:rPr lang="en-US" sz="1600" b="1" dirty="0">
                <a:solidFill>
                  <a:schemeClr val="bg1"/>
                </a:solidFill>
              </a:rPr>
              <a:t>Verify</a:t>
            </a:r>
            <a:endParaRPr lang="en-US" sz="1600" dirty="0"/>
          </a:p>
        </p:txBody>
      </p:sp>
    </p:spTree>
  </p:cSld>
  <p:clrMapOvr>
    <a:masterClrMapping/>
  </p:clrMapOvr>
</p:sld>
</file>

<file path=ppt/theme/theme1.xml><?xml version="1.0" encoding="utf-8"?>
<a:theme xmlns:a="http://schemas.openxmlformats.org/drawingml/2006/main" name="Katalyze">
  <a:themeElements>
    <a:clrScheme name="Katalyze">
      <a:dk1>
        <a:srgbClr val="172033"/>
      </a:dk1>
      <a:lt1>
        <a:srgbClr val="FFFFFF"/>
      </a:lt1>
      <a:dk2>
        <a:srgbClr val="4A5568"/>
      </a:dk2>
      <a:lt2>
        <a:srgbClr val="EEF4F4"/>
      </a:lt2>
      <a:accent1>
        <a:srgbClr val="0F8B8D"/>
      </a:accent1>
      <a:accent2>
        <a:srgbClr val="F26B4F"/>
      </a:accent2>
      <a:accent3>
        <a:srgbClr val="E8A33D"/>
      </a:accent3>
      <a:accent4>
        <a:srgbClr val="9AA3AE"/>
      </a:accent4>
      <a:accent5>
        <a:srgbClr val="2D4A6B"/>
      </a:accent5>
      <a:accent6>
        <a:srgbClr val="D3EBEA"/>
      </a:accent6>
      <a:hlink>
        <a:srgbClr val="0F8B8D"/>
      </a:hlink>
      <a:folHlink>
        <a:srgbClr val="2D4A6B"/>
      </a:folHlink>
    </a:clrScheme>
    <a:fontScheme name="Katalyz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Katalyze: Final Review</dc:title>
  <dc:subject>PptxGenJS Presentation</dc:subject>
  <dc:creator>Arunoday A K, Achutharaj R, Lokesh D, Abhay Rohit M</dc:creator>
  <cp:lastModifiedBy>Arunoday A K, Achutharaj R, Lokesh D, Abhay Rohit M</cp:lastModifiedBy>
  <cp:revision>1</cp:revision>
  <dcterms:created xsi:type="dcterms:W3CDTF">2026-10-26T14:57:17Z</dcterms:created>
  <dcterms:modified xsi:type="dcterms:W3CDTF">2026-10-26T14:57:17Z</dcterms:modified>
</cp:coreProperties>
</file>